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93" r:id="rId5"/>
    <p:sldId id="306" r:id="rId6"/>
    <p:sldId id="323" r:id="rId7"/>
    <p:sldId id="322" r:id="rId8"/>
    <p:sldId id="324" r:id="rId9"/>
    <p:sldId id="325" r:id="rId10"/>
    <p:sldId id="326" r:id="rId11"/>
    <p:sldId id="327" r:id="rId12"/>
    <p:sldId id="336" r:id="rId13"/>
    <p:sldId id="315" r:id="rId14"/>
    <p:sldId id="328" r:id="rId15"/>
    <p:sldId id="329" r:id="rId16"/>
    <p:sldId id="330" r:id="rId17"/>
    <p:sldId id="331" r:id="rId18"/>
    <p:sldId id="335" r:id="rId19"/>
    <p:sldId id="338" r:id="rId20"/>
    <p:sldId id="316" r:id="rId21"/>
    <p:sldId id="317" r:id="rId22"/>
    <p:sldId id="332" r:id="rId23"/>
    <p:sldId id="333" r:id="rId24"/>
    <p:sldId id="334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</p:sldIdLst>
  <p:sldSz cx="12192000" cy="6858000"/>
  <p:notesSz cx="6888163" cy="100203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144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30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=""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ECFA5F72-8C3C-47C4-BAAE-AAD53B502F6D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4FA8C659-3DDB-48CB-A056-6A658A161B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934E63C5-A243-470D-8390-8C4D5E642375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9CA004F4-F240-48F9-8AE1-486585C7F00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088917-CCAE-4D7C-A02D-EE615348765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312EB9-9729-4FAD-8373-A418D3DF724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207C4C-07E3-4EE8-9931-EEC16BF4925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70FF08-5F54-4A2C-A787-F7D6BFBFC46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=""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=""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5B1BDD-7000-4F3F-B9E7-17979A7FBD75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D5CFD7-B49D-4B10-8EA3-A285AD2A605F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224B15-5D30-4E4C-8F83-05B8C13D4DD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BD9BA1-E6FD-4A95-80AB-D864C087A0F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AFC51-B778-437C-AF2E-CFBBBFE133F8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=""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7E9567B-DF5D-4470-94BE-7DF002E86266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=""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339680" y="498763"/>
            <a:ext cx="4991520" cy="137621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431526" y="2542463"/>
            <a:ext cx="934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C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Gestión y Emprendimiento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67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1800" b="1" dirty="0"/>
              <a:t>Idea y modelo de negocio.</a:t>
            </a:r>
          </a:p>
          <a:p>
            <a:pPr marL="0" indent="0">
              <a:lnSpc>
                <a:spcPct val="150000"/>
              </a:lnSpc>
              <a:buNone/>
            </a:pPr>
            <a:endParaRPr lang="es-ES" sz="1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Los </a:t>
            </a:r>
            <a:r>
              <a:rPr lang="es-ES" sz="1800" dirty="0"/>
              <a:t>nuevos negocios nacen de una necesidad o un problema que has detectado en un área geográfica específica o un tipo de persona único. Así que en este apartado tienes que hacer la descripción de esa necesidad o problema lo más claro posible así como el tipo o modelo de negocio que planeas implementar para ofrecer tu solución</a:t>
            </a:r>
            <a:r>
              <a:rPr lang="es-ES" sz="1800" dirty="0" smtClean="0"/>
              <a:t>.</a:t>
            </a:r>
            <a:endParaRPr lang="es-EC" sz="1800" dirty="0" smtClean="0"/>
          </a:p>
          <a:p>
            <a:endParaRPr lang="es-EC" dirty="0" smtClean="0"/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1800" b="1" dirty="0"/>
              <a:t>Idea y modelo de negocio.</a:t>
            </a:r>
          </a:p>
          <a:p>
            <a:pPr marL="0" indent="0">
              <a:lnSpc>
                <a:spcPct val="150000"/>
              </a:lnSpc>
              <a:buNone/>
            </a:pPr>
            <a:endParaRPr lang="es-ES" sz="1800" dirty="0" smtClean="0"/>
          </a:p>
          <a:p>
            <a:r>
              <a:rPr lang="es-EC" b="1" dirty="0" err="1" smtClean="0"/>
              <a:t>Premezcla</a:t>
            </a:r>
            <a:r>
              <a:rPr lang="es-EC" b="1" dirty="0" smtClean="0"/>
              <a:t> a base de avena</a:t>
            </a:r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060" t="18964" r="15494" b="26059"/>
          <a:stretch/>
        </p:blipFill>
        <p:spPr>
          <a:xfrm>
            <a:off x="1025236" y="713999"/>
            <a:ext cx="9735127" cy="5687541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5686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5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9470" t="32862" r="13863" b="31044"/>
          <a:stretch/>
        </p:blipFill>
        <p:spPr>
          <a:xfrm>
            <a:off x="905098" y="1043709"/>
            <a:ext cx="10742304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4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224" t="40828" r="14897" b="34125"/>
          <a:stretch/>
        </p:blipFill>
        <p:spPr>
          <a:xfrm>
            <a:off x="1376217" y="1708727"/>
            <a:ext cx="9102507" cy="2678545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9302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7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9785" t="28080" r="16105" b="17575"/>
          <a:stretch/>
        </p:blipFill>
        <p:spPr>
          <a:xfrm>
            <a:off x="1200727" y="325035"/>
            <a:ext cx="9236363" cy="603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7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8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9773" t="27744" r="14469" b="23637"/>
          <a:stretch/>
        </p:blipFill>
        <p:spPr>
          <a:xfrm>
            <a:off x="1089890" y="748146"/>
            <a:ext cx="9374910" cy="560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Definición del Problema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9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3940" t="33805" r="38257" b="19327"/>
          <a:stretch/>
        </p:blipFill>
        <p:spPr>
          <a:xfrm>
            <a:off x="1154545" y="1311563"/>
            <a:ext cx="9615055" cy="53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9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r>
              <a:rPr lang="es-EC" b="1" dirty="0"/>
              <a:t>2. Análisis del entorno o mercado</a:t>
            </a:r>
          </a:p>
          <a:p>
            <a:endParaRPr lang="es-EC" dirty="0" smtClean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dirty="0"/>
              <a:t>Aquí tienes que mencionar dónde, cómo, cuándo y por qué las personas querrán comprar tu producto o servicio. Es decir, dar respuesta a la siguiente pregunta: ¿cuál es tu mercado objetivo y por qué estaría interesado el público en comprar tu producto o servicio? 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10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225" t="19176" r="49881" b="54290"/>
          <a:stretch/>
        </p:blipFill>
        <p:spPr>
          <a:xfrm>
            <a:off x="1468581" y="1533236"/>
            <a:ext cx="9041590" cy="365760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176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PEST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EC" dirty="0" smtClean="0"/>
              <a:t>Entorno Económico</a:t>
            </a:r>
          </a:p>
          <a:p>
            <a:pPr>
              <a:lnSpc>
                <a:spcPct val="150000"/>
              </a:lnSpc>
            </a:pPr>
            <a:r>
              <a:rPr lang="es-EC" dirty="0" smtClean="0"/>
              <a:t>Entorno Político</a:t>
            </a:r>
          </a:p>
          <a:p>
            <a:pPr>
              <a:lnSpc>
                <a:spcPct val="150000"/>
              </a:lnSpc>
            </a:pPr>
            <a:r>
              <a:rPr lang="es-EC" dirty="0" smtClean="0"/>
              <a:t>Entorno Social</a:t>
            </a:r>
          </a:p>
          <a:p>
            <a:pPr>
              <a:lnSpc>
                <a:spcPct val="150000"/>
              </a:lnSpc>
            </a:pPr>
            <a:r>
              <a:rPr lang="es-EC" dirty="0" smtClean="0"/>
              <a:t>Entorno Tecnológico</a:t>
            </a:r>
          </a:p>
          <a:p>
            <a:pPr>
              <a:lnSpc>
                <a:spcPct val="150000"/>
              </a:lnSpc>
            </a:pPr>
            <a:r>
              <a:rPr lang="es-EC" dirty="0" smtClean="0"/>
              <a:t>Entorno Ambiental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885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Micro entorno 5 Fuerzas de </a:t>
            </a:r>
            <a:r>
              <a:rPr lang="es-EC" dirty="0" err="1" smtClean="0"/>
              <a:t>Porter</a:t>
            </a:r>
            <a:endParaRPr lang="es-EC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345" t="43799" r="49164" b="42404"/>
          <a:stretch/>
        </p:blipFill>
        <p:spPr>
          <a:xfrm>
            <a:off x="626495" y="2059709"/>
            <a:ext cx="10842349" cy="2244436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042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89182" y="1243734"/>
            <a:ext cx="663401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C" sz="2400" dirty="0" smtClean="0"/>
              <a:t>Competencia</a:t>
            </a:r>
          </a:p>
          <a:p>
            <a:pPr>
              <a:lnSpc>
                <a:spcPct val="150000"/>
              </a:lnSpc>
            </a:pPr>
            <a:r>
              <a:rPr lang="es-EC" sz="2400" dirty="0" smtClean="0"/>
              <a:t>Productos Sustitutos</a:t>
            </a:r>
          </a:p>
          <a:p>
            <a:pPr>
              <a:lnSpc>
                <a:spcPct val="150000"/>
              </a:lnSpc>
            </a:pPr>
            <a:r>
              <a:rPr lang="es-EC" sz="2400" dirty="0" smtClean="0"/>
              <a:t>Negociación con los proveedores</a:t>
            </a:r>
          </a:p>
          <a:p>
            <a:pPr>
              <a:lnSpc>
                <a:spcPct val="150000"/>
              </a:lnSpc>
            </a:pPr>
            <a:r>
              <a:rPr lang="es-EC" sz="2400" dirty="0" smtClean="0"/>
              <a:t>Clientes</a:t>
            </a:r>
          </a:p>
          <a:p>
            <a:pPr>
              <a:lnSpc>
                <a:spcPct val="150000"/>
              </a:lnSpc>
            </a:pPr>
            <a:r>
              <a:rPr lang="es-EC" sz="2400" dirty="0" smtClean="0"/>
              <a:t>Nuevos competidores</a:t>
            </a:r>
            <a:endParaRPr lang="es-EC" sz="2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5390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15</a:t>
            </a:fld>
            <a:endParaRPr lang="es-ES" noProof="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22070" t="16924" r="46573" b="44741"/>
          <a:stretch/>
        </p:blipFill>
        <p:spPr>
          <a:xfrm>
            <a:off x="1644072" y="372502"/>
            <a:ext cx="8968509" cy="61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4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16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1999" t="54361" r="46667" b="6735"/>
          <a:stretch/>
        </p:blipFill>
        <p:spPr>
          <a:xfrm>
            <a:off x="1917857" y="457199"/>
            <a:ext cx="8073868" cy="5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0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endParaRPr lang="es-EC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17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4243" t="19124" r="52651" b="38855"/>
          <a:stretch/>
        </p:blipFill>
        <p:spPr>
          <a:xfrm>
            <a:off x="2747818" y="1759101"/>
            <a:ext cx="6696363" cy="478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2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18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4091" t="43502" r="53864" b="14343"/>
          <a:stretch/>
        </p:blipFill>
        <p:spPr>
          <a:xfrm>
            <a:off x="2854037" y="2059708"/>
            <a:ext cx="6225308" cy="46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7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19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3485" t="19394" r="53561" b="60000"/>
          <a:stretch/>
        </p:blipFill>
        <p:spPr>
          <a:xfrm>
            <a:off x="1644072" y="1330036"/>
            <a:ext cx="7934037" cy="279059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3940" t="58855" r="53636" b="33872"/>
          <a:stretch/>
        </p:blipFill>
        <p:spPr>
          <a:xfrm>
            <a:off x="1731140" y="3631100"/>
            <a:ext cx="7759899" cy="97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7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20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243" t="20606" r="54091" b="12592"/>
          <a:stretch/>
        </p:blipFill>
        <p:spPr>
          <a:xfrm>
            <a:off x="628072" y="833014"/>
            <a:ext cx="4719782" cy="560050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3787" t="19664" r="52652" b="11784"/>
          <a:stretch/>
        </p:blipFill>
        <p:spPr>
          <a:xfrm>
            <a:off x="5920509" y="757380"/>
            <a:ext cx="4996873" cy="574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6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21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5228" t="24378" r="50198" b="45936"/>
          <a:stretch/>
        </p:blipFill>
        <p:spPr>
          <a:xfrm>
            <a:off x="11505" y="868218"/>
            <a:ext cx="6116453" cy="415636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5214" t="54261" r="49774" b="16677"/>
          <a:stretch/>
        </p:blipFill>
        <p:spPr>
          <a:xfrm>
            <a:off x="6127958" y="1029854"/>
            <a:ext cx="6111932" cy="399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2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07146" y="1597890"/>
            <a:ext cx="6467764" cy="2650837"/>
          </a:xfrm>
        </p:spPr>
        <p:txBody>
          <a:bodyPr/>
          <a:lstStyle/>
          <a:p>
            <a:endParaRPr lang="es-EC" dirty="0" smtClean="0"/>
          </a:p>
          <a:p>
            <a:endParaRPr lang="es-EC" dirty="0"/>
          </a:p>
          <a:p>
            <a:endParaRPr lang="es-EC" dirty="0" smtClean="0"/>
          </a:p>
          <a:p>
            <a:r>
              <a:rPr lang="es-EC" sz="2800" b="1" dirty="0" smtClean="0"/>
              <a:t>Detallar el perfil del consumidor</a:t>
            </a:r>
            <a:endParaRPr lang="es-EC" sz="28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46474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Plan de Marketing.</a:t>
            </a:r>
            <a:endParaRPr lang="es-EC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71" t="24059" r="38777" b="34125"/>
          <a:stretch/>
        </p:blipFill>
        <p:spPr>
          <a:xfrm>
            <a:off x="1496290" y="1549701"/>
            <a:ext cx="8756073" cy="455131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68739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00" t="25119" r="40448" b="14173"/>
          <a:stretch/>
        </p:blipFill>
        <p:spPr>
          <a:xfrm>
            <a:off x="1514765" y="537582"/>
            <a:ext cx="7712364" cy="581988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60519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539" t="31913" r="39015" b="24785"/>
          <a:stretch/>
        </p:blipFill>
        <p:spPr>
          <a:xfrm>
            <a:off x="979054" y="849746"/>
            <a:ext cx="9264073" cy="48582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24160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778" t="16677" r="35194" b="9031"/>
          <a:stretch/>
        </p:blipFill>
        <p:spPr>
          <a:xfrm>
            <a:off x="2041235" y="344608"/>
            <a:ext cx="7416801" cy="6195419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576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27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227" t="17508" r="39167" b="8821"/>
          <a:stretch/>
        </p:blipFill>
        <p:spPr>
          <a:xfrm>
            <a:off x="2687782" y="600362"/>
            <a:ext cx="6622472" cy="601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18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28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455" t="19798" r="40151" b="17172"/>
          <a:stretch/>
        </p:blipFill>
        <p:spPr>
          <a:xfrm>
            <a:off x="1671783" y="341745"/>
            <a:ext cx="7961745" cy="635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65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29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379" t="26397" r="39091" b="19866"/>
          <a:stretch/>
        </p:blipFill>
        <p:spPr>
          <a:xfrm>
            <a:off x="2364509" y="868217"/>
            <a:ext cx="7869381" cy="52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06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30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227" t="20068" r="40909" b="18114"/>
          <a:stretch/>
        </p:blipFill>
        <p:spPr>
          <a:xfrm>
            <a:off x="1810327" y="412418"/>
            <a:ext cx="7269018" cy="576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70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31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924" t="21145" r="38409" b="14074"/>
          <a:stretch/>
        </p:blipFill>
        <p:spPr>
          <a:xfrm>
            <a:off x="2161308" y="635962"/>
            <a:ext cx="7093527" cy="553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90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32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5303" t="25051" r="39015" b="7744"/>
          <a:stretch/>
        </p:blipFill>
        <p:spPr>
          <a:xfrm>
            <a:off x="1893453" y="572654"/>
            <a:ext cx="7084292" cy="586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16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33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1516" t="42155" r="32651" b="24579"/>
          <a:stretch/>
        </p:blipFill>
        <p:spPr>
          <a:xfrm>
            <a:off x="849744" y="1274618"/>
            <a:ext cx="10693093" cy="358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15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539" t="17903" r="39374" b="7167"/>
          <a:stretch/>
        </p:blipFill>
        <p:spPr>
          <a:xfrm>
            <a:off x="2438399" y="483724"/>
            <a:ext cx="6622473" cy="6056303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73793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00" t="27455" r="31971" b="47286"/>
          <a:stretch/>
        </p:blipFill>
        <p:spPr>
          <a:xfrm>
            <a:off x="1108363" y="277092"/>
            <a:ext cx="9790546" cy="2589054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35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3940" t="50101" r="37045" b="11515"/>
          <a:stretch/>
        </p:blipFill>
        <p:spPr>
          <a:xfrm>
            <a:off x="988292" y="2253671"/>
            <a:ext cx="9180944" cy="404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33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9238_TF23188392" id="{F1A4FF75-0337-499B-B5AB-B2509398CEA7}" vid="{0D7670FE-5D26-47F2-BB16-139DDA547B5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purl.org/dc/dcmitype/"/>
    <ds:schemaRef ds:uri="16c05727-aa75-4e4a-9b5f-8a80a1165891"/>
    <ds:schemaRef ds:uri="http://www.w3.org/XML/1998/namespace"/>
    <ds:schemaRef ds:uri="http://schemas.microsoft.com/office/2006/documentManagement/types"/>
    <ds:schemaRef ds:uri="http://purl.org/dc/elements/1.1/"/>
    <ds:schemaRef ds:uri="71af3243-3dd4-4a8d-8c0d-dd76da1f02a5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servicios profesionales</Template>
  <TotalTime>0</TotalTime>
  <Words>193</Words>
  <Application>Microsoft Office PowerPoint</Application>
  <PresentationFormat>Panorámica</PresentationFormat>
  <Paragraphs>71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Arial </vt:lpstr>
      <vt:lpstr>Calibri</vt:lpstr>
      <vt:lpstr>Gill Sans MT</vt:lpstr>
      <vt:lpstr>Tema de Office</vt:lpstr>
      <vt:lpstr>Presentación de PowerPoint</vt:lpstr>
      <vt:lpstr>Unidad 1   PERFIL DEL PROYECTO</vt:lpstr>
      <vt:lpstr>Unidad 1   PERFIL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Definición del Problema</vt:lpstr>
      <vt:lpstr>Unidad 1   PERFIL DEL PROYECTO</vt:lpstr>
      <vt:lpstr>Presentación de PowerPoint</vt:lpstr>
      <vt:lpstr>PEST</vt:lpstr>
      <vt:lpstr>Micro entorno 5 Fuerzas de Porter</vt:lpstr>
      <vt:lpstr>Presentación de PowerPoint</vt:lpstr>
      <vt:lpstr>Presentación de PowerPoint</vt:lpstr>
      <vt:lpstr>Presentación de PowerPoint</vt:lpstr>
      <vt:lpstr>Unidad 1   PERFIL DEL PROYECTO</vt:lpstr>
      <vt:lpstr>Unidad 1   PERFIL DEL PROYECTO</vt:lpstr>
      <vt:lpstr>Presentación de PowerPoint</vt:lpstr>
      <vt:lpstr>Presentación de PowerPoint</vt:lpstr>
      <vt:lpstr>Presentación de PowerPoint</vt:lpstr>
      <vt:lpstr>Presentación de PowerPoint</vt:lpstr>
      <vt:lpstr>Plan de Marketing.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2023-03-29T14:43:17Z</dcterms:created>
  <dcterms:modified xsi:type="dcterms:W3CDTF">2024-03-22T12:47:35Z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