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93" r:id="rId5"/>
    <p:sldId id="306" r:id="rId6"/>
    <p:sldId id="308" r:id="rId7"/>
    <p:sldId id="309" r:id="rId8"/>
    <p:sldId id="325" r:id="rId9"/>
    <p:sldId id="310" r:id="rId10"/>
    <p:sldId id="312" r:id="rId11"/>
    <p:sldId id="322" r:id="rId12"/>
    <p:sldId id="323" r:id="rId13"/>
    <p:sldId id="324" r:id="rId14"/>
    <p:sldId id="311" r:id="rId15"/>
    <p:sldId id="315" r:id="rId16"/>
    <p:sldId id="317" r:id="rId17"/>
    <p:sldId id="316" r:id="rId18"/>
    <p:sldId id="326" r:id="rId19"/>
    <p:sldId id="327" r:id="rId20"/>
    <p:sldId id="314" r:id="rId21"/>
  </p:sldIdLst>
  <p:sldSz cx="12192000" cy="6858000"/>
  <p:notesSz cx="6888163" cy="100203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A2"/>
    <a:srgbClr val="40404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6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330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="" xmlns:a16="http://schemas.microsoft.com/office/drawing/2014/main" id="{42F7A84F-E231-42BE-A9F8-B5131853C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BCB813BC-9E49-4ABB-A3C3-CEE0885B02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pPr rtl="0"/>
            <a:fld id="{ECFA5F72-8C3C-47C4-BAAE-AAD53B502F6D}" type="datetime1">
              <a:rPr lang="es-ES" smtClean="0"/>
              <a:t>10/07/2024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47ADFF29-9BE4-4CDF-A198-BBEE303F0E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="" xmlns:a16="http://schemas.microsoft.com/office/drawing/2014/main" id="{60D4AFC6-5A97-4417-A16A-485E5801A6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pPr rtl="0"/>
            <a:fld id="{4FA8C659-3DDB-48CB-A056-6A658A161B7C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607677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pPr rtl="0"/>
            <a:fld id="{934E63C5-A243-470D-8390-8C4D5E642375}" type="datetime1">
              <a:rPr lang="es-ES" smtClean="0"/>
              <a:t>10/07/2024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rtl="0"/>
            <a:endParaRPr lang="es-ES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dirty="0"/>
              <a:t>Segundo nivel</a:t>
            </a:r>
          </a:p>
          <a:p>
            <a:pPr lvl="2" rtl="0"/>
            <a:r>
              <a:rPr lang="es-ES" dirty="0"/>
              <a:t>Tercer nivel</a:t>
            </a:r>
          </a:p>
          <a:p>
            <a:pPr lvl="3" rtl="0"/>
            <a:r>
              <a:rPr lang="es-ES" dirty="0"/>
              <a:t>Cuarto nivel</a:t>
            </a:r>
          </a:p>
          <a:p>
            <a:pPr lvl="4" rtl="0"/>
            <a:r>
              <a:rPr lang="es-ES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pPr rtl="0"/>
            <a:fld id="{9CA004F4-F240-48F9-8AE1-486585C7F00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rtlCol="0"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+mn-lt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 smtClean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088917-CCAE-4D7C-A02D-EE615348765B}" type="datetime1">
              <a:rPr lang="es-ES" noProof="0" smtClean="0"/>
              <a:t>10/07/2024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=""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=""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312EB9-9729-4FAD-8373-A418D3DF724C}" type="datetime1">
              <a:rPr lang="es-ES" noProof="0" smtClean="0"/>
              <a:t>10/07/2024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=""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=""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207C4C-07E3-4EE8-9931-EEC16BF49252}" type="datetime1">
              <a:rPr lang="es-ES" noProof="0" smtClean="0"/>
              <a:t>10/07/2024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=""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número de diapositiva 6">
            <a:extLst>
              <a:ext uri="{FF2B5EF4-FFF2-40B4-BE49-F238E27FC236}">
                <a16:creationId xmlns=""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=""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70FF08-5F54-4A2C-A787-F7D6BFBFC462}" type="datetime1">
              <a:rPr lang="es-ES" noProof="0" smtClean="0"/>
              <a:t>10/07/2024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=""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=""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=""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=""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=""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95B1BDD-7000-4F3F-B9E7-17979A7FBD75}" type="datetime1">
              <a:rPr lang="es-ES" noProof="0" smtClean="0"/>
              <a:t>10/07/2024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=""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=""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CD5CFD7-B49D-4B10-8EA3-A285AD2A605F}" type="datetime1">
              <a:rPr lang="es-ES" noProof="0" smtClean="0"/>
              <a:t>10/07/2024</a:t>
            </a:fld>
            <a:endParaRPr lang="es-ES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=""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=""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224B15-5D30-4E4C-8F83-05B8C13D4DDB}" type="datetime1">
              <a:rPr lang="es-ES" noProof="0" smtClean="0"/>
              <a:t>10/07/2024</a:t>
            </a:fld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=""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=""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=""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BD9BA1-E6FD-4A95-80AB-D864C087A0FC}" type="datetime1">
              <a:rPr lang="es-ES" noProof="0" smtClean="0"/>
              <a:t>10/07/2024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=""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=""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AAFC51-B778-437C-AF2E-CFBBBFE133F8}" type="datetime1">
              <a:rPr lang="es-ES" noProof="0" smtClean="0"/>
              <a:t>10/07/2024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=""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=""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=""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7E9567B-DF5D-4470-94BE-7DF002E86266}" type="datetime1">
              <a:rPr lang="es-ES" noProof="0" smtClean="0"/>
              <a:t>10/07/2024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=""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=""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rensa.ec/2022/04/15/dia-mundial-del-emprendimiento-ecuador-figura-a-nivel-mundial/" TargetMode="External"/><Relationship Id="rId2" Type="http://schemas.openxmlformats.org/officeDocument/2006/relationships/hyperlink" Target="https://www.stodomingo.ute.edu.ec/content/102001-322-1-2-2-8/TEXTO_GUIA_1_El_e_m_p_r_e__n_d_e_d__o_r_de_E_x_i_t_o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positorio.uasb.edu.ec/bitstream/10644/5958/1/08-PV-Mari%C3%B1o.pdf" TargetMode="External"/><Relationship Id="rId5" Type="http://schemas.openxmlformats.org/officeDocument/2006/relationships/hyperlink" Target="https://www.derechosintelectuales.gob.ec/patentes-2/" TargetMode="External"/><Relationship Id="rId4" Type="http://schemas.openxmlformats.org/officeDocument/2006/relationships/hyperlink" Target="http://www.sice.oas.org/int_prop/nat_leg/ecuador/l320a.asp#:~:text=Se%20protegen%20todas%20las%20obras,lugar%20de%20publicaci%C3%B3n%20o%20divulgaci%C3%B3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3339680" y="498763"/>
            <a:ext cx="4991520" cy="1376219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431526" y="2542463"/>
            <a:ext cx="93474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C" sz="5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Gestión y Emprendimiento</a:t>
            </a:r>
            <a:endParaRPr lang="es-ES" sz="5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867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C" dirty="0" smtClean="0"/>
              <a:t>Unidad 1</a:t>
            </a:r>
            <a:br>
              <a:rPr lang="es-EC" dirty="0" smtClean="0"/>
            </a:br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 EMPRENDIMIENTO Y EMPRENDEDOR</a:t>
            </a:r>
            <a:endParaRPr lang="es-EC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81283"/>
            <a:ext cx="10515600" cy="4193513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lnSpc>
                <a:spcPct val="150000"/>
              </a:lnSpc>
              <a:buAutoNum type="arabicPeriod" startAt="3"/>
            </a:pPr>
            <a:r>
              <a:rPr lang="es-ES" sz="1800" b="1" dirty="0" smtClean="0"/>
              <a:t>Ecosistemas </a:t>
            </a:r>
            <a:r>
              <a:rPr lang="es-ES" sz="1800" b="1" dirty="0"/>
              <a:t>de emprendimiento e innovación a nivel local e </a:t>
            </a:r>
            <a:r>
              <a:rPr lang="es-ES" sz="1800" b="1" dirty="0" smtClean="0"/>
              <a:t>internacional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C" sz="1800" dirty="0" smtClean="0"/>
              <a:t>3.1 </a:t>
            </a:r>
            <a:r>
              <a:rPr lang="es-ES" sz="1800" dirty="0" smtClean="0"/>
              <a:t>Actores </a:t>
            </a:r>
            <a:r>
              <a:rPr lang="es-ES" sz="1800" dirty="0"/>
              <a:t>y elementos del ecosistema (política pública y </a:t>
            </a:r>
            <a:r>
              <a:rPr lang="es-ES" sz="1800" dirty="0" err="1"/>
              <a:t>stakeholders</a:t>
            </a:r>
            <a:r>
              <a:rPr lang="es-ES" sz="1800" dirty="0" smtClean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1800" dirty="0" smtClean="0"/>
              <a:t>3.2 Emprendimiento </a:t>
            </a:r>
            <a:r>
              <a:rPr lang="es-ES" sz="1800" dirty="0"/>
              <a:t>global y en </a:t>
            </a:r>
            <a:r>
              <a:rPr lang="es-ES" sz="1800" dirty="0" smtClean="0"/>
              <a:t>Ecuador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1800" dirty="0" smtClean="0"/>
              <a:t>3.3 </a:t>
            </a:r>
            <a:r>
              <a:rPr lang="es-ES" sz="1800" dirty="0"/>
              <a:t>Propiedad intelectual (Propiedad industrial: Patentes, Modelos de utilidad, secretos; Derechos de autor industriales, diseños industriales, registros de marca) </a:t>
            </a:r>
            <a:endParaRPr lang="es-EC" sz="18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s-EC" sz="1800" b="1" dirty="0"/>
              <a:t>4</a:t>
            </a:r>
            <a:r>
              <a:rPr lang="es-EC" sz="1800" b="1" dirty="0" smtClean="0"/>
              <a:t>. </a:t>
            </a:r>
            <a:r>
              <a:rPr lang="es-ES" sz="1800" b="1" dirty="0" smtClean="0"/>
              <a:t>Generación </a:t>
            </a:r>
            <a:r>
              <a:rPr lang="es-ES" sz="1800" b="1" dirty="0"/>
              <a:t>de ideas de negocios en el contexto de los ODS (técnicas y herramientas creativas)</a:t>
            </a:r>
            <a:endParaRPr lang="es-EC" sz="1800" b="1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s-EC" sz="1800" dirty="0" smtClean="0"/>
              <a:t>4.1 </a:t>
            </a:r>
            <a:r>
              <a:rPr lang="es-ES" sz="1800" dirty="0"/>
              <a:t>Técnicas de </a:t>
            </a:r>
            <a:r>
              <a:rPr lang="es-ES" sz="1800" dirty="0" smtClean="0"/>
              <a:t>creatividad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1800" dirty="0" smtClean="0"/>
              <a:t>4.2 Metodologías Ágiles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1800" dirty="0" smtClean="0"/>
              <a:t>4.3 </a:t>
            </a:r>
            <a:r>
              <a:rPr lang="es-ES" dirty="0" err="1"/>
              <a:t>Design</a:t>
            </a:r>
            <a:r>
              <a:rPr lang="es-ES" dirty="0"/>
              <a:t> </a:t>
            </a:r>
            <a:r>
              <a:rPr lang="es-ES" dirty="0" err="1"/>
              <a:t>Thinking</a:t>
            </a:r>
            <a:r>
              <a:rPr lang="es-ES" dirty="0"/>
              <a:t> - Empatizar, definir, idear, </a:t>
            </a:r>
            <a:r>
              <a:rPr lang="es-ES" dirty="0" err="1"/>
              <a:t>prototipar</a:t>
            </a:r>
            <a:r>
              <a:rPr lang="es-ES" dirty="0"/>
              <a:t>, testear (evaluar) (Aumentar)</a:t>
            </a:r>
            <a:endParaRPr lang="es-EC" sz="1800" dirty="0" smtClean="0"/>
          </a:p>
          <a:p>
            <a:pPr marL="0" indent="0">
              <a:lnSpc>
                <a:spcPct val="150000"/>
              </a:lnSpc>
              <a:buNone/>
            </a:pPr>
            <a:endParaRPr lang="es-EC" sz="1800" dirty="0" smtClean="0"/>
          </a:p>
          <a:p>
            <a:pPr marL="0" indent="0">
              <a:lnSpc>
                <a:spcPct val="150000"/>
              </a:lnSpc>
              <a:buNone/>
            </a:pPr>
            <a:endParaRPr lang="es-EC" sz="1800" dirty="0" smtClean="0"/>
          </a:p>
          <a:p>
            <a:endParaRPr lang="es-EC" dirty="0" smtClean="0"/>
          </a:p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302281" y="174530"/>
            <a:ext cx="3212195" cy="88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2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3</a:t>
            </a:fld>
            <a:endParaRPr lang="es-ES" noProof="0" dirty="0"/>
          </a:p>
        </p:txBody>
      </p:sp>
      <p:sp>
        <p:nvSpPr>
          <p:cNvPr id="9" name="Marcador de contenido 2"/>
          <p:cNvSpPr>
            <a:spLocks noGrp="1"/>
          </p:cNvSpPr>
          <p:nvPr>
            <p:ph idx="1"/>
          </p:nvPr>
        </p:nvSpPr>
        <p:spPr>
          <a:xfrm>
            <a:off x="750735" y="1864581"/>
            <a:ext cx="10515600" cy="4675446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AutoNum type="arabicPeriod" startAt="3"/>
            </a:pPr>
            <a:r>
              <a:rPr lang="es-ES" b="1" dirty="0" smtClean="0"/>
              <a:t>Ecosistemas </a:t>
            </a:r>
            <a:r>
              <a:rPr lang="es-ES" b="1" dirty="0"/>
              <a:t>de emprendimiento e innovación a nivel local e internacional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s-EC" dirty="0"/>
              <a:t>3.1 </a:t>
            </a:r>
            <a:r>
              <a:rPr lang="es-ES" dirty="0"/>
              <a:t>Actores y elementos del ecosistema (política pública y </a:t>
            </a:r>
            <a:r>
              <a:rPr lang="es-ES" dirty="0" err="1"/>
              <a:t>stakeholders</a:t>
            </a:r>
            <a:r>
              <a:rPr lang="es-ES" dirty="0"/>
              <a:t>)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C" sz="2100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>Unidad 1</a:t>
            </a:r>
            <a:br>
              <a:rPr lang="es-EC" dirty="0" smtClean="0"/>
            </a:br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 EMPRENDIMIENTO Y EMPRENDEDOR</a:t>
            </a:r>
            <a:endParaRPr lang="es-EC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87596" y="98422"/>
            <a:ext cx="3371221" cy="929484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/>
          <a:srcRect l="28305" t="35131" r="29239" b="20463"/>
          <a:stretch/>
        </p:blipFill>
        <p:spPr>
          <a:xfrm>
            <a:off x="2693504" y="2704999"/>
            <a:ext cx="5643315" cy="3320109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6353093" y="5939030"/>
            <a:ext cx="4746928" cy="508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s-EC" sz="1000" b="1" dirty="0">
                <a:ln/>
                <a:solidFill>
                  <a:schemeClr val="accent3"/>
                </a:solidFill>
              </a:rPr>
              <a:t>Fuente: https://revistas.uasb.edu.ec/index.php/eg/article/download/578/665?inline=1</a:t>
            </a:r>
          </a:p>
        </p:txBody>
      </p:sp>
      <p:sp>
        <p:nvSpPr>
          <p:cNvPr id="3" name="Rectángulo 2"/>
          <p:cNvSpPr/>
          <p:nvPr/>
        </p:nvSpPr>
        <p:spPr>
          <a:xfrm>
            <a:off x="644193" y="3164725"/>
            <a:ext cx="18468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smtClean="0"/>
              <a:t>Actores </a:t>
            </a:r>
            <a:r>
              <a:rPr lang="es-ES" dirty="0"/>
              <a:t>empresariales, incluyendo a los emprendedores</a:t>
            </a:r>
            <a:endParaRPr lang="es-EC" dirty="0"/>
          </a:p>
        </p:txBody>
      </p:sp>
      <p:sp>
        <p:nvSpPr>
          <p:cNvPr id="5" name="Rectángulo 4"/>
          <p:cNvSpPr/>
          <p:nvPr/>
        </p:nvSpPr>
        <p:spPr>
          <a:xfrm>
            <a:off x="8336820" y="2844687"/>
            <a:ext cx="25390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smtClean="0"/>
              <a:t>Proveedores </a:t>
            </a:r>
            <a:r>
              <a:rPr lang="es-ES" dirty="0"/>
              <a:t>de recursos empresariales, incluidas las fuentes financieras,</a:t>
            </a:r>
            <a:endParaRPr lang="es-EC" dirty="0"/>
          </a:p>
        </p:txBody>
      </p:sp>
      <p:sp>
        <p:nvSpPr>
          <p:cNvPr id="6" name="Rectángulo 5"/>
          <p:cNvSpPr/>
          <p:nvPr/>
        </p:nvSpPr>
        <p:spPr>
          <a:xfrm>
            <a:off x="548226" y="4534996"/>
            <a:ext cx="248809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smtClean="0"/>
              <a:t>Asociaciones </a:t>
            </a:r>
            <a:r>
              <a:rPr lang="es-ES" dirty="0"/>
              <a:t>de profesionales, los grupos industriales, las cámaras de comercio e industria</a:t>
            </a:r>
            <a:endParaRPr lang="es-EC" dirty="0"/>
          </a:p>
        </p:txBody>
      </p:sp>
      <p:sp>
        <p:nvSpPr>
          <p:cNvPr id="8" name="Rectángulo 7"/>
          <p:cNvSpPr/>
          <p:nvPr/>
        </p:nvSpPr>
        <p:spPr>
          <a:xfrm>
            <a:off x="8336819" y="4544461"/>
            <a:ext cx="32978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R</a:t>
            </a:r>
            <a:r>
              <a:rPr lang="es-ES" smtClean="0"/>
              <a:t>eferencia </a:t>
            </a:r>
            <a:r>
              <a:rPr lang="es-ES" dirty="0"/>
              <a:t>a la cultura de la región o país, una cultura propensa al riesgo y con</a:t>
            </a:r>
          </a:p>
          <a:p>
            <a:r>
              <a:rPr lang="es-ES" dirty="0"/>
              <a:t>voluntad para buscar el éxito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47994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4</a:t>
            </a:fld>
            <a:endParaRPr lang="es-ES" noProof="0" dirty="0"/>
          </a:p>
        </p:txBody>
      </p:sp>
      <p:sp>
        <p:nvSpPr>
          <p:cNvPr id="9" name="Marcador de contenido 2"/>
          <p:cNvSpPr>
            <a:spLocks noGrp="1"/>
          </p:cNvSpPr>
          <p:nvPr>
            <p:ph idx="1"/>
          </p:nvPr>
        </p:nvSpPr>
        <p:spPr>
          <a:xfrm>
            <a:off x="750735" y="1864581"/>
            <a:ext cx="10515600" cy="4675446"/>
          </a:xfrm>
        </p:spPr>
        <p:txBody>
          <a:bodyPr>
            <a:normAutofit/>
          </a:bodyPr>
          <a:lstStyle/>
          <a:p>
            <a:endParaRPr lang="es-EC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s-ES" sz="2400" b="1" dirty="0"/>
              <a:t>Emprendimiento </a:t>
            </a:r>
            <a:r>
              <a:rPr lang="es-ES" sz="2400" b="1" dirty="0" smtClean="0"/>
              <a:t>global</a:t>
            </a:r>
            <a:endParaRPr lang="es-ES" sz="2400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>Unidad 1</a:t>
            </a:r>
            <a:br>
              <a:rPr lang="es-EC" dirty="0" smtClean="0"/>
            </a:br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 EMPRENDIMIENTO Y EMPRENDEDOR</a:t>
            </a:r>
            <a:endParaRPr lang="es-EC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159159" y="191232"/>
            <a:ext cx="2917997" cy="804525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838201" y="3060720"/>
            <a:ext cx="9824498" cy="128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srgbClr val="040C28"/>
                </a:solidFill>
                <a:latin typeface="Google Sans"/>
              </a:rPr>
              <a:t>La Red Global </a:t>
            </a:r>
            <a:r>
              <a:rPr lang="es-ES" dirty="0" err="1">
                <a:solidFill>
                  <a:srgbClr val="040C28"/>
                </a:solidFill>
                <a:latin typeface="Google Sans"/>
              </a:rPr>
              <a:t>Entrepreneurship</a:t>
            </a:r>
            <a:r>
              <a:rPr lang="es-ES" dirty="0">
                <a:solidFill>
                  <a:srgbClr val="040C28"/>
                </a:solidFill>
                <a:latin typeface="Google Sans"/>
              </a:rPr>
              <a:t> (GEN) tiene como objetivo la construcción de un ecosistema global, empresarial, conectando a empresarios, inversores, investigadores, políticos y otros</a:t>
            </a:r>
            <a:r>
              <a:rPr lang="es-ES" dirty="0">
                <a:solidFill>
                  <a:srgbClr val="202124"/>
                </a:solidFill>
                <a:latin typeface="Google Sans"/>
              </a:rPr>
              <a:t>. Actualmente pertenecen a la red 160 países, 20.000 socios y diez millones de personas.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78629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5</a:t>
            </a:fld>
            <a:endParaRPr lang="es-ES" noProof="0" dirty="0"/>
          </a:p>
        </p:txBody>
      </p:sp>
      <p:sp>
        <p:nvSpPr>
          <p:cNvPr id="9" name="Marcador de contenido 2"/>
          <p:cNvSpPr>
            <a:spLocks noGrp="1"/>
          </p:cNvSpPr>
          <p:nvPr>
            <p:ph idx="1"/>
          </p:nvPr>
        </p:nvSpPr>
        <p:spPr>
          <a:xfrm>
            <a:off x="750735" y="1864581"/>
            <a:ext cx="10515600" cy="4675446"/>
          </a:xfrm>
        </p:spPr>
        <p:txBody>
          <a:bodyPr>
            <a:normAutofit/>
          </a:bodyPr>
          <a:lstStyle/>
          <a:p>
            <a:endParaRPr lang="es-EC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s-ES" sz="2400" b="1" dirty="0" smtClean="0"/>
              <a:t>Emprendimiento en Ecuador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/>
              <a:t>A pesar de las barreras que han tenido que sobrellevar los emprendedores durante y post la pandemia, estos actores siguen siendo un motor de innovación y crecimiento continuo. Según el Global </a:t>
            </a:r>
            <a:r>
              <a:rPr lang="es-ES" sz="2400" dirty="0" err="1"/>
              <a:t>Entrepreneurship</a:t>
            </a:r>
            <a:r>
              <a:rPr lang="es-ES" sz="2400" dirty="0"/>
              <a:t> Monitor Ecuador (GEM 2019), la Actividad Emprendedora Temprana (TEA) fue del 36,2% en el año 2019, convirtiéndose en el país con más emprendedores a nivel mundial. </a:t>
            </a: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>Unidad 1</a:t>
            </a:r>
            <a:br>
              <a:rPr lang="es-EC" dirty="0" smtClean="0"/>
            </a:br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 EMPRENDIMIENTO Y EMPRENDEDOR</a:t>
            </a:r>
            <a:endParaRPr lang="es-EC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159159" y="191232"/>
            <a:ext cx="2917997" cy="80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81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6</a:t>
            </a:fld>
            <a:endParaRPr lang="es-ES" noProof="0" dirty="0"/>
          </a:p>
        </p:txBody>
      </p:sp>
      <p:sp>
        <p:nvSpPr>
          <p:cNvPr id="9" name="Marcador de contenido 2"/>
          <p:cNvSpPr>
            <a:spLocks noGrp="1"/>
          </p:cNvSpPr>
          <p:nvPr>
            <p:ph idx="1"/>
          </p:nvPr>
        </p:nvSpPr>
        <p:spPr>
          <a:xfrm>
            <a:off x="750735" y="1864581"/>
            <a:ext cx="10515600" cy="4675446"/>
          </a:xfrm>
        </p:spPr>
        <p:txBody>
          <a:bodyPr>
            <a:normAutofit lnSpcReduction="10000"/>
          </a:bodyPr>
          <a:lstStyle/>
          <a:p>
            <a:endParaRPr lang="es-EC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s-ES" sz="2400" dirty="0"/>
              <a:t>En Ecuador, las tiendas de barrio se han convertido por excelencia en el emprendimiento de miles de familias y el motor de la economía popular y solidaria. Estas unidades de negocio cumplen un rol fundamental en la sostenibilidad alimentaria abasteciendo de forma directa a los 17 mil ecuatorianos. Más del 70% de las tiendas están administradas por mujeres emprendedoras, que son cabeza de hogar y que generan, a través del comercio de sus productos, ingresos para la alimentación de su casa, la educación de sus hijos y el desarrollo de sus hogares.  </a:t>
            </a:r>
            <a:endParaRPr lang="es-EC" sz="2400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>Unidad 1</a:t>
            </a:r>
            <a:br>
              <a:rPr lang="es-EC" dirty="0" smtClean="0"/>
            </a:br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 EMPRENDIMIENTO Y EMPRENDEDOR</a:t>
            </a:r>
            <a:endParaRPr lang="es-EC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294331" y="191232"/>
            <a:ext cx="3195620" cy="88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0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7</a:t>
            </a:fld>
            <a:endParaRPr lang="es-ES" noProof="0" dirty="0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C" dirty="0"/>
              <a:t>Unidad 1</a:t>
            </a:r>
            <a:br>
              <a:rPr lang="es-EC" dirty="0"/>
            </a:br>
            <a:r>
              <a:rPr lang="es-EC" dirty="0"/>
              <a:t/>
            </a:r>
            <a:br>
              <a:rPr lang="es-EC" dirty="0"/>
            </a:br>
            <a:r>
              <a:rPr lang="es-EC" dirty="0"/>
              <a:t> EMPRENDIMIENTO Y EMPRENDEDOR</a:t>
            </a:r>
          </a:p>
        </p:txBody>
      </p:sp>
      <p:sp>
        <p:nvSpPr>
          <p:cNvPr id="8" name="Rectángulo 7"/>
          <p:cNvSpPr/>
          <p:nvPr/>
        </p:nvSpPr>
        <p:spPr>
          <a:xfrm>
            <a:off x="477078" y="1747458"/>
            <a:ext cx="11348881" cy="785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600" b="1" dirty="0"/>
              <a:t>3.3 Propiedad intelectual (Propiedad industrial: Patentes, Modelos de utilidad, secretos; Derechos de autor industriales, diseños industriales, registros de marca) </a:t>
            </a:r>
            <a:endParaRPr lang="es-EC" sz="1600" b="1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95548" y="117849"/>
            <a:ext cx="2957753" cy="815486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477078" y="2574760"/>
            <a:ext cx="1071504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b="1" dirty="0"/>
              <a:t>DERECHOS DE PROPIEDAD INTELECTUAL</a:t>
            </a:r>
          </a:p>
          <a:p>
            <a:pPr algn="ctr">
              <a:lnSpc>
                <a:spcPct val="150000"/>
              </a:lnSpc>
            </a:pPr>
            <a:r>
              <a:rPr lang="es-ES" b="1" dirty="0"/>
              <a:t>LEGISLACION NACIONAL - ECUADOR</a:t>
            </a:r>
            <a:endParaRPr lang="es-ES" dirty="0"/>
          </a:p>
          <a:p>
            <a:pPr algn="ctr">
              <a:lnSpc>
                <a:spcPct val="150000"/>
              </a:lnSpc>
            </a:pPr>
            <a:r>
              <a:rPr lang="es-ES" b="1" dirty="0"/>
              <a:t>Ley de la Propiedad </a:t>
            </a:r>
            <a:r>
              <a:rPr lang="es-ES" b="1" dirty="0" smtClean="0"/>
              <a:t>Intelectual</a:t>
            </a:r>
            <a:endParaRPr lang="es-ES" b="1" dirty="0" smtClean="0">
              <a:solidFill>
                <a:srgbClr val="150A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ES" b="1" dirty="0" smtClean="0">
                <a:solidFill>
                  <a:srgbClr val="150A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</a:t>
            </a:r>
            <a:r>
              <a:rPr lang="es-ES" b="1" dirty="0">
                <a:solidFill>
                  <a:srgbClr val="150A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5.</a:t>
            </a:r>
            <a:r>
              <a:rPr lang="es-ES" dirty="0">
                <a:solidFill>
                  <a:srgbClr val="150A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El derecho de autor nace y se protege por el solo hecho de la creación de la obra, independientemente de su mérito, destino o modo de expresión.</a:t>
            </a:r>
          </a:p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150A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protegen todas las obras, interpretaciones, ejecuciones, producciones o emisiones radiofónicas cualquiera sea el país de origen de la obra, la nacionalidad o el domicilio del autor o titular. Esta protección también se reconoce cualquiera que sea el lugar de publicación o divulgación.</a:t>
            </a:r>
            <a:endParaRPr lang="es-ES" b="0" i="0" dirty="0">
              <a:solidFill>
                <a:srgbClr val="150A0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559241" y="6216861"/>
            <a:ext cx="109096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b="1" dirty="0" smtClean="0"/>
              <a:t>Ver video: </a:t>
            </a:r>
            <a:r>
              <a:rPr lang="es-EC" dirty="0" smtClean="0"/>
              <a:t>https</a:t>
            </a:r>
            <a:r>
              <a:rPr lang="es-EC" dirty="0"/>
              <a:t>://www.youtube.com/watch?v=USdzHnSZ3OU&amp;ab_channel=SuperintendenciadeIndustriayComercio</a:t>
            </a:r>
          </a:p>
        </p:txBody>
      </p:sp>
    </p:spTree>
    <p:extLst>
      <p:ext uri="{BB962C8B-B14F-4D97-AF65-F5344CB8AC3E}">
        <p14:creationId xmlns:p14="http://schemas.microsoft.com/office/powerpoint/2010/main" val="607193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C" dirty="0"/>
              <a:t>Unidad 1</a:t>
            </a:r>
            <a:br>
              <a:rPr lang="es-EC" dirty="0"/>
            </a:br>
            <a:r>
              <a:rPr lang="es-EC" dirty="0"/>
              <a:t/>
            </a:r>
            <a:br>
              <a:rPr lang="es-EC" dirty="0"/>
            </a:br>
            <a:r>
              <a:rPr lang="es-EC" dirty="0"/>
              <a:t> EMPRENDIMIENTO Y EMPRENDEDOR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8</a:t>
            </a:fld>
            <a:endParaRPr lang="es-ES" noProof="0" dirty="0"/>
          </a:p>
        </p:txBody>
      </p:sp>
      <p:sp>
        <p:nvSpPr>
          <p:cNvPr id="8" name="Rectángulo 7"/>
          <p:cNvSpPr/>
          <p:nvPr/>
        </p:nvSpPr>
        <p:spPr>
          <a:xfrm>
            <a:off x="477078" y="1747458"/>
            <a:ext cx="11348881" cy="785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600" b="1" dirty="0"/>
              <a:t>3.3 Propiedad intelectual (Propiedad industrial: Patentes, Modelos de utilidad, secretos; Derechos de autor industriales, diseños industriales, registros de marca) </a:t>
            </a:r>
            <a:endParaRPr lang="es-EC" sz="1600" b="1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95548" y="117849"/>
            <a:ext cx="2957753" cy="815486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638754" y="2589571"/>
            <a:ext cx="1071504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b="1" dirty="0"/>
              <a:t>Patente de invención</a:t>
            </a:r>
            <a:endParaRPr lang="es-ES" dirty="0"/>
          </a:p>
          <a:p>
            <a:pPr>
              <a:lnSpc>
                <a:spcPct val="150000"/>
              </a:lnSpc>
            </a:pPr>
            <a:r>
              <a:rPr lang="es-ES" dirty="0"/>
              <a:t> </a:t>
            </a:r>
          </a:p>
          <a:p>
            <a:pPr>
              <a:lnSpc>
                <a:spcPct val="150000"/>
              </a:lnSpc>
            </a:pPr>
            <a:r>
              <a:rPr lang="es-ES" dirty="0"/>
              <a:t>Una patente es un derecho exclusivo que concede el Estado para la protección de una invención, la que proporciona derechos exclusivos que permitirán utilizar y explotar su invención e impedir que terceros la utilicen sin su consentimiento. Si opta por no explotar la patente, puede venderla o ceder los derechos a otra empresa para que la comercialice bajo licencia. Se pueden patentar todas las invenciones, sean de producto o de procedimiento, en todos los campos de la tecnología, siempre que sean nuevas, tengan nivel inventivo y sean susceptibles de aplicación industrial.</a:t>
            </a:r>
          </a:p>
          <a:p>
            <a:endParaRPr lang="es-ES" b="0" i="0" dirty="0">
              <a:solidFill>
                <a:srgbClr val="150A0F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716942" y="6282890"/>
            <a:ext cx="11348881" cy="416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C" sz="1600" b="1" dirty="0" smtClean="0"/>
              <a:t>Ver video: https</a:t>
            </a:r>
            <a:r>
              <a:rPr lang="es-EC" sz="1600" b="1" dirty="0"/>
              <a:t>://www.youtube.com/watch?v=BYDkfbtNMHI&amp;ab_channel=SenapiBolivia</a:t>
            </a:r>
          </a:p>
        </p:txBody>
      </p:sp>
    </p:spTree>
    <p:extLst>
      <p:ext uri="{BB962C8B-B14F-4D97-AF65-F5344CB8AC3E}">
        <p14:creationId xmlns:p14="http://schemas.microsoft.com/office/powerpoint/2010/main" val="2762623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9</a:t>
            </a:fld>
            <a:endParaRPr lang="es-ES" noProof="0" dirty="0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C" dirty="0"/>
              <a:t>Unidad 1</a:t>
            </a:r>
            <a:br>
              <a:rPr lang="es-EC" dirty="0"/>
            </a:br>
            <a:r>
              <a:rPr lang="es-EC" dirty="0"/>
              <a:t/>
            </a:r>
            <a:br>
              <a:rPr lang="es-EC" dirty="0"/>
            </a:br>
            <a:r>
              <a:rPr lang="es-EC" dirty="0"/>
              <a:t> EMPRENDIMIENTO Y EMPRENDEDOR</a:t>
            </a:r>
          </a:p>
        </p:txBody>
      </p:sp>
      <p:sp>
        <p:nvSpPr>
          <p:cNvPr id="8" name="Rectángulo 7"/>
          <p:cNvSpPr/>
          <p:nvPr/>
        </p:nvSpPr>
        <p:spPr>
          <a:xfrm>
            <a:off x="477078" y="1747458"/>
            <a:ext cx="11348881" cy="785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600" b="1" dirty="0"/>
              <a:t>3.3 Propiedad intelectual (Propiedad industrial: Patentes, Modelos de utilidad, secretos; Derechos de autor industriales, diseños industriales, registros de marca) </a:t>
            </a:r>
            <a:endParaRPr lang="es-EC" sz="1600" b="1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95548" y="117849"/>
            <a:ext cx="2957753" cy="815486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638754" y="2918894"/>
            <a:ext cx="10715046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/>
              <a:t>Modelo de utilidad</a:t>
            </a:r>
            <a:endParaRPr lang="es-ES" dirty="0"/>
          </a:p>
          <a:p>
            <a:r>
              <a:rPr lang="es-ES" dirty="0"/>
              <a:t> </a:t>
            </a:r>
          </a:p>
          <a:p>
            <a:pPr>
              <a:lnSpc>
                <a:spcPct val="150000"/>
              </a:lnSpc>
            </a:pPr>
            <a:r>
              <a:rPr lang="es-ES" dirty="0"/>
              <a:t>Son títulos de propiedad industrial que, al igual que las patentes, protegen invenciones, de menor complejidad técnica. Se considera modelo de utilidad, a toda nueva forma, configuración o disposición de elementos, de algún artefacto, herramienta, instrumento, mecanismo u otro objeto o de alguna parte del mismo, que permita un mejor o diferente funcionamiento, utilización o fabricación del objeto que le incorpore o que le proporcione alguna utilidad, ventaja o efecto técnico que antes no tenía.</a:t>
            </a:r>
          </a:p>
          <a:p>
            <a:endParaRPr lang="es-ES" b="0" i="0" dirty="0">
              <a:solidFill>
                <a:srgbClr val="150A0F"/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l="37500" t="25971" r="40130" b="45855"/>
          <a:stretch/>
        </p:blipFill>
        <p:spPr>
          <a:xfrm>
            <a:off x="9803958" y="195394"/>
            <a:ext cx="2083241" cy="147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6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10</a:t>
            </a:fld>
            <a:endParaRPr lang="es-ES" noProof="0" dirty="0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C" dirty="0"/>
              <a:t>Unidad 1</a:t>
            </a:r>
            <a:br>
              <a:rPr lang="es-EC" dirty="0"/>
            </a:br>
            <a:r>
              <a:rPr lang="es-EC" dirty="0"/>
              <a:t/>
            </a:r>
            <a:br>
              <a:rPr lang="es-EC" dirty="0"/>
            </a:br>
            <a:r>
              <a:rPr lang="es-EC" dirty="0"/>
              <a:t> EMPRENDIMIENTO Y EMPRENDEDOR</a:t>
            </a:r>
          </a:p>
        </p:txBody>
      </p:sp>
      <p:sp>
        <p:nvSpPr>
          <p:cNvPr id="8" name="Rectángulo 7"/>
          <p:cNvSpPr/>
          <p:nvPr/>
        </p:nvSpPr>
        <p:spPr>
          <a:xfrm>
            <a:off x="477078" y="1747458"/>
            <a:ext cx="11348881" cy="785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600" b="1" dirty="0"/>
              <a:t>3.3 Propiedad intelectual (Propiedad industrial: Patentes, Modelos de utilidad, secretos; Derechos de autor industriales, diseños industriales, registros de marca) </a:t>
            </a:r>
            <a:endParaRPr lang="es-EC" sz="1600" b="1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95548" y="117849"/>
            <a:ext cx="2957753" cy="815486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638754" y="2918894"/>
            <a:ext cx="1071504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/>
              <a:t>Diseño industrial</a:t>
            </a:r>
            <a:endParaRPr lang="es-ES" dirty="0"/>
          </a:p>
          <a:p>
            <a:r>
              <a:rPr lang="es-ES" dirty="0"/>
              <a:t> </a:t>
            </a:r>
          </a:p>
          <a:p>
            <a:pPr>
              <a:lnSpc>
                <a:spcPct val="150000"/>
              </a:lnSpc>
            </a:pPr>
            <a:r>
              <a:rPr lang="es-ES" dirty="0"/>
              <a:t>Se considera como diseño industrial la apariencia particular de un producto que resulte de cualquier reunión de líneas o combinación de colores, o de cualquier forma externa bidimensional o tridimensional, línea, contorno, configuración, textura o material, sin que cambie el destino o finalidad de dicho producto.</a:t>
            </a:r>
          </a:p>
          <a:p>
            <a:endParaRPr lang="es-ES" b="0" i="0" dirty="0">
              <a:solidFill>
                <a:srgbClr val="150A0F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470991" y="5756744"/>
            <a:ext cx="7593496" cy="667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906449" y="5477102"/>
            <a:ext cx="10061462" cy="914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 smtClean="0"/>
              <a:t>Ver video: https</a:t>
            </a:r>
            <a:r>
              <a:rPr lang="es-EC" dirty="0"/>
              <a:t>://www.youtube.com/watch?v=TN0CvURdDPE&amp;ab_channel=Canal13C</a:t>
            </a:r>
          </a:p>
        </p:txBody>
      </p:sp>
    </p:spTree>
    <p:extLst>
      <p:ext uri="{BB962C8B-B14F-4D97-AF65-F5344CB8AC3E}">
        <p14:creationId xmlns:p14="http://schemas.microsoft.com/office/powerpoint/2010/main" val="309381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11</a:t>
            </a:fld>
            <a:endParaRPr lang="es-ES" noProof="0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79292"/>
          </a:xfrm>
        </p:spPr>
        <p:txBody>
          <a:bodyPr>
            <a:normAutofit fontScale="90000"/>
          </a:bodyPr>
          <a:lstStyle/>
          <a:p>
            <a:pPr algn="ctr"/>
            <a:r>
              <a:rPr lang="es-EC" sz="3600" dirty="0" smtClean="0"/>
              <a:t/>
            </a:r>
            <a:br>
              <a:rPr lang="es-EC" sz="3600" dirty="0" smtClean="0"/>
            </a:br>
            <a:r>
              <a:rPr lang="es-EC" sz="3600" dirty="0" smtClean="0"/>
              <a:t>Unidad 1</a:t>
            </a:r>
            <a:r>
              <a:rPr lang="es-EC" sz="3600" dirty="0"/>
              <a:t/>
            </a:r>
            <a:br>
              <a:rPr lang="es-EC" sz="3600" dirty="0"/>
            </a:br>
            <a:r>
              <a:rPr lang="es-EC" sz="3600" dirty="0"/>
              <a:t> EMPRENDIMIENTO Y </a:t>
            </a:r>
            <a:r>
              <a:rPr lang="es-EC" sz="3600" dirty="0" smtClean="0"/>
              <a:t>EMPRENDEDOR</a:t>
            </a:r>
            <a:r>
              <a:rPr lang="es-EC" sz="3600" dirty="0"/>
              <a:t/>
            </a:r>
            <a:br>
              <a:rPr lang="es-EC" sz="3600" dirty="0"/>
            </a:br>
            <a:r>
              <a:rPr lang="es-EC" sz="3600" dirty="0" smtClean="0"/>
              <a:t/>
            </a:r>
            <a:br>
              <a:rPr lang="es-EC" sz="3600" dirty="0" smtClean="0"/>
            </a:br>
            <a:endParaRPr lang="es-EC" sz="3600" dirty="0">
              <a:solidFill>
                <a:schemeClr val="tx1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262525" y="191232"/>
            <a:ext cx="2782824" cy="76725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l="5120" t="18803" r="28990" b="15090"/>
          <a:stretch/>
        </p:blipFill>
        <p:spPr>
          <a:xfrm>
            <a:off x="2027582" y="2214437"/>
            <a:ext cx="7879743" cy="4389121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4478352" y="1686079"/>
            <a:ext cx="2326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 smtClean="0"/>
              <a:t>Registros </a:t>
            </a:r>
            <a:r>
              <a:rPr lang="es-ES" b="1" dirty="0"/>
              <a:t>de marca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20949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59542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>Unidad 1</a:t>
            </a:r>
            <a:br>
              <a:rPr lang="es-EC" dirty="0" smtClean="0"/>
            </a:br>
            <a:r>
              <a:rPr lang="es-EC" dirty="0" smtClean="0"/>
              <a:t> EMPRENDIMIENTO Y EMPRENDEDOR</a:t>
            </a:r>
            <a:br>
              <a:rPr lang="es-EC" dirty="0" smtClean="0"/>
            </a:b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12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0" y="91178"/>
            <a:ext cx="3397495" cy="936728"/>
          </a:xfrm>
          <a:prstGeom prst="rect">
            <a:avLst/>
          </a:prstGeom>
        </p:spPr>
      </p:pic>
      <p:sp>
        <p:nvSpPr>
          <p:cNvPr id="9" name="AutoShape 2" descr="Métodos de producción industrial | EA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1131802" y="2006126"/>
            <a:ext cx="10515600" cy="4351338"/>
          </a:xfrm>
        </p:spPr>
        <p:txBody>
          <a:bodyPr/>
          <a:lstStyle/>
          <a:p>
            <a:r>
              <a:rPr lang="es-EC" b="1" dirty="0"/>
              <a:t>4. </a:t>
            </a:r>
            <a:r>
              <a:rPr lang="es-ES" b="1" dirty="0"/>
              <a:t>Generación de ideas de negocios en el contexto de los ODS (técnicas y herramientas creativas)</a:t>
            </a:r>
            <a:endParaRPr lang="es-EC" b="1" dirty="0"/>
          </a:p>
          <a:p>
            <a:pPr marL="0" indent="0">
              <a:buNone/>
            </a:pPr>
            <a:endParaRPr lang="es-EC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l="29608" t="39188" r="30022" b="12348"/>
          <a:stretch/>
        </p:blipFill>
        <p:spPr>
          <a:xfrm>
            <a:off x="4500438" y="2653776"/>
            <a:ext cx="6225872" cy="4204224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131802" y="3395207"/>
            <a:ext cx="2931315" cy="15186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Técnicas de creatividad</a:t>
            </a:r>
            <a:endParaRPr lang="es-EC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462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0366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Unidad </a:t>
            </a:r>
            <a:r>
              <a:rPr lang="es-EC" dirty="0"/>
              <a:t>1</a:t>
            </a:r>
            <a:br>
              <a:rPr lang="es-EC" dirty="0"/>
            </a:br>
            <a:r>
              <a:rPr lang="es-EC" dirty="0"/>
              <a:t> EMPRENDIMIENTO Y </a:t>
            </a:r>
            <a:r>
              <a:rPr lang="es-EC" dirty="0" smtClean="0"/>
              <a:t>EMPRENDEDOR</a:t>
            </a:r>
            <a:r>
              <a:rPr lang="es-EC" dirty="0"/>
              <a:t/>
            </a:r>
            <a:br>
              <a:rPr lang="es-EC" dirty="0"/>
            </a:br>
            <a:r>
              <a:rPr lang="es-EC" sz="4800" dirty="0">
                <a:latin typeface="Arial MT"/>
                <a:ea typeface="Arial MT"/>
                <a:cs typeface="Arial MT"/>
              </a:rPr>
              <a:t/>
            </a:r>
            <a:br>
              <a:rPr lang="es-EC" sz="4800" dirty="0">
                <a:latin typeface="Arial MT"/>
                <a:ea typeface="Arial MT"/>
                <a:cs typeface="Arial MT"/>
              </a:rPr>
            </a:b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13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278428" y="84773"/>
            <a:ext cx="3108828" cy="857139"/>
          </a:xfrm>
          <a:prstGeom prst="rect">
            <a:avLst/>
          </a:prstGeom>
        </p:spPr>
      </p:pic>
      <p:sp>
        <p:nvSpPr>
          <p:cNvPr id="8" name="AutoShape 2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10" name="AutoShape 4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9" name="Rectángulo 8"/>
          <p:cNvSpPr/>
          <p:nvPr/>
        </p:nvSpPr>
        <p:spPr>
          <a:xfrm>
            <a:off x="1123851" y="3101008"/>
            <a:ext cx="2931315" cy="15186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Técnicas de creatividad</a:t>
            </a:r>
            <a:endParaRPr lang="es-EC" dirty="0">
              <a:solidFill>
                <a:schemeClr val="tx1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l="32348" t="43479" r="30087" b="26956"/>
          <a:stretch/>
        </p:blipFill>
        <p:spPr>
          <a:xfrm>
            <a:off x="5072933" y="1648363"/>
            <a:ext cx="6035040" cy="267176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4"/>
          <a:srcRect l="29478" t="19595" r="33413" b="58492"/>
          <a:stretch/>
        </p:blipFill>
        <p:spPr>
          <a:xfrm>
            <a:off x="4978506" y="4214191"/>
            <a:ext cx="6223894" cy="206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969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0366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Unidad </a:t>
            </a:r>
            <a:r>
              <a:rPr lang="es-EC" dirty="0"/>
              <a:t>1</a:t>
            </a:r>
            <a:br>
              <a:rPr lang="es-EC" dirty="0"/>
            </a:br>
            <a:r>
              <a:rPr lang="es-EC" dirty="0"/>
              <a:t> EMPRENDIMIENTO Y </a:t>
            </a:r>
            <a:r>
              <a:rPr lang="es-EC" dirty="0" smtClean="0"/>
              <a:t>EMPRENDEDOR</a:t>
            </a:r>
            <a:r>
              <a:rPr lang="es-EC" dirty="0"/>
              <a:t/>
            </a:r>
            <a:br>
              <a:rPr lang="es-EC" dirty="0"/>
            </a:b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929228"/>
            <a:ext cx="9403080" cy="446871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800" dirty="0"/>
              <a:t>Metodologías Ágiles</a:t>
            </a:r>
            <a:endParaRPr lang="es-ES" sz="1800" i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14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278428" y="84773"/>
            <a:ext cx="3108828" cy="857139"/>
          </a:xfrm>
          <a:prstGeom prst="rect">
            <a:avLst/>
          </a:prstGeom>
        </p:spPr>
      </p:pic>
      <p:sp>
        <p:nvSpPr>
          <p:cNvPr id="8" name="AutoShape 2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10" name="AutoShape 4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6" name="Rectángulo 5"/>
          <p:cNvSpPr/>
          <p:nvPr/>
        </p:nvSpPr>
        <p:spPr>
          <a:xfrm>
            <a:off x="1367624" y="2581713"/>
            <a:ext cx="8619214" cy="13461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C" dirty="0" smtClean="0">
                <a:solidFill>
                  <a:schemeClr val="tx1"/>
                </a:solidFill>
              </a:rPr>
              <a:t>Video</a:t>
            </a:r>
            <a:r>
              <a:rPr lang="es-EC" dirty="0">
                <a:solidFill>
                  <a:schemeClr val="tx1"/>
                </a:solidFill>
              </a:rPr>
              <a:t>: https://www.extremaduraempresarial.es/programa/programa-de-formacion-en-metodologias-agile/</a:t>
            </a:r>
          </a:p>
        </p:txBody>
      </p:sp>
    </p:spTree>
    <p:extLst>
      <p:ext uri="{BB962C8B-B14F-4D97-AF65-F5344CB8AC3E}">
        <p14:creationId xmlns:p14="http://schemas.microsoft.com/office/powerpoint/2010/main" val="2712462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0366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Unidad </a:t>
            </a:r>
            <a:r>
              <a:rPr lang="es-EC" dirty="0"/>
              <a:t>1</a:t>
            </a:r>
            <a:br>
              <a:rPr lang="es-EC" dirty="0"/>
            </a:br>
            <a:r>
              <a:rPr lang="es-EC" dirty="0"/>
              <a:t> EMPRENDIMIENTO Y </a:t>
            </a:r>
            <a:r>
              <a:rPr lang="es-EC" dirty="0" smtClean="0"/>
              <a:t>EMPRENDEDOR</a:t>
            </a:r>
            <a:r>
              <a:rPr lang="es-EC" dirty="0"/>
              <a:t/>
            </a:r>
            <a:br>
              <a:rPr lang="es-EC" dirty="0"/>
            </a:b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929228"/>
            <a:ext cx="9403080" cy="446871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800" dirty="0"/>
              <a:t>Metodologías Ágiles</a:t>
            </a:r>
            <a:endParaRPr lang="es-ES" sz="1800" i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15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278428" y="84773"/>
            <a:ext cx="3108828" cy="857139"/>
          </a:xfrm>
          <a:prstGeom prst="rect">
            <a:avLst/>
          </a:prstGeom>
        </p:spPr>
      </p:pic>
      <p:sp>
        <p:nvSpPr>
          <p:cNvPr id="8" name="AutoShape 2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10" name="AutoShape 4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6" name="Rectángulo 5"/>
          <p:cNvSpPr/>
          <p:nvPr/>
        </p:nvSpPr>
        <p:spPr>
          <a:xfrm>
            <a:off x="1367624" y="2581713"/>
            <a:ext cx="8619214" cy="13461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C" dirty="0" smtClean="0">
                <a:solidFill>
                  <a:schemeClr val="tx1"/>
                </a:solidFill>
              </a:rPr>
              <a:t>Video</a:t>
            </a:r>
            <a:r>
              <a:rPr lang="es-EC" dirty="0">
                <a:solidFill>
                  <a:schemeClr val="tx1"/>
                </a:solidFill>
              </a:rPr>
              <a:t>: https://www.extremaduraempresarial.es/programa/programa-de-formacion-en-metodologias-agile/</a:t>
            </a:r>
          </a:p>
        </p:txBody>
      </p:sp>
    </p:spTree>
    <p:extLst>
      <p:ext uri="{BB962C8B-B14F-4D97-AF65-F5344CB8AC3E}">
        <p14:creationId xmlns:p14="http://schemas.microsoft.com/office/powerpoint/2010/main" val="3338482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0366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Unidad </a:t>
            </a:r>
            <a:r>
              <a:rPr lang="es-EC" dirty="0"/>
              <a:t>1</a:t>
            </a:r>
            <a:br>
              <a:rPr lang="es-EC" dirty="0"/>
            </a:br>
            <a:r>
              <a:rPr lang="es-EC" dirty="0"/>
              <a:t> EMPRENDIMIENTO Y </a:t>
            </a:r>
            <a:r>
              <a:rPr lang="es-EC" dirty="0" smtClean="0"/>
              <a:t>EMPRENDEDOR</a:t>
            </a:r>
            <a:r>
              <a:rPr lang="es-EC" dirty="0"/>
              <a:t/>
            </a:r>
            <a:br>
              <a:rPr lang="es-EC" dirty="0"/>
            </a:b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929228"/>
            <a:ext cx="9403080" cy="446871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800" i="1" dirty="0" err="1">
                <a:solidFill>
                  <a:srgbClr val="000000"/>
                </a:solidFill>
                <a:latin typeface="inherit"/>
              </a:rPr>
              <a:t>Design</a:t>
            </a:r>
            <a:r>
              <a:rPr lang="es-ES" sz="1800" i="1" dirty="0">
                <a:solidFill>
                  <a:srgbClr val="000000"/>
                </a:solidFill>
                <a:latin typeface="inherit"/>
              </a:rPr>
              <a:t> </a:t>
            </a:r>
            <a:r>
              <a:rPr lang="es-ES" sz="1800" i="1">
                <a:solidFill>
                  <a:srgbClr val="000000"/>
                </a:solidFill>
                <a:latin typeface="inherit"/>
              </a:rPr>
              <a:t>Thinking</a:t>
            </a:r>
            <a:endParaRPr lang="es-ES" sz="1800" i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16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278428" y="84773"/>
            <a:ext cx="3108828" cy="857139"/>
          </a:xfrm>
          <a:prstGeom prst="rect">
            <a:avLst/>
          </a:prstGeom>
        </p:spPr>
      </p:pic>
      <p:sp>
        <p:nvSpPr>
          <p:cNvPr id="8" name="AutoShape 2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10" name="AutoShape 4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6" name="Rectángulo 5"/>
          <p:cNvSpPr/>
          <p:nvPr/>
        </p:nvSpPr>
        <p:spPr>
          <a:xfrm>
            <a:off x="1230133" y="2581713"/>
            <a:ext cx="8619214" cy="13461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C" dirty="0" smtClean="0">
                <a:solidFill>
                  <a:schemeClr val="tx1"/>
                </a:solidFill>
              </a:rPr>
              <a:t>Video</a:t>
            </a:r>
            <a:r>
              <a:rPr lang="es-EC" dirty="0">
                <a:solidFill>
                  <a:schemeClr val="tx1"/>
                </a:solidFill>
              </a:rPr>
              <a:t>: https://www.youtube.com/watch?v=vnsN6Nm4C28&amp;ab_channel=Focux</a:t>
            </a:r>
          </a:p>
        </p:txBody>
      </p:sp>
    </p:spTree>
    <p:extLst>
      <p:ext uri="{BB962C8B-B14F-4D97-AF65-F5344CB8AC3E}">
        <p14:creationId xmlns:p14="http://schemas.microsoft.com/office/powerpoint/2010/main" val="1650118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 smtClean="0"/>
              <a:t>Referencias Bibliográfica</a:t>
            </a:r>
            <a:endParaRPr lang="es-EC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39377"/>
            <a:ext cx="10515600" cy="3819802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</a:rPr>
              <a:t>Alcaraz Rodríguez, </a:t>
            </a:r>
            <a:r>
              <a:rPr lang="es-ES" dirty="0" smtClean="0">
                <a:solidFill>
                  <a:schemeClr val="tx1"/>
                </a:solidFill>
              </a:rPr>
              <a:t>Rafael (2011). El </a:t>
            </a:r>
            <a:r>
              <a:rPr lang="es-ES" dirty="0">
                <a:solidFill>
                  <a:schemeClr val="tx1"/>
                </a:solidFill>
              </a:rPr>
              <a:t>emprendedor de </a:t>
            </a:r>
            <a:r>
              <a:rPr lang="es-ES" dirty="0" smtClean="0">
                <a:solidFill>
                  <a:schemeClr val="tx1"/>
                </a:solidFill>
              </a:rPr>
              <a:t>éxito.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smtClean="0">
                <a:solidFill>
                  <a:schemeClr val="tx1"/>
                </a:solidFill>
              </a:rPr>
              <a:t>Editorial McGraw </a:t>
            </a:r>
            <a:r>
              <a:rPr lang="es-ES" dirty="0">
                <a:solidFill>
                  <a:schemeClr val="tx1"/>
                </a:solidFill>
              </a:rPr>
              <a:t>Hill </a:t>
            </a:r>
            <a:r>
              <a:rPr lang="es-ES" dirty="0" smtClean="0">
                <a:solidFill>
                  <a:schemeClr val="tx1"/>
                </a:solidFill>
              </a:rPr>
              <a:t>Interamericana México. </a:t>
            </a:r>
            <a:r>
              <a:rPr lang="en-US" dirty="0" err="1" smtClean="0">
                <a:solidFill>
                  <a:schemeClr val="tx1"/>
                </a:solidFill>
              </a:rPr>
              <a:t>Disponible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: </a:t>
            </a:r>
            <a:r>
              <a:rPr lang="en-US" dirty="0">
                <a:solidFill>
                  <a:schemeClr val="tx1"/>
                </a:solidFill>
                <a:hlinkClick r:id="rId2"/>
              </a:rPr>
              <a:t>https://www.stodomingo.ute.edu.ec/content/102001-322-1-2-2-8/TEXTO_GUIA_1_El_e_m_p_r_e__n_d_e_d__</a:t>
            </a:r>
            <a:r>
              <a:rPr lang="en-US" dirty="0" smtClean="0">
                <a:solidFill>
                  <a:schemeClr val="tx1"/>
                </a:solidFill>
                <a:hlinkClick r:id="rId2"/>
              </a:rPr>
              <a:t>o_r_de_E_x_i_t_o.pdf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err="1" smtClean="0">
                <a:solidFill>
                  <a:schemeClr val="tx1"/>
                </a:solidFill>
              </a:rPr>
              <a:t>Prensa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ec.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Disponible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  <a:hlinkClick r:id="rId3"/>
              </a:rPr>
              <a:t>https://prensa.ec/2022/04/15/dia-mundial-del-emprendimiento-ecuador-figura-a-nivel-mundial</a:t>
            </a:r>
            <a:r>
              <a:rPr lang="en-US" dirty="0" smtClean="0">
                <a:solidFill>
                  <a:schemeClr val="tx1"/>
                </a:solidFill>
                <a:hlinkClick r:id="rId3"/>
              </a:rPr>
              <a:t>/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Derecho de </a:t>
            </a:r>
            <a:r>
              <a:rPr lang="en-US" dirty="0" err="1" smtClean="0">
                <a:solidFill>
                  <a:schemeClr val="tx1"/>
                </a:solidFill>
              </a:rPr>
              <a:t>Propiedad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intelectual</a:t>
            </a:r>
            <a:r>
              <a:rPr lang="en-US" dirty="0" smtClean="0">
                <a:solidFill>
                  <a:schemeClr val="tx1"/>
                </a:solidFill>
              </a:rPr>
              <a:t>. </a:t>
            </a:r>
            <a:r>
              <a:rPr lang="en-US" dirty="0" err="1" smtClean="0">
                <a:solidFill>
                  <a:schemeClr val="tx1"/>
                </a:solidFill>
              </a:rPr>
              <a:t>Disponible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  <a:hlinkClick r:id="rId4"/>
              </a:rPr>
              <a:t>http://www.sice.oas.org/int_prop/nat_leg/ecuador/l320a.asp#:~:text=Se%20protegen%20todas%20las%20obras,lugar%20de%20publicaci%C3%B3n%20o%20divulgaci%C3%B3n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s-ES" dirty="0">
                <a:solidFill>
                  <a:schemeClr val="tx1"/>
                </a:solidFill>
              </a:rPr>
              <a:t>Servicio Nacional de Derechos </a:t>
            </a:r>
            <a:r>
              <a:rPr lang="es-ES" dirty="0" smtClean="0">
                <a:solidFill>
                  <a:schemeClr val="tx1"/>
                </a:solidFill>
              </a:rPr>
              <a:t>Intelectuales. </a:t>
            </a:r>
            <a:r>
              <a:rPr lang="es-ES" dirty="0" err="1" smtClean="0">
                <a:solidFill>
                  <a:schemeClr val="tx1"/>
                </a:solidFill>
              </a:rPr>
              <a:t>Disponieble</a:t>
            </a:r>
            <a:r>
              <a:rPr lang="es-ES" dirty="0" smtClean="0">
                <a:solidFill>
                  <a:schemeClr val="tx1"/>
                </a:solidFill>
              </a:rPr>
              <a:t> en: </a:t>
            </a:r>
            <a:r>
              <a:rPr lang="en-US" dirty="0" smtClean="0">
                <a:solidFill>
                  <a:schemeClr val="tx1"/>
                </a:solidFill>
                <a:hlinkClick r:id="rId5"/>
              </a:rPr>
              <a:t>https</a:t>
            </a:r>
            <a:r>
              <a:rPr lang="en-US" dirty="0">
                <a:solidFill>
                  <a:schemeClr val="tx1"/>
                </a:solidFill>
                <a:hlinkClick r:id="rId5"/>
              </a:rPr>
              <a:t>://www.derechosintelectuales.gob.ec/patentes-2</a:t>
            </a:r>
            <a:r>
              <a:rPr lang="en-US" dirty="0" smtClean="0">
                <a:solidFill>
                  <a:schemeClr val="tx1"/>
                </a:solidFill>
                <a:hlinkClick r:id="rId5"/>
              </a:rPr>
              <a:t>/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El proceso de generación de ideas innovadoras para </a:t>
            </a:r>
            <a:r>
              <a:rPr lang="es-ES" dirty="0" smtClean="0">
                <a:solidFill>
                  <a:schemeClr val="tx1"/>
                </a:solidFill>
              </a:rPr>
              <a:t>emprendimiento. </a:t>
            </a:r>
            <a:r>
              <a:rPr lang="es-ES" dirty="0">
                <a:solidFill>
                  <a:schemeClr val="tx1"/>
                </a:solidFill>
              </a:rPr>
              <a:t>Disponible en: </a:t>
            </a:r>
            <a:r>
              <a:rPr lang="es-ES" dirty="0">
                <a:solidFill>
                  <a:schemeClr val="tx1"/>
                </a:solidFill>
                <a:hlinkClick r:id="rId6"/>
              </a:rPr>
              <a:t>https://</a:t>
            </a:r>
            <a:r>
              <a:rPr lang="es-ES" dirty="0" smtClean="0">
                <a:solidFill>
                  <a:schemeClr val="tx1"/>
                </a:solidFill>
                <a:hlinkClick r:id="rId6"/>
              </a:rPr>
              <a:t>repositorio.uasb.edu.ec/bitstream/10644/5958/1/08-PV-Mari%C3%B1o.pdf</a:t>
            </a:r>
            <a:endParaRPr lang="es-ES" dirty="0" smtClean="0">
              <a:solidFill>
                <a:schemeClr val="tx1"/>
              </a:solidFill>
            </a:endParaRPr>
          </a:p>
          <a:p>
            <a:r>
              <a:rPr lang="es-ES" b="1" dirty="0"/>
              <a:t/>
            </a:r>
            <a:br>
              <a:rPr lang="es-ES" b="1" dirty="0"/>
            </a:br>
            <a:r>
              <a:rPr lang="es-ES" b="1" dirty="0"/>
              <a:t>Servicio Nacional de Derechos Intelectuales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932932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5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4309238_TF23188392" id="{F1A4FF75-0337-499B-B5AB-B2509398CEA7}" vid="{0D7670FE-5D26-47F2-BB16-139DDA547B5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1946EF-A3EA-4ECB-8D9A-56C36FFF4075}">
  <ds:schemaRefs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71af3243-3dd4-4a8d-8c0d-dd76da1f02a5"/>
    <ds:schemaRef ds:uri="http://schemas.openxmlformats.org/package/2006/metadata/core-properties"/>
    <ds:schemaRef ds:uri="16c05727-aa75-4e4a-9b5f-8a80a1165891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2DAF9E5-DED4-4A50-A81B-4CC218A03F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DD087A-3273-4D74-8700-4C8E2BE507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servicios profesionales</Template>
  <TotalTime>0</TotalTime>
  <Words>725</Words>
  <Application>Microsoft Office PowerPoint</Application>
  <PresentationFormat>Panorámica</PresentationFormat>
  <Paragraphs>97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6" baseType="lpstr">
      <vt:lpstr>Arial</vt:lpstr>
      <vt:lpstr>Arial </vt:lpstr>
      <vt:lpstr>Arial MT</vt:lpstr>
      <vt:lpstr>Calibri</vt:lpstr>
      <vt:lpstr>Gill Sans MT</vt:lpstr>
      <vt:lpstr>Google Sans</vt:lpstr>
      <vt:lpstr>inherit</vt:lpstr>
      <vt:lpstr>Times New Roman</vt:lpstr>
      <vt:lpstr>Tema de Office</vt:lpstr>
      <vt:lpstr>Presentación de PowerPoint</vt:lpstr>
      <vt:lpstr>Unidad 1   EMPRENDIMIENTO Y EMPRENDEDOR</vt:lpstr>
      <vt:lpstr>Unidad 1   EMPRENDIMIENTO Y EMPRENDEDOR</vt:lpstr>
      <vt:lpstr>Unidad 1   EMPRENDIMIENTO Y EMPRENDEDOR</vt:lpstr>
      <vt:lpstr>Unidad 1   EMPRENDIMIENTO Y EMPRENDEDOR</vt:lpstr>
      <vt:lpstr>Unidad 1   EMPRENDIMIENTO Y EMPRENDEDOR</vt:lpstr>
      <vt:lpstr>Unidad 1   EMPRENDIMIENTO Y EMPRENDEDOR</vt:lpstr>
      <vt:lpstr>Unidad 1   EMPRENDIMIENTO Y EMPRENDEDOR</vt:lpstr>
      <vt:lpstr>Unidad 1   EMPRENDIMIENTO Y EMPRENDEDOR</vt:lpstr>
      <vt:lpstr>Unidad 1   EMPRENDIMIENTO Y EMPRENDEDOR</vt:lpstr>
      <vt:lpstr> Unidad 1  EMPRENDIMIENTO Y EMPRENDEDOR  </vt:lpstr>
      <vt:lpstr>Unidad 1  EMPRENDIMIENTO Y EMPRENDEDOR </vt:lpstr>
      <vt:lpstr> Unidad 1  EMPRENDIMIENTO Y EMPRENDEDOR  </vt:lpstr>
      <vt:lpstr> Unidad 1  EMPRENDIMIENTO Y EMPRENDEDOR </vt:lpstr>
      <vt:lpstr> Unidad 1  EMPRENDIMIENTO Y EMPRENDEDOR </vt:lpstr>
      <vt:lpstr> Unidad 1  EMPRENDIMIENTO Y EMPRENDEDOR </vt:lpstr>
      <vt:lpstr>Referencias Bibliográfica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2023-03-29T14:43:17Z</dcterms:created>
  <dcterms:modified xsi:type="dcterms:W3CDTF">2024-07-10T16:48:22Z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