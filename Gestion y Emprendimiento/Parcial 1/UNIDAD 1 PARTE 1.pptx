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93" r:id="rId5"/>
    <p:sldId id="306" r:id="rId6"/>
    <p:sldId id="308" r:id="rId7"/>
    <p:sldId id="301" r:id="rId8"/>
    <p:sldId id="309" r:id="rId9"/>
    <p:sldId id="310" r:id="rId10"/>
    <p:sldId id="312" r:id="rId11"/>
    <p:sldId id="311" r:id="rId12"/>
    <p:sldId id="315" r:id="rId13"/>
    <p:sldId id="317" r:id="rId14"/>
    <p:sldId id="316" r:id="rId15"/>
    <p:sldId id="318" r:id="rId16"/>
    <p:sldId id="319" r:id="rId17"/>
    <p:sldId id="320" r:id="rId18"/>
    <p:sldId id="313" r:id="rId19"/>
    <p:sldId id="321" r:id="rId20"/>
    <p:sldId id="314" r:id="rId21"/>
  </p:sldIdLst>
  <p:sldSz cx="12192000" cy="6858000"/>
  <p:notesSz cx="6888163" cy="100203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30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="" xmlns:a16="http://schemas.microsoft.com/office/drawing/2014/main" id="{42F7A84F-E231-42BE-A9F8-B5131853C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BCB813BC-9E49-4ABB-A3C3-CEE0885B0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pPr rtl="0"/>
            <a:fld id="{ECFA5F72-8C3C-47C4-BAAE-AAD53B502F6D}" type="datetime1">
              <a:rPr lang="es-ES" smtClean="0"/>
              <a:t>22/03/2024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47ADFF29-9BE4-4CDF-A198-BBEE303F0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="" xmlns:a16="http://schemas.microsoft.com/office/drawing/2014/main" id="{60D4AFC6-5A97-4417-A16A-485E5801A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pPr rtl="0"/>
            <a:fld id="{4FA8C659-3DDB-48CB-A056-6A658A161B7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07677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pPr rtl="0"/>
            <a:fld id="{934E63C5-A243-470D-8390-8C4D5E642375}" type="datetime1">
              <a:rPr lang="es-ES" smtClean="0"/>
              <a:t>22/03/2024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rtl="0"/>
            <a:endParaRPr lang="es-ES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dirty="0"/>
              <a:t>Segundo nivel</a:t>
            </a:r>
          </a:p>
          <a:p>
            <a:pPr lvl="2" rtl="0"/>
            <a:r>
              <a:rPr lang="es-ES" dirty="0"/>
              <a:t>Tercer nivel</a:t>
            </a:r>
          </a:p>
          <a:p>
            <a:pPr lvl="3" rtl="0"/>
            <a:r>
              <a:rPr lang="es-ES" dirty="0"/>
              <a:t>Cuarto nivel</a:t>
            </a:r>
          </a:p>
          <a:p>
            <a:pPr lvl="4" rtl="0"/>
            <a:r>
              <a:rPr lang="es-ES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pPr rtl="0"/>
            <a:fld id="{9CA004F4-F240-48F9-8AE1-486585C7F00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0838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rtlCol="0"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+mn-lt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smtClean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088917-CCAE-4D7C-A02D-EE615348765B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=""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312EB9-9729-4FAD-8373-A418D3DF724C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207C4C-07E3-4EE8-9931-EEC16BF49252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=""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70FF08-5F54-4A2C-A787-F7D6BFBFC462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=""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=""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=""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5B1BDD-7000-4F3F-B9E7-17979A7FBD75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D5CFD7-B49D-4B10-8EA3-A285AD2A605F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=""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224B15-5D30-4E4C-8F83-05B8C13D4DDB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=""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=""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BD9BA1-E6FD-4A95-80AB-D864C087A0FC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=""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AAFC51-B778-437C-AF2E-CFBBBFE133F8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n con leyend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to 3">
            <a:extLst>
              <a:ext uri="{FF2B5EF4-FFF2-40B4-BE49-F238E27FC236}">
                <a16:creationId xmlns="" xmlns:a16="http://schemas.microsoft.com/office/drawing/2014/main" id="{29F16048-FF4E-41B1-B3D4-0FB210A70DF2}"/>
              </a:ext>
            </a:extLst>
          </p:cNvPr>
          <p:cNvSpPr/>
          <p:nvPr userDrawn="1"/>
        </p:nvSpPr>
        <p:spPr>
          <a:xfrm>
            <a:off x="5294630" y="0"/>
            <a:ext cx="6897370" cy="6858000"/>
          </a:xfrm>
          <a:custGeom>
            <a:avLst/>
            <a:gdLst/>
            <a:ahLst/>
            <a:cxnLst/>
            <a:rect l="l" t="t" r="r" b="b"/>
            <a:pathLst>
              <a:path w="6897370" h="6858000">
                <a:moveTo>
                  <a:pt x="0" y="6858000"/>
                </a:moveTo>
                <a:lnTo>
                  <a:pt x="6896900" y="6858000"/>
                </a:lnTo>
                <a:lnTo>
                  <a:pt x="68969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pPr rtl="0"/>
            <a:endParaRPr lang="es-ES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=""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=""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94251" y="1192697"/>
            <a:ext cx="4057961" cy="1431234"/>
          </a:xfrm>
        </p:spPr>
        <p:txBody>
          <a:bodyPr rtlCol="0"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CBFC3C-42EC-4460-9D76-96F1E8E0B662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=""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9" name="objeto 2">
            <a:extLst>
              <a:ext uri="{FF2B5EF4-FFF2-40B4-BE49-F238E27FC236}">
                <a16:creationId xmlns="" xmlns:a16="http://schemas.microsoft.com/office/drawing/2014/main" id="{9337951D-6DB6-4713-9200-E8513CDEB6B3}"/>
              </a:ext>
            </a:extLst>
          </p:cNvPr>
          <p:cNvSpPr/>
          <p:nvPr userDrawn="1"/>
        </p:nvSpPr>
        <p:spPr>
          <a:xfrm>
            <a:off x="0" y="2430411"/>
            <a:ext cx="3625850" cy="3438525"/>
          </a:xfrm>
          <a:custGeom>
            <a:avLst/>
            <a:gdLst/>
            <a:ahLst/>
            <a:cxnLst/>
            <a:rect l="l" t="t" r="r" b="b"/>
            <a:pathLst>
              <a:path w="3625850" h="3438525">
                <a:moveTo>
                  <a:pt x="0" y="3438486"/>
                </a:moveTo>
                <a:lnTo>
                  <a:pt x="3625596" y="3438486"/>
                </a:lnTo>
                <a:lnTo>
                  <a:pt x="3625596" y="0"/>
                </a:lnTo>
                <a:lnTo>
                  <a:pt x="0" y="0"/>
                </a:lnTo>
                <a:lnTo>
                  <a:pt x="0" y="34384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rtl="0"/>
            <a:endParaRPr lang="es-ES" noProof="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781223"/>
            <a:ext cx="6040800" cy="2736901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12" name="Marcador de posición de imagen 28">
            <a:extLst>
              <a:ext uri="{FF2B5EF4-FFF2-40B4-BE49-F238E27FC236}">
                <a16:creationId xmlns=""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6106" y="1188012"/>
            <a:ext cx="376237" cy="376237"/>
          </a:xfrm>
        </p:spPr>
        <p:txBody>
          <a:bodyPr rtlCol="0">
            <a:norm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13" name="Marcador de posición de imagen 28">
            <a:extLst>
              <a:ext uri="{FF2B5EF4-FFF2-40B4-BE49-F238E27FC236}">
                <a16:creationId xmlns=""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6106" y="2878015"/>
            <a:ext cx="376237" cy="376237"/>
          </a:xfrm>
        </p:spPr>
        <p:txBody>
          <a:bodyPr rtlCol="0">
            <a:norm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14" name="Marcador de posición de texto 3">
            <a:extLst>
              <a:ext uri="{FF2B5EF4-FFF2-40B4-BE49-F238E27FC236}">
                <a16:creationId xmlns=""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294250" y="2880357"/>
            <a:ext cx="4057961" cy="1431234"/>
          </a:xfrm>
        </p:spPr>
        <p:txBody>
          <a:bodyPr rtlCol="0"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15" name="Marcador de posición de imagen 28">
            <a:extLst>
              <a:ext uri="{FF2B5EF4-FFF2-40B4-BE49-F238E27FC236}">
                <a16:creationId xmlns=""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86106" y="4568018"/>
            <a:ext cx="376237" cy="376237"/>
          </a:xfrm>
        </p:spPr>
        <p:txBody>
          <a:bodyPr rtlCol="0">
            <a:normAutofit/>
          </a:bodyPr>
          <a:lstStyle>
            <a:lvl1pPr marL="0" indent="0" algn="ctr">
              <a:buNone/>
              <a:defRPr sz="400"/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16" name="Marcador de posición de texto 3">
            <a:extLst>
              <a:ext uri="{FF2B5EF4-FFF2-40B4-BE49-F238E27FC236}">
                <a16:creationId xmlns=""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294250" y="4568018"/>
            <a:ext cx="4057961" cy="1431234"/>
          </a:xfrm>
        </p:spPr>
        <p:txBody>
          <a:bodyPr rtlCol="0"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9438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=""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=""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7E9567B-DF5D-4470-94BE-7DF002E86266}" type="datetime1">
              <a:rPr lang="es-ES" noProof="0" smtClean="0"/>
              <a:t>22/03/2024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=""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=""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339680" y="498763"/>
            <a:ext cx="4991520" cy="137621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431526" y="2542463"/>
            <a:ext cx="9347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C" sz="5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Gestión y Emprendimiento</a:t>
            </a:r>
            <a:endParaRPr lang="es-ES" sz="5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8331200" y="5495636"/>
            <a:ext cx="2957508" cy="508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C" b="1" dirty="0" smtClean="0">
                <a:ln/>
                <a:solidFill>
                  <a:schemeClr val="accent3"/>
                </a:solidFill>
              </a:rPr>
              <a:t>Ing. Isabel Pilicita </a:t>
            </a:r>
            <a:r>
              <a:rPr lang="es-EC" b="1" dirty="0" err="1" smtClean="0">
                <a:ln/>
                <a:solidFill>
                  <a:schemeClr val="accent3"/>
                </a:solidFill>
              </a:rPr>
              <a:t>Mgs</a:t>
            </a:r>
            <a:r>
              <a:rPr lang="es-EC" b="1" dirty="0" smtClean="0">
                <a:ln/>
                <a:solidFill>
                  <a:schemeClr val="accent3"/>
                </a:solidFill>
              </a:rPr>
              <a:t>.</a:t>
            </a:r>
            <a:endParaRPr lang="es-EC" b="1" dirty="0">
              <a:ln/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67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81283"/>
            <a:ext cx="10515600" cy="419351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C" sz="1800" b="1" dirty="0" smtClean="0"/>
              <a:t>Definiciones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C" sz="1800" dirty="0" smtClean="0"/>
              <a:t>1.1 La Agenda 2030 y los objetivos de desarrollo sostenible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C" sz="1800" dirty="0" smtClean="0"/>
              <a:t>1.2 Perfil del Emprendedor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C" sz="1800" dirty="0"/>
              <a:t>2</a:t>
            </a:r>
            <a:r>
              <a:rPr lang="es-EC" sz="1800" dirty="0" smtClean="0"/>
              <a:t>. </a:t>
            </a:r>
            <a:r>
              <a:rPr lang="es-EC" sz="1800" b="1" dirty="0" smtClean="0"/>
              <a:t>Enfoques y Teorías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C" sz="1800" dirty="0" smtClean="0"/>
              <a:t>        2.1 </a:t>
            </a:r>
            <a:r>
              <a:rPr lang="es-ES" sz="1800" dirty="0"/>
              <a:t>Emprendimiento según </a:t>
            </a:r>
            <a:r>
              <a:rPr lang="es-ES" sz="1800" dirty="0" err="1"/>
              <a:t>Shumpeter</a:t>
            </a:r>
            <a:endParaRPr lang="es-EC" sz="3200" dirty="0">
              <a:latin typeface="Arial MT"/>
              <a:ea typeface="Arial MT"/>
              <a:cs typeface="Arial M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sz="1800" dirty="0" smtClean="0"/>
              <a:t>        2.2 Modelo </a:t>
            </a:r>
            <a:r>
              <a:rPr lang="es-ES" sz="1800" dirty="0" err="1"/>
              <a:t>Timmons</a:t>
            </a:r>
            <a:endParaRPr lang="es-EC" sz="3200" dirty="0">
              <a:latin typeface="Arial MT"/>
              <a:ea typeface="Arial MT"/>
              <a:cs typeface="Arial M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sz="1800" dirty="0" smtClean="0"/>
              <a:t>       2.3 Tipos </a:t>
            </a:r>
            <a:r>
              <a:rPr lang="es-ES" sz="1800" dirty="0"/>
              <a:t>de emprendimientos (tecnológico, social, cívico, cultural, empresarial);</a:t>
            </a:r>
            <a:r>
              <a:rPr lang="es-ES" sz="1800" spc="-215" dirty="0"/>
              <a:t> </a:t>
            </a:r>
            <a:endParaRPr lang="es-ES" sz="1800" spc="-215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S" sz="1800" spc="-215" dirty="0"/>
              <a:t> </a:t>
            </a:r>
            <a:r>
              <a:rPr lang="es-ES" sz="1800" spc="-215" dirty="0" smtClean="0"/>
              <a:t>                        </a:t>
            </a:r>
            <a:r>
              <a:rPr lang="es-ES" sz="1800" dirty="0" smtClean="0"/>
              <a:t>por </a:t>
            </a:r>
            <a:r>
              <a:rPr lang="es-ES" sz="1800" dirty="0"/>
              <a:t>oportunidad y por </a:t>
            </a:r>
            <a:r>
              <a:rPr lang="es-ES" sz="1800" dirty="0" smtClean="0"/>
              <a:t>necesidad</a:t>
            </a:r>
            <a:endParaRPr lang="es-EC" sz="3200" dirty="0">
              <a:latin typeface="Arial MT"/>
              <a:ea typeface="Arial MT"/>
              <a:cs typeface="Arial M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s-ES" sz="1800" dirty="0" smtClean="0"/>
              <a:t>       2.4 Tipos </a:t>
            </a:r>
            <a:r>
              <a:rPr lang="es-ES" sz="1800" dirty="0"/>
              <a:t>de emprendedores</a:t>
            </a:r>
            <a:endParaRPr lang="es-EC" sz="3200" dirty="0">
              <a:latin typeface="Arial MT"/>
              <a:ea typeface="Arial MT"/>
              <a:cs typeface="Arial MT"/>
            </a:endParaRPr>
          </a:p>
          <a:p>
            <a:pPr marL="0" indent="0">
              <a:lnSpc>
                <a:spcPct val="150000"/>
              </a:lnSpc>
              <a:buNone/>
            </a:pPr>
            <a:endParaRPr lang="es-EC" sz="1800" dirty="0" smtClean="0"/>
          </a:p>
          <a:p>
            <a:pPr marL="0" indent="0">
              <a:lnSpc>
                <a:spcPct val="150000"/>
              </a:lnSpc>
              <a:buNone/>
            </a:pPr>
            <a:endParaRPr lang="es-EC" sz="1800" dirty="0" smtClean="0"/>
          </a:p>
          <a:p>
            <a:endParaRPr lang="es-EC" dirty="0" smtClean="0"/>
          </a:p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2</a:t>
            </a:fld>
            <a:endParaRPr lang="es-ES" noProof="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302281" y="174530"/>
            <a:ext cx="3212195" cy="8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2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3</a:t>
            </a:fld>
            <a:endParaRPr lang="es-ES" noProof="0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750735" y="1864581"/>
            <a:ext cx="10515600" cy="4675446"/>
          </a:xfrm>
        </p:spPr>
        <p:txBody>
          <a:bodyPr>
            <a:normAutofit fontScale="92500" lnSpcReduction="10000"/>
          </a:bodyPr>
          <a:lstStyle/>
          <a:p>
            <a:endParaRPr lang="es-EC" dirty="0" smtClean="0"/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100" b="1" dirty="0"/>
              <a:t>Definición de </a:t>
            </a:r>
            <a:r>
              <a:rPr lang="es-ES" sz="2100" b="1" dirty="0" smtClean="0"/>
              <a:t>emprendimiento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ES" sz="2100" dirty="0" smtClean="0"/>
              <a:t>"</a:t>
            </a:r>
            <a:r>
              <a:rPr lang="es-ES" sz="2100" dirty="0"/>
              <a:t>El espíritu empresarial es la actividad intencionada de un individuo o de un grupo de individuos </a:t>
            </a:r>
            <a:r>
              <a:rPr lang="es-ES" sz="2100" dirty="0" smtClean="0"/>
              <a:t>asociados, emprendida </a:t>
            </a:r>
            <a:r>
              <a:rPr lang="es-ES" sz="2100" dirty="0"/>
              <a:t>para iniciar, mantener o ampliar las ganancias mediante la producción o distribución de bienes y servicios económicos".  </a:t>
            </a:r>
            <a:r>
              <a:rPr lang="es-ES" sz="2100" dirty="0" smtClean="0"/>
              <a:t>A</a:t>
            </a:r>
            <a:r>
              <a:rPr lang="es-ES" sz="2100" dirty="0"/>
              <a:t>. H. Cole </a:t>
            </a:r>
            <a:endParaRPr lang="es-ES" sz="2100" dirty="0" smtClean="0"/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ES" sz="2100" dirty="0" smtClean="0"/>
              <a:t>"</a:t>
            </a:r>
            <a:r>
              <a:rPr lang="es-ES" sz="2100" dirty="0"/>
              <a:t>El espíritu empresarial se basa en una innovación sistemática y con determinación. Incluía no sólo al empresario independiente, sino también a los directores y gerentes de las empresas, que en realidad desempeñan funciones innovadoras". - Joseph A. </a:t>
            </a:r>
            <a:r>
              <a:rPr lang="es-ES" sz="2100" dirty="0" err="1"/>
              <a:t>Schumpeter</a:t>
            </a:r>
            <a:r>
              <a:rPr lang="es-ES" sz="2100" dirty="0"/>
              <a:t> </a:t>
            </a:r>
            <a:endParaRPr lang="es-ES" sz="2100" dirty="0" smtClean="0"/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ES" sz="2100" dirty="0" smtClean="0"/>
              <a:t>"</a:t>
            </a:r>
            <a:r>
              <a:rPr lang="es-ES" sz="2100" dirty="0"/>
              <a:t>Proceso de crear algo nuevo y asumir los riesgos y recompensas.“ - Robert </a:t>
            </a:r>
            <a:r>
              <a:rPr lang="es-ES" sz="2100" dirty="0" err="1"/>
              <a:t>D.Hisrich</a:t>
            </a:r>
            <a:r>
              <a:rPr lang="es-ES" sz="2100" dirty="0"/>
              <a:t>, </a:t>
            </a:r>
            <a:r>
              <a:rPr lang="es-ES" sz="2100" dirty="0" err="1"/>
              <a:t>M.P.Peters</a:t>
            </a:r>
            <a:r>
              <a:rPr lang="es-ES" sz="2100" dirty="0"/>
              <a:t> &amp; </a:t>
            </a:r>
            <a:r>
              <a:rPr lang="es-ES" sz="2100" dirty="0" err="1"/>
              <a:t>D.A.Shepherd</a:t>
            </a:r>
            <a:endParaRPr lang="es-EC" sz="210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endParaRPr lang="es-EC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87596" y="98422"/>
            <a:ext cx="3371221" cy="92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4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/>
          <p:cNvSpPr>
            <a:spLocks noGrp="1"/>
          </p:cNvSpPr>
          <p:nvPr>
            <p:ph type="title"/>
          </p:nvPr>
        </p:nvSpPr>
        <p:spPr>
          <a:xfrm>
            <a:off x="5910723" y="1573496"/>
            <a:ext cx="3932237" cy="613113"/>
          </a:xfrm>
        </p:spPr>
        <p:txBody>
          <a:bodyPr>
            <a:normAutofit/>
          </a:bodyPr>
          <a:lstStyle/>
          <a:p>
            <a:r>
              <a:rPr lang="es-EC" b="0" dirty="0" smtClean="0">
                <a:solidFill>
                  <a:schemeClr val="tx1"/>
                </a:solidFill>
              </a:rPr>
              <a:t>DEFINICIÓN</a:t>
            </a:r>
            <a:endParaRPr lang="es-EC" b="0" dirty="0">
              <a:solidFill>
                <a:schemeClr val="tx1"/>
              </a:solidFill>
            </a:endParaRPr>
          </a:p>
        </p:txBody>
      </p:sp>
      <p:sp>
        <p:nvSpPr>
          <p:cNvPr id="2" name="Marcador de texto 1"/>
          <p:cNvSpPr>
            <a:spLocks noGrp="1"/>
          </p:cNvSpPr>
          <p:nvPr>
            <p:ph type="body" sz="half" idx="23"/>
          </p:nvPr>
        </p:nvSpPr>
        <p:spPr>
          <a:xfrm>
            <a:off x="5910723" y="2568273"/>
            <a:ext cx="5729987" cy="200372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endParaRPr lang="es-ES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s-ES" sz="2400" dirty="0">
                <a:solidFill>
                  <a:schemeClr val="tx1"/>
                </a:solidFill>
              </a:rPr>
              <a:t>E</a:t>
            </a:r>
            <a:r>
              <a:rPr lang="es-ES" sz="2400" dirty="0" smtClean="0">
                <a:solidFill>
                  <a:schemeClr val="tx1"/>
                </a:solidFill>
              </a:rPr>
              <a:t>s </a:t>
            </a:r>
            <a:r>
              <a:rPr lang="es-ES" sz="2400" dirty="0">
                <a:solidFill>
                  <a:schemeClr val="tx1"/>
                </a:solidFill>
              </a:rPr>
              <a:t>el proceso de crear algo nuevo de valor </a:t>
            </a:r>
            <a:r>
              <a:rPr lang="es-ES" sz="2400" dirty="0" smtClean="0">
                <a:solidFill>
                  <a:schemeClr val="tx1"/>
                </a:solidFill>
              </a:rPr>
              <a:t>en donde dedicamos nuestro </a:t>
            </a:r>
            <a:r>
              <a:rPr lang="es-ES" sz="2400" dirty="0">
                <a:solidFill>
                  <a:schemeClr val="tx1"/>
                </a:solidFill>
              </a:rPr>
              <a:t>tiempo y el esfuerzo </a:t>
            </a:r>
            <a:r>
              <a:rPr lang="es-ES" sz="2400" dirty="0" smtClean="0">
                <a:solidFill>
                  <a:schemeClr val="tx1"/>
                </a:solidFill>
              </a:rPr>
              <a:t>necesario.</a:t>
            </a:r>
          </a:p>
          <a:p>
            <a:pPr>
              <a:lnSpc>
                <a:spcPct val="150000"/>
              </a:lnSpc>
            </a:pPr>
            <a:endParaRPr lang="es-EC" sz="2400" dirty="0">
              <a:solidFill>
                <a:schemeClr val="tx1"/>
              </a:solidFill>
            </a:endParaRPr>
          </a:p>
        </p:txBody>
      </p:sp>
      <p:pic>
        <p:nvPicPr>
          <p:cNvPr id="1028" name="Picture 4" descr="37,329,581 imágenes de Objetivo - Imágenes, fotos y vectores de stock |  Shutterstock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02"/>
          <a:stretch/>
        </p:blipFill>
        <p:spPr bwMode="auto">
          <a:xfrm>
            <a:off x="71562" y="2576224"/>
            <a:ext cx="3458818" cy="314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/>
          <a:srcRect l="32272" t="12256" r="33106" b="70774"/>
          <a:stretch/>
        </p:blipFill>
        <p:spPr>
          <a:xfrm>
            <a:off x="127353" y="95415"/>
            <a:ext cx="2907228" cy="80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14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5</a:t>
            </a:fld>
            <a:endParaRPr lang="es-ES" noProof="0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750735" y="1864581"/>
            <a:ext cx="10515600" cy="4675446"/>
          </a:xfrm>
        </p:spPr>
        <p:txBody>
          <a:bodyPr>
            <a:normAutofit/>
          </a:bodyPr>
          <a:lstStyle/>
          <a:p>
            <a:endParaRPr lang="es-EC" dirty="0" smtClean="0"/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100" b="1" dirty="0" smtClean="0"/>
              <a:t>Pautas para emprender: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ES" sz="2000" dirty="0" smtClean="0"/>
              <a:t>Aceptar y reconocer los riesgos financieros, tecnológicos, psicológicos en el mercado.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ES" sz="2000" dirty="0"/>
              <a:t>Finalmente, recibir las recompensas resultantes, ya sea la satisfacción monetaria y personal y la libertad de hacer lo que quieras. </a:t>
            </a:r>
            <a:endParaRPr lang="es-ES" sz="2000" dirty="0" smtClean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endParaRPr lang="es-EC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159159" y="191232"/>
            <a:ext cx="2917997" cy="80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9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6</a:t>
            </a:fld>
            <a:endParaRPr lang="es-ES" noProof="0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750735" y="1864581"/>
            <a:ext cx="10515600" cy="4675446"/>
          </a:xfrm>
        </p:spPr>
        <p:txBody>
          <a:bodyPr>
            <a:normAutofit/>
          </a:bodyPr>
          <a:lstStyle/>
          <a:p>
            <a:endParaRPr lang="es-EC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s-EC" sz="2400" b="1" dirty="0" smtClean="0"/>
              <a:t>2. La </a:t>
            </a:r>
            <a:r>
              <a:rPr lang="es-EC" sz="2400" b="1" dirty="0"/>
              <a:t>Agenda 2030 y los objetivos de desarrollo </a:t>
            </a:r>
            <a:r>
              <a:rPr lang="es-EC" sz="2400" b="1" dirty="0" smtClean="0"/>
              <a:t>sostenible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2400" dirty="0"/>
              <a:t>La Agenda 2030 para el Desarrollo Sostenible, aprobada en septiembre de 2015 por la Asamblea General de las Naciones Unidas, establece una visión transformadora hacia la sostenibilidad económica, social y ambiental de los 193 Estados Miembros que la suscribieron y será la guía de referencia para el trabajo de la institución en pos de esta visión durante los próximos 15 años.</a:t>
            </a:r>
            <a:endParaRPr lang="es-EC" sz="240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>Unidad 1</a:t>
            </a:r>
            <a:br>
              <a:rPr lang="es-EC" dirty="0" smtClean="0"/>
            </a:br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 EMPRENDIMIENTO Y EMPRENDEDOR</a:t>
            </a:r>
            <a:endParaRPr lang="es-EC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94331" y="191232"/>
            <a:ext cx="3195620" cy="88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0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7</a:t>
            </a:fld>
            <a:endParaRPr lang="es-ES" noProof="0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/>
              <a:t>Unidad 1</a:t>
            </a:r>
            <a:br>
              <a:rPr lang="es-EC" dirty="0"/>
            </a:br>
            <a:r>
              <a:rPr lang="es-EC" dirty="0"/>
              <a:t/>
            </a:r>
            <a:br>
              <a:rPr lang="es-EC" dirty="0"/>
            </a:br>
            <a:r>
              <a:rPr lang="es-EC" dirty="0"/>
              <a:t> EMPRENDIMIENTO Y EMPRENDEDOR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45326" t="22841" r="24348" b="48986"/>
          <a:stretch/>
        </p:blipFill>
        <p:spPr>
          <a:xfrm>
            <a:off x="2160103" y="2641065"/>
            <a:ext cx="7871793" cy="411364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812897" y="1747458"/>
            <a:ext cx="87225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s-EC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La Agenda 2030 y los objetivos de desarrollo sostenible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3"/>
          <a:srcRect l="32272" t="12256" r="33106" b="70774"/>
          <a:stretch/>
        </p:blipFill>
        <p:spPr>
          <a:xfrm>
            <a:off x="95548" y="117849"/>
            <a:ext cx="2957753" cy="81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19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8</a:t>
            </a:fld>
            <a:endParaRPr lang="es-ES" noProof="0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742784" y="2834640"/>
            <a:ext cx="10515600" cy="343893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3200" dirty="0"/>
              <a:t>Aquel que crea un nuevo negocio ante el riesgo y la incertidumbre con el fin de alcanzar la rentabilidad y el crecimiento, identificando oportunidades y reuniendo los recursos necesarios para capitalizarlas.</a:t>
            </a:r>
            <a:endParaRPr lang="es-EC" sz="3200" dirty="0" smtClean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79292"/>
          </a:xfrm>
        </p:spPr>
        <p:txBody>
          <a:bodyPr>
            <a:normAutofit fontScale="90000"/>
          </a:bodyPr>
          <a:lstStyle/>
          <a:p>
            <a:pPr algn="ctr"/>
            <a:r>
              <a:rPr lang="es-EC" sz="3600" dirty="0" smtClean="0"/>
              <a:t/>
            </a:r>
            <a:br>
              <a:rPr lang="es-EC" sz="3600" dirty="0" smtClean="0"/>
            </a:br>
            <a:r>
              <a:rPr lang="es-EC" sz="3600" dirty="0" smtClean="0"/>
              <a:t>Unidad 1</a:t>
            </a:r>
            <a:r>
              <a:rPr lang="es-EC" sz="3600" dirty="0"/>
              <a:t/>
            </a:r>
            <a:br>
              <a:rPr lang="es-EC" sz="3600" dirty="0"/>
            </a:br>
            <a:r>
              <a:rPr lang="es-EC" sz="3600" dirty="0"/>
              <a:t> EMPRENDIMIENTO Y </a:t>
            </a:r>
            <a:r>
              <a:rPr lang="es-EC" sz="3600" dirty="0" smtClean="0"/>
              <a:t>EMPRENDEDOR</a:t>
            </a:r>
            <a:r>
              <a:rPr lang="es-EC" sz="3600" dirty="0"/>
              <a:t/>
            </a:r>
            <a:br>
              <a:rPr lang="es-EC" sz="3600" dirty="0"/>
            </a:br>
            <a:r>
              <a:rPr lang="es-EC" sz="3600" dirty="0" smtClean="0"/>
              <a:t/>
            </a:r>
            <a:br>
              <a:rPr lang="es-EC" sz="3600" dirty="0" smtClean="0"/>
            </a:br>
            <a:r>
              <a:rPr lang="es-EC" sz="3600" dirty="0" smtClean="0">
                <a:solidFill>
                  <a:schemeClr val="tx1"/>
                </a:solidFill>
              </a:rPr>
              <a:t>Qué </a:t>
            </a:r>
            <a:r>
              <a:rPr lang="es-EC" sz="3600" dirty="0">
                <a:solidFill>
                  <a:schemeClr val="tx1"/>
                </a:solidFill>
              </a:rPr>
              <a:t>es un emprendedor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62525" y="191232"/>
            <a:ext cx="2782824" cy="76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49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/>
          <p:cNvSpPr/>
          <p:nvPr/>
        </p:nvSpPr>
        <p:spPr>
          <a:xfrm>
            <a:off x="8520718" y="4487508"/>
            <a:ext cx="1442018" cy="12894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Nueva Fuente de suministro de materias primas</a:t>
            </a:r>
            <a:endParaRPr lang="es-EC" dirty="0"/>
          </a:p>
        </p:txBody>
      </p:sp>
      <p:sp>
        <p:nvSpPr>
          <p:cNvPr id="12" name="Rectángulo 11"/>
          <p:cNvSpPr/>
          <p:nvPr/>
        </p:nvSpPr>
        <p:spPr>
          <a:xfrm>
            <a:off x="3695766" y="4842344"/>
            <a:ext cx="1442018" cy="437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Nuevos </a:t>
            </a:r>
            <a:r>
              <a:rPr lang="es-EC" dirty="0" err="1" smtClean="0"/>
              <a:t>Mét</a:t>
            </a:r>
            <a:endParaRPr lang="es-EC" dirty="0"/>
          </a:p>
        </p:txBody>
      </p:sp>
      <p:sp>
        <p:nvSpPr>
          <p:cNvPr id="11" name="Rectángulo 10"/>
          <p:cNvSpPr/>
          <p:nvPr/>
        </p:nvSpPr>
        <p:spPr>
          <a:xfrm>
            <a:off x="1698747" y="4842344"/>
            <a:ext cx="1442018" cy="437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Nuevos </a:t>
            </a:r>
            <a:r>
              <a:rPr lang="es-EC" dirty="0" err="1" smtClean="0"/>
              <a:t>ByS</a:t>
            </a:r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5954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/>
              <a:t>Unidad 1</a:t>
            </a:r>
            <a:br>
              <a:rPr lang="es-EC" dirty="0"/>
            </a:br>
            <a:r>
              <a:rPr lang="es-EC" dirty="0"/>
              <a:t> EMPRENDIMIENTO Y EMPRENDEDOR</a:t>
            </a:r>
            <a:r>
              <a:rPr lang="es-EC" dirty="0" smtClean="0"/>
              <a:t/>
            </a:r>
            <a:br>
              <a:rPr lang="es-EC" dirty="0" smtClean="0"/>
            </a:br>
            <a:r>
              <a:rPr lang="es-ES" dirty="0">
                <a:solidFill>
                  <a:schemeClr val="tx1"/>
                </a:solidFill>
              </a:rPr>
              <a:t>Emprendimiento según </a:t>
            </a:r>
            <a:r>
              <a:rPr lang="es-ES" dirty="0" err="1" smtClean="0">
                <a:solidFill>
                  <a:schemeClr val="tx1"/>
                </a:solidFill>
              </a:rPr>
              <a:t>Shumpeter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51668" y="1885105"/>
            <a:ext cx="9403080" cy="4536944"/>
          </a:xfrm>
        </p:spPr>
        <p:txBody>
          <a:bodyPr>
            <a:normAutofit/>
          </a:bodyPr>
          <a:lstStyle/>
          <a:p>
            <a:pPr algn="just"/>
            <a:endParaRPr lang="es-ES" dirty="0" smtClean="0"/>
          </a:p>
          <a:p>
            <a:pPr algn="just"/>
            <a:r>
              <a:rPr lang="es-ES" dirty="0" err="1" smtClean="0"/>
              <a:t>Schumpeter</a:t>
            </a:r>
            <a:r>
              <a:rPr lang="es-ES" dirty="0" smtClean="0"/>
              <a:t> </a:t>
            </a:r>
            <a:r>
              <a:rPr lang="es-ES" dirty="0"/>
              <a:t>asume que el emprendedor actúa para distorsionar una </a:t>
            </a:r>
            <a:r>
              <a:rPr lang="es-ES" dirty="0" smtClean="0"/>
              <a:t>situación </a:t>
            </a:r>
            <a:r>
              <a:rPr lang="es-ES" dirty="0"/>
              <a:t>de equilibrio existente. La actividad emprendedora rompe con el círculo continuo de mejoramiento. </a:t>
            </a:r>
            <a:endParaRPr lang="es-ES" dirty="0" smtClean="0"/>
          </a:p>
          <a:p>
            <a:pPr algn="just"/>
            <a:r>
              <a:rPr lang="es-ES" dirty="0" smtClean="0"/>
              <a:t>Para </a:t>
            </a:r>
            <a:r>
              <a:rPr lang="es-ES" dirty="0" err="1"/>
              <a:t>Schumpeter</a:t>
            </a:r>
            <a:r>
              <a:rPr lang="es-ES" dirty="0"/>
              <a:t>, el emprendedor se ubica como iniciador del cambio y generador de nuevas oportunidades.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9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0" y="91178"/>
            <a:ext cx="3397495" cy="93672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8213696" y="3589059"/>
            <a:ext cx="36122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nueva </a:t>
            </a:r>
            <a:r>
              <a:rPr lang="es-ES" dirty="0"/>
              <a:t>organización</a:t>
            </a:r>
            <a:endParaRPr lang="es-EC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921" y="4521408"/>
            <a:ext cx="2028825" cy="1238250"/>
          </a:xfrm>
          <a:prstGeom prst="rect">
            <a:avLst/>
          </a:prstGeom>
        </p:spPr>
      </p:pic>
      <p:sp>
        <p:nvSpPr>
          <p:cNvPr id="9" name="AutoShape 2" descr="Métodos de producción industrial | EA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871" y="4473626"/>
            <a:ext cx="1716919" cy="1286032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5499552" y="4830783"/>
            <a:ext cx="1442018" cy="437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Nuevo Mercado</a:t>
            </a:r>
            <a:endParaRPr lang="es-EC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8903" y="4439885"/>
            <a:ext cx="2539803" cy="1177545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585" y="4493608"/>
            <a:ext cx="1951846" cy="1462000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174" y="3132425"/>
            <a:ext cx="2058145" cy="134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6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r>
              <a:rPr lang="es-ES" dirty="0" smtClean="0"/>
              <a:t>Modelo </a:t>
            </a:r>
            <a:r>
              <a:rPr lang="es-ES" dirty="0" err="1"/>
              <a:t>Timmons</a:t>
            </a:r>
            <a:r>
              <a:rPr lang="es-EC" sz="4800" dirty="0">
                <a:latin typeface="Arial MT"/>
                <a:ea typeface="Arial MT"/>
                <a:cs typeface="Arial MT"/>
              </a:rPr>
              <a:t/>
            </a:r>
            <a:br>
              <a:rPr lang="es-EC" sz="4800" dirty="0">
                <a:latin typeface="Arial MT"/>
                <a:ea typeface="Arial MT"/>
                <a:cs typeface="Arial MT"/>
              </a:rPr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36672"/>
            <a:ext cx="9403080" cy="4468712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s-ES" sz="1800" b="1" dirty="0" smtClean="0"/>
              <a:t>OPORTUNIDAD</a:t>
            </a:r>
            <a:endParaRPr lang="es-ES" sz="1800" dirty="0"/>
          </a:p>
          <a:p>
            <a:pPr marL="0" indent="0">
              <a:buNone/>
            </a:pPr>
            <a:r>
              <a:rPr lang="es-ES" sz="1800" dirty="0"/>
              <a:t>Una oportunidad no es solamente una idea. Una oportunidad es una idea testeada que muestra un potencial de negocio importante</a:t>
            </a:r>
            <a:r>
              <a:rPr lang="es-ES" sz="1800" dirty="0" smtClean="0"/>
              <a:t>.</a:t>
            </a:r>
          </a:p>
          <a:p>
            <a:pPr marL="0" indent="0">
              <a:buNone/>
            </a:pPr>
            <a:endParaRPr lang="es-ES" sz="1800" dirty="0"/>
          </a:p>
          <a:p>
            <a:r>
              <a:rPr lang="es-ES" sz="1800" b="1" dirty="0"/>
              <a:t>Tamaño:</a:t>
            </a:r>
            <a:r>
              <a:rPr lang="es-ES" sz="1800" dirty="0"/>
              <a:t> un potencial en un mercado concreto donde se puedan identificar una estructura del mercado (líder/es, cadena de valor) márgenes, costes o cuotas de mercado</a:t>
            </a:r>
            <a:r>
              <a:rPr lang="es-ES" sz="1800" dirty="0" smtClean="0"/>
              <a:t>.</a:t>
            </a:r>
          </a:p>
          <a:p>
            <a:pPr marL="0" indent="0">
              <a:buNone/>
            </a:pPr>
            <a:endParaRPr lang="es-ES" sz="1800" dirty="0"/>
          </a:p>
          <a:p>
            <a:r>
              <a:rPr lang="es-ES" sz="1800" b="1" dirty="0"/>
              <a:t>Ventaja competitiva:</a:t>
            </a:r>
            <a:r>
              <a:rPr lang="es-ES" sz="1800" dirty="0"/>
              <a:t> ¿qué te hace diferente? </a:t>
            </a:r>
            <a:endParaRPr lang="es-ES" sz="1800" i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10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9496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r>
              <a:rPr lang="es-ES" dirty="0" smtClean="0"/>
              <a:t>Modelo </a:t>
            </a:r>
            <a:r>
              <a:rPr lang="es-ES" dirty="0" err="1"/>
              <a:t>Timmons</a:t>
            </a:r>
            <a:r>
              <a:rPr lang="es-EC" sz="4800" dirty="0">
                <a:latin typeface="Arial MT"/>
                <a:ea typeface="Arial MT"/>
                <a:cs typeface="Arial MT"/>
              </a:rPr>
              <a:t/>
            </a:r>
            <a:br>
              <a:rPr lang="es-EC" sz="4800" dirty="0">
                <a:latin typeface="Arial MT"/>
                <a:ea typeface="Arial MT"/>
                <a:cs typeface="Arial MT"/>
              </a:rPr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36672"/>
            <a:ext cx="9403080" cy="44687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800" dirty="0" smtClean="0"/>
              <a:t>“</a:t>
            </a:r>
            <a:r>
              <a:rPr lang="es-ES" sz="1800" dirty="0"/>
              <a:t>El emprendimiento significa tomar acciones humanas, creativas para construir algo de valor a partir de prácticamente nada. Es la búsqueda insistente de la oportunidad independientemente de los recursos disponibles o de la carencia de estos</a:t>
            </a:r>
            <a:r>
              <a:rPr lang="es-ES" sz="1800" dirty="0" smtClean="0"/>
              <a:t>.</a:t>
            </a:r>
          </a:p>
          <a:p>
            <a:r>
              <a:rPr lang="es-ES" sz="1800" i="1" dirty="0"/>
              <a:t>Las 3 claves del </a:t>
            </a:r>
            <a:r>
              <a:rPr lang="es-ES" sz="1800" b="1" i="1" dirty="0"/>
              <a:t>modelo </a:t>
            </a:r>
            <a:r>
              <a:rPr lang="es-ES" sz="1800" b="1" i="1" dirty="0" err="1"/>
              <a:t>Timmons</a:t>
            </a:r>
            <a:r>
              <a:rPr lang="es-ES" sz="1800" i="1" dirty="0"/>
              <a:t> son</a:t>
            </a:r>
            <a:r>
              <a:rPr lang="es-ES" sz="1800" i="1" dirty="0" smtClean="0"/>
              <a:t>:</a:t>
            </a:r>
            <a:endParaRPr lang="es-ES" sz="1800" i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11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214" y="3799626"/>
            <a:ext cx="2258292" cy="225829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430" y="3996245"/>
            <a:ext cx="2908619" cy="2178657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7466" y="3695285"/>
            <a:ext cx="1847850" cy="2466975"/>
          </a:xfrm>
          <a:prstGeom prst="rect">
            <a:avLst/>
          </a:prstGeom>
        </p:spPr>
      </p:pic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1246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r>
              <a:rPr lang="es-ES" dirty="0" smtClean="0"/>
              <a:t>Modelo </a:t>
            </a:r>
            <a:r>
              <a:rPr lang="es-ES" dirty="0" err="1"/>
              <a:t>Timmons</a:t>
            </a:r>
            <a:r>
              <a:rPr lang="es-EC" sz="4800" dirty="0">
                <a:latin typeface="Arial MT"/>
                <a:ea typeface="Arial MT"/>
                <a:cs typeface="Arial MT"/>
              </a:rPr>
              <a:t/>
            </a:r>
            <a:br>
              <a:rPr lang="es-EC" sz="4800" dirty="0">
                <a:latin typeface="Arial MT"/>
                <a:ea typeface="Arial MT"/>
                <a:cs typeface="Arial MT"/>
              </a:rPr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36672"/>
            <a:ext cx="9403080" cy="446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 smtClean="0"/>
              <a:t>2. RECURSOS</a:t>
            </a:r>
          </a:p>
          <a:p>
            <a:pPr marL="342900" indent="-342900">
              <a:buAutoNum type="arabicPeriod"/>
            </a:pPr>
            <a:endParaRPr lang="es-ES" sz="1800" b="1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/>
              <a:t>L</a:t>
            </a:r>
            <a:r>
              <a:rPr lang="es-ES" sz="1800" dirty="0" smtClean="0"/>
              <a:t>a </a:t>
            </a:r>
            <a:r>
              <a:rPr lang="es-ES" sz="1800" dirty="0"/>
              <a:t>falta de recursos es una de las claves fundamentales para tener éxito en el mundo de la empresa</a:t>
            </a:r>
            <a:r>
              <a:rPr lang="es-ES" sz="1800" dirty="0" smtClean="0"/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b="1" i="1" dirty="0"/>
              <a:t>“Hacer más con menos es una potente ventaja competitiva” (</a:t>
            </a:r>
            <a:r>
              <a:rPr lang="es-ES" sz="1800" b="1" i="1" dirty="0" err="1"/>
              <a:t>J.Timmons</a:t>
            </a:r>
            <a:r>
              <a:rPr lang="es-ES" sz="1800" b="1" i="1" dirty="0"/>
              <a:t>).</a:t>
            </a:r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12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2070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r>
              <a:rPr lang="es-ES" dirty="0" smtClean="0"/>
              <a:t>Modelo </a:t>
            </a:r>
            <a:r>
              <a:rPr lang="es-ES" dirty="0" err="1"/>
              <a:t>Timmons</a:t>
            </a:r>
            <a:r>
              <a:rPr lang="es-EC" sz="4800" dirty="0">
                <a:latin typeface="Arial MT"/>
                <a:ea typeface="Arial MT"/>
                <a:cs typeface="Arial MT"/>
              </a:rPr>
              <a:t/>
            </a:r>
            <a:br>
              <a:rPr lang="es-EC" sz="4800" dirty="0">
                <a:latin typeface="Arial MT"/>
                <a:ea typeface="Arial MT"/>
                <a:cs typeface="Arial MT"/>
              </a:rPr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36672"/>
            <a:ext cx="9403080" cy="446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 smtClean="0"/>
              <a:t>3. EQUIPO FUNDADOR</a:t>
            </a:r>
          </a:p>
          <a:p>
            <a:pPr marL="0" indent="0">
              <a:buNone/>
            </a:pPr>
            <a:endParaRPr lang="es-ES" sz="1800" b="1" dirty="0" smtClean="0"/>
          </a:p>
          <a:p>
            <a:pPr marL="0" indent="0">
              <a:buNone/>
            </a:pPr>
            <a:r>
              <a:rPr lang="es-ES" sz="1800" dirty="0" smtClean="0"/>
              <a:t>La tercera </a:t>
            </a:r>
            <a:r>
              <a:rPr lang="es-ES" sz="1800" dirty="0"/>
              <a:t>clave fundamental para tener éxito al equipo fundador</a:t>
            </a:r>
            <a:r>
              <a:rPr lang="es-ES" sz="1800" dirty="0" smtClean="0"/>
              <a:t>.</a:t>
            </a:r>
          </a:p>
          <a:p>
            <a:pPr marL="0" indent="0">
              <a:buNone/>
            </a:pPr>
            <a:r>
              <a:rPr lang="es-ES" sz="1800" b="1" i="1" dirty="0"/>
              <a:t>“Casi todos los errores que he cometido han sido motivados por seleccionar a la gente </a:t>
            </a:r>
            <a:r>
              <a:rPr lang="es-ES" sz="1800" b="1" i="1" dirty="0" smtClean="0"/>
              <a:t>errónea </a:t>
            </a:r>
            <a:r>
              <a:rPr lang="es-ES" sz="1800" b="1" i="1" dirty="0"/>
              <a:t>y no una mala idea” (Arthur Rock</a:t>
            </a:r>
            <a:r>
              <a:rPr lang="es-ES" sz="1800" b="1" i="1" dirty="0" smtClean="0"/>
              <a:t>).</a:t>
            </a:r>
          </a:p>
          <a:p>
            <a:pPr marL="0" indent="0">
              <a:buNone/>
            </a:pPr>
            <a:endParaRPr lang="es-ES" sz="1800" b="1" i="1" dirty="0"/>
          </a:p>
          <a:p>
            <a:r>
              <a:rPr lang="es-ES" sz="1800" b="1" dirty="0"/>
              <a:t>Un líder reconocido que sea capaz de:</a:t>
            </a:r>
            <a:endParaRPr lang="es-ES" sz="1800" dirty="0"/>
          </a:p>
          <a:p>
            <a:r>
              <a:rPr lang="es-ES" sz="1800" dirty="0"/>
              <a:t>Aprender y enseñar con agilidad</a:t>
            </a:r>
          </a:p>
          <a:p>
            <a:r>
              <a:rPr lang="es-ES" sz="1800" dirty="0"/>
              <a:t>Gestionar la adversidad</a:t>
            </a:r>
          </a:p>
          <a:p>
            <a:r>
              <a:rPr lang="es-ES" sz="1800" dirty="0"/>
              <a:t>Ser íntegro, honesto y una persona de confianza</a:t>
            </a:r>
          </a:p>
          <a:p>
            <a:r>
              <a:rPr lang="es-ES" sz="1800" dirty="0"/>
              <a:t>Liderar una cultura emprendedora en la empresa</a:t>
            </a:r>
          </a:p>
          <a:p>
            <a:pPr marL="0" indent="0">
              <a:buNone/>
            </a:pPr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13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6998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r>
              <a:rPr lang="es-ES" dirty="0" smtClean="0"/>
              <a:t>Modelo </a:t>
            </a:r>
            <a:r>
              <a:rPr lang="es-ES" dirty="0" err="1"/>
              <a:t>Timmons</a:t>
            </a:r>
            <a:r>
              <a:rPr lang="es-EC" sz="4800" dirty="0">
                <a:latin typeface="Arial MT"/>
                <a:ea typeface="Arial MT"/>
                <a:cs typeface="Arial MT"/>
              </a:rPr>
              <a:t/>
            </a:r>
            <a:br>
              <a:rPr lang="es-EC" sz="4800" dirty="0">
                <a:latin typeface="Arial MT"/>
                <a:ea typeface="Arial MT"/>
                <a:cs typeface="Arial MT"/>
              </a:rPr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36672"/>
            <a:ext cx="9403080" cy="446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 smtClean="0"/>
              <a:t>3. EQUIPO FUNDADOR</a:t>
            </a:r>
          </a:p>
          <a:p>
            <a:pPr marL="0" indent="0">
              <a:buNone/>
            </a:pPr>
            <a:endParaRPr lang="es-ES" sz="1800" b="1" dirty="0" smtClean="0"/>
          </a:p>
          <a:p>
            <a:pPr marL="0" indent="0">
              <a:buNone/>
            </a:pPr>
            <a:r>
              <a:rPr lang="es-ES" sz="1800" dirty="0" smtClean="0"/>
              <a:t>La tercera </a:t>
            </a:r>
            <a:r>
              <a:rPr lang="es-ES" sz="1800" dirty="0"/>
              <a:t>clave fundamental para tener éxito al equipo fundador</a:t>
            </a:r>
            <a:r>
              <a:rPr lang="es-ES" sz="1800" dirty="0" smtClean="0"/>
              <a:t>.</a:t>
            </a:r>
          </a:p>
          <a:p>
            <a:pPr marL="0" indent="0">
              <a:buNone/>
            </a:pPr>
            <a:r>
              <a:rPr lang="es-ES" sz="1800" b="1" i="1" dirty="0"/>
              <a:t>“Casi todos los errores que he cometido han sido motivados por seleccionar a la gente </a:t>
            </a:r>
            <a:r>
              <a:rPr lang="es-ES" sz="1800" b="1" i="1" dirty="0" smtClean="0"/>
              <a:t>errónea </a:t>
            </a:r>
            <a:r>
              <a:rPr lang="es-ES" sz="1800" b="1" i="1" dirty="0"/>
              <a:t>y no una mala idea” (Arthur Rock</a:t>
            </a:r>
            <a:r>
              <a:rPr lang="es-ES" sz="1800" b="1" i="1" dirty="0" smtClean="0"/>
              <a:t>).</a:t>
            </a:r>
          </a:p>
          <a:p>
            <a:pPr marL="0" indent="0">
              <a:buNone/>
            </a:pPr>
            <a:endParaRPr lang="es-ES" sz="1800" b="1" i="1" dirty="0"/>
          </a:p>
          <a:p>
            <a:r>
              <a:rPr lang="es-ES" sz="1800" b="1" dirty="0"/>
              <a:t>Un líder reconocido que sea capaz de:</a:t>
            </a:r>
            <a:endParaRPr lang="es-ES" sz="1800" dirty="0"/>
          </a:p>
          <a:p>
            <a:r>
              <a:rPr lang="es-ES" sz="1800" dirty="0"/>
              <a:t>Aprender y enseñar con agilidad</a:t>
            </a:r>
          </a:p>
          <a:p>
            <a:r>
              <a:rPr lang="es-ES" sz="1800" dirty="0"/>
              <a:t>Gestionar la adversidad</a:t>
            </a:r>
          </a:p>
          <a:p>
            <a:r>
              <a:rPr lang="es-ES" sz="1800" dirty="0"/>
              <a:t>Ser íntegro, honesto y una persona de confianza</a:t>
            </a:r>
          </a:p>
          <a:p>
            <a:r>
              <a:rPr lang="es-ES" sz="1800" dirty="0"/>
              <a:t>Liderar una cultura emprendedora en la empresa</a:t>
            </a:r>
          </a:p>
          <a:p>
            <a:pPr marL="0" indent="0">
              <a:buNone/>
            </a:pPr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14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813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4800465"/>
            <a:ext cx="2362200" cy="1933575"/>
          </a:xfrm>
          <a:prstGeom prst="rect">
            <a:avLst/>
          </a:pr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72" y="3807711"/>
            <a:ext cx="1885950" cy="1885950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385" y="3293072"/>
            <a:ext cx="2297247" cy="1366392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747" y="2414234"/>
            <a:ext cx="2466975" cy="1847850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5380" y="2130047"/>
            <a:ext cx="2279252" cy="106643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r>
              <a:rPr lang="es-ES" dirty="0">
                <a:solidFill>
                  <a:schemeClr val="tx1"/>
                </a:solidFill>
              </a:rPr>
              <a:t>Tipos de emprendimientos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6252" y="2258090"/>
            <a:ext cx="9403080" cy="4023439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s-ES" sz="1800" dirty="0" smtClean="0"/>
              <a:t>Tecnológico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s-ES" sz="1800" dirty="0" smtClean="0"/>
              <a:t> Social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s-ES" sz="1800" dirty="0" smtClean="0"/>
              <a:t>Cívico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s-ES" sz="1800" dirty="0" smtClean="0"/>
              <a:t>Cultural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s-ES" sz="1800" dirty="0"/>
              <a:t>E</a:t>
            </a:r>
            <a:r>
              <a:rPr lang="es-ES" sz="1800" dirty="0" smtClean="0"/>
              <a:t>mpresarial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s-ES" sz="1800" dirty="0" smtClean="0"/>
              <a:t>Oportunidad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s-ES" sz="1800" dirty="0" smtClean="0"/>
              <a:t>Necesidad</a:t>
            </a:r>
            <a:endParaRPr lang="es-ES" sz="1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15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7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6" name="AutoShape 2" descr="Fijan pautas de inversión para negociación de títulos en mercados  extranjeros | Portal de Notici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9" name="AutoShape 4" descr="El crecimiento económico a corto y largo plazo | Economía - Legítima Defens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783" y="2152058"/>
            <a:ext cx="2724813" cy="1442028"/>
          </a:xfrm>
          <a:prstGeom prst="rect">
            <a:avLst/>
          </a:prstGeom>
        </p:spPr>
      </p:pic>
      <p:sp>
        <p:nvSpPr>
          <p:cNvPr id="12" name="AutoShape 6" descr="Guía básica para ingresar al mundo de las franquicias - Doral Family Journal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4" name="Rectángulo 13"/>
          <p:cNvSpPr/>
          <p:nvPr/>
        </p:nvSpPr>
        <p:spPr>
          <a:xfrm>
            <a:off x="3958308" y="2123921"/>
            <a:ext cx="437321" cy="3451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1</a:t>
            </a:r>
            <a:endParaRPr lang="es-EC" dirty="0"/>
          </a:p>
        </p:txBody>
      </p:sp>
      <p:sp>
        <p:nvSpPr>
          <p:cNvPr id="15" name="Rectángulo 14"/>
          <p:cNvSpPr/>
          <p:nvPr/>
        </p:nvSpPr>
        <p:spPr>
          <a:xfrm>
            <a:off x="6377018" y="2208605"/>
            <a:ext cx="437321" cy="3451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2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9126733" y="2553769"/>
            <a:ext cx="437321" cy="3451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3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5702358" y="3409278"/>
            <a:ext cx="437321" cy="3451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4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6039" y="4930081"/>
            <a:ext cx="2151397" cy="1413468"/>
          </a:xfrm>
          <a:prstGeom prst="rect">
            <a:avLst/>
          </a:prstGeom>
        </p:spPr>
      </p:pic>
      <p:sp>
        <p:nvSpPr>
          <p:cNvPr id="22" name="Rectángulo 21"/>
          <p:cNvSpPr/>
          <p:nvPr/>
        </p:nvSpPr>
        <p:spPr>
          <a:xfrm>
            <a:off x="6524409" y="3924645"/>
            <a:ext cx="437321" cy="3451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5</a:t>
            </a:r>
            <a:endParaRPr lang="es-EC" dirty="0"/>
          </a:p>
        </p:txBody>
      </p:sp>
      <p:sp>
        <p:nvSpPr>
          <p:cNvPr id="20" name="AutoShape 12" descr="Private Equity. Un resumen de estos fondos de inversión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25" name="Rectángulo 24"/>
          <p:cNvSpPr/>
          <p:nvPr/>
        </p:nvSpPr>
        <p:spPr>
          <a:xfrm>
            <a:off x="3970195" y="4938859"/>
            <a:ext cx="437321" cy="3451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 smtClean="0"/>
              <a:t>7</a:t>
            </a:r>
            <a:endParaRPr lang="es-EC" dirty="0"/>
          </a:p>
        </p:txBody>
      </p:sp>
      <p:sp>
        <p:nvSpPr>
          <p:cNvPr id="26" name="AutoShape 16" descr="Qué es ayuda social? Programas de Ayuda en Acción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28" name="AutoShape 18" descr="Resultado de imagen para emprendimiento cultural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30" name="AutoShape 20" descr="Resultado de imagen para emprendimiento empresarial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34" name="Rectángulo 33"/>
          <p:cNvSpPr/>
          <p:nvPr/>
        </p:nvSpPr>
        <p:spPr>
          <a:xfrm>
            <a:off x="8689412" y="4975085"/>
            <a:ext cx="437321" cy="3451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6</a:t>
            </a:r>
          </a:p>
        </p:txBody>
      </p:sp>
      <p:sp>
        <p:nvSpPr>
          <p:cNvPr id="32" name="AutoShape 22" descr="Emprendimiento por necesidad ¿Serás uno de ellos? | Emprender Fácil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0111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36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C" dirty="0" smtClean="0"/>
              <a:t/>
            </a:r>
            <a:br>
              <a:rPr lang="es-EC" dirty="0" smtClean="0"/>
            </a:br>
            <a:r>
              <a:rPr lang="es-EC" dirty="0" smtClean="0"/>
              <a:t>Unidad </a:t>
            </a:r>
            <a:r>
              <a:rPr lang="es-EC" dirty="0"/>
              <a:t>1</a:t>
            </a:r>
            <a:br>
              <a:rPr lang="es-EC" dirty="0"/>
            </a:br>
            <a:r>
              <a:rPr lang="es-EC" dirty="0"/>
              <a:t> EMPRENDIMIENTO Y </a:t>
            </a:r>
            <a:r>
              <a:rPr lang="es-EC" dirty="0" smtClean="0"/>
              <a:t>EMPRENDEDOR</a:t>
            </a:r>
            <a:r>
              <a:rPr lang="es-EC" dirty="0"/>
              <a:t/>
            </a:r>
            <a:br>
              <a:rPr lang="es-EC" dirty="0"/>
            </a:br>
            <a:r>
              <a:rPr lang="es-ES" dirty="0" smtClean="0">
                <a:solidFill>
                  <a:schemeClr val="tx1"/>
                </a:solidFill>
              </a:rPr>
              <a:t>Tipos de emprendedores</a:t>
            </a:r>
            <a:r>
              <a:rPr lang="es-EC" sz="4800" dirty="0">
                <a:latin typeface="Arial MT"/>
                <a:ea typeface="Arial MT"/>
                <a:cs typeface="Arial MT"/>
              </a:rPr>
              <a:t/>
            </a:r>
            <a:br>
              <a:rPr lang="es-EC" sz="4800" dirty="0">
                <a:latin typeface="Arial MT"/>
                <a:ea typeface="Arial MT"/>
                <a:cs typeface="Arial MT"/>
              </a:rPr>
            </a:b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84690" y="2071315"/>
            <a:ext cx="9403080" cy="44687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1800" dirty="0" err="1"/>
              <a:t>Schollhammer</a:t>
            </a:r>
            <a:r>
              <a:rPr lang="es-ES" sz="1800" dirty="0"/>
              <a:t> (1980) divide a los emprendedores en cinco tipos de personalidades: </a:t>
            </a:r>
            <a:endParaRPr lang="es-ES" sz="1800" dirty="0" smtClean="0"/>
          </a:p>
          <a:p>
            <a:pPr marL="0" indent="0" algn="just">
              <a:buNone/>
            </a:pPr>
            <a:r>
              <a:rPr lang="es-ES" sz="1800" dirty="0" smtClean="0"/>
              <a:t>• </a:t>
            </a:r>
            <a:r>
              <a:rPr lang="es-ES" sz="1800" dirty="0"/>
              <a:t>El emprendedor administrativo. Hace uso de la investigación y del desarrollo para generar nuevas y mejores formas de hacer las cosas. </a:t>
            </a:r>
            <a:endParaRPr lang="es-ES" sz="1800" dirty="0" smtClean="0"/>
          </a:p>
          <a:p>
            <a:pPr marL="0" indent="0" algn="just">
              <a:buNone/>
            </a:pPr>
            <a:r>
              <a:rPr lang="es-ES" sz="1800" dirty="0" smtClean="0"/>
              <a:t>• </a:t>
            </a:r>
            <a:r>
              <a:rPr lang="es-ES" sz="1800" dirty="0"/>
              <a:t>El emprendedor oportunista. Busca constantemente las oportunidades y se mantiene alerta ante las posibilidades que le rodean. </a:t>
            </a:r>
            <a:endParaRPr lang="es-ES" sz="1800" dirty="0" smtClean="0"/>
          </a:p>
          <a:p>
            <a:pPr marL="0" indent="0" algn="just">
              <a:buNone/>
            </a:pPr>
            <a:r>
              <a:rPr lang="es-ES" sz="1800" dirty="0" smtClean="0"/>
              <a:t>• </a:t>
            </a:r>
            <a:r>
              <a:rPr lang="es-ES" sz="1800" dirty="0"/>
              <a:t>El emprendedor adquisitivo. Se mantiene en continua innovación, la cual le permite crecer y mejorar lo que hace. </a:t>
            </a:r>
            <a:endParaRPr lang="es-ES" sz="1800" dirty="0" smtClean="0"/>
          </a:p>
          <a:p>
            <a:pPr marL="0" indent="0" algn="just">
              <a:buNone/>
            </a:pPr>
            <a:r>
              <a:rPr lang="es-ES" sz="1800" dirty="0" smtClean="0"/>
              <a:t>• </a:t>
            </a:r>
            <a:r>
              <a:rPr lang="es-ES" sz="1800" dirty="0"/>
              <a:t>El emprendedor </a:t>
            </a:r>
            <a:r>
              <a:rPr lang="es-ES" sz="1800" dirty="0" err="1"/>
              <a:t>incubador</a:t>
            </a:r>
            <a:r>
              <a:rPr lang="es-ES" sz="1800" dirty="0"/>
              <a:t>. En su afán por crecer y buscar oportunidades y por preferir la autonomía, crea unidades independientes que al final se convierten en negocios nuevos, incluso a partir de alguno ya existente. </a:t>
            </a:r>
            <a:endParaRPr lang="es-ES" sz="1800" dirty="0" smtClean="0"/>
          </a:p>
          <a:p>
            <a:pPr marL="0" indent="0" algn="just">
              <a:buNone/>
            </a:pPr>
            <a:r>
              <a:rPr lang="es-ES" sz="1800" dirty="0" smtClean="0"/>
              <a:t>• </a:t>
            </a:r>
            <a:r>
              <a:rPr lang="es-ES" sz="1800" dirty="0"/>
              <a:t>El emprendedor imitador. Genera sus procesos de innovación a partir de elementos básicos ya existentes, mediante la mejora de ellos.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16</a:t>
            </a:fld>
            <a:endParaRPr lang="es-ES" noProof="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32272" t="12256" r="33106" b="70774"/>
          <a:stretch/>
        </p:blipFill>
        <p:spPr>
          <a:xfrm>
            <a:off x="278428" y="84773"/>
            <a:ext cx="3108828" cy="857139"/>
          </a:xfrm>
          <a:prstGeom prst="rect">
            <a:avLst/>
          </a:prstGeom>
        </p:spPr>
      </p:pic>
      <p:sp>
        <p:nvSpPr>
          <p:cNvPr id="8" name="AutoShape 2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10" name="AutoShape 4" descr="Cómo se hicieron socios, los fundadores de IMPAQTO y WAYKANA? - IMPAQ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5325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Referencias Bibliográfica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172017"/>
          </a:xfrm>
        </p:spPr>
        <p:txBody>
          <a:bodyPr/>
          <a:lstStyle/>
          <a:p>
            <a:r>
              <a:rPr lang="es-ES" dirty="0"/>
              <a:t>Alcaraz Rodríguez, </a:t>
            </a:r>
            <a:r>
              <a:rPr lang="es-ES" dirty="0" smtClean="0"/>
              <a:t>Rafael (2011). El </a:t>
            </a:r>
            <a:r>
              <a:rPr lang="es-ES" dirty="0"/>
              <a:t>emprendedor de </a:t>
            </a:r>
            <a:r>
              <a:rPr lang="es-ES" dirty="0" smtClean="0"/>
              <a:t>éxito.</a:t>
            </a:r>
            <a:r>
              <a:rPr lang="es-ES" dirty="0"/>
              <a:t> </a:t>
            </a:r>
            <a:r>
              <a:rPr lang="es-ES" dirty="0" smtClean="0"/>
              <a:t>Editorial McGraw </a:t>
            </a:r>
            <a:r>
              <a:rPr lang="es-ES" dirty="0"/>
              <a:t>Hill </a:t>
            </a:r>
            <a:r>
              <a:rPr lang="es-ES" dirty="0" smtClean="0"/>
              <a:t>Interamericana México. </a:t>
            </a:r>
            <a:r>
              <a:rPr lang="en-US" dirty="0" err="1" smtClean="0"/>
              <a:t>Disponible</a:t>
            </a:r>
            <a:r>
              <a:rPr lang="en-US" dirty="0" smtClean="0"/>
              <a:t> </a:t>
            </a:r>
            <a:r>
              <a:rPr lang="en-US" dirty="0" err="1"/>
              <a:t>en</a:t>
            </a:r>
            <a:r>
              <a:rPr lang="en-US" dirty="0"/>
              <a:t> : https://www.stodomingo.ute.edu.ec/content/102001-322-1-2-2-8/TEXTO_GUIA_1_El_e_m_p_r_e__n_d_e_d__</a:t>
            </a:r>
            <a:r>
              <a:rPr lang="en-US" dirty="0" smtClean="0"/>
              <a:t>o_r_de_E_x_i_t_o.pdf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9329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5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4309238_TF23188392" id="{F1A4FF75-0337-499B-B5AB-B2509398CEA7}" vid="{0D7670FE-5D26-47F2-BB16-139DDA547B5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DD087A-3273-4D74-8700-4C8E2BE50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1946EF-A3EA-4ECB-8D9A-56C36FFF4075}">
  <ds:schemaRefs>
    <ds:schemaRef ds:uri="http://schemas.microsoft.com/office/2006/documentManagement/types"/>
    <ds:schemaRef ds:uri="16c05727-aa75-4e4a-9b5f-8a80a1165891"/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2DAF9E5-DED4-4A50-A81B-4CC218A03F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servicios profesionales</Template>
  <TotalTime>0</TotalTime>
  <Words>784</Words>
  <Application>Microsoft Office PowerPoint</Application>
  <PresentationFormat>Panorámica</PresentationFormat>
  <Paragraphs>123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Arial </vt:lpstr>
      <vt:lpstr>Arial MT</vt:lpstr>
      <vt:lpstr>Calibri</vt:lpstr>
      <vt:lpstr>Gill Sans MT</vt:lpstr>
      <vt:lpstr>Wingdings</vt:lpstr>
      <vt:lpstr>Tema de Office</vt:lpstr>
      <vt:lpstr>Presentación de PowerPoint</vt:lpstr>
      <vt:lpstr>Unidad 1   EMPRENDIMIENTO Y EMPRENDEDOR</vt:lpstr>
      <vt:lpstr>Unidad 1   EMPRENDIMIENTO Y EMPRENDEDOR</vt:lpstr>
      <vt:lpstr>DEFINICIÓN</vt:lpstr>
      <vt:lpstr>Unidad 1   EMPRENDIMIENTO Y EMPRENDEDOR</vt:lpstr>
      <vt:lpstr>Unidad 1   EMPRENDIMIENTO Y EMPRENDEDOR</vt:lpstr>
      <vt:lpstr>Unidad 1   EMPRENDIMIENTO Y EMPRENDEDOR</vt:lpstr>
      <vt:lpstr> Unidad 1  EMPRENDIMIENTO Y EMPRENDEDOR  Qué es un emprendedor</vt:lpstr>
      <vt:lpstr>Unidad 1  EMPRENDIMIENTO Y EMPRENDEDOR Emprendimiento según Shumpeter</vt:lpstr>
      <vt:lpstr> Unidad 1  EMPRENDIMIENTO Y EMPRENDEDOR Modelo Timmons </vt:lpstr>
      <vt:lpstr> Unidad 1  EMPRENDIMIENTO Y EMPRENDEDOR Modelo Timmons </vt:lpstr>
      <vt:lpstr> Unidad 1  EMPRENDIMIENTO Y EMPRENDEDOR Modelo Timmons </vt:lpstr>
      <vt:lpstr> Unidad 1  EMPRENDIMIENTO Y EMPRENDEDOR Modelo Timmons </vt:lpstr>
      <vt:lpstr> Unidad 1  EMPRENDIMIENTO Y EMPRENDEDOR Modelo Timmons </vt:lpstr>
      <vt:lpstr> Unidad 1  EMPRENDIMIENTO Y EMPRENDEDOR Tipos de emprendimientos</vt:lpstr>
      <vt:lpstr> Unidad 1  EMPRENDIMIENTO Y EMPRENDEDOR Tipos de emprendedores </vt:lpstr>
      <vt:lpstr>Referencias Bibliográfica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2023-03-29T14:43:17Z</dcterms:created>
  <dcterms:modified xsi:type="dcterms:W3CDTF">2024-03-22T12:30:52Z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