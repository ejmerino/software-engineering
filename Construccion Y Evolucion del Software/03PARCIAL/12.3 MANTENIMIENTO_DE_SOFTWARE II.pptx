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3398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291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368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698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834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523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372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5474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096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842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7991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0503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5140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0224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3562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2562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1208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19CD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3790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6F15528-21DE-4FAA-801E-634DDDAF4B2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8056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14400" y="0"/>
            <a:ext cx="1600200" cy="6858000"/>
          </a:xfrm>
          <a:custGeom>
            <a:avLst/>
            <a:gdLst/>
            <a:ahLst/>
            <a:cxnLst/>
            <a:rect l="l" t="t" r="r" b="b"/>
            <a:pathLst>
              <a:path w="1600200" h="6858000">
                <a:moveTo>
                  <a:pt x="1600200" y="0"/>
                </a:moveTo>
                <a:lnTo>
                  <a:pt x="0" y="0"/>
                </a:lnTo>
                <a:lnTo>
                  <a:pt x="0" y="6858000"/>
                </a:lnTo>
                <a:lnTo>
                  <a:pt x="1600200" y="6858000"/>
                </a:lnTo>
                <a:lnTo>
                  <a:pt x="1600200" y="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90600" cy="6858000"/>
          </a:xfrm>
          <a:custGeom>
            <a:avLst/>
            <a:gdLst/>
            <a:ahLst/>
            <a:cxnLst/>
            <a:rect l="l" t="t" r="r" b="b"/>
            <a:pathLst>
              <a:path w="990600" h="6858000">
                <a:moveTo>
                  <a:pt x="990600" y="0"/>
                </a:moveTo>
                <a:lnTo>
                  <a:pt x="457200" y="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lnTo>
                  <a:pt x="228600" y="6858000"/>
                </a:lnTo>
                <a:lnTo>
                  <a:pt x="457200" y="6858000"/>
                </a:lnTo>
                <a:lnTo>
                  <a:pt x="990600" y="685800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37310" y="0"/>
            <a:ext cx="1600200" cy="6858000"/>
          </a:xfrm>
          <a:custGeom>
            <a:avLst/>
            <a:gdLst/>
            <a:ahLst/>
            <a:cxnLst/>
            <a:rect l="l" t="t" r="r" b="b"/>
            <a:pathLst>
              <a:path w="1600200" h="6858000">
                <a:moveTo>
                  <a:pt x="1600200" y="0"/>
                </a:moveTo>
                <a:lnTo>
                  <a:pt x="0" y="0"/>
                </a:lnTo>
                <a:lnTo>
                  <a:pt x="0" y="6858000"/>
                </a:lnTo>
                <a:lnTo>
                  <a:pt x="1600200" y="6858000"/>
                </a:lnTo>
                <a:lnTo>
                  <a:pt x="1600200" y="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22910" y="0"/>
            <a:ext cx="990600" cy="6858000"/>
          </a:xfrm>
          <a:custGeom>
            <a:avLst/>
            <a:gdLst/>
            <a:ahLst/>
            <a:cxnLst/>
            <a:rect l="l" t="t" r="r" b="b"/>
            <a:pathLst>
              <a:path w="990600" h="6858000">
                <a:moveTo>
                  <a:pt x="990600" y="0"/>
                </a:moveTo>
                <a:lnTo>
                  <a:pt x="457200" y="0"/>
                </a:lnTo>
                <a:lnTo>
                  <a:pt x="228600" y="0"/>
                </a:lnTo>
                <a:lnTo>
                  <a:pt x="0" y="0"/>
                </a:lnTo>
                <a:lnTo>
                  <a:pt x="0" y="6858000"/>
                </a:lnTo>
                <a:lnTo>
                  <a:pt x="228600" y="6858000"/>
                </a:lnTo>
                <a:lnTo>
                  <a:pt x="457200" y="6858000"/>
                </a:lnTo>
                <a:lnTo>
                  <a:pt x="990600" y="6858000"/>
                </a:lnTo>
                <a:lnTo>
                  <a:pt x="990600" y="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810000" y="0"/>
            <a:ext cx="2819400" cy="6858000"/>
          </a:xfrm>
          <a:custGeom>
            <a:avLst/>
            <a:gdLst/>
            <a:ahLst/>
            <a:cxnLst/>
            <a:rect l="l" t="t" r="r" b="b"/>
            <a:pathLst>
              <a:path w="2819400" h="6858000">
                <a:moveTo>
                  <a:pt x="2819400" y="0"/>
                </a:moveTo>
                <a:lnTo>
                  <a:pt x="0" y="0"/>
                </a:lnTo>
                <a:lnTo>
                  <a:pt x="0" y="6858000"/>
                </a:lnTo>
                <a:lnTo>
                  <a:pt x="2819400" y="6858000"/>
                </a:lnTo>
                <a:lnTo>
                  <a:pt x="2819400" y="0"/>
                </a:lnTo>
                <a:close/>
              </a:path>
            </a:pathLst>
          </a:custGeom>
          <a:solidFill>
            <a:srgbClr val="FFFFFF">
              <a:alpha val="1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950714" y="3491865"/>
            <a:ext cx="288099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635" marR="5080" indent="-242570">
              <a:lnSpc>
                <a:spcPct val="100000"/>
              </a:lnSpc>
              <a:spcBef>
                <a:spcPts val="95"/>
              </a:spcBef>
            </a:pPr>
            <a:r>
              <a:rPr sz="2800" spc="204" dirty="0">
                <a:solidFill>
                  <a:srgbClr val="619CD1"/>
                </a:solidFill>
                <a:latin typeface="Verdana"/>
                <a:cs typeface="Verdana"/>
              </a:rPr>
              <a:t>M</a:t>
            </a:r>
            <a:r>
              <a:rPr sz="2800" spc="150" dirty="0">
                <a:solidFill>
                  <a:srgbClr val="619CD1"/>
                </a:solidFill>
                <a:latin typeface="Verdana"/>
                <a:cs typeface="Verdana"/>
              </a:rPr>
              <a:t>A</a:t>
            </a:r>
            <a:r>
              <a:rPr sz="2800" spc="-40" dirty="0">
                <a:solidFill>
                  <a:srgbClr val="619CD1"/>
                </a:solidFill>
                <a:latin typeface="Verdana"/>
                <a:cs typeface="Verdana"/>
              </a:rPr>
              <a:t>N</a:t>
            </a:r>
            <a:r>
              <a:rPr sz="2800" spc="-535" dirty="0">
                <a:solidFill>
                  <a:srgbClr val="619CD1"/>
                </a:solidFill>
                <a:latin typeface="Verdana"/>
                <a:cs typeface="Verdana"/>
              </a:rPr>
              <a:t>T</a:t>
            </a:r>
            <a:r>
              <a:rPr sz="2800" spc="-280" dirty="0">
                <a:solidFill>
                  <a:srgbClr val="619CD1"/>
                </a:solidFill>
                <a:latin typeface="Verdana"/>
                <a:cs typeface="Verdana"/>
              </a:rPr>
              <a:t>E</a:t>
            </a:r>
            <a:r>
              <a:rPr sz="2800" spc="-30" dirty="0">
                <a:solidFill>
                  <a:srgbClr val="619CD1"/>
                </a:solidFill>
                <a:latin typeface="Verdana"/>
                <a:cs typeface="Verdana"/>
              </a:rPr>
              <a:t>N</a:t>
            </a:r>
            <a:r>
              <a:rPr sz="2800" spc="-555" dirty="0">
                <a:solidFill>
                  <a:srgbClr val="619CD1"/>
                </a:solidFill>
                <a:latin typeface="Verdana"/>
                <a:cs typeface="Verdana"/>
              </a:rPr>
              <a:t>I</a:t>
            </a:r>
            <a:r>
              <a:rPr sz="2800" spc="204" dirty="0">
                <a:solidFill>
                  <a:srgbClr val="619CD1"/>
                </a:solidFill>
                <a:latin typeface="Verdana"/>
                <a:cs typeface="Verdana"/>
              </a:rPr>
              <a:t>M</a:t>
            </a:r>
            <a:r>
              <a:rPr sz="2800" spc="-555" dirty="0">
                <a:solidFill>
                  <a:srgbClr val="619CD1"/>
                </a:solidFill>
                <a:latin typeface="Verdana"/>
                <a:cs typeface="Verdana"/>
              </a:rPr>
              <a:t>I</a:t>
            </a:r>
            <a:r>
              <a:rPr sz="2800" spc="-280" dirty="0">
                <a:solidFill>
                  <a:srgbClr val="619CD1"/>
                </a:solidFill>
                <a:latin typeface="Verdana"/>
                <a:cs typeface="Verdana"/>
              </a:rPr>
              <a:t>E</a:t>
            </a:r>
            <a:r>
              <a:rPr sz="2800" spc="-30" dirty="0">
                <a:solidFill>
                  <a:srgbClr val="619CD1"/>
                </a:solidFill>
                <a:latin typeface="Verdana"/>
                <a:cs typeface="Verdana"/>
              </a:rPr>
              <a:t>N</a:t>
            </a:r>
            <a:r>
              <a:rPr sz="2800" spc="-535" dirty="0">
                <a:solidFill>
                  <a:srgbClr val="619CD1"/>
                </a:solidFill>
                <a:latin typeface="Verdana"/>
                <a:cs typeface="Verdana"/>
              </a:rPr>
              <a:t>T</a:t>
            </a:r>
            <a:r>
              <a:rPr sz="2800" spc="160" dirty="0">
                <a:solidFill>
                  <a:srgbClr val="619CD1"/>
                </a:solidFill>
                <a:latin typeface="Verdana"/>
                <a:cs typeface="Verdana"/>
              </a:rPr>
              <a:t>O </a:t>
            </a:r>
            <a:r>
              <a:rPr sz="2800" spc="70" dirty="0">
                <a:solidFill>
                  <a:srgbClr val="619CD1"/>
                </a:solidFill>
                <a:latin typeface="Times New Roman"/>
                <a:cs typeface="Times New Roman"/>
              </a:rPr>
              <a:t> </a:t>
            </a:r>
            <a:r>
              <a:rPr sz="2800" spc="-80" dirty="0">
                <a:solidFill>
                  <a:srgbClr val="619CD1"/>
                </a:solidFill>
                <a:latin typeface="Verdana"/>
                <a:cs typeface="Verdana"/>
              </a:rPr>
              <a:t>D</a:t>
            </a:r>
            <a:r>
              <a:rPr sz="2800" spc="-275" dirty="0">
                <a:solidFill>
                  <a:srgbClr val="619CD1"/>
                </a:solidFill>
                <a:latin typeface="Verdana"/>
                <a:cs typeface="Verdana"/>
              </a:rPr>
              <a:t>E</a:t>
            </a:r>
            <a:r>
              <a:rPr sz="2800" spc="80" dirty="0">
                <a:solidFill>
                  <a:srgbClr val="619CD1"/>
                </a:solidFill>
                <a:latin typeface="Times New Roman"/>
                <a:cs typeface="Times New Roman"/>
              </a:rPr>
              <a:t> </a:t>
            </a:r>
            <a:r>
              <a:rPr sz="2800" spc="-530" dirty="0">
                <a:solidFill>
                  <a:srgbClr val="619CD1"/>
                </a:solidFill>
                <a:latin typeface="Verdana"/>
                <a:cs typeface="Verdana"/>
              </a:rPr>
              <a:t>S</a:t>
            </a:r>
            <a:r>
              <a:rPr sz="2800" spc="220" dirty="0">
                <a:solidFill>
                  <a:srgbClr val="619CD1"/>
                </a:solidFill>
                <a:latin typeface="Verdana"/>
                <a:cs typeface="Verdana"/>
              </a:rPr>
              <a:t>O</a:t>
            </a:r>
            <a:r>
              <a:rPr sz="2800" spc="-254" dirty="0">
                <a:solidFill>
                  <a:srgbClr val="619CD1"/>
                </a:solidFill>
                <a:latin typeface="Verdana"/>
                <a:cs typeface="Verdana"/>
              </a:rPr>
              <a:t>F</a:t>
            </a:r>
            <a:r>
              <a:rPr sz="2800" spc="-530" dirty="0">
                <a:solidFill>
                  <a:srgbClr val="619CD1"/>
                </a:solidFill>
                <a:latin typeface="Verdana"/>
                <a:cs typeface="Verdana"/>
              </a:rPr>
              <a:t>T</a:t>
            </a:r>
            <a:r>
              <a:rPr sz="2800" spc="-135" dirty="0">
                <a:solidFill>
                  <a:srgbClr val="619CD1"/>
                </a:solidFill>
                <a:latin typeface="Verdana"/>
                <a:cs typeface="Verdana"/>
              </a:rPr>
              <a:t>W</a:t>
            </a:r>
            <a:r>
              <a:rPr sz="2800" spc="155" dirty="0">
                <a:solidFill>
                  <a:srgbClr val="619CD1"/>
                </a:solidFill>
                <a:latin typeface="Verdana"/>
                <a:cs typeface="Verdana"/>
              </a:rPr>
              <a:t>A</a:t>
            </a:r>
            <a:r>
              <a:rPr sz="2800" spc="-265" dirty="0">
                <a:solidFill>
                  <a:srgbClr val="619CD1"/>
                </a:solidFill>
                <a:latin typeface="Verdana"/>
                <a:cs typeface="Verdana"/>
              </a:rPr>
              <a:t>R</a:t>
            </a:r>
            <a:r>
              <a:rPr sz="2800" spc="-275" dirty="0">
                <a:solidFill>
                  <a:srgbClr val="619CD1"/>
                </a:solidFill>
                <a:latin typeface="Verdana"/>
                <a:cs typeface="Verdana"/>
              </a:rPr>
              <a:t>E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553336"/>
            <a:ext cx="6484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Definición</a:t>
            </a:r>
            <a:r>
              <a:rPr spc="-270" dirty="0"/>
              <a:t> </a:t>
            </a:r>
            <a:r>
              <a:rPr spc="204" dirty="0"/>
              <a:t>de</a:t>
            </a:r>
            <a:r>
              <a:rPr spc="-285" dirty="0"/>
              <a:t> </a:t>
            </a:r>
            <a:r>
              <a:rPr spc="-15" dirty="0"/>
              <a:t>Mantenimiento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0957" y="2351021"/>
            <a:ext cx="6553200" cy="2952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</a:pPr>
            <a:r>
              <a:rPr sz="1800" spc="-175" dirty="0">
                <a:solidFill>
                  <a:srgbClr val="619CD1"/>
                </a:solidFill>
                <a:latin typeface="Microsoft Sans Serif"/>
                <a:cs typeface="Microsoft Sans Serif"/>
              </a:rPr>
              <a:t> </a:t>
            </a:r>
            <a:r>
              <a:rPr sz="2400" spc="-21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2400" spc="-20" dirty="0">
                <a:solidFill>
                  <a:srgbClr val="232852"/>
                </a:solidFill>
                <a:latin typeface="Verdana"/>
                <a:cs typeface="Verdana"/>
              </a:rPr>
              <a:t>estándar </a:t>
            </a:r>
            <a:r>
              <a:rPr sz="2400" spc="-300" dirty="0">
                <a:solidFill>
                  <a:srgbClr val="232852"/>
                </a:solidFill>
                <a:latin typeface="Verdana"/>
                <a:cs typeface="Verdana"/>
              </a:rPr>
              <a:t>IEEE </a:t>
            </a:r>
            <a:r>
              <a:rPr sz="2400" spc="-200" dirty="0">
                <a:solidFill>
                  <a:srgbClr val="232852"/>
                </a:solidFill>
                <a:latin typeface="Verdana"/>
                <a:cs typeface="Verdana"/>
              </a:rPr>
              <a:t>1219 </a:t>
            </a:r>
            <a:r>
              <a:rPr sz="2400" spc="-280" dirty="0">
                <a:solidFill>
                  <a:srgbClr val="232852"/>
                </a:solidFill>
                <a:latin typeface="Verdana"/>
                <a:cs typeface="Verdana"/>
              </a:rPr>
              <a:t>[IEEE, </a:t>
            </a:r>
            <a:r>
              <a:rPr sz="2400" spc="-210" dirty="0">
                <a:solidFill>
                  <a:srgbClr val="232852"/>
                </a:solidFill>
                <a:latin typeface="Verdana"/>
                <a:cs typeface="Verdana"/>
              </a:rPr>
              <a:t>1993] </a:t>
            </a:r>
            <a:r>
              <a:rPr sz="2400" spc="10" dirty="0">
                <a:solidFill>
                  <a:srgbClr val="232852"/>
                </a:solidFill>
                <a:latin typeface="Verdana"/>
                <a:cs typeface="Verdana"/>
              </a:rPr>
              <a:t>define </a:t>
            </a:r>
            <a:r>
              <a:rPr sz="24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24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24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24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-65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24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110" dirty="0">
                <a:solidFill>
                  <a:srgbClr val="232852"/>
                </a:solidFill>
                <a:latin typeface="Verdana"/>
                <a:cs typeface="Verdana"/>
              </a:rPr>
              <a:t>como </a:t>
            </a:r>
            <a:r>
              <a:rPr sz="2400" spc="35" dirty="0">
                <a:solidFill>
                  <a:srgbClr val="232852"/>
                </a:solidFill>
                <a:latin typeface="Verdana"/>
                <a:cs typeface="Verdana"/>
              </a:rPr>
              <a:t>“la </a:t>
            </a:r>
            <a:r>
              <a:rPr sz="2400" spc="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30" dirty="0">
                <a:solidFill>
                  <a:srgbClr val="232852"/>
                </a:solidFill>
                <a:latin typeface="Verdana"/>
                <a:cs typeface="Verdana"/>
              </a:rPr>
              <a:t>modificación </a:t>
            </a:r>
            <a:r>
              <a:rPr sz="2400" spc="13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2400" spc="-65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24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232852"/>
                </a:solidFill>
                <a:latin typeface="Verdana"/>
                <a:cs typeface="Verdana"/>
              </a:rPr>
              <a:t>producto </a:t>
            </a:r>
            <a:r>
              <a:rPr sz="2400" spc="-50" dirty="0">
                <a:solidFill>
                  <a:srgbClr val="232852"/>
                </a:solidFill>
                <a:latin typeface="Verdana"/>
                <a:cs typeface="Verdana"/>
              </a:rPr>
              <a:t>software </a:t>
            </a:r>
            <a:r>
              <a:rPr sz="24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232852"/>
                </a:solidFill>
                <a:latin typeface="Verdana"/>
                <a:cs typeface="Verdana"/>
              </a:rPr>
              <a:t>después </a:t>
            </a:r>
            <a:r>
              <a:rPr sz="2400" spc="13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2400" spc="20" dirty="0">
                <a:solidFill>
                  <a:srgbClr val="232852"/>
                </a:solidFill>
                <a:latin typeface="Verdana"/>
                <a:cs typeface="Verdana"/>
              </a:rPr>
              <a:t>haber </a:t>
            </a:r>
            <a:r>
              <a:rPr sz="2400" spc="-60" dirty="0">
                <a:solidFill>
                  <a:srgbClr val="232852"/>
                </a:solidFill>
                <a:latin typeface="Verdana"/>
                <a:cs typeface="Verdana"/>
              </a:rPr>
              <a:t>sido </a:t>
            </a:r>
            <a:r>
              <a:rPr sz="2400" spc="40" dirty="0">
                <a:solidFill>
                  <a:srgbClr val="232852"/>
                </a:solidFill>
                <a:latin typeface="Verdana"/>
                <a:cs typeface="Verdana"/>
              </a:rPr>
              <a:t>entregado </a:t>
            </a:r>
            <a:r>
              <a:rPr sz="2400" spc="-30" dirty="0">
                <a:solidFill>
                  <a:srgbClr val="232852"/>
                </a:solidFill>
                <a:latin typeface="Verdana"/>
                <a:cs typeface="Verdana"/>
              </a:rPr>
              <a:t>[a </a:t>
            </a:r>
            <a:r>
              <a:rPr sz="2400" spc="-130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24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-114" dirty="0">
                <a:solidFill>
                  <a:srgbClr val="232852"/>
                </a:solidFill>
                <a:latin typeface="Verdana"/>
                <a:cs typeface="Verdana"/>
              </a:rPr>
              <a:t>usuarios </a:t>
            </a:r>
            <a:r>
              <a:rPr sz="2400" spc="110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2400" spc="-60" dirty="0">
                <a:solidFill>
                  <a:srgbClr val="232852"/>
                </a:solidFill>
                <a:latin typeface="Verdana"/>
                <a:cs typeface="Verdana"/>
              </a:rPr>
              <a:t>clientes] </a:t>
            </a:r>
            <a:r>
              <a:rPr sz="2400" spc="120" dirty="0">
                <a:solidFill>
                  <a:srgbClr val="232852"/>
                </a:solidFill>
                <a:latin typeface="Verdana"/>
                <a:cs typeface="Verdana"/>
              </a:rPr>
              <a:t>con </a:t>
            </a:r>
            <a:r>
              <a:rPr sz="24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2400" spc="-105" dirty="0">
                <a:solidFill>
                  <a:srgbClr val="232852"/>
                </a:solidFill>
                <a:latin typeface="Verdana"/>
                <a:cs typeface="Verdana"/>
              </a:rPr>
              <a:t>fin </a:t>
            </a:r>
            <a:r>
              <a:rPr sz="2400" spc="13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2400" spc="-55" dirty="0">
                <a:solidFill>
                  <a:srgbClr val="232852"/>
                </a:solidFill>
                <a:latin typeface="Verdana"/>
                <a:cs typeface="Verdana"/>
              </a:rPr>
              <a:t>corregir </a:t>
            </a:r>
            <a:r>
              <a:rPr sz="24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5" dirty="0">
                <a:solidFill>
                  <a:srgbClr val="232852"/>
                </a:solidFill>
                <a:latin typeface="Verdana"/>
                <a:cs typeface="Verdana"/>
              </a:rPr>
              <a:t>defectos, </a:t>
            </a:r>
            <a:r>
              <a:rPr sz="2400" spc="-85" dirty="0">
                <a:solidFill>
                  <a:srgbClr val="232852"/>
                </a:solidFill>
                <a:latin typeface="Verdana"/>
                <a:cs typeface="Verdana"/>
              </a:rPr>
              <a:t>mejorar </a:t>
            </a:r>
            <a:r>
              <a:rPr sz="2400" spc="-3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2400" spc="-45" dirty="0">
                <a:solidFill>
                  <a:srgbClr val="232852"/>
                </a:solidFill>
                <a:latin typeface="Verdana"/>
                <a:cs typeface="Verdana"/>
              </a:rPr>
              <a:t>rendimiento </a:t>
            </a:r>
            <a:r>
              <a:rPr sz="2400" spc="-60" dirty="0">
                <a:solidFill>
                  <a:srgbClr val="232852"/>
                </a:solidFill>
                <a:latin typeface="Verdana"/>
                <a:cs typeface="Verdana"/>
              </a:rPr>
              <a:t>u </a:t>
            </a:r>
            <a:r>
              <a:rPr sz="2400" spc="-105" dirty="0">
                <a:solidFill>
                  <a:srgbClr val="232852"/>
                </a:solidFill>
                <a:latin typeface="Verdana"/>
                <a:cs typeface="Verdana"/>
              </a:rPr>
              <a:t>otros </a:t>
            </a:r>
            <a:r>
              <a:rPr sz="24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-90" dirty="0">
                <a:solidFill>
                  <a:srgbClr val="232852"/>
                </a:solidFill>
                <a:latin typeface="Verdana"/>
                <a:cs typeface="Verdana"/>
              </a:rPr>
              <a:t>atributos, </a:t>
            </a:r>
            <a:r>
              <a:rPr sz="2400" spc="110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2400" spc="35" dirty="0">
                <a:solidFill>
                  <a:srgbClr val="232852"/>
                </a:solidFill>
                <a:latin typeface="Verdana"/>
                <a:cs typeface="Verdana"/>
              </a:rPr>
              <a:t>adaptarlo </a:t>
            </a:r>
            <a:r>
              <a:rPr sz="2400" spc="19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2400" spc="-55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2400" spc="80" dirty="0">
                <a:solidFill>
                  <a:srgbClr val="232852"/>
                </a:solidFill>
                <a:latin typeface="Verdana"/>
                <a:cs typeface="Verdana"/>
              </a:rPr>
              <a:t>cambio </a:t>
            </a:r>
            <a:r>
              <a:rPr sz="2400" spc="3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24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2400" spc="-8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-40" dirty="0">
                <a:solidFill>
                  <a:srgbClr val="232852"/>
                </a:solidFill>
                <a:latin typeface="Verdana"/>
                <a:cs typeface="Verdana"/>
              </a:rPr>
              <a:t>entorno”.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Definición</a:t>
            </a:r>
            <a:r>
              <a:rPr spc="-270" dirty="0"/>
              <a:t> </a:t>
            </a:r>
            <a:r>
              <a:rPr spc="204" dirty="0"/>
              <a:t>de</a:t>
            </a:r>
            <a:r>
              <a:rPr spc="-270" dirty="0"/>
              <a:t> </a:t>
            </a:r>
            <a:r>
              <a:rPr spc="-15" dirty="0"/>
              <a:t>Mantenimiento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2377" y="1553342"/>
            <a:ext cx="616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5" dirty="0">
                <a:solidFill>
                  <a:srgbClr val="619CD1"/>
                </a:solidFill>
                <a:latin typeface="Verdana"/>
                <a:cs typeface="Verdana"/>
              </a:rPr>
              <a:t>(</a:t>
            </a:r>
            <a:r>
              <a:rPr sz="3600" spc="-300" dirty="0">
                <a:solidFill>
                  <a:srgbClr val="619CD1"/>
                </a:solidFill>
                <a:latin typeface="Verdana"/>
                <a:cs typeface="Verdana"/>
              </a:rPr>
              <a:t>2</a:t>
            </a:r>
            <a:r>
              <a:rPr sz="3600" spc="-310" dirty="0">
                <a:solidFill>
                  <a:srgbClr val="619CD1"/>
                </a:solidFill>
                <a:latin typeface="Verdana"/>
                <a:cs typeface="Verdana"/>
              </a:rPr>
              <a:t>)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0957" y="2294637"/>
            <a:ext cx="6553200" cy="332676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287020" marR="5080" indent="-274955" algn="just">
              <a:lnSpc>
                <a:spcPct val="80000"/>
              </a:lnSpc>
              <a:spcBef>
                <a:spcPts val="550"/>
              </a:spcBef>
            </a:pPr>
            <a:r>
              <a:rPr sz="1450" spc="-17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450" spc="-16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900" spc="-1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9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900" spc="-15" dirty="0">
                <a:solidFill>
                  <a:srgbClr val="232852"/>
                </a:solidFill>
                <a:latin typeface="Verdana"/>
                <a:cs typeface="Verdana"/>
              </a:rPr>
              <a:t>estándar </a:t>
            </a:r>
            <a:r>
              <a:rPr sz="1900" spc="-200" dirty="0">
                <a:solidFill>
                  <a:srgbClr val="232852"/>
                </a:solidFill>
                <a:latin typeface="Verdana"/>
                <a:cs typeface="Verdana"/>
              </a:rPr>
              <a:t>ISO </a:t>
            </a:r>
            <a:r>
              <a:rPr sz="1900" spc="-165" dirty="0">
                <a:solidFill>
                  <a:srgbClr val="232852"/>
                </a:solidFill>
                <a:latin typeface="Verdana"/>
                <a:cs typeface="Verdana"/>
              </a:rPr>
              <a:t>12207, </a:t>
            </a:r>
            <a:r>
              <a:rPr sz="1900" spc="10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900" spc="-30" dirty="0">
                <a:solidFill>
                  <a:srgbClr val="232852"/>
                </a:solidFill>
                <a:latin typeface="Verdana"/>
                <a:cs typeface="Verdana"/>
              </a:rPr>
              <a:t>Procesos </a:t>
            </a:r>
            <a:r>
              <a:rPr sz="1900" spc="20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900" spc="45" dirty="0">
                <a:solidFill>
                  <a:srgbClr val="232852"/>
                </a:solidFill>
                <a:latin typeface="Verdana"/>
                <a:cs typeface="Verdana"/>
              </a:rPr>
              <a:t>Ciclo </a:t>
            </a:r>
            <a:r>
              <a:rPr sz="1900" spc="11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900" spc="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35" dirty="0">
                <a:solidFill>
                  <a:srgbClr val="232852"/>
                </a:solidFill>
                <a:latin typeface="Verdana"/>
                <a:cs typeface="Verdana"/>
              </a:rPr>
              <a:t>Vida </a:t>
            </a:r>
            <a:r>
              <a:rPr sz="1900" spc="20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900" spc="-55" dirty="0">
                <a:solidFill>
                  <a:srgbClr val="232852"/>
                </a:solidFill>
                <a:latin typeface="Verdana"/>
                <a:cs typeface="Verdana"/>
              </a:rPr>
              <a:t>Software </a:t>
            </a:r>
            <a:r>
              <a:rPr sz="1900" spc="-150" dirty="0">
                <a:solidFill>
                  <a:srgbClr val="232852"/>
                </a:solidFill>
                <a:latin typeface="Verdana"/>
                <a:cs typeface="Verdana"/>
              </a:rPr>
              <a:t>[ISO/IEC, </a:t>
            </a:r>
            <a:r>
              <a:rPr sz="1900" spc="-170" dirty="0">
                <a:solidFill>
                  <a:srgbClr val="232852"/>
                </a:solidFill>
                <a:latin typeface="Verdana"/>
                <a:cs typeface="Verdana"/>
              </a:rPr>
              <a:t>1995] </a:t>
            </a:r>
            <a:r>
              <a:rPr sz="1900" spc="-8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900" spc="30" dirty="0">
                <a:solidFill>
                  <a:srgbClr val="232852"/>
                </a:solidFill>
                <a:latin typeface="Verdana"/>
                <a:cs typeface="Verdana"/>
              </a:rPr>
              <a:t>establece </a:t>
            </a:r>
            <a:r>
              <a:rPr sz="1900" spc="55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900" spc="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32852"/>
                </a:solidFill>
                <a:latin typeface="Verdana"/>
                <a:cs typeface="Verdana"/>
              </a:rPr>
              <a:t>“el</a:t>
            </a:r>
            <a:r>
              <a:rPr sz="1900" spc="6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32852"/>
                </a:solidFill>
                <a:latin typeface="Verdana"/>
                <a:cs typeface="Verdana"/>
              </a:rPr>
              <a:t>Proceso</a:t>
            </a:r>
            <a:r>
              <a:rPr sz="19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10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900" spc="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9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25" dirty="0">
                <a:solidFill>
                  <a:srgbClr val="232852"/>
                </a:solidFill>
                <a:latin typeface="Verdana"/>
                <a:cs typeface="Verdana"/>
              </a:rPr>
              <a:t>contiene</a:t>
            </a:r>
            <a:r>
              <a:rPr sz="19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90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19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32852"/>
                </a:solidFill>
                <a:latin typeface="Verdana"/>
                <a:cs typeface="Verdana"/>
              </a:rPr>
              <a:t>actividades </a:t>
            </a:r>
            <a:r>
              <a:rPr sz="1900" spc="-110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900" spc="-35" dirty="0">
                <a:solidFill>
                  <a:srgbClr val="232852"/>
                </a:solidFill>
                <a:latin typeface="Verdana"/>
                <a:cs typeface="Verdana"/>
              </a:rPr>
              <a:t>tareas </a:t>
            </a:r>
            <a:r>
              <a:rPr sz="1900" spc="-30" dirty="0">
                <a:solidFill>
                  <a:srgbClr val="232852"/>
                </a:solidFill>
                <a:latin typeface="Verdana"/>
                <a:cs typeface="Verdana"/>
              </a:rPr>
              <a:t>realizadas </a:t>
            </a:r>
            <a:r>
              <a:rPr sz="1900" spc="-15" dirty="0">
                <a:solidFill>
                  <a:srgbClr val="232852"/>
                </a:solidFill>
                <a:latin typeface="Verdana"/>
                <a:cs typeface="Verdana"/>
              </a:rPr>
              <a:t>por el </a:t>
            </a:r>
            <a:r>
              <a:rPr sz="1900" spc="-10" dirty="0">
                <a:solidFill>
                  <a:srgbClr val="232852"/>
                </a:solidFill>
                <a:latin typeface="Verdana"/>
                <a:cs typeface="Verdana"/>
              </a:rPr>
              <a:t>mantenedor. </a:t>
            </a:r>
            <a:r>
              <a:rPr sz="19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114" dirty="0">
                <a:solidFill>
                  <a:srgbClr val="232852"/>
                </a:solidFill>
                <a:latin typeface="Verdana"/>
                <a:cs typeface="Verdana"/>
              </a:rPr>
              <a:t>Este </a:t>
            </a:r>
            <a:r>
              <a:rPr sz="1900" spc="15" dirty="0">
                <a:solidFill>
                  <a:srgbClr val="232852"/>
                </a:solidFill>
                <a:latin typeface="Verdana"/>
                <a:cs typeface="Verdana"/>
              </a:rPr>
              <a:t>proceso </a:t>
            </a:r>
            <a:r>
              <a:rPr sz="1900" spc="-8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900" spc="35" dirty="0">
                <a:solidFill>
                  <a:srgbClr val="232852"/>
                </a:solidFill>
                <a:latin typeface="Verdana"/>
                <a:cs typeface="Verdana"/>
              </a:rPr>
              <a:t>activa </a:t>
            </a:r>
            <a:r>
              <a:rPr sz="1900" spc="80" dirty="0">
                <a:solidFill>
                  <a:srgbClr val="232852"/>
                </a:solidFill>
                <a:latin typeface="Verdana"/>
                <a:cs typeface="Verdana"/>
              </a:rPr>
              <a:t>cuando </a:t>
            </a:r>
            <a:r>
              <a:rPr sz="19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900" spc="30" dirty="0">
                <a:solidFill>
                  <a:srgbClr val="232852"/>
                </a:solidFill>
                <a:latin typeface="Verdana"/>
                <a:cs typeface="Verdana"/>
              </a:rPr>
              <a:t>producto </a:t>
            </a:r>
            <a:r>
              <a:rPr sz="1900" spc="-40" dirty="0">
                <a:solidFill>
                  <a:srgbClr val="232852"/>
                </a:solidFill>
                <a:latin typeface="Verdana"/>
                <a:cs typeface="Verdana"/>
              </a:rPr>
              <a:t>software </a:t>
            </a:r>
            <a:r>
              <a:rPr sz="1900" spc="-6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105" dirty="0">
                <a:solidFill>
                  <a:srgbClr val="232852"/>
                </a:solidFill>
                <a:latin typeface="Verdana"/>
                <a:cs typeface="Verdana"/>
              </a:rPr>
              <a:t>sufre</a:t>
            </a:r>
            <a:r>
              <a:rPr sz="19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32852"/>
                </a:solidFill>
                <a:latin typeface="Verdana"/>
                <a:cs typeface="Verdana"/>
              </a:rPr>
              <a:t>modificaciones</a:t>
            </a:r>
            <a:r>
              <a:rPr sz="19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2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9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9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75" dirty="0">
                <a:solidFill>
                  <a:srgbClr val="232852"/>
                </a:solidFill>
                <a:latin typeface="Verdana"/>
                <a:cs typeface="Verdana"/>
              </a:rPr>
              <a:t>código</a:t>
            </a:r>
            <a:r>
              <a:rPr sz="1900" spc="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11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9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9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40" dirty="0">
                <a:solidFill>
                  <a:srgbClr val="232852"/>
                </a:solidFill>
                <a:latin typeface="Verdana"/>
                <a:cs typeface="Verdana"/>
              </a:rPr>
              <a:t>documentación </a:t>
            </a:r>
            <a:r>
              <a:rPr sz="1900" spc="35" dirty="0">
                <a:solidFill>
                  <a:srgbClr val="232852"/>
                </a:solidFill>
                <a:latin typeface="Verdana"/>
                <a:cs typeface="Verdana"/>
              </a:rPr>
              <a:t>asociada, </a:t>
            </a:r>
            <a:r>
              <a:rPr sz="1900" spc="60" dirty="0">
                <a:solidFill>
                  <a:srgbClr val="232852"/>
                </a:solidFill>
                <a:latin typeface="Verdana"/>
                <a:cs typeface="Verdana"/>
              </a:rPr>
              <a:t>debido </a:t>
            </a:r>
            <a:r>
              <a:rPr sz="1900" spc="15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900" spc="-55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1900" spc="10" dirty="0">
                <a:solidFill>
                  <a:srgbClr val="232852"/>
                </a:solidFill>
                <a:latin typeface="Verdana"/>
                <a:cs typeface="Verdana"/>
              </a:rPr>
              <a:t>problema </a:t>
            </a:r>
            <a:r>
              <a:rPr sz="1900" spc="85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900" spc="-6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15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90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900" spc="40" dirty="0">
                <a:solidFill>
                  <a:srgbClr val="232852"/>
                </a:solidFill>
                <a:latin typeface="Verdana"/>
                <a:cs typeface="Verdana"/>
              </a:rPr>
              <a:t>necesidad </a:t>
            </a:r>
            <a:r>
              <a:rPr sz="1900" spc="10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900" spc="-40" dirty="0">
                <a:solidFill>
                  <a:srgbClr val="232852"/>
                </a:solidFill>
                <a:latin typeface="Verdana"/>
                <a:cs typeface="Verdana"/>
              </a:rPr>
              <a:t>mejora </a:t>
            </a:r>
            <a:r>
              <a:rPr sz="1900" spc="85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900" spc="50" dirty="0">
                <a:solidFill>
                  <a:srgbClr val="232852"/>
                </a:solidFill>
                <a:latin typeface="Verdana"/>
                <a:cs typeface="Verdana"/>
              </a:rPr>
              <a:t>adaptación. </a:t>
            </a:r>
            <a:r>
              <a:rPr sz="1900" spc="-16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900" spc="-25" dirty="0">
                <a:solidFill>
                  <a:srgbClr val="232852"/>
                </a:solidFill>
                <a:latin typeface="Verdana"/>
                <a:cs typeface="Verdana"/>
              </a:rPr>
              <a:t>objetivo </a:t>
            </a:r>
            <a:r>
              <a:rPr sz="1900" spc="-6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80" dirty="0">
                <a:solidFill>
                  <a:srgbClr val="232852"/>
                </a:solidFill>
                <a:latin typeface="Verdana"/>
                <a:cs typeface="Verdana"/>
              </a:rPr>
              <a:t>es</a:t>
            </a:r>
            <a:r>
              <a:rPr sz="19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15" dirty="0">
                <a:solidFill>
                  <a:srgbClr val="232852"/>
                </a:solidFill>
                <a:latin typeface="Verdana"/>
                <a:cs typeface="Verdana"/>
              </a:rPr>
              <a:t>modificar</a:t>
            </a:r>
            <a:r>
              <a:rPr sz="1900" spc="6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9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30" dirty="0">
                <a:solidFill>
                  <a:srgbClr val="232852"/>
                </a:solidFill>
                <a:latin typeface="Verdana"/>
                <a:cs typeface="Verdana"/>
              </a:rPr>
              <a:t>producto</a:t>
            </a:r>
            <a:r>
              <a:rPr sz="19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1900" spc="5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65" dirty="0">
                <a:solidFill>
                  <a:srgbClr val="232852"/>
                </a:solidFill>
                <a:latin typeface="Verdana"/>
                <a:cs typeface="Verdana"/>
              </a:rPr>
              <a:t>existente </a:t>
            </a:r>
            <a:r>
              <a:rPr sz="19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20" dirty="0">
                <a:solidFill>
                  <a:srgbClr val="232852"/>
                </a:solidFill>
                <a:latin typeface="Verdana"/>
                <a:cs typeface="Verdana"/>
              </a:rPr>
              <a:t>preservando </a:t>
            </a:r>
            <a:r>
              <a:rPr sz="1900" spc="-155" dirty="0">
                <a:solidFill>
                  <a:srgbClr val="232852"/>
                </a:solidFill>
                <a:latin typeface="Verdana"/>
                <a:cs typeface="Verdana"/>
              </a:rPr>
              <a:t>su</a:t>
            </a:r>
            <a:r>
              <a:rPr sz="1900" spc="-1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32852"/>
                </a:solidFill>
                <a:latin typeface="Verdana"/>
                <a:cs typeface="Verdana"/>
              </a:rPr>
              <a:t>integridad. </a:t>
            </a:r>
            <a:r>
              <a:rPr sz="1900" spc="-114" dirty="0">
                <a:solidFill>
                  <a:srgbClr val="232852"/>
                </a:solidFill>
                <a:latin typeface="Verdana"/>
                <a:cs typeface="Verdana"/>
              </a:rPr>
              <a:t>Este </a:t>
            </a:r>
            <a:r>
              <a:rPr sz="1900" spc="20" dirty="0">
                <a:solidFill>
                  <a:srgbClr val="232852"/>
                </a:solidFill>
                <a:latin typeface="Verdana"/>
                <a:cs typeface="Verdana"/>
              </a:rPr>
              <a:t>proceso </a:t>
            </a:r>
            <a:r>
              <a:rPr sz="1900" spc="-25" dirty="0">
                <a:solidFill>
                  <a:srgbClr val="232852"/>
                </a:solidFill>
                <a:latin typeface="Verdana"/>
                <a:cs typeface="Verdana"/>
              </a:rPr>
              <a:t>incluye </a:t>
            </a:r>
            <a:r>
              <a:rPr sz="190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9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10" dirty="0">
                <a:solidFill>
                  <a:srgbClr val="232852"/>
                </a:solidFill>
                <a:latin typeface="Verdana"/>
                <a:cs typeface="Verdana"/>
              </a:rPr>
              <a:t>migración</a:t>
            </a:r>
            <a:r>
              <a:rPr sz="19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11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9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30" dirty="0">
                <a:solidFill>
                  <a:srgbClr val="232852"/>
                </a:solidFill>
                <a:latin typeface="Verdana"/>
                <a:cs typeface="Verdana"/>
              </a:rPr>
              <a:t>retirada</a:t>
            </a:r>
            <a:r>
              <a:rPr sz="19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20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9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30" dirty="0">
                <a:solidFill>
                  <a:srgbClr val="232852"/>
                </a:solidFill>
                <a:latin typeface="Verdana"/>
                <a:cs typeface="Verdana"/>
              </a:rPr>
              <a:t>producto</a:t>
            </a:r>
            <a:r>
              <a:rPr sz="19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55" dirty="0">
                <a:solidFill>
                  <a:srgbClr val="232852"/>
                </a:solidFill>
                <a:latin typeface="Verdana"/>
                <a:cs typeface="Verdana"/>
              </a:rPr>
              <a:t>software.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16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900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15" dirty="0">
                <a:solidFill>
                  <a:srgbClr val="232852"/>
                </a:solidFill>
                <a:latin typeface="Verdana"/>
                <a:cs typeface="Verdana"/>
              </a:rPr>
              <a:t>proceso</a:t>
            </a:r>
            <a:r>
              <a:rPr sz="19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termina</a:t>
            </a:r>
            <a:r>
              <a:rPr sz="19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90" dirty="0">
                <a:solidFill>
                  <a:srgbClr val="232852"/>
                </a:solidFill>
                <a:latin typeface="Verdana"/>
                <a:cs typeface="Verdana"/>
              </a:rPr>
              <a:t>con</a:t>
            </a:r>
            <a:r>
              <a:rPr sz="1900" spc="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9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32852"/>
                </a:solidFill>
                <a:latin typeface="Verdana"/>
                <a:cs typeface="Verdana"/>
              </a:rPr>
              <a:t>retirada</a:t>
            </a:r>
            <a:r>
              <a:rPr sz="19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20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9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30" dirty="0">
                <a:solidFill>
                  <a:srgbClr val="232852"/>
                </a:solidFill>
                <a:latin typeface="Verdana"/>
                <a:cs typeface="Verdana"/>
              </a:rPr>
              <a:t>producto </a:t>
            </a:r>
            <a:r>
              <a:rPr sz="19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232852"/>
                </a:solidFill>
                <a:latin typeface="Verdana"/>
                <a:cs typeface="Verdana"/>
              </a:rPr>
              <a:t>software”.</a:t>
            </a:r>
            <a:r>
              <a:rPr sz="19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165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900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5" dirty="0">
                <a:solidFill>
                  <a:srgbClr val="232852"/>
                </a:solidFill>
                <a:latin typeface="Verdana"/>
                <a:cs typeface="Verdana"/>
              </a:rPr>
              <a:t>mantenedor </a:t>
            </a:r>
            <a:r>
              <a:rPr sz="1900" spc="-80" dirty="0">
                <a:solidFill>
                  <a:srgbClr val="232852"/>
                </a:solidFill>
                <a:latin typeface="Verdana"/>
                <a:cs typeface="Verdana"/>
              </a:rPr>
              <a:t>es</a:t>
            </a:r>
            <a:r>
              <a:rPr sz="19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32852"/>
                </a:solidFill>
                <a:latin typeface="Verdana"/>
                <a:cs typeface="Verdana"/>
              </a:rPr>
              <a:t>la organización </a:t>
            </a:r>
            <a:r>
              <a:rPr sz="1900" spc="55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900" spc="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900" spc="-24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9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900" spc="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900" spc="-24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900" spc="23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9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spc="15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900" spc="8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-14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9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900" spc="-26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-24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900" spc="-55" dirty="0">
                <a:solidFill>
                  <a:srgbClr val="232852"/>
                </a:solidFill>
                <a:latin typeface="Verdana"/>
                <a:cs typeface="Verdana"/>
              </a:rPr>
              <a:t>v</a:t>
            </a:r>
            <a:r>
              <a:rPr sz="19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23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900" spc="-15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900" spc="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900" spc="11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900" spc="5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900" spc="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900" spc="-6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900" spc="10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spc="-14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-16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900" spc="-4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900" spc="9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900" spc="-170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Definición</a:t>
            </a:r>
            <a:r>
              <a:rPr spc="-270" dirty="0"/>
              <a:t> </a:t>
            </a:r>
            <a:r>
              <a:rPr spc="204" dirty="0"/>
              <a:t>de</a:t>
            </a:r>
            <a:r>
              <a:rPr spc="-270" dirty="0"/>
              <a:t> </a:t>
            </a:r>
            <a:r>
              <a:rPr spc="-15" dirty="0"/>
              <a:t>Mantenimiento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2377" y="1553342"/>
            <a:ext cx="6165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5" dirty="0">
                <a:solidFill>
                  <a:srgbClr val="619CD1"/>
                </a:solidFill>
                <a:latin typeface="Verdana"/>
                <a:cs typeface="Verdana"/>
              </a:rPr>
              <a:t>(</a:t>
            </a:r>
            <a:r>
              <a:rPr sz="3600" spc="-300" dirty="0">
                <a:solidFill>
                  <a:srgbClr val="619CD1"/>
                </a:solidFill>
                <a:latin typeface="Verdana"/>
                <a:cs typeface="Verdana"/>
              </a:rPr>
              <a:t>3</a:t>
            </a:r>
            <a:r>
              <a:rPr sz="3600" spc="-310" dirty="0">
                <a:solidFill>
                  <a:srgbClr val="619CD1"/>
                </a:solidFill>
                <a:latin typeface="Verdana"/>
                <a:cs typeface="Verdana"/>
              </a:rPr>
              <a:t>)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0957" y="2351023"/>
            <a:ext cx="6552565" cy="32943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50570" algn="l"/>
                <a:tab pos="1826260" algn="l"/>
                <a:tab pos="3236595" algn="l"/>
                <a:tab pos="5469255" algn="l"/>
              </a:tabLst>
            </a:pPr>
            <a:r>
              <a:rPr sz="2200" spc="-22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2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200" spc="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200" spc="-12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200" spc="-2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17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-29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200" spc="-8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2200" spc="-7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2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-29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b</a:t>
            </a:r>
            <a:r>
              <a:rPr sz="22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200" spc="120" dirty="0">
                <a:solidFill>
                  <a:srgbClr val="232852"/>
                </a:solidFill>
                <a:latin typeface="Verdana"/>
                <a:cs typeface="Verdana"/>
              </a:rPr>
              <a:t>b</a:t>
            </a:r>
            <a:r>
              <a:rPr sz="2200" spc="-170" dirty="0">
                <a:solidFill>
                  <a:srgbClr val="232852"/>
                </a:solidFill>
                <a:latin typeface="Verdana"/>
                <a:cs typeface="Verdana"/>
              </a:rPr>
              <a:t>li</a:t>
            </a:r>
            <a:r>
              <a:rPr sz="2200" spc="10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200" spc="105" dirty="0">
                <a:solidFill>
                  <a:srgbClr val="232852"/>
                </a:solidFill>
                <a:latin typeface="Verdana"/>
                <a:cs typeface="Verdana"/>
              </a:rPr>
              <a:t>g</a:t>
            </a:r>
            <a:r>
              <a:rPr sz="2200" spc="-29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170" dirty="0">
                <a:solidFill>
                  <a:srgbClr val="232852"/>
                </a:solidFill>
                <a:latin typeface="Verdana"/>
                <a:cs typeface="Verdana"/>
              </a:rPr>
              <a:t>á</a:t>
            </a:r>
            <a:r>
              <a:rPr sz="2200" spc="-8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2200" spc="-16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200" spc="27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200" spc="17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-29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200" spc="27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200" spc="-18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200" spc="170" dirty="0">
                <a:solidFill>
                  <a:srgbClr val="232852"/>
                </a:solidFill>
                <a:latin typeface="Verdana"/>
                <a:cs typeface="Verdana"/>
              </a:rPr>
              <a:t>á</a:t>
            </a:r>
            <a:r>
              <a:rPr sz="2200" spc="-31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200" spc="27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200" spc="17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-29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200" spc="17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12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2200" spc="17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-2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26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200" spc="6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13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2200" spc="10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-8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2200" spc="-16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2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200" spc="-15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200" spc="27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200" spc="-16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200" spc="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2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-29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spc="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-3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spc="-17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200" spc="-9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2200" spc="-17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200" spc="-16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200" spc="17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-2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-29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spc="1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18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-17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200" spc="17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-29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spc="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17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200" spc="-114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-2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200" spc="10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200" spc="-2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-3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spc="-19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00">
              <a:latin typeface="Verdana"/>
              <a:cs typeface="Verdana"/>
            </a:endParaRPr>
          </a:p>
          <a:p>
            <a:pPr marL="584200" marR="5080" indent="-274320" algn="just">
              <a:lnSpc>
                <a:spcPct val="100000"/>
              </a:lnSpc>
            </a:pPr>
            <a:r>
              <a:rPr sz="15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500" spc="-1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232852"/>
                </a:solidFill>
                <a:latin typeface="Verdana"/>
                <a:cs typeface="Verdana"/>
              </a:rPr>
              <a:t>Pressman</a:t>
            </a:r>
            <a:r>
              <a:rPr sz="20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175" dirty="0">
                <a:solidFill>
                  <a:srgbClr val="232852"/>
                </a:solidFill>
                <a:latin typeface="Verdana"/>
                <a:cs typeface="Verdana"/>
              </a:rPr>
              <a:t>[1998]</a:t>
            </a:r>
            <a:r>
              <a:rPr sz="2000" spc="-1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232852"/>
                </a:solidFill>
                <a:latin typeface="Verdana"/>
                <a:cs typeface="Verdana"/>
              </a:rPr>
              <a:t>dice</a:t>
            </a:r>
            <a:r>
              <a:rPr sz="2000" spc="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2000" spc="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“la</a:t>
            </a:r>
            <a:r>
              <a:rPr sz="20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32852"/>
                </a:solidFill>
                <a:latin typeface="Verdana"/>
                <a:cs typeface="Verdana"/>
              </a:rPr>
              <a:t>fase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2000" spc="-8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2000" spc="15" dirty="0">
                <a:solidFill>
                  <a:srgbClr val="232852"/>
                </a:solidFill>
                <a:latin typeface="Verdana"/>
                <a:cs typeface="Verdana"/>
              </a:rPr>
              <a:t>centra </a:t>
            </a:r>
            <a:r>
              <a:rPr sz="2000" spc="3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2000" spc="65" dirty="0">
                <a:solidFill>
                  <a:srgbClr val="232852"/>
                </a:solidFill>
                <a:latin typeface="Verdana"/>
                <a:cs typeface="Verdana"/>
              </a:rPr>
              <a:t>cambio </a:t>
            </a:r>
            <a:r>
              <a:rPr sz="2000" spc="55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2000" spc="40" dirty="0">
                <a:solidFill>
                  <a:srgbClr val="232852"/>
                </a:solidFill>
                <a:latin typeface="Verdana"/>
                <a:cs typeface="Verdana"/>
              </a:rPr>
              <a:t>va </a:t>
            </a:r>
            <a:r>
              <a:rPr sz="2000" spc="-6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232852"/>
                </a:solidFill>
                <a:latin typeface="Verdana"/>
                <a:cs typeface="Verdana"/>
              </a:rPr>
              <a:t>asociado</a:t>
            </a:r>
            <a:r>
              <a:rPr sz="2000" spc="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2000" spc="5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20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corrección</a:t>
            </a:r>
            <a:r>
              <a:rPr sz="20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2000" spc="-114" dirty="0">
                <a:solidFill>
                  <a:srgbClr val="232852"/>
                </a:solidFill>
                <a:latin typeface="Verdana"/>
                <a:cs typeface="Verdana"/>
              </a:rPr>
              <a:t>errores,</a:t>
            </a:r>
            <a:r>
              <a:rPr sz="20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2000" spc="-90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20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45" dirty="0">
                <a:solidFill>
                  <a:srgbClr val="232852"/>
                </a:solidFill>
                <a:latin typeface="Verdana"/>
                <a:cs typeface="Verdana"/>
              </a:rPr>
              <a:t>adaptaciones</a:t>
            </a:r>
            <a:r>
              <a:rPr sz="2000" spc="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32852"/>
                </a:solidFill>
                <a:latin typeface="Verdana"/>
                <a:cs typeface="Verdana"/>
              </a:rPr>
              <a:t>requeridas</a:t>
            </a:r>
            <a:r>
              <a:rPr sz="2000" spc="6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1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45" dirty="0">
                <a:solidFill>
                  <a:srgbClr val="232852"/>
                </a:solidFill>
                <a:latin typeface="Verdana"/>
                <a:cs typeface="Verdana"/>
              </a:rPr>
              <a:t>medida</a:t>
            </a:r>
            <a:r>
              <a:rPr sz="2000" spc="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2000" spc="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232852"/>
                </a:solidFill>
                <a:latin typeface="Verdana"/>
                <a:cs typeface="Verdana"/>
              </a:rPr>
              <a:t>evoluciona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32852"/>
                </a:solidFill>
                <a:latin typeface="Verdana"/>
                <a:cs typeface="Verdana"/>
              </a:rPr>
              <a:t>entorno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32852"/>
                </a:solidFill>
                <a:latin typeface="Verdana"/>
                <a:cs typeface="Verdana"/>
              </a:rPr>
              <a:t>software,</a:t>
            </a:r>
            <a:r>
              <a:rPr sz="20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11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2000" spc="48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2000" spc="1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232852"/>
                </a:solidFill>
                <a:latin typeface="Verdana"/>
                <a:cs typeface="Verdana"/>
              </a:rPr>
              <a:t>cambios </a:t>
            </a:r>
            <a:r>
              <a:rPr sz="2000" spc="15" dirty="0">
                <a:solidFill>
                  <a:srgbClr val="232852"/>
                </a:solidFill>
                <a:latin typeface="Verdana"/>
                <a:cs typeface="Verdana"/>
              </a:rPr>
              <a:t>debidos </a:t>
            </a:r>
            <a:r>
              <a:rPr sz="2000" spc="16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2000" spc="-85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2000" spc="-75" dirty="0">
                <a:solidFill>
                  <a:srgbClr val="232852"/>
                </a:solidFill>
                <a:latin typeface="Verdana"/>
                <a:cs typeface="Verdana"/>
              </a:rPr>
              <a:t>mejoras </a:t>
            </a:r>
            <a:r>
              <a:rPr sz="2000" spc="10" dirty="0">
                <a:solidFill>
                  <a:srgbClr val="232852"/>
                </a:solidFill>
                <a:latin typeface="Verdana"/>
                <a:cs typeface="Verdana"/>
              </a:rPr>
              <a:t>producidas </a:t>
            </a:r>
            <a:r>
              <a:rPr sz="2000" spc="-15" dirty="0">
                <a:solidFill>
                  <a:srgbClr val="232852"/>
                </a:solidFill>
                <a:latin typeface="Verdana"/>
                <a:cs typeface="Verdana"/>
              </a:rPr>
              <a:t>por </a:t>
            </a:r>
            <a:r>
              <a:rPr sz="2000" spc="-6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14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-26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0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-254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q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0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-27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000" spc="-16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-10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-26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000" spc="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25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000" spc="16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2000" spc="15" dirty="0">
                <a:solidFill>
                  <a:srgbClr val="232852"/>
                </a:solidFill>
                <a:latin typeface="Verdana"/>
                <a:cs typeface="Verdana"/>
              </a:rPr>
              <a:t>b</a:t>
            </a:r>
            <a:r>
              <a:rPr sz="20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16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000" spc="-10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000" spc="1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12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-15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0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25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000" spc="-15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000" spc="-9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50" dirty="0">
                <a:solidFill>
                  <a:srgbClr val="232852"/>
                </a:solidFill>
                <a:latin typeface="Verdana"/>
                <a:cs typeface="Verdana"/>
              </a:rPr>
              <a:t>”</a:t>
            </a:r>
            <a:r>
              <a:rPr sz="2000" spc="-17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675" y="0"/>
            <a:ext cx="9100185" cy="6872605"/>
            <a:chOff x="50675" y="0"/>
            <a:chExt cx="9100185" cy="68726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0376" y="3368039"/>
              <a:ext cx="4172712" cy="6797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3459" y="3733800"/>
              <a:ext cx="1930908" cy="6797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18231" y="3733800"/>
              <a:ext cx="568452" cy="6797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6643" y="3733800"/>
              <a:ext cx="1991868" cy="679704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190957" y="2351023"/>
            <a:ext cx="654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9794" algn="l"/>
                <a:tab pos="1824355" algn="l"/>
                <a:tab pos="3820160" algn="l"/>
                <a:tab pos="6129020" algn="l"/>
              </a:tabLst>
            </a:pPr>
            <a:r>
              <a:rPr sz="2400" spc="-24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4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400" spc="-18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400" spc="19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400" spc="-32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4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400" spc="19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400" spc="-6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400" spc="-13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400" spc="-18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400" spc="11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400" spc="-30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4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400" spc="14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2400" spc="-10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2400" spc="-17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400" spc="-7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400" spc="-17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400" spc="27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400" spc="-16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4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400" spc="-6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400" spc="13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400" spc="-32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4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400" spc="14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2400" spc="13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0957" y="2716732"/>
            <a:ext cx="44005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91790" algn="l"/>
              </a:tabLst>
            </a:pPr>
            <a:r>
              <a:rPr sz="2400" spc="7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2400" spc="4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4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400" spc="13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400" spc="-8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400" spc="-17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400" spc="-9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2400" spc="-17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400" spc="13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400" spc="-7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400" spc="114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4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400" spc="19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400" spc="135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2400" spc="19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400" spc="-30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400" spc="28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400" spc="13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4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1847" y="2716732"/>
            <a:ext cx="15601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6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4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400" spc="13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2400" spc="-17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400" spc="28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400" spc="18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400" spc="14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2400" spc="114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400" spc="-31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400" spc="-210" dirty="0">
                <a:solidFill>
                  <a:srgbClr val="232852"/>
                </a:solidFill>
                <a:latin typeface="Verdana"/>
                <a:cs typeface="Verdana"/>
              </a:rPr>
              <a:t>,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0957" y="3082796"/>
            <a:ext cx="655256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20" dirty="0">
                <a:solidFill>
                  <a:srgbClr val="232852"/>
                </a:solidFill>
                <a:latin typeface="Verdana"/>
                <a:cs typeface="Verdana"/>
              </a:rPr>
              <a:t>directa </a:t>
            </a:r>
            <a:r>
              <a:rPr sz="2400" spc="110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2400" spc="-20" dirty="0">
                <a:solidFill>
                  <a:srgbClr val="232852"/>
                </a:solidFill>
                <a:latin typeface="Verdana"/>
                <a:cs typeface="Verdana"/>
              </a:rPr>
              <a:t>indirectamente, </a:t>
            </a:r>
            <a:r>
              <a:rPr sz="2400" spc="20" dirty="0">
                <a:solidFill>
                  <a:srgbClr val="232852"/>
                </a:solidFill>
                <a:latin typeface="Verdana"/>
                <a:cs typeface="Verdana"/>
              </a:rPr>
              <a:t>cuatro </a:t>
            </a:r>
            <a:r>
              <a:rPr sz="2400" spc="-80" dirty="0">
                <a:solidFill>
                  <a:srgbClr val="232852"/>
                </a:solidFill>
                <a:latin typeface="Verdana"/>
                <a:cs typeface="Verdana"/>
              </a:rPr>
              <a:t>tipos </a:t>
            </a:r>
            <a:r>
              <a:rPr sz="2400" spc="13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2400" spc="1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232852"/>
                </a:solidFill>
                <a:latin typeface="Verdana"/>
                <a:cs typeface="Verdana"/>
              </a:rPr>
              <a:t>mantenimiento:</a:t>
            </a:r>
            <a:r>
              <a:rPr sz="24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232852"/>
                </a:solidFill>
                <a:latin typeface="Verdana"/>
                <a:cs typeface="Verdana"/>
              </a:rPr>
              <a:t>correctivo,</a:t>
            </a:r>
            <a:r>
              <a:rPr sz="24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20" dirty="0">
                <a:solidFill>
                  <a:srgbClr val="232852"/>
                </a:solidFill>
                <a:latin typeface="Verdana"/>
                <a:cs typeface="Verdana"/>
              </a:rPr>
              <a:t>adaptativo, </a:t>
            </a:r>
            <a:r>
              <a:rPr sz="2400" spc="-8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400" spc="135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2400" spc="13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400" spc="-3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400" spc="-9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2400" spc="13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400" spc="30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400" spc="-13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400" spc="-16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400" spc="-85" dirty="0">
                <a:solidFill>
                  <a:srgbClr val="232852"/>
                </a:solidFill>
                <a:latin typeface="Verdana"/>
                <a:cs typeface="Verdana"/>
              </a:rPr>
              <a:t>v</a:t>
            </a:r>
            <a:r>
              <a:rPr sz="2400" spc="11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400" spc="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400" spc="-13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2400" spc="6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400" spc="135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2400" spc="-30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400" spc="13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400" spc="-80" dirty="0">
                <a:solidFill>
                  <a:srgbClr val="232852"/>
                </a:solidFill>
                <a:latin typeface="Verdana"/>
                <a:cs typeface="Verdana"/>
              </a:rPr>
              <a:t>v</a:t>
            </a:r>
            <a:r>
              <a:rPr sz="2400" spc="13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400" spc="-6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400" spc="-13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400" spc="-18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400" spc="-100" dirty="0">
                <a:solidFill>
                  <a:srgbClr val="232852"/>
                </a:solidFill>
                <a:latin typeface="Verdana"/>
                <a:cs typeface="Verdana"/>
              </a:rPr>
              <a:t>v</a:t>
            </a:r>
            <a:r>
              <a:rPr sz="2400" spc="12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400" spc="-210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3228" y="1498091"/>
            <a:ext cx="6370320" cy="40919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492377"/>
            <a:ext cx="65208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Mantenimiento</a:t>
            </a:r>
            <a:r>
              <a:rPr sz="4000" spc="-310" dirty="0"/>
              <a:t> </a:t>
            </a:r>
            <a:r>
              <a:rPr sz="4000" spc="-20" dirty="0"/>
              <a:t>Correctivo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87020" marR="6350" indent="-274955" algn="just">
              <a:lnSpc>
                <a:spcPct val="80000"/>
              </a:lnSpc>
              <a:spcBef>
                <a:spcPts val="509"/>
              </a:spcBef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pc="-155" dirty="0"/>
              <a:t>El </a:t>
            </a:r>
            <a:r>
              <a:rPr spc="-25" dirty="0"/>
              <a:t>mantenimiento </a:t>
            </a:r>
            <a:r>
              <a:rPr spc="-5" dirty="0"/>
              <a:t>correctivo </a:t>
            </a:r>
            <a:r>
              <a:rPr spc="-20" dirty="0"/>
              <a:t>tiene </a:t>
            </a:r>
            <a:r>
              <a:rPr spc="-15" dirty="0"/>
              <a:t>por </a:t>
            </a:r>
            <a:r>
              <a:rPr spc="-25" dirty="0"/>
              <a:t>objetivo localizar </a:t>
            </a:r>
            <a:r>
              <a:rPr spc="-95" dirty="0"/>
              <a:t>y </a:t>
            </a:r>
            <a:r>
              <a:rPr spc="-90" dirty="0"/>
              <a:t> </a:t>
            </a:r>
            <a:r>
              <a:rPr spc="-65" dirty="0"/>
              <a:t>eliminar</a:t>
            </a:r>
            <a:r>
              <a:rPr spc="-90" dirty="0"/>
              <a:t> </a:t>
            </a:r>
            <a:r>
              <a:rPr spc="-85" dirty="0"/>
              <a:t>los</a:t>
            </a:r>
            <a:r>
              <a:rPr spc="-90" dirty="0"/>
              <a:t> </a:t>
            </a:r>
            <a:r>
              <a:rPr spc="-45" dirty="0"/>
              <a:t>posibles</a:t>
            </a:r>
            <a:r>
              <a:rPr spc="-90" dirty="0"/>
              <a:t> </a:t>
            </a:r>
            <a:r>
              <a:rPr u="sng" spc="20" dirty="0">
                <a:uFill>
                  <a:solidFill>
                    <a:srgbClr val="232852"/>
                  </a:solidFill>
                </a:uFill>
              </a:rPr>
              <a:t>defectos</a:t>
            </a:r>
            <a:r>
              <a:rPr u="sng" spc="-90" dirty="0">
                <a:uFill>
                  <a:solidFill>
                    <a:srgbClr val="232852"/>
                  </a:solidFill>
                </a:uFill>
              </a:rPr>
              <a:t> </a:t>
            </a:r>
            <a:r>
              <a:rPr u="sng" spc="95" dirty="0">
                <a:uFill>
                  <a:solidFill>
                    <a:srgbClr val="232852"/>
                  </a:solidFill>
                </a:uFill>
              </a:rPr>
              <a:t>de</a:t>
            </a:r>
            <a:r>
              <a:rPr u="sng" spc="-105" dirty="0">
                <a:uFill>
                  <a:solidFill>
                    <a:srgbClr val="232852"/>
                  </a:solidFill>
                </a:uFill>
              </a:rPr>
              <a:t> </a:t>
            </a:r>
            <a:r>
              <a:rPr u="sng" spc="-85" dirty="0">
                <a:uFill>
                  <a:solidFill>
                    <a:srgbClr val="232852"/>
                  </a:solidFill>
                </a:uFill>
              </a:rPr>
              <a:t>los</a:t>
            </a:r>
            <a:r>
              <a:rPr u="sng" spc="-90" dirty="0">
                <a:uFill>
                  <a:solidFill>
                    <a:srgbClr val="232852"/>
                  </a:solidFill>
                </a:uFill>
              </a:rPr>
              <a:t> </a:t>
            </a:r>
            <a:r>
              <a:rPr u="sng" spc="-35" dirty="0">
                <a:uFill>
                  <a:solidFill>
                    <a:srgbClr val="232852"/>
                  </a:solidFill>
                </a:uFill>
              </a:rPr>
              <a:t>programas</a:t>
            </a:r>
            <a:r>
              <a:rPr spc="-35" dirty="0"/>
              <a:t>.</a:t>
            </a:r>
            <a:r>
              <a:rPr spc="-90" dirty="0"/>
              <a:t> </a:t>
            </a:r>
            <a:r>
              <a:rPr spc="-95" dirty="0"/>
              <a:t>Un</a:t>
            </a:r>
            <a:r>
              <a:rPr spc="-85" dirty="0"/>
              <a:t> </a:t>
            </a:r>
            <a:r>
              <a:rPr spc="55" dirty="0"/>
              <a:t>defecto </a:t>
            </a:r>
            <a:r>
              <a:rPr spc="-585" dirty="0"/>
              <a:t> </a:t>
            </a:r>
            <a:r>
              <a:rPr spc="25" dirty="0"/>
              <a:t>en </a:t>
            </a:r>
            <a:r>
              <a:rPr spc="-45" dirty="0"/>
              <a:t>un </a:t>
            </a:r>
            <a:r>
              <a:rPr spc="-75" dirty="0"/>
              <a:t>sistema </a:t>
            </a:r>
            <a:r>
              <a:rPr spc="-70" dirty="0"/>
              <a:t>es </a:t>
            </a:r>
            <a:r>
              <a:rPr spc="20" dirty="0"/>
              <a:t>una </a:t>
            </a:r>
            <a:r>
              <a:rPr i="1" dirty="0">
                <a:latin typeface="Verdana"/>
                <a:cs typeface="Verdana"/>
              </a:rPr>
              <a:t>característica </a:t>
            </a:r>
            <a:r>
              <a:rPr i="1" spc="20" dirty="0">
                <a:latin typeface="Verdana"/>
                <a:cs typeface="Verdana"/>
              </a:rPr>
              <a:t>del </a:t>
            </a:r>
            <a:r>
              <a:rPr i="1" spc="-75" dirty="0">
                <a:latin typeface="Verdana"/>
                <a:cs typeface="Verdana"/>
              </a:rPr>
              <a:t>sistema </a:t>
            </a:r>
            <a:r>
              <a:rPr i="1" spc="85" dirty="0">
                <a:latin typeface="Verdana"/>
                <a:cs typeface="Verdana"/>
              </a:rPr>
              <a:t>con </a:t>
            </a:r>
            <a:r>
              <a:rPr i="1" spc="-20" dirty="0">
                <a:latin typeface="Verdana"/>
                <a:cs typeface="Verdana"/>
              </a:rPr>
              <a:t>el </a:t>
            </a:r>
            <a:r>
              <a:rPr i="1" spc="-15" dirty="0">
                <a:latin typeface="Verdana"/>
                <a:cs typeface="Verdana"/>
              </a:rPr>
              <a:t> </a:t>
            </a:r>
            <a:r>
              <a:rPr i="1" spc="20" dirty="0">
                <a:latin typeface="Verdana"/>
                <a:cs typeface="Verdana"/>
              </a:rPr>
              <a:t>potencial </a:t>
            </a:r>
            <a:r>
              <a:rPr i="1" spc="95" dirty="0">
                <a:latin typeface="Verdana"/>
                <a:cs typeface="Verdana"/>
              </a:rPr>
              <a:t>de </a:t>
            </a:r>
            <a:r>
              <a:rPr i="1" dirty="0">
                <a:latin typeface="Verdana"/>
                <a:cs typeface="Verdana"/>
              </a:rPr>
              <a:t>causar </a:t>
            </a:r>
            <a:r>
              <a:rPr i="1" spc="-45" dirty="0">
                <a:latin typeface="Verdana"/>
                <a:cs typeface="Verdana"/>
              </a:rPr>
              <a:t>un fallo</a:t>
            </a:r>
            <a:r>
              <a:rPr spc="-45" dirty="0"/>
              <a:t>. </a:t>
            </a:r>
            <a:r>
              <a:rPr spc="-95" dirty="0"/>
              <a:t>Un </a:t>
            </a:r>
            <a:r>
              <a:rPr spc="-20" dirty="0"/>
              <a:t>fallo </a:t>
            </a:r>
            <a:r>
              <a:rPr spc="-15" dirty="0"/>
              <a:t>ocurre </a:t>
            </a:r>
            <a:r>
              <a:rPr spc="75" dirty="0"/>
              <a:t>cuando </a:t>
            </a:r>
            <a:r>
              <a:rPr spc="-30" dirty="0"/>
              <a:t>el </a:t>
            </a:r>
            <a:r>
              <a:rPr spc="-25" dirty="0"/>
              <a:t> </a:t>
            </a:r>
            <a:r>
              <a:rPr spc="5" dirty="0"/>
              <a:t>comportamiento</a:t>
            </a:r>
            <a:r>
              <a:rPr spc="10" dirty="0"/>
              <a:t> </a:t>
            </a:r>
            <a:r>
              <a:rPr spc="95" dirty="0"/>
              <a:t>de</a:t>
            </a:r>
            <a:r>
              <a:rPr spc="100" dirty="0"/>
              <a:t> </a:t>
            </a:r>
            <a:r>
              <a:rPr spc="-45" dirty="0"/>
              <a:t>un</a:t>
            </a:r>
            <a:r>
              <a:rPr spc="-40" dirty="0"/>
              <a:t> </a:t>
            </a:r>
            <a:r>
              <a:rPr spc="-75" dirty="0"/>
              <a:t>sistema</a:t>
            </a:r>
            <a:r>
              <a:rPr spc="-70" dirty="0"/>
              <a:t> es</a:t>
            </a:r>
            <a:r>
              <a:rPr spc="-65" dirty="0"/>
              <a:t> </a:t>
            </a:r>
            <a:r>
              <a:rPr spc="-20" dirty="0"/>
              <a:t>diferente</a:t>
            </a:r>
            <a:r>
              <a:rPr spc="-15" dirty="0"/>
              <a:t> </a:t>
            </a:r>
            <a:r>
              <a:rPr spc="10" dirty="0"/>
              <a:t>del </a:t>
            </a:r>
            <a:r>
              <a:rPr spc="15" dirty="0"/>
              <a:t> </a:t>
            </a:r>
            <a:r>
              <a:rPr spc="90" dirty="0"/>
              <a:t>e</a:t>
            </a:r>
            <a:r>
              <a:rPr spc="-229" dirty="0"/>
              <a:t>s</a:t>
            </a:r>
            <a:r>
              <a:rPr spc="-114" dirty="0"/>
              <a:t>t</a:t>
            </a:r>
            <a:r>
              <a:rPr spc="135" dirty="0"/>
              <a:t>a</a:t>
            </a:r>
            <a:r>
              <a:rPr spc="95" dirty="0"/>
              <a:t>b</a:t>
            </a:r>
            <a:r>
              <a:rPr spc="-114" dirty="0"/>
              <a:t>l</a:t>
            </a:r>
            <a:r>
              <a:rPr spc="90" dirty="0"/>
              <a:t>e</a:t>
            </a:r>
            <a:r>
              <a:rPr spc="55" dirty="0"/>
              <a:t>c</a:t>
            </a:r>
            <a:r>
              <a:rPr spc="25" dirty="0"/>
              <a:t>i</a:t>
            </a:r>
            <a:r>
              <a:rPr spc="100" dirty="0"/>
              <a:t>d</a:t>
            </a:r>
            <a:r>
              <a:rPr spc="80" dirty="0"/>
              <a:t>o</a:t>
            </a:r>
            <a:r>
              <a:rPr spc="10" dirty="0">
                <a:latin typeface="Times New Roman"/>
                <a:cs typeface="Times New Roman"/>
              </a:rPr>
              <a:t> </a:t>
            </a:r>
            <a:r>
              <a:rPr spc="85" dirty="0"/>
              <a:t>e</a:t>
            </a:r>
            <a:r>
              <a:rPr spc="-40" dirty="0"/>
              <a:t>n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spc="-114" dirty="0"/>
              <a:t>l</a:t>
            </a:r>
            <a:r>
              <a:rPr spc="140" dirty="0"/>
              <a:t>a</a:t>
            </a:r>
            <a:r>
              <a:rPr spc="30" dirty="0">
                <a:latin typeface="Times New Roman"/>
                <a:cs typeface="Times New Roman"/>
              </a:rPr>
              <a:t> </a:t>
            </a:r>
            <a:r>
              <a:rPr spc="90" dirty="0"/>
              <a:t>e</a:t>
            </a:r>
            <a:r>
              <a:rPr spc="-229" dirty="0"/>
              <a:t>s</a:t>
            </a:r>
            <a:r>
              <a:rPr spc="95" dirty="0"/>
              <a:t>p</a:t>
            </a:r>
            <a:r>
              <a:rPr spc="80" dirty="0"/>
              <a:t>e</a:t>
            </a:r>
            <a:r>
              <a:rPr spc="55" dirty="0"/>
              <a:t>c</a:t>
            </a:r>
            <a:r>
              <a:rPr spc="35" dirty="0"/>
              <a:t>i</a:t>
            </a:r>
            <a:r>
              <a:rPr spc="-65" dirty="0"/>
              <a:t>f</a:t>
            </a:r>
            <a:r>
              <a:rPr spc="-125" dirty="0"/>
              <a:t>i</a:t>
            </a:r>
            <a:r>
              <a:rPr spc="200" dirty="0"/>
              <a:t>c</a:t>
            </a:r>
            <a:r>
              <a:rPr spc="135" dirty="0"/>
              <a:t>a</a:t>
            </a:r>
            <a:r>
              <a:rPr spc="55" dirty="0"/>
              <a:t>c</a:t>
            </a:r>
            <a:r>
              <a:rPr spc="25" dirty="0"/>
              <a:t>i</a:t>
            </a:r>
            <a:r>
              <a:rPr spc="80" dirty="0"/>
              <a:t>ó</a:t>
            </a:r>
            <a:r>
              <a:rPr spc="-45" dirty="0"/>
              <a:t>n</a:t>
            </a:r>
            <a:r>
              <a:rPr spc="-150" dirty="0"/>
              <a:t>.</a:t>
            </a:r>
            <a:endParaRPr sz="13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  </a:t>
            </a:r>
            <a:r>
              <a:rPr sz="1300" spc="-3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pc="-170" dirty="0"/>
              <a:t>E</a:t>
            </a:r>
            <a:r>
              <a:rPr spc="-40" dirty="0"/>
              <a:t>n</a:t>
            </a:r>
            <a:r>
              <a:rPr spc="-105" dirty="0"/>
              <a:t>t</a:t>
            </a:r>
            <a:r>
              <a:rPr spc="-215" dirty="0"/>
              <a:t>r</a:t>
            </a:r>
            <a:r>
              <a:rPr spc="90" dirty="0"/>
              <a:t>e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spc="80" dirty="0"/>
              <a:t>o</a:t>
            </a:r>
            <a:r>
              <a:rPr spc="-110" dirty="0"/>
              <a:t>t</a:t>
            </a:r>
            <a:r>
              <a:rPr spc="-215" dirty="0"/>
              <a:t>r</a:t>
            </a:r>
            <a:r>
              <a:rPr spc="80" dirty="0"/>
              <a:t>o</a:t>
            </a:r>
            <a:r>
              <a:rPr spc="-229" dirty="0"/>
              <a:t>s</a:t>
            </a:r>
            <a:r>
              <a:rPr spc="-150" dirty="0"/>
              <a:t>,</a:t>
            </a:r>
            <a:r>
              <a:rPr spc="65" dirty="0">
                <a:latin typeface="Times New Roman"/>
                <a:cs typeface="Times New Roman"/>
              </a:rPr>
              <a:t> </a:t>
            </a:r>
            <a:r>
              <a:rPr spc="-114" dirty="0"/>
              <a:t>l</a:t>
            </a:r>
            <a:r>
              <a:rPr spc="80" dirty="0"/>
              <a:t>o</a:t>
            </a:r>
            <a:r>
              <a:rPr spc="-225" dirty="0"/>
              <a:t>s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-65" dirty="0"/>
              <a:t>f</a:t>
            </a:r>
            <a:r>
              <a:rPr spc="135" dirty="0"/>
              <a:t>a</a:t>
            </a:r>
            <a:r>
              <a:rPr spc="-110" dirty="0"/>
              <a:t>l</a:t>
            </a:r>
            <a:r>
              <a:rPr spc="-130" dirty="0"/>
              <a:t>l</a:t>
            </a:r>
            <a:r>
              <a:rPr spc="80" dirty="0"/>
              <a:t>o</a:t>
            </a:r>
            <a:r>
              <a:rPr spc="-225" dirty="0"/>
              <a:t>s</a:t>
            </a:r>
            <a:r>
              <a:rPr spc="15" dirty="0">
                <a:latin typeface="Times New Roman"/>
                <a:cs typeface="Times New Roman"/>
              </a:rPr>
              <a:t> </a:t>
            </a:r>
            <a:r>
              <a:rPr spc="85" dirty="0"/>
              <a:t>e</a:t>
            </a:r>
            <a:r>
              <a:rPr spc="-40" dirty="0"/>
              <a:t>n</a:t>
            </a:r>
            <a:r>
              <a:rPr spc="45" dirty="0">
                <a:latin typeface="Times New Roman"/>
                <a:cs typeface="Times New Roman"/>
              </a:rPr>
              <a:t> </a:t>
            </a:r>
            <a:r>
              <a:rPr spc="85" dirty="0"/>
              <a:t>e</a:t>
            </a:r>
            <a:r>
              <a:rPr spc="-130" dirty="0"/>
              <a:t>l</a:t>
            </a:r>
            <a:r>
              <a:rPr spc="35" dirty="0">
                <a:latin typeface="Times New Roman"/>
                <a:cs typeface="Times New Roman"/>
              </a:rPr>
              <a:t> </a:t>
            </a:r>
            <a:r>
              <a:rPr spc="-229" dirty="0"/>
              <a:t>s</a:t>
            </a:r>
            <a:r>
              <a:rPr spc="80" dirty="0"/>
              <a:t>o</a:t>
            </a:r>
            <a:r>
              <a:rPr spc="-65" dirty="0"/>
              <a:t>f</a:t>
            </a:r>
            <a:r>
              <a:rPr spc="-105" dirty="0"/>
              <a:t>t</a:t>
            </a:r>
            <a:r>
              <a:rPr spc="15" dirty="0"/>
              <a:t>w</a:t>
            </a:r>
            <a:r>
              <a:rPr spc="135" dirty="0"/>
              <a:t>a</a:t>
            </a:r>
            <a:r>
              <a:rPr spc="-215" dirty="0"/>
              <a:t>r</a:t>
            </a:r>
            <a:r>
              <a:rPr spc="90" dirty="0"/>
              <a:t>e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spc="95" dirty="0"/>
              <a:t>p</a:t>
            </a:r>
            <a:r>
              <a:rPr spc="-40" dirty="0"/>
              <a:t>u</a:t>
            </a:r>
            <a:r>
              <a:rPr spc="85" dirty="0"/>
              <a:t>e</a:t>
            </a:r>
            <a:r>
              <a:rPr spc="100" dirty="0"/>
              <a:t>d</a:t>
            </a:r>
            <a:r>
              <a:rPr spc="80" dirty="0"/>
              <a:t>e</a:t>
            </a:r>
            <a:r>
              <a:rPr spc="-40" dirty="0"/>
              <a:t>n</a:t>
            </a:r>
            <a:r>
              <a:rPr spc="50" dirty="0">
                <a:latin typeface="Times New Roman"/>
                <a:cs typeface="Times New Roman"/>
              </a:rPr>
              <a:t> </a:t>
            </a:r>
            <a:r>
              <a:rPr spc="-229" dirty="0"/>
              <a:t>s</a:t>
            </a:r>
            <a:r>
              <a:rPr spc="90" dirty="0"/>
              <a:t>e</a:t>
            </a:r>
            <a:r>
              <a:rPr spc="-215" dirty="0"/>
              <a:t>r</a:t>
            </a:r>
            <a:r>
              <a:rPr spc="40" dirty="0">
                <a:latin typeface="Times New Roman"/>
                <a:cs typeface="Times New Roman"/>
              </a:rPr>
              <a:t> </a:t>
            </a:r>
            <a:r>
              <a:rPr spc="100" dirty="0"/>
              <a:t>d</a:t>
            </a:r>
            <a:r>
              <a:rPr spc="85" dirty="0"/>
              <a:t>e</a:t>
            </a:r>
            <a:r>
              <a:rPr spc="-305" dirty="0"/>
              <a:t>: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/>
          </a:p>
          <a:p>
            <a:pPr marL="309880">
              <a:lnSpc>
                <a:spcPts val="1620"/>
              </a:lnSpc>
              <a:tabLst>
                <a:tab pos="583565" algn="l"/>
                <a:tab pos="2231390" algn="l"/>
                <a:tab pos="2754630" algn="l"/>
                <a:tab pos="3774440" algn="l"/>
                <a:tab pos="4599305" algn="l"/>
                <a:tab pos="5842635" algn="l"/>
                <a:tab pos="6307455" algn="l"/>
              </a:tabLst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	</a:t>
            </a:r>
            <a:r>
              <a:rPr sz="1500" b="1" spc="-265" dirty="0">
                <a:latin typeface="Verdana"/>
                <a:cs typeface="Verdana"/>
              </a:rPr>
              <a:t>P</a:t>
            </a:r>
            <a:r>
              <a:rPr sz="1500" b="1" spc="-270" dirty="0">
                <a:latin typeface="Verdana"/>
                <a:cs typeface="Verdana"/>
              </a:rPr>
              <a:t>r</a:t>
            </a:r>
            <a:r>
              <a:rPr sz="1500" b="1" spc="-75" dirty="0">
                <a:latin typeface="Verdana"/>
                <a:cs typeface="Verdana"/>
              </a:rPr>
              <a:t>o</a:t>
            </a:r>
            <a:r>
              <a:rPr sz="1500" b="1" spc="70" dirty="0">
                <a:latin typeface="Verdana"/>
                <a:cs typeface="Verdana"/>
              </a:rPr>
              <a:t>c</a:t>
            </a:r>
            <a:r>
              <a:rPr sz="1500" b="1" spc="-40" dirty="0">
                <a:latin typeface="Verdana"/>
                <a:cs typeface="Verdana"/>
              </a:rPr>
              <a:t>e</a:t>
            </a:r>
            <a:r>
              <a:rPr sz="1500" b="1" spc="-229" dirty="0">
                <a:latin typeface="Verdana"/>
                <a:cs typeface="Verdana"/>
              </a:rPr>
              <a:t>s</a:t>
            </a:r>
            <a:r>
              <a:rPr sz="1500" b="1" spc="-20" dirty="0">
                <a:latin typeface="Verdana"/>
                <a:cs typeface="Verdana"/>
              </a:rPr>
              <a:t>a</a:t>
            </a:r>
            <a:r>
              <a:rPr sz="1500" b="1" spc="-185" dirty="0">
                <a:latin typeface="Verdana"/>
                <a:cs typeface="Verdana"/>
              </a:rPr>
              <a:t>m</a:t>
            </a:r>
            <a:r>
              <a:rPr sz="1500" b="1" spc="-155" dirty="0">
                <a:latin typeface="Verdana"/>
                <a:cs typeface="Verdana"/>
              </a:rPr>
              <a:t>i</a:t>
            </a:r>
            <a:r>
              <a:rPr sz="1500" b="1" spc="-40" dirty="0">
                <a:latin typeface="Verdana"/>
                <a:cs typeface="Verdana"/>
              </a:rPr>
              <a:t>e</a:t>
            </a:r>
            <a:r>
              <a:rPr sz="1500" b="1" spc="-175" dirty="0">
                <a:latin typeface="Verdana"/>
                <a:cs typeface="Verdana"/>
              </a:rPr>
              <a:t>n</a:t>
            </a:r>
            <a:r>
              <a:rPr sz="1500" b="1" spc="-245" dirty="0">
                <a:latin typeface="Verdana"/>
                <a:cs typeface="Verdana"/>
              </a:rPr>
              <a:t>t</a:t>
            </a:r>
            <a:r>
              <a:rPr sz="1500" b="1" spc="-60" dirty="0">
                <a:latin typeface="Verdana"/>
                <a:cs typeface="Verdana"/>
              </a:rPr>
              <a:t>o</a:t>
            </a:r>
            <a:r>
              <a:rPr sz="1500" spc="-130" dirty="0"/>
              <a:t>,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85" dirty="0"/>
              <a:t>p</a:t>
            </a:r>
            <a:r>
              <a:rPr sz="1500" spc="70" dirty="0"/>
              <a:t>o</a:t>
            </a:r>
            <a:r>
              <a:rPr sz="1500" spc="-190" dirty="0"/>
              <a:t>r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60" dirty="0"/>
              <a:t>e</a:t>
            </a:r>
            <a:r>
              <a:rPr sz="1500" spc="-210" dirty="0"/>
              <a:t>j</a:t>
            </a:r>
            <a:r>
              <a:rPr sz="1500" spc="75" dirty="0"/>
              <a:t>e</a:t>
            </a:r>
            <a:r>
              <a:rPr sz="1500" spc="-55" dirty="0"/>
              <a:t>m</a:t>
            </a:r>
            <a:r>
              <a:rPr sz="1500" spc="85" dirty="0"/>
              <a:t>p</a:t>
            </a:r>
            <a:r>
              <a:rPr sz="1500" spc="-110" dirty="0"/>
              <a:t>l</a:t>
            </a:r>
            <a:r>
              <a:rPr sz="1500" spc="70" dirty="0"/>
              <a:t>o</a:t>
            </a:r>
            <a:r>
              <a:rPr sz="1500" spc="-130" dirty="0"/>
              <a:t>,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200" dirty="0"/>
              <a:t>s</a:t>
            </a:r>
            <a:r>
              <a:rPr sz="1500" spc="114" dirty="0"/>
              <a:t>a</a:t>
            </a:r>
            <a:r>
              <a:rPr sz="1500" spc="-120" dirty="0"/>
              <a:t>li</a:t>
            </a:r>
            <a:r>
              <a:rPr sz="1500" spc="85" dirty="0"/>
              <a:t>d</a:t>
            </a:r>
            <a:r>
              <a:rPr sz="1500" spc="120" dirty="0"/>
              <a:t>a</a:t>
            </a:r>
            <a:r>
              <a:rPr sz="1500" spc="-200" dirty="0"/>
              <a:t>s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105" dirty="0"/>
              <a:t>i</a:t>
            </a:r>
            <a:r>
              <a:rPr sz="1500" spc="-35" dirty="0"/>
              <a:t>n</a:t>
            </a:r>
            <a:r>
              <a:rPr sz="1500" spc="185" dirty="0"/>
              <a:t>c</a:t>
            </a:r>
            <a:r>
              <a:rPr sz="1500" spc="70" dirty="0"/>
              <a:t>o</a:t>
            </a:r>
            <a:r>
              <a:rPr sz="1500" spc="-200" dirty="0"/>
              <a:t>rr</a:t>
            </a:r>
            <a:r>
              <a:rPr sz="1500" spc="75" dirty="0"/>
              <a:t>e</a:t>
            </a:r>
            <a:r>
              <a:rPr sz="1500" spc="50" dirty="0"/>
              <a:t>ct</a:t>
            </a:r>
            <a:r>
              <a:rPr sz="1500" spc="114" dirty="0"/>
              <a:t>a</a:t>
            </a:r>
            <a:r>
              <a:rPr sz="1500" spc="-200" dirty="0"/>
              <a:t>s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90" dirty="0"/>
              <a:t>d</a:t>
            </a:r>
            <a:r>
              <a:rPr sz="1500" spc="80" dirty="0"/>
              <a:t>e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-45" dirty="0"/>
              <a:t>u</a:t>
            </a:r>
            <a:r>
              <a:rPr sz="1500" spc="-35" dirty="0"/>
              <a:t>n</a:t>
            </a:r>
            <a:endParaRPr sz="1500">
              <a:latin typeface="Times New Roman"/>
              <a:cs typeface="Times New Roman"/>
            </a:endParaRPr>
          </a:p>
          <a:p>
            <a:pPr marL="584200">
              <a:lnSpc>
                <a:spcPts val="1620"/>
              </a:lnSpc>
            </a:pPr>
            <a:r>
              <a:rPr sz="1500" spc="-10" dirty="0"/>
              <a:t>programa.</a:t>
            </a:r>
            <a:endParaRPr sz="1500"/>
          </a:p>
          <a:p>
            <a:pPr marL="584200" marR="5715" indent="-274320">
              <a:lnSpc>
                <a:spcPct val="80000"/>
              </a:lnSpc>
              <a:spcBef>
                <a:spcPts val="360"/>
              </a:spcBef>
              <a:tabLst>
                <a:tab pos="583565" algn="l"/>
              </a:tabLst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	</a:t>
            </a:r>
            <a:r>
              <a:rPr sz="1500" b="1" spc="-145" dirty="0">
                <a:latin typeface="Verdana"/>
                <a:cs typeface="Verdana"/>
              </a:rPr>
              <a:t>Rendimiento</a:t>
            </a:r>
            <a:r>
              <a:rPr sz="1500" spc="-145" dirty="0"/>
              <a:t>,</a:t>
            </a:r>
            <a:r>
              <a:rPr sz="1500" spc="-100" dirty="0"/>
              <a:t> </a:t>
            </a:r>
            <a:r>
              <a:rPr sz="1500" spc="-5" dirty="0"/>
              <a:t>por</a:t>
            </a:r>
            <a:r>
              <a:rPr sz="1500" spc="-85" dirty="0"/>
              <a:t> </a:t>
            </a:r>
            <a:r>
              <a:rPr sz="1500" spc="-25" dirty="0"/>
              <a:t>ejemplo,</a:t>
            </a:r>
            <a:r>
              <a:rPr sz="1500" spc="-95" dirty="0"/>
              <a:t> </a:t>
            </a:r>
            <a:r>
              <a:rPr sz="1500" spc="-5" dirty="0"/>
              <a:t>tiempo</a:t>
            </a:r>
            <a:r>
              <a:rPr sz="1500" spc="-80" dirty="0"/>
              <a:t> </a:t>
            </a:r>
            <a:r>
              <a:rPr sz="1500" spc="85" dirty="0"/>
              <a:t>de</a:t>
            </a:r>
            <a:r>
              <a:rPr sz="1500" spc="-110" dirty="0"/>
              <a:t> </a:t>
            </a:r>
            <a:r>
              <a:rPr sz="1500" spc="-40" dirty="0"/>
              <a:t>respuesta</a:t>
            </a:r>
            <a:r>
              <a:rPr sz="1500" spc="-85" dirty="0"/>
              <a:t> </a:t>
            </a:r>
            <a:r>
              <a:rPr sz="1500" spc="20" dirty="0"/>
              <a:t>demasiado</a:t>
            </a:r>
            <a:r>
              <a:rPr sz="1500" spc="-75" dirty="0"/>
              <a:t> </a:t>
            </a:r>
            <a:r>
              <a:rPr sz="1500" spc="-5" dirty="0"/>
              <a:t>alto </a:t>
            </a:r>
            <a:r>
              <a:rPr sz="1500" spc="-515" dirty="0"/>
              <a:t> </a:t>
            </a:r>
            <a:r>
              <a:rPr sz="1500" spc="20" dirty="0"/>
              <a:t>en</a:t>
            </a:r>
            <a:r>
              <a:rPr sz="1500" spc="-114" dirty="0"/>
              <a:t> </a:t>
            </a:r>
            <a:r>
              <a:rPr sz="1500" spc="15" dirty="0"/>
              <a:t>una</a:t>
            </a:r>
            <a:r>
              <a:rPr sz="1500" spc="-120" dirty="0"/>
              <a:t> </a:t>
            </a:r>
            <a:r>
              <a:rPr sz="1500" spc="20" dirty="0"/>
              <a:t>búsqueda</a:t>
            </a:r>
            <a:r>
              <a:rPr sz="1500" spc="-110" dirty="0"/>
              <a:t> </a:t>
            </a:r>
            <a:r>
              <a:rPr sz="1500" spc="85" dirty="0"/>
              <a:t>de</a:t>
            </a:r>
            <a:r>
              <a:rPr sz="1500" spc="-125" dirty="0"/>
              <a:t> </a:t>
            </a:r>
            <a:r>
              <a:rPr sz="1500" spc="-25" dirty="0"/>
              <a:t>información.</a:t>
            </a:r>
            <a:endParaRPr sz="1500">
              <a:latin typeface="Verdana"/>
              <a:cs typeface="Verdana"/>
            </a:endParaRPr>
          </a:p>
          <a:p>
            <a:pPr marL="584200" marR="5080" indent="-274320">
              <a:lnSpc>
                <a:spcPts val="1440"/>
              </a:lnSpc>
              <a:spcBef>
                <a:spcPts val="345"/>
              </a:spcBef>
              <a:tabLst>
                <a:tab pos="583565" algn="l"/>
              </a:tabLst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	</a:t>
            </a:r>
            <a:r>
              <a:rPr sz="1500" b="1" spc="-125" dirty="0">
                <a:latin typeface="Verdana"/>
                <a:cs typeface="Verdana"/>
              </a:rPr>
              <a:t>Programación</a:t>
            </a:r>
            <a:r>
              <a:rPr sz="1500" spc="-125" dirty="0"/>
              <a:t>,</a:t>
            </a:r>
            <a:r>
              <a:rPr sz="1500" spc="40" dirty="0"/>
              <a:t> </a:t>
            </a:r>
            <a:r>
              <a:rPr sz="1500" spc="-15" dirty="0"/>
              <a:t>por</a:t>
            </a:r>
            <a:r>
              <a:rPr sz="1500" spc="65" dirty="0"/>
              <a:t> </a:t>
            </a:r>
            <a:r>
              <a:rPr sz="1500" spc="-25" dirty="0"/>
              <a:t>ejemplo,</a:t>
            </a:r>
            <a:r>
              <a:rPr sz="1500" spc="50" dirty="0"/>
              <a:t> </a:t>
            </a:r>
            <a:r>
              <a:rPr sz="1500" spc="-35" dirty="0"/>
              <a:t>inconsistencias</a:t>
            </a:r>
            <a:r>
              <a:rPr sz="1500" spc="75" dirty="0"/>
              <a:t> </a:t>
            </a:r>
            <a:r>
              <a:rPr sz="1500" spc="20" dirty="0"/>
              <a:t>en</a:t>
            </a:r>
            <a:r>
              <a:rPr sz="1500" spc="60" dirty="0"/>
              <a:t> </a:t>
            </a:r>
            <a:r>
              <a:rPr sz="1500" spc="-20" dirty="0"/>
              <a:t>el</a:t>
            </a:r>
            <a:r>
              <a:rPr sz="1500" spc="60" dirty="0"/>
              <a:t> </a:t>
            </a:r>
            <a:r>
              <a:rPr sz="1500" spc="-20" dirty="0"/>
              <a:t>diseño</a:t>
            </a:r>
            <a:r>
              <a:rPr sz="1500" spc="65" dirty="0"/>
              <a:t> </a:t>
            </a:r>
            <a:r>
              <a:rPr sz="1500" spc="85" dirty="0"/>
              <a:t>de</a:t>
            </a:r>
            <a:r>
              <a:rPr sz="1500" spc="60" dirty="0"/>
              <a:t> </a:t>
            </a:r>
            <a:r>
              <a:rPr sz="1500" spc="-40" dirty="0"/>
              <a:t>un </a:t>
            </a:r>
            <a:r>
              <a:rPr sz="1500" spc="-509" dirty="0"/>
              <a:t> </a:t>
            </a:r>
            <a:r>
              <a:rPr sz="1500" spc="-10" dirty="0"/>
              <a:t>programa.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8186" y="5349366"/>
            <a:ext cx="58381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6385" algn="l"/>
                <a:tab pos="2086610" algn="l"/>
                <a:tab pos="2649220" algn="l"/>
                <a:tab pos="3710304" algn="l"/>
                <a:tab pos="5339715" algn="l"/>
              </a:tabLst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	</a:t>
            </a:r>
            <a:r>
              <a:rPr sz="1500" b="1" spc="-19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500" b="1" spc="-7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b="1" spc="7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500" b="1" spc="-17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500" b="1" spc="-19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500" b="1" spc="-4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b="1" spc="-17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500" b="1" spc="-24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500" b="1" spc="-1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b="1" spc="7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500" b="1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500" b="1" spc="-75" dirty="0">
                <a:solidFill>
                  <a:srgbClr val="232852"/>
                </a:solidFill>
                <a:latin typeface="Verdana"/>
                <a:cs typeface="Verdana"/>
              </a:rPr>
              <a:t>ó</a:t>
            </a:r>
            <a:r>
              <a:rPr sz="1500" b="1" spc="-1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500" spc="-135" dirty="0">
                <a:solidFill>
                  <a:srgbClr val="232852"/>
                </a:solidFill>
                <a:latin typeface="Verdana"/>
                <a:cs typeface="Verdana"/>
              </a:rPr>
              <a:t>,</a:t>
            </a:r>
            <a:r>
              <a:rPr sz="15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19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5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1500" spc="6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-210" dirty="0">
                <a:solidFill>
                  <a:srgbClr val="232852"/>
                </a:solidFill>
                <a:latin typeface="Verdana"/>
                <a:cs typeface="Verdana"/>
              </a:rPr>
              <a:t>j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135" dirty="0">
                <a:solidFill>
                  <a:srgbClr val="232852"/>
                </a:solidFill>
                <a:latin typeface="Verdana"/>
                <a:cs typeface="Verdana"/>
              </a:rPr>
              <a:t>,</a:t>
            </a:r>
            <a:r>
              <a:rPr sz="15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500" spc="130" dirty="0">
                <a:solidFill>
                  <a:srgbClr val="232852"/>
                </a:solidFill>
                <a:latin typeface="Verdana"/>
                <a:cs typeface="Verdana"/>
              </a:rPr>
              <a:t>co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500" spc="-21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500" spc="-2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500" spc="5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500" spc="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500" spc="114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-2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500" spc="-19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48498" y="5349366"/>
            <a:ext cx="1955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62509" y="5531913"/>
            <a:ext cx="510095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funcionalidad</a:t>
            </a:r>
            <a:r>
              <a:rPr sz="1500" spc="-1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5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programa</a:t>
            </a:r>
            <a:r>
              <a:rPr sz="15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manual</a:t>
            </a:r>
            <a:r>
              <a:rPr sz="15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usuario.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678304"/>
            <a:ext cx="61772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20" dirty="0"/>
              <a:t>O</a:t>
            </a:r>
            <a:r>
              <a:rPr sz="2800" spc="-355" dirty="0"/>
              <a:t>r</a:t>
            </a:r>
            <a:r>
              <a:rPr sz="2800" spc="-195" dirty="0"/>
              <a:t>i</a:t>
            </a:r>
            <a:r>
              <a:rPr sz="2800" spc="135" dirty="0"/>
              <a:t>g</a:t>
            </a:r>
            <a:r>
              <a:rPr sz="2800" spc="145" dirty="0"/>
              <a:t>e</a:t>
            </a:r>
            <a:r>
              <a:rPr sz="2800" spc="-70" dirty="0"/>
              <a:t>n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165" dirty="0"/>
              <a:t>d</a:t>
            </a:r>
            <a:r>
              <a:rPr sz="2800" spc="145" dirty="0"/>
              <a:t>e</a:t>
            </a:r>
            <a:r>
              <a:rPr sz="2800" spc="85" dirty="0">
                <a:latin typeface="Times New Roman"/>
                <a:cs typeface="Times New Roman"/>
              </a:rPr>
              <a:t> </a:t>
            </a:r>
            <a:r>
              <a:rPr sz="2800" spc="-215" dirty="0"/>
              <a:t>l</a:t>
            </a:r>
            <a:r>
              <a:rPr sz="2800" spc="135" dirty="0"/>
              <a:t>o</a:t>
            </a:r>
            <a:r>
              <a:rPr sz="2800" spc="-375" dirty="0"/>
              <a:t>s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165" dirty="0"/>
              <a:t>d</a:t>
            </a:r>
            <a:r>
              <a:rPr sz="2800" spc="145" dirty="0"/>
              <a:t>e</a:t>
            </a:r>
            <a:r>
              <a:rPr sz="2800" spc="-110" dirty="0"/>
              <a:t>f</a:t>
            </a:r>
            <a:r>
              <a:rPr sz="2800" spc="145" dirty="0"/>
              <a:t>e</a:t>
            </a:r>
            <a:r>
              <a:rPr sz="2800" spc="350" dirty="0"/>
              <a:t>c</a:t>
            </a:r>
            <a:r>
              <a:rPr sz="2800" spc="-160" dirty="0"/>
              <a:t>t</a:t>
            </a:r>
            <a:r>
              <a:rPr sz="2800" spc="130" dirty="0"/>
              <a:t>o</a:t>
            </a:r>
            <a:r>
              <a:rPr sz="2800" spc="-375" dirty="0"/>
              <a:t>s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spc="165" dirty="0"/>
              <a:t>d</a:t>
            </a:r>
            <a:r>
              <a:rPr sz="2800" spc="145" dirty="0"/>
              <a:t>e</a:t>
            </a:r>
            <a:r>
              <a:rPr sz="2800" spc="-210" dirty="0"/>
              <a:t>l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spc="-380" dirty="0"/>
              <a:t>s</a:t>
            </a:r>
            <a:r>
              <a:rPr sz="2800" spc="130" dirty="0"/>
              <a:t>o</a:t>
            </a:r>
            <a:r>
              <a:rPr sz="2800" spc="-110" dirty="0"/>
              <a:t>f</a:t>
            </a:r>
            <a:r>
              <a:rPr sz="2800" spc="-160" dirty="0"/>
              <a:t>t</a:t>
            </a:r>
            <a:r>
              <a:rPr sz="2800" spc="25" dirty="0"/>
              <a:t>w</a:t>
            </a:r>
            <a:r>
              <a:rPr sz="2800" spc="220" dirty="0"/>
              <a:t>a</a:t>
            </a:r>
            <a:r>
              <a:rPr sz="2800" spc="-355" dirty="0"/>
              <a:t>r</a:t>
            </a:r>
            <a:r>
              <a:rPr sz="2800" spc="145" dirty="0"/>
              <a:t>e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824" y="2420111"/>
            <a:ext cx="6166104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492377"/>
            <a:ext cx="6745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300" dirty="0"/>
              <a:t>M</a:t>
            </a:r>
            <a:r>
              <a:rPr sz="4000" spc="320" dirty="0"/>
              <a:t>a</a:t>
            </a:r>
            <a:r>
              <a:rPr sz="4000" spc="-95" dirty="0"/>
              <a:t>n</a:t>
            </a:r>
            <a:r>
              <a:rPr sz="4000" spc="-225" dirty="0"/>
              <a:t>t</a:t>
            </a:r>
            <a:r>
              <a:rPr sz="4000" spc="210" dirty="0"/>
              <a:t>e</a:t>
            </a:r>
            <a:r>
              <a:rPr sz="4000" spc="-110" dirty="0"/>
              <a:t>n</a:t>
            </a:r>
            <a:r>
              <a:rPr sz="4000" spc="-305" dirty="0"/>
              <a:t>i</a:t>
            </a:r>
            <a:r>
              <a:rPr sz="4000" spc="-345" dirty="0"/>
              <a:t>m</a:t>
            </a:r>
            <a:r>
              <a:rPr sz="4000" spc="-105" dirty="0"/>
              <a:t>i</a:t>
            </a:r>
            <a:r>
              <a:rPr sz="4000" spc="210" dirty="0"/>
              <a:t>e</a:t>
            </a:r>
            <a:r>
              <a:rPr sz="4000" spc="-95" dirty="0"/>
              <a:t>n</a:t>
            </a:r>
            <a:r>
              <a:rPr sz="4000" spc="-225" dirty="0"/>
              <a:t>t</a:t>
            </a:r>
            <a:r>
              <a:rPr sz="4000" spc="185" dirty="0"/>
              <a:t>o</a:t>
            </a:r>
            <a:r>
              <a:rPr sz="4000" spc="135" dirty="0">
                <a:latin typeface="Times New Roman"/>
                <a:cs typeface="Times New Roman"/>
              </a:rPr>
              <a:t> </a:t>
            </a:r>
            <a:r>
              <a:rPr sz="4000" spc="220" dirty="0"/>
              <a:t>A</a:t>
            </a:r>
            <a:r>
              <a:rPr sz="4000" spc="240" dirty="0"/>
              <a:t>d</a:t>
            </a:r>
            <a:r>
              <a:rPr sz="4000" spc="320" dirty="0"/>
              <a:t>a</a:t>
            </a:r>
            <a:r>
              <a:rPr sz="4000" spc="215" dirty="0"/>
              <a:t>p</a:t>
            </a:r>
            <a:r>
              <a:rPr sz="4000" spc="-225" dirty="0"/>
              <a:t>t</a:t>
            </a:r>
            <a:r>
              <a:rPr sz="4000" spc="320" dirty="0"/>
              <a:t>a</a:t>
            </a:r>
            <a:r>
              <a:rPr sz="4000" spc="-225" dirty="0"/>
              <a:t>t</a:t>
            </a:r>
            <a:r>
              <a:rPr sz="4000" spc="-305" dirty="0"/>
              <a:t>i</a:t>
            </a:r>
            <a:r>
              <a:rPr sz="4000" spc="-160" dirty="0"/>
              <a:t>v</a:t>
            </a:r>
            <a:r>
              <a:rPr sz="4000" spc="185" dirty="0"/>
              <a:t>o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0957" y="2300733"/>
            <a:ext cx="6552565" cy="308419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87020" marR="6350" indent="-274955" algn="just">
              <a:lnSpc>
                <a:spcPct val="80000"/>
              </a:lnSpc>
              <a:spcBef>
                <a:spcPts val="509"/>
              </a:spcBef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00" spc="-114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700" spc="-105" dirty="0">
                <a:solidFill>
                  <a:srgbClr val="232852"/>
                </a:solidFill>
                <a:latin typeface="Verdana"/>
                <a:cs typeface="Verdana"/>
              </a:rPr>
              <a:t>Este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232852"/>
                </a:solidFill>
                <a:latin typeface="Verdana"/>
                <a:cs typeface="Verdana"/>
              </a:rPr>
              <a:t>tipo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consiste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modificación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-5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17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programa</a:t>
            </a:r>
            <a:r>
              <a:rPr sz="17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5" dirty="0">
                <a:solidFill>
                  <a:srgbClr val="232852"/>
                </a:solidFill>
                <a:latin typeface="Verdana"/>
                <a:cs typeface="Verdana"/>
              </a:rPr>
              <a:t>debido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4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cambios</a:t>
            </a:r>
            <a:r>
              <a:rPr sz="17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7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entorno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(hardware</a:t>
            </a:r>
            <a:r>
              <a:rPr sz="17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700" spc="-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29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w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145" dirty="0">
                <a:solidFill>
                  <a:srgbClr val="232852"/>
                </a:solidFill>
                <a:latin typeface="Verdana"/>
                <a:cs typeface="Verdana"/>
              </a:rPr>
              <a:t>)</a:t>
            </a:r>
            <a:r>
              <a:rPr sz="1700" spc="3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12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700" spc="3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12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7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229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5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245" dirty="0">
                <a:solidFill>
                  <a:srgbClr val="232852"/>
                </a:solidFill>
                <a:latin typeface="Verdana"/>
                <a:cs typeface="Verdana"/>
              </a:rPr>
              <a:t>j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700">
              <a:latin typeface="Verdana"/>
              <a:cs typeface="Verdana"/>
            </a:endParaRPr>
          </a:p>
          <a:p>
            <a:pPr marL="287020" marR="5080" indent="-274955" algn="just">
              <a:lnSpc>
                <a:spcPct val="80000"/>
              </a:lnSpc>
              <a:spcBef>
                <a:spcPts val="409"/>
              </a:spcBef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Estos</a:t>
            </a:r>
            <a:r>
              <a:rPr sz="17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cambios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pueden</a:t>
            </a:r>
            <a:r>
              <a:rPr sz="1700" spc="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afectar</a:t>
            </a:r>
            <a:r>
              <a:rPr sz="17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al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232852"/>
                </a:solidFill>
                <a:latin typeface="Verdana"/>
                <a:cs typeface="Verdana"/>
              </a:rPr>
              <a:t>sistema</a:t>
            </a:r>
            <a:r>
              <a:rPr sz="1700" spc="4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operativo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(cambio </a:t>
            </a:r>
            <a:r>
              <a:rPr sz="1700" spc="14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uno 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más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moderno), </a:t>
            </a:r>
            <a:r>
              <a:rPr sz="1700" spc="14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700" spc="-15" dirty="0">
                <a:solidFill>
                  <a:srgbClr val="232852"/>
                </a:solidFill>
                <a:latin typeface="Verdana"/>
                <a:cs typeface="Verdana"/>
              </a:rPr>
              <a:t>arquitectura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física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700" spc="-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75" dirty="0">
                <a:solidFill>
                  <a:srgbClr val="232852"/>
                </a:solidFill>
                <a:latin typeface="Verdana"/>
                <a:cs typeface="Verdana"/>
              </a:rPr>
              <a:t>sistema 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informático (paso 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una </a:t>
            </a:r>
            <a:r>
              <a:rPr sz="1700" spc="-15" dirty="0">
                <a:solidFill>
                  <a:srgbClr val="232852"/>
                </a:solidFill>
                <a:latin typeface="Verdana"/>
                <a:cs typeface="Verdana"/>
              </a:rPr>
              <a:t>arquitectura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red 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40" dirty="0">
                <a:solidFill>
                  <a:srgbClr val="232852"/>
                </a:solidFill>
                <a:latin typeface="Verdana"/>
                <a:cs typeface="Verdana"/>
              </a:rPr>
              <a:t>área </a:t>
            </a:r>
            <a:r>
              <a:rPr sz="1700" spc="35" dirty="0">
                <a:solidFill>
                  <a:srgbClr val="232852"/>
                </a:solidFill>
                <a:latin typeface="Verdana"/>
                <a:cs typeface="Verdana"/>
              </a:rPr>
              <a:t>local </a:t>
            </a:r>
            <a:r>
              <a:rPr sz="1700" spc="14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700" spc="-80" dirty="0">
                <a:solidFill>
                  <a:srgbClr val="232852"/>
                </a:solidFill>
                <a:latin typeface="Verdana"/>
                <a:cs typeface="Verdana"/>
              </a:rPr>
              <a:t>Internet/Intranet) 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al 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entorno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desarrollo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(incorporación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nuevos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elementos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h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-21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14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150" dirty="0">
                <a:solidFill>
                  <a:srgbClr val="232852"/>
                </a:solidFill>
                <a:latin typeface="Verdana"/>
                <a:cs typeface="Verdana"/>
              </a:rPr>
              <a:t>co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mo</a:t>
            </a:r>
            <a:r>
              <a:rPr sz="17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-190" dirty="0">
                <a:solidFill>
                  <a:srgbClr val="232852"/>
                </a:solidFill>
                <a:latin typeface="Verdana"/>
                <a:cs typeface="Verdana"/>
              </a:rPr>
              <a:t>B</a:t>
            </a:r>
            <a:r>
              <a:rPr sz="1700" spc="18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700" spc="-160" dirty="0">
                <a:solidFill>
                  <a:srgbClr val="232852"/>
                </a:solidFill>
                <a:latin typeface="Verdana"/>
                <a:cs typeface="Verdana"/>
              </a:rPr>
              <a:t>)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700">
              <a:latin typeface="Verdana"/>
              <a:cs typeface="Verdana"/>
            </a:endParaRPr>
          </a:p>
          <a:p>
            <a:pPr marL="287020" marR="5715" indent="-274955" algn="just">
              <a:lnSpc>
                <a:spcPts val="1630"/>
              </a:lnSpc>
              <a:spcBef>
                <a:spcPts val="400"/>
              </a:spcBef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700" spc="-155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232852"/>
                </a:solidFill>
                <a:latin typeface="Verdana"/>
                <a:cs typeface="Verdana"/>
              </a:rPr>
              <a:t>tipo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55" dirty="0">
                <a:solidFill>
                  <a:srgbClr val="232852"/>
                </a:solidFill>
                <a:latin typeface="Verdana"/>
                <a:cs typeface="Verdana"/>
              </a:rPr>
              <a:t>cambio 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necesario </a:t>
            </a:r>
            <a:r>
              <a:rPr sz="1700" spc="65" dirty="0">
                <a:solidFill>
                  <a:srgbClr val="232852"/>
                </a:solidFill>
                <a:latin typeface="Verdana"/>
                <a:cs typeface="Verdana"/>
              </a:rPr>
              <a:t>puede </a:t>
            </a:r>
            <a:r>
              <a:rPr sz="1700" spc="-120" dirty="0">
                <a:solidFill>
                  <a:srgbClr val="232852"/>
                </a:solidFill>
                <a:latin typeface="Verdana"/>
                <a:cs typeface="Verdana"/>
              </a:rPr>
              <a:t>ser</a:t>
            </a:r>
            <a:r>
              <a:rPr sz="17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muy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diferente: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30" dirty="0">
                <a:solidFill>
                  <a:srgbClr val="232852"/>
                </a:solidFill>
                <a:latin typeface="Verdana"/>
                <a:cs typeface="Verdana"/>
              </a:rPr>
              <a:t>desde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pequeño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retoque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 estructura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módulo </a:t>
            </a:r>
            <a:r>
              <a:rPr sz="1700" spc="-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hasta</a:t>
            </a:r>
            <a:r>
              <a:rPr sz="17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tener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700" spc="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re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escribir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prácticamente</a:t>
            </a:r>
            <a:r>
              <a:rPr sz="17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40" dirty="0">
                <a:solidFill>
                  <a:srgbClr val="232852"/>
                </a:solidFill>
                <a:latin typeface="Verdana"/>
                <a:cs typeface="Verdana"/>
              </a:rPr>
              <a:t>todo</a:t>
            </a:r>
            <a:r>
              <a:rPr sz="17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programa</a:t>
            </a:r>
            <a:r>
              <a:rPr sz="17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35" dirty="0">
                <a:solidFill>
                  <a:srgbClr val="232852"/>
                </a:solidFill>
                <a:latin typeface="Verdana"/>
                <a:cs typeface="Verdana"/>
              </a:rPr>
              <a:t>para</a:t>
            </a:r>
            <a:r>
              <a:rPr sz="17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su</a:t>
            </a:r>
            <a:r>
              <a:rPr sz="17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ejecución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17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ambiente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distribuido</a:t>
            </a:r>
            <a:r>
              <a:rPr sz="17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700" spc="-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una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red.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492377"/>
            <a:ext cx="6745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300" dirty="0"/>
              <a:t>M</a:t>
            </a:r>
            <a:r>
              <a:rPr sz="4000" spc="320" dirty="0"/>
              <a:t>a</a:t>
            </a:r>
            <a:r>
              <a:rPr sz="4000" spc="-95" dirty="0"/>
              <a:t>n</a:t>
            </a:r>
            <a:r>
              <a:rPr sz="4000" spc="-225" dirty="0"/>
              <a:t>t</a:t>
            </a:r>
            <a:r>
              <a:rPr sz="4000" spc="210" dirty="0"/>
              <a:t>e</a:t>
            </a:r>
            <a:r>
              <a:rPr sz="4000" spc="-110" dirty="0"/>
              <a:t>n</a:t>
            </a:r>
            <a:r>
              <a:rPr sz="4000" spc="-305" dirty="0"/>
              <a:t>i</a:t>
            </a:r>
            <a:r>
              <a:rPr sz="4000" spc="-345" dirty="0"/>
              <a:t>m</a:t>
            </a:r>
            <a:r>
              <a:rPr sz="4000" spc="-105" dirty="0"/>
              <a:t>i</a:t>
            </a:r>
            <a:r>
              <a:rPr sz="4000" spc="210" dirty="0"/>
              <a:t>e</a:t>
            </a:r>
            <a:r>
              <a:rPr sz="4000" spc="-95" dirty="0"/>
              <a:t>n</a:t>
            </a:r>
            <a:r>
              <a:rPr sz="4000" spc="-225" dirty="0"/>
              <a:t>t</a:t>
            </a:r>
            <a:r>
              <a:rPr sz="4000" spc="185" dirty="0"/>
              <a:t>o</a:t>
            </a:r>
            <a:r>
              <a:rPr sz="4000" spc="135" dirty="0">
                <a:latin typeface="Times New Roman"/>
                <a:cs typeface="Times New Roman"/>
              </a:rPr>
              <a:t> </a:t>
            </a:r>
            <a:r>
              <a:rPr sz="4000" spc="220" dirty="0"/>
              <a:t>A</a:t>
            </a:r>
            <a:r>
              <a:rPr sz="4000" spc="240" dirty="0"/>
              <a:t>d</a:t>
            </a:r>
            <a:r>
              <a:rPr sz="4000" spc="320" dirty="0"/>
              <a:t>a</a:t>
            </a:r>
            <a:r>
              <a:rPr sz="4000" spc="215" dirty="0"/>
              <a:t>p</a:t>
            </a:r>
            <a:r>
              <a:rPr sz="4000" spc="-225" dirty="0"/>
              <a:t>t</a:t>
            </a:r>
            <a:r>
              <a:rPr sz="4000" spc="320" dirty="0"/>
              <a:t>a</a:t>
            </a:r>
            <a:r>
              <a:rPr sz="4000" spc="-225" dirty="0"/>
              <a:t>t</a:t>
            </a:r>
            <a:r>
              <a:rPr sz="4000" spc="-305" dirty="0"/>
              <a:t>i</a:t>
            </a:r>
            <a:r>
              <a:rPr sz="4000" spc="-160" dirty="0"/>
              <a:t>v</a:t>
            </a:r>
            <a:r>
              <a:rPr sz="4000" spc="185" dirty="0"/>
              <a:t>o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0957" y="2301649"/>
            <a:ext cx="6552565" cy="3929379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95"/>
              </a:spcBef>
            </a:pPr>
            <a:r>
              <a:rPr sz="1200" spc="-12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200" spc="12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200" spc="12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6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cambios</a:t>
            </a:r>
            <a:r>
              <a:rPr sz="16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6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6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entorno</a:t>
            </a:r>
            <a:r>
              <a:rPr sz="16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16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232852"/>
                </a:solidFill>
                <a:latin typeface="Verdana"/>
                <a:cs typeface="Verdana"/>
              </a:rPr>
              <a:t>pueden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14" dirty="0">
                <a:solidFill>
                  <a:srgbClr val="232852"/>
                </a:solidFill>
                <a:latin typeface="Verdana"/>
                <a:cs typeface="Verdana"/>
              </a:rPr>
              <a:t>ser</a:t>
            </a:r>
            <a:r>
              <a:rPr sz="16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6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232852"/>
                </a:solidFill>
                <a:latin typeface="Verdana"/>
                <a:cs typeface="Verdana"/>
              </a:rPr>
              <a:t>dos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clases:</a:t>
            </a:r>
            <a:endParaRPr sz="1600">
              <a:latin typeface="Verdana"/>
              <a:cs typeface="Verdana"/>
            </a:endParaRPr>
          </a:p>
          <a:p>
            <a:pPr marL="584200" marR="6985" indent="-274320" algn="just">
              <a:lnSpc>
                <a:spcPct val="100000"/>
              </a:lnSpc>
              <a:spcBef>
                <a:spcPts val="395"/>
              </a:spcBef>
            </a:pPr>
            <a:r>
              <a:rPr sz="1200" spc="-12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200" spc="-114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229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600" b="1" spc="-10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600" b="1" spc="-160" dirty="0">
                <a:solidFill>
                  <a:srgbClr val="232852"/>
                </a:solidFill>
                <a:latin typeface="Verdana"/>
                <a:cs typeface="Verdana"/>
              </a:rPr>
              <a:t>entorno </a:t>
            </a:r>
            <a:r>
              <a:rPr sz="1600" b="1" spc="-5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b="1" spc="-16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600" b="1" spc="-135" dirty="0">
                <a:solidFill>
                  <a:srgbClr val="232852"/>
                </a:solidFill>
                <a:latin typeface="Verdana"/>
                <a:cs typeface="Verdana"/>
              </a:rPr>
              <a:t>datos,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por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ejemplo,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al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dejar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trabajar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con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16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232852"/>
                </a:solidFill>
                <a:latin typeface="Verdana"/>
                <a:cs typeface="Verdana"/>
              </a:rPr>
              <a:t>sistema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6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ficheros</a:t>
            </a:r>
            <a:r>
              <a:rPr sz="16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clásico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10" dirty="0">
                <a:solidFill>
                  <a:srgbClr val="232852"/>
                </a:solidFill>
                <a:latin typeface="Verdana"/>
                <a:cs typeface="Verdana"/>
              </a:rPr>
              <a:t>sustituirlo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por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16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232852"/>
                </a:solidFill>
                <a:latin typeface="Verdana"/>
                <a:cs typeface="Verdana"/>
              </a:rPr>
              <a:t>sistema </a:t>
            </a:r>
            <a:r>
              <a:rPr sz="1600" spc="-5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6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5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65" dirty="0">
                <a:solidFill>
                  <a:srgbClr val="232852"/>
                </a:solidFill>
                <a:latin typeface="Verdana"/>
                <a:cs typeface="Verdana"/>
              </a:rPr>
              <a:t>g</a:t>
            </a:r>
            <a:r>
              <a:rPr sz="16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-22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600" spc="-12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ó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600" spc="6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6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3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b</a:t>
            </a:r>
            <a:r>
              <a:rPr sz="1600" spc="1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-22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-21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5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6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3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6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spc="-21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-204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6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35" dirty="0">
                <a:solidFill>
                  <a:srgbClr val="232852"/>
                </a:solidFill>
                <a:latin typeface="Verdana"/>
                <a:cs typeface="Verdana"/>
              </a:rPr>
              <a:t>ci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6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-11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6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-204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-14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600">
              <a:latin typeface="Verdana"/>
              <a:cs typeface="Verdana"/>
            </a:endParaRPr>
          </a:p>
          <a:p>
            <a:pPr marL="584200" marR="5080" indent="-274320" algn="just">
              <a:lnSpc>
                <a:spcPct val="99700"/>
              </a:lnSpc>
              <a:spcBef>
                <a:spcPts val="395"/>
              </a:spcBef>
            </a:pPr>
            <a:r>
              <a:rPr sz="1200" spc="-12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200" spc="-114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600" b="1" spc="-229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600" b="1" spc="-10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600" b="1" spc="-160" dirty="0">
                <a:solidFill>
                  <a:srgbClr val="232852"/>
                </a:solidFill>
                <a:latin typeface="Verdana"/>
                <a:cs typeface="Verdana"/>
              </a:rPr>
              <a:t>entorno </a:t>
            </a:r>
            <a:r>
              <a:rPr sz="1600" b="1" spc="-5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b="1" spc="-16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600" b="1" spc="-125" dirty="0">
                <a:solidFill>
                  <a:srgbClr val="232852"/>
                </a:solidFill>
                <a:latin typeface="Verdana"/>
                <a:cs typeface="Verdana"/>
              </a:rPr>
              <a:t>procesos,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por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ejemplo, 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migrando </a:t>
            </a:r>
            <a:r>
              <a:rPr sz="1600" spc="12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una </a:t>
            </a:r>
            <a:r>
              <a:rPr sz="1600" spc="-5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nueva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plataforma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9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600" spc="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desarrollo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con</a:t>
            </a:r>
            <a:r>
              <a:rPr sz="1600" spc="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componentes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600" spc="-12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600" spc="-21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600" spc="-204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600" spc="-12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600" spc="95" dirty="0">
                <a:solidFill>
                  <a:srgbClr val="232852"/>
                </a:solidFill>
                <a:latin typeface="Verdana"/>
                <a:cs typeface="Verdana"/>
              </a:rPr>
              <a:t>b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600" spc="-12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spc="-22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-145" dirty="0">
                <a:solidFill>
                  <a:srgbClr val="232852"/>
                </a:solidFill>
                <a:latin typeface="Verdana"/>
                <a:cs typeface="Verdana"/>
              </a:rPr>
              <a:t>,</a:t>
            </a:r>
            <a:r>
              <a:rPr sz="1600" spc="7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40" dirty="0">
                <a:solidFill>
                  <a:srgbClr val="232852"/>
                </a:solidFill>
                <a:latin typeface="Verdana"/>
                <a:cs typeface="Verdana"/>
              </a:rPr>
              <a:t>J</a:t>
            </a:r>
            <a:r>
              <a:rPr sz="16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v</a:t>
            </a:r>
            <a:r>
              <a:rPr sz="16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-145" dirty="0">
                <a:solidFill>
                  <a:srgbClr val="232852"/>
                </a:solidFill>
                <a:latin typeface="Verdana"/>
                <a:cs typeface="Verdana"/>
              </a:rPr>
              <a:t>,</a:t>
            </a:r>
            <a:r>
              <a:rPr sz="1600" spc="1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10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6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600" spc="3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600" spc="-12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v</a:t>
            </a:r>
            <a:r>
              <a:rPr sz="16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-125" dirty="0">
                <a:solidFill>
                  <a:srgbClr val="232852"/>
                </a:solidFill>
                <a:latin typeface="Verdana"/>
                <a:cs typeface="Verdana"/>
              </a:rPr>
              <a:t>X</a:t>
            </a:r>
            <a:r>
              <a:rPr sz="1600" spc="-145" dirty="0">
                <a:solidFill>
                  <a:srgbClr val="232852"/>
                </a:solidFill>
                <a:latin typeface="Verdana"/>
                <a:cs typeface="Verdana"/>
              </a:rPr>
              <a:t>,</a:t>
            </a:r>
            <a:r>
              <a:rPr sz="1600" spc="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600" spc="19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600" spc="-14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600">
              <a:latin typeface="Verdana"/>
              <a:cs typeface="Verdana"/>
            </a:endParaRPr>
          </a:p>
          <a:p>
            <a:pPr marL="287020" marR="6985" indent="-274955" algn="just">
              <a:lnSpc>
                <a:spcPct val="100099"/>
              </a:lnSpc>
              <a:spcBef>
                <a:spcPts val="384"/>
              </a:spcBef>
            </a:pPr>
            <a:r>
              <a:rPr sz="1200" spc="-12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200" spc="-114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600" spc="-14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1600" spc="25" dirty="0">
                <a:solidFill>
                  <a:srgbClr val="232852"/>
                </a:solidFill>
                <a:latin typeface="Verdana"/>
                <a:cs typeface="Verdana"/>
              </a:rPr>
              <a:t>adaptativo </a:t>
            </a:r>
            <a:r>
              <a:rPr sz="1600" spc="-70" dirty="0">
                <a:solidFill>
                  <a:srgbClr val="232852"/>
                </a:solidFill>
                <a:latin typeface="Verdana"/>
                <a:cs typeface="Verdana"/>
              </a:rPr>
              <a:t>es </a:t>
            </a:r>
            <a:r>
              <a:rPr sz="1600" spc="135" dirty="0">
                <a:solidFill>
                  <a:srgbClr val="232852"/>
                </a:solidFill>
                <a:latin typeface="Verdana"/>
                <a:cs typeface="Verdana"/>
              </a:rPr>
              <a:t>cada 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vez 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más 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usual </a:t>
            </a:r>
            <a:r>
              <a:rPr sz="1600" spc="50" dirty="0">
                <a:solidFill>
                  <a:srgbClr val="232852"/>
                </a:solidFill>
                <a:latin typeface="Verdana"/>
                <a:cs typeface="Verdana"/>
              </a:rPr>
              <a:t>debido </a:t>
            </a:r>
            <a:r>
              <a:rPr sz="1600" spc="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principalmente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 al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cambio,</a:t>
            </a:r>
            <a:r>
              <a:rPr sz="16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35" dirty="0">
                <a:solidFill>
                  <a:srgbClr val="232852"/>
                </a:solidFill>
                <a:latin typeface="Verdana"/>
                <a:cs typeface="Verdana"/>
              </a:rPr>
              <a:t>cada 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vez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232852"/>
                </a:solidFill>
                <a:latin typeface="Verdana"/>
                <a:cs typeface="Verdana"/>
              </a:rPr>
              <a:t>más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rápido,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6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232852"/>
                </a:solidFill>
                <a:latin typeface="Verdana"/>
                <a:cs typeface="Verdana"/>
              </a:rPr>
              <a:t>diversos </a:t>
            </a:r>
            <a:r>
              <a:rPr sz="1600" spc="5" dirty="0">
                <a:solidFill>
                  <a:srgbClr val="232852"/>
                </a:solidFill>
                <a:latin typeface="Verdana"/>
                <a:cs typeface="Verdana"/>
              </a:rPr>
              <a:t>aspectos </a:t>
            </a:r>
            <a:r>
              <a:rPr sz="16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informática: </a:t>
            </a:r>
            <a:r>
              <a:rPr sz="1600" b="1" i="1" spc="-140" dirty="0">
                <a:solidFill>
                  <a:srgbClr val="232852"/>
                </a:solidFill>
                <a:latin typeface="Verdana"/>
                <a:cs typeface="Verdana"/>
              </a:rPr>
              <a:t>nuevas </a:t>
            </a:r>
            <a:r>
              <a:rPr sz="1600" b="1" i="1" spc="-105" dirty="0">
                <a:solidFill>
                  <a:srgbClr val="232852"/>
                </a:solidFill>
                <a:latin typeface="Verdana"/>
                <a:cs typeface="Verdana"/>
              </a:rPr>
              <a:t>generaciones </a:t>
            </a:r>
            <a:r>
              <a:rPr sz="1600" b="1" i="1" spc="-5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b="1" i="1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150" dirty="0">
                <a:solidFill>
                  <a:srgbClr val="232852"/>
                </a:solidFill>
                <a:latin typeface="Verdana"/>
                <a:cs typeface="Verdana"/>
              </a:rPr>
              <a:t>hardware</a:t>
            </a:r>
            <a:r>
              <a:rPr sz="1600" b="1" i="1" spc="-1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dirty="0">
                <a:solidFill>
                  <a:srgbClr val="232852"/>
                </a:solidFill>
                <a:latin typeface="Verdana"/>
                <a:cs typeface="Verdana"/>
              </a:rPr>
              <a:t>cada</a:t>
            </a:r>
            <a:r>
              <a:rPr sz="1600" b="1" i="1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135" dirty="0">
                <a:solidFill>
                  <a:srgbClr val="232852"/>
                </a:solidFill>
                <a:latin typeface="Verdana"/>
                <a:cs typeface="Verdana"/>
              </a:rPr>
              <a:t>dos</a:t>
            </a:r>
            <a:r>
              <a:rPr sz="1600" b="1" i="1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135" dirty="0">
                <a:solidFill>
                  <a:srgbClr val="232852"/>
                </a:solidFill>
                <a:latin typeface="Verdana"/>
                <a:cs typeface="Verdana"/>
              </a:rPr>
              <a:t>años,</a:t>
            </a:r>
            <a:r>
              <a:rPr sz="1600" b="1" i="1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150" dirty="0">
                <a:solidFill>
                  <a:srgbClr val="232852"/>
                </a:solidFill>
                <a:latin typeface="Verdana"/>
                <a:cs typeface="Verdana"/>
              </a:rPr>
              <a:t>nuevos</a:t>
            </a:r>
            <a:r>
              <a:rPr sz="1600" b="1" i="1" spc="-1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180" dirty="0">
                <a:solidFill>
                  <a:srgbClr val="232852"/>
                </a:solidFill>
                <a:latin typeface="Verdana"/>
                <a:cs typeface="Verdana"/>
              </a:rPr>
              <a:t>sistemas</a:t>
            </a:r>
            <a:r>
              <a:rPr sz="1600" b="1" i="1" spc="-1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140" dirty="0">
                <a:solidFill>
                  <a:srgbClr val="232852"/>
                </a:solidFill>
                <a:latin typeface="Verdana"/>
                <a:cs typeface="Verdana"/>
              </a:rPr>
              <a:t>operativos</a:t>
            </a:r>
            <a:r>
              <a:rPr sz="1600" b="1" i="1" spc="-1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90" dirty="0">
                <a:solidFill>
                  <a:srgbClr val="232852"/>
                </a:solidFill>
                <a:latin typeface="Verdana"/>
                <a:cs typeface="Verdana"/>
              </a:rPr>
              <a:t>-ó </a:t>
            </a:r>
            <a:r>
              <a:rPr sz="1600" b="1" i="1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160" dirty="0">
                <a:solidFill>
                  <a:srgbClr val="232852"/>
                </a:solidFill>
                <a:latin typeface="Verdana"/>
                <a:cs typeface="Verdana"/>
              </a:rPr>
              <a:t>versiones</a:t>
            </a:r>
            <a:r>
              <a:rPr sz="1600" b="1" i="1" spc="-1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5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b="1" i="1" spc="-165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600" b="1" i="1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145" dirty="0">
                <a:solidFill>
                  <a:srgbClr val="232852"/>
                </a:solidFill>
                <a:latin typeface="Verdana"/>
                <a:cs typeface="Verdana"/>
              </a:rPr>
              <a:t>antiguos-</a:t>
            </a:r>
            <a:r>
              <a:rPr sz="1600" b="1" i="1" spc="-1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95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600" b="1" i="1" spc="-145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600" b="1" i="1" spc="-1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105" dirty="0">
                <a:solidFill>
                  <a:srgbClr val="232852"/>
                </a:solidFill>
                <a:latin typeface="Verdana"/>
                <a:cs typeface="Verdana"/>
              </a:rPr>
              <a:t>anuncian </a:t>
            </a:r>
            <a:r>
              <a:rPr sz="1600" b="1" i="1" spc="-145" dirty="0">
                <a:solidFill>
                  <a:srgbClr val="232852"/>
                </a:solidFill>
                <a:latin typeface="Verdana"/>
                <a:cs typeface="Verdana"/>
              </a:rPr>
              <a:t>regularmente,</a:t>
            </a:r>
            <a:r>
              <a:rPr sz="1600" b="1" i="1" spc="-1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120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600" b="1" i="1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b="1" i="1" spc="-19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600" b="1" i="1" spc="-5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b="1" i="1" spc="-229" dirty="0">
                <a:solidFill>
                  <a:srgbClr val="232852"/>
                </a:solidFill>
                <a:latin typeface="Verdana"/>
                <a:cs typeface="Verdana"/>
              </a:rPr>
              <a:t>j</a:t>
            </a:r>
            <a:r>
              <a:rPr sz="1600" b="1" i="1" spc="-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b="1" i="1" spc="-2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600" b="1" i="1" spc="-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b="1" i="1" spc="-25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b="1" i="1" spc="-5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b="1" i="1" spc="-18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600" spc="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b="1" i="1" spc="-16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600" b="1" i="1" spc="-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b="1" i="1" spc="-25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b="1" i="1" spc="-75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600" b="1" i="1" spc="-5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b="1" i="1" spc="-2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600" b="1" i="1" spc="-16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600" b="1" i="1" spc="-229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600" b="1" i="1" spc="-50" dirty="0">
                <a:solidFill>
                  <a:srgbClr val="232852"/>
                </a:solidFill>
                <a:latin typeface="Verdana"/>
                <a:cs typeface="Verdana"/>
              </a:rPr>
              <a:t>é</a:t>
            </a:r>
            <a:r>
              <a:rPr sz="1600" b="1" i="1" spc="-28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600" b="1" i="1" spc="-16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600" b="1" i="1" spc="7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600" b="1" i="1" spc="-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b="1" i="1" spc="-25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9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b="1" i="1" spc="-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b="1" i="1" spc="-5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b="1" i="1" spc="-18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600" spc="7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b="1" i="1" spc="-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b="1" i="1" spc="-254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600" b="1" i="1" spc="-28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600" b="1" i="1" spc="-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b="1" i="1" spc="-25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5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b="1" i="1" spc="-5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b="1" i="1" spc="-16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600" b="1" i="1" spc="-5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b="1" i="1" spc="-19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600" b="1" i="1" spc="-5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b="1" i="1" spc="-19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600" b="1" i="1" spc="-254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600" b="1" i="1" spc="-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b="1" i="1" spc="-25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b="1" i="1" spc="-7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600" b="1" i="1" spc="-5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b="1" i="1" spc="-16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600" spc="7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b="1" i="1" spc="-24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b="1" i="1" spc="-16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600" b="1" i="1" spc="-24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b="1" i="1" spc="-254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600" b="1" i="1" spc="-5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b="1" i="1" spc="-19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600" b="1" i="1" spc="-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-14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6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  <a:spcBef>
                <a:spcPts val="375"/>
              </a:spcBef>
            </a:pPr>
            <a:r>
              <a:rPr sz="1200" spc="-12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200" spc="220" dirty="0">
                <a:solidFill>
                  <a:srgbClr val="619CD1"/>
                </a:solidFill>
                <a:latin typeface="Microsoft Sans Serif"/>
                <a:cs typeface="Microsoft Sans Serif"/>
              </a:rPr>
              <a:t>  </a:t>
            </a:r>
            <a:r>
              <a:rPr sz="1600" spc="-55" dirty="0">
                <a:solidFill>
                  <a:srgbClr val="232852"/>
                </a:solidFill>
                <a:latin typeface="Verdana"/>
                <a:cs typeface="Verdana"/>
              </a:rPr>
              <a:t>Frente</a:t>
            </a:r>
            <a:r>
              <a:rPr sz="16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3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esto,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vida</a:t>
            </a:r>
            <a:r>
              <a:rPr sz="16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útil</a:t>
            </a:r>
            <a:r>
              <a:rPr sz="16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16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75" dirty="0">
                <a:solidFill>
                  <a:srgbClr val="232852"/>
                </a:solidFill>
                <a:latin typeface="Verdana"/>
                <a:cs typeface="Verdana"/>
              </a:rPr>
              <a:t>sistema</a:t>
            </a:r>
            <a:r>
              <a:rPr sz="16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16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232852"/>
                </a:solidFill>
                <a:latin typeface="Verdana"/>
                <a:cs typeface="Verdana"/>
              </a:rPr>
              <a:t>puede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232852"/>
                </a:solidFill>
                <a:latin typeface="Verdana"/>
                <a:cs typeface="Verdana"/>
              </a:rPr>
              <a:t>superar</a:t>
            </a:r>
            <a:endParaRPr sz="1600">
              <a:latin typeface="Verdana"/>
              <a:cs typeface="Verdana"/>
            </a:endParaRPr>
          </a:p>
          <a:p>
            <a:pPr marL="287020" algn="just">
              <a:lnSpc>
                <a:spcPct val="100000"/>
              </a:lnSpc>
            </a:pPr>
            <a:r>
              <a:rPr sz="1600" spc="-6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600" spc="120" dirty="0">
                <a:solidFill>
                  <a:srgbClr val="232852"/>
                </a:solidFill>
                <a:latin typeface="Verdana"/>
                <a:cs typeface="Verdana"/>
              </a:rPr>
              <a:t>á</a:t>
            </a:r>
            <a:r>
              <a:rPr sz="1600" spc="5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600" spc="3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me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6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6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spc="-21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3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600" spc="-12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6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-165" dirty="0">
                <a:solidFill>
                  <a:srgbClr val="232852"/>
                </a:solidFill>
                <a:latin typeface="Verdana"/>
                <a:cs typeface="Verdana"/>
              </a:rPr>
              <a:t>z</a:t>
            </a:r>
            <a:r>
              <a:rPr sz="16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ñ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spc="-21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-180" dirty="0">
                <a:solidFill>
                  <a:srgbClr val="232852"/>
                </a:solidFill>
                <a:latin typeface="Verdana"/>
                <a:cs typeface="Verdana"/>
              </a:rPr>
              <a:t>[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600" spc="-204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6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-22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-21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35" dirty="0">
                <a:solidFill>
                  <a:srgbClr val="232852"/>
                </a:solidFill>
                <a:latin typeface="Verdana"/>
                <a:cs typeface="Verdana"/>
              </a:rPr>
              <a:t>ma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600" spc="-145" dirty="0">
                <a:solidFill>
                  <a:srgbClr val="232852"/>
                </a:solidFill>
                <a:latin typeface="Verdana"/>
                <a:cs typeface="Verdana"/>
              </a:rPr>
              <a:t>,</a:t>
            </a:r>
            <a:r>
              <a:rPr sz="1600" spc="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-135" dirty="0">
                <a:solidFill>
                  <a:srgbClr val="232852"/>
                </a:solidFill>
                <a:latin typeface="Verdana"/>
                <a:cs typeface="Verdana"/>
              </a:rPr>
              <a:t>1993</a:t>
            </a:r>
            <a:r>
              <a:rPr sz="1600" spc="-170" dirty="0">
                <a:solidFill>
                  <a:srgbClr val="232852"/>
                </a:solidFill>
                <a:latin typeface="Verdana"/>
                <a:cs typeface="Verdana"/>
              </a:rPr>
              <a:t>]</a:t>
            </a:r>
            <a:r>
              <a:rPr sz="1600" spc="-14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492377"/>
            <a:ext cx="64128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Mantenimiento</a:t>
            </a:r>
            <a:r>
              <a:rPr sz="4000" spc="-335" dirty="0"/>
              <a:t> </a:t>
            </a:r>
            <a:r>
              <a:rPr sz="4000" spc="-30" dirty="0"/>
              <a:t>Perfectivo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90957" y="2320546"/>
            <a:ext cx="6553200" cy="347091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87020" marR="5715" indent="-274955" algn="just">
              <a:lnSpc>
                <a:spcPct val="90000"/>
              </a:lnSpc>
              <a:spcBef>
                <a:spcPts val="340"/>
              </a:spcBef>
            </a:pPr>
            <a:r>
              <a:rPr sz="15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500" spc="-1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2000" spc="15" dirty="0">
                <a:solidFill>
                  <a:srgbClr val="232852"/>
                </a:solidFill>
                <a:latin typeface="Verdana"/>
                <a:cs typeface="Verdana"/>
              </a:rPr>
              <a:t>Cambios</a:t>
            </a:r>
            <a:r>
              <a:rPr sz="20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20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232852"/>
                </a:solidFill>
                <a:latin typeface="Verdana"/>
                <a:cs typeface="Verdana"/>
              </a:rPr>
              <a:t>especificación,</a:t>
            </a:r>
            <a:r>
              <a:rPr sz="20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32852"/>
                </a:solidFill>
                <a:latin typeface="Verdana"/>
                <a:cs typeface="Verdana"/>
              </a:rPr>
              <a:t>normalmente </a:t>
            </a:r>
            <a:r>
              <a:rPr sz="20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20" dirty="0">
                <a:solidFill>
                  <a:srgbClr val="232852"/>
                </a:solidFill>
                <a:latin typeface="Verdana"/>
                <a:cs typeface="Verdana"/>
              </a:rPr>
              <a:t>debidos</a:t>
            </a:r>
            <a:r>
              <a:rPr sz="20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6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1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b="1" spc="-125" dirty="0">
                <a:solidFill>
                  <a:srgbClr val="232852"/>
                </a:solidFill>
                <a:latin typeface="Verdana"/>
                <a:cs typeface="Verdana"/>
              </a:rPr>
              <a:t>cambios</a:t>
            </a:r>
            <a:r>
              <a:rPr sz="2000" b="1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b="1" spc="-13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2000" b="1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b="1" spc="-204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2000" b="1" spc="-2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b="1" spc="-220" dirty="0">
                <a:solidFill>
                  <a:srgbClr val="232852"/>
                </a:solidFill>
                <a:latin typeface="Verdana"/>
                <a:cs typeface="Verdana"/>
              </a:rPr>
              <a:t>requisitos</a:t>
            </a:r>
            <a:r>
              <a:rPr sz="2000" b="1" spc="-2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2000" spc="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20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producto </a:t>
            </a:r>
            <a:r>
              <a:rPr sz="2000" spc="-60" dirty="0">
                <a:solidFill>
                  <a:srgbClr val="232852"/>
                </a:solidFill>
                <a:latin typeface="Verdana"/>
                <a:cs typeface="Verdana"/>
              </a:rPr>
              <a:t>software,</a:t>
            </a:r>
            <a:r>
              <a:rPr sz="20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32852"/>
                </a:solidFill>
                <a:latin typeface="Verdana"/>
                <a:cs typeface="Verdana"/>
              </a:rPr>
              <a:t>implican 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20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32852"/>
                </a:solidFill>
                <a:latin typeface="Verdana"/>
                <a:cs typeface="Verdana"/>
              </a:rPr>
              <a:t>nuevo </a:t>
            </a:r>
            <a:r>
              <a:rPr sz="2000" spc="-10" dirty="0">
                <a:solidFill>
                  <a:srgbClr val="232852"/>
                </a:solidFill>
                <a:latin typeface="Verdana"/>
                <a:cs typeface="Verdana"/>
              </a:rPr>
              <a:t>tipo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2000" spc="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000" spc="-9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-17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2000" spc="-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1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-145" dirty="0">
                <a:solidFill>
                  <a:srgbClr val="232852"/>
                </a:solidFill>
                <a:latin typeface="Verdana"/>
                <a:cs typeface="Verdana"/>
              </a:rPr>
              <a:t>ll</a:t>
            </a:r>
            <a:r>
              <a:rPr sz="2000" spc="16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6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12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2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-254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000" spc="-8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25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000" spc="-9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-80" dirty="0">
                <a:solidFill>
                  <a:srgbClr val="232852"/>
                </a:solidFill>
                <a:latin typeface="Verdana"/>
                <a:cs typeface="Verdana"/>
              </a:rPr>
              <a:t>v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-17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Verdana"/>
              <a:cs typeface="Verdana"/>
            </a:endParaRPr>
          </a:p>
          <a:p>
            <a:pPr marL="287020" marR="5080" indent="-274955" algn="just">
              <a:lnSpc>
                <a:spcPct val="90000"/>
              </a:lnSpc>
              <a:spcBef>
                <a:spcPts val="5"/>
              </a:spcBef>
            </a:pPr>
            <a:r>
              <a:rPr sz="15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500" spc="-1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32852"/>
                </a:solidFill>
                <a:latin typeface="Verdana"/>
                <a:cs typeface="Verdana"/>
              </a:rPr>
              <a:t>Desde </a:t>
            </a:r>
            <a:r>
              <a:rPr sz="2000" spc="50" dirty="0">
                <a:solidFill>
                  <a:srgbClr val="232852"/>
                </a:solidFill>
                <a:latin typeface="Verdana"/>
                <a:cs typeface="Verdana"/>
              </a:rPr>
              <a:t>algo </a:t>
            </a:r>
            <a:r>
              <a:rPr sz="2000" dirty="0">
                <a:solidFill>
                  <a:srgbClr val="232852"/>
                </a:solidFill>
                <a:latin typeface="Verdana"/>
                <a:cs typeface="Verdana"/>
              </a:rPr>
              <a:t>tan </a:t>
            </a:r>
            <a:r>
              <a:rPr sz="2000" spc="-70" dirty="0">
                <a:solidFill>
                  <a:srgbClr val="232852"/>
                </a:solidFill>
                <a:latin typeface="Verdana"/>
                <a:cs typeface="Verdana"/>
              </a:rPr>
              <a:t>simple 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como 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cambiar </a:t>
            </a:r>
            <a:r>
              <a:rPr sz="2000" spc="-25" dirty="0">
                <a:solidFill>
                  <a:srgbClr val="232852"/>
                </a:solidFill>
                <a:latin typeface="Verdana"/>
                <a:cs typeface="Verdana"/>
              </a:rPr>
              <a:t>el formato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2000" spc="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32852"/>
                </a:solidFill>
                <a:latin typeface="Verdana"/>
                <a:cs typeface="Verdana"/>
              </a:rPr>
              <a:t>impresión</a:t>
            </a:r>
            <a:r>
              <a:rPr sz="20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2000" spc="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32852"/>
                </a:solidFill>
                <a:latin typeface="Verdana"/>
                <a:cs typeface="Verdana"/>
              </a:rPr>
              <a:t>informe,</a:t>
            </a:r>
            <a:r>
              <a:rPr sz="20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hasta</a:t>
            </a:r>
            <a:r>
              <a:rPr sz="20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2000" spc="10" dirty="0">
                <a:solidFill>
                  <a:srgbClr val="232852"/>
                </a:solidFill>
                <a:latin typeface="Verdana"/>
                <a:cs typeface="Verdana"/>
              </a:rPr>
              <a:t> incorporación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20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32852"/>
                </a:solidFill>
                <a:latin typeface="Verdana"/>
                <a:cs typeface="Verdana"/>
              </a:rPr>
              <a:t>nuevo módulo </a:t>
            </a:r>
            <a:r>
              <a:rPr sz="2000" spc="-5" dirty="0">
                <a:solidFill>
                  <a:srgbClr val="232852"/>
                </a:solidFill>
                <a:latin typeface="Verdana"/>
                <a:cs typeface="Verdana"/>
              </a:rPr>
              <a:t>aplicativo. </a:t>
            </a:r>
            <a:r>
              <a:rPr sz="20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32852"/>
                </a:solidFill>
                <a:latin typeface="Verdana"/>
                <a:cs typeface="Verdana"/>
              </a:rPr>
              <a:t>Podemos</a:t>
            </a:r>
            <a:r>
              <a:rPr sz="20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65" dirty="0">
                <a:solidFill>
                  <a:srgbClr val="232852"/>
                </a:solidFill>
                <a:latin typeface="Verdana"/>
                <a:cs typeface="Verdana"/>
              </a:rPr>
              <a:t>definir</a:t>
            </a:r>
            <a:r>
              <a:rPr sz="2000" spc="5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20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20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32852"/>
                </a:solidFill>
                <a:latin typeface="Verdana"/>
                <a:cs typeface="Verdana"/>
              </a:rPr>
              <a:t>perfectivo </a:t>
            </a:r>
            <a:r>
              <a:rPr sz="20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como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2000" spc="-10" dirty="0">
                <a:solidFill>
                  <a:srgbClr val="232852"/>
                </a:solidFill>
                <a:latin typeface="Verdana"/>
                <a:cs typeface="Verdana"/>
              </a:rPr>
              <a:t>conjunto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2000" spc="15" dirty="0">
                <a:solidFill>
                  <a:srgbClr val="232852"/>
                </a:solidFill>
                <a:latin typeface="Verdana"/>
                <a:cs typeface="Verdana"/>
              </a:rPr>
              <a:t>actividades </a:t>
            </a:r>
            <a:r>
              <a:rPr sz="2000" spc="45" dirty="0">
                <a:solidFill>
                  <a:srgbClr val="232852"/>
                </a:solidFill>
                <a:latin typeface="Verdana"/>
                <a:cs typeface="Verdana"/>
              </a:rPr>
              <a:t>para </a:t>
            </a:r>
            <a:r>
              <a:rPr sz="2000" spc="-70" dirty="0">
                <a:solidFill>
                  <a:srgbClr val="232852"/>
                </a:solidFill>
                <a:latin typeface="Verdana"/>
                <a:cs typeface="Verdana"/>
              </a:rPr>
              <a:t>mejorar 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2000" spc="-6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5" dirty="0">
                <a:solidFill>
                  <a:srgbClr val="232852"/>
                </a:solidFill>
                <a:latin typeface="Verdana"/>
                <a:cs typeface="Verdana"/>
              </a:rPr>
              <a:t>añadir </a:t>
            </a:r>
            <a:r>
              <a:rPr sz="2000" spc="-30" dirty="0">
                <a:solidFill>
                  <a:srgbClr val="232852"/>
                </a:solidFill>
                <a:latin typeface="Verdana"/>
                <a:cs typeface="Verdana"/>
              </a:rPr>
              <a:t>nuevas </a:t>
            </a:r>
            <a:r>
              <a:rPr sz="2000" dirty="0">
                <a:solidFill>
                  <a:srgbClr val="232852"/>
                </a:solidFill>
                <a:latin typeface="Verdana"/>
                <a:cs typeface="Verdana"/>
              </a:rPr>
              <a:t>funcionalidades </a:t>
            </a:r>
            <a:r>
              <a:rPr sz="2000" spc="-40" dirty="0">
                <a:solidFill>
                  <a:srgbClr val="232852"/>
                </a:solidFill>
                <a:latin typeface="Verdana"/>
                <a:cs typeface="Verdana"/>
              </a:rPr>
              <a:t>requeridas </a:t>
            </a:r>
            <a:r>
              <a:rPr sz="2000" spc="-15" dirty="0">
                <a:solidFill>
                  <a:srgbClr val="232852"/>
                </a:solidFill>
                <a:latin typeface="Verdana"/>
                <a:cs typeface="Verdana"/>
              </a:rPr>
              <a:t>por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20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32852"/>
                </a:solidFill>
                <a:latin typeface="Verdana"/>
                <a:cs typeface="Verdana"/>
              </a:rPr>
              <a:t>usuario.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492377"/>
            <a:ext cx="64128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Mantenimiento</a:t>
            </a:r>
            <a:r>
              <a:rPr sz="4000" spc="-335" dirty="0"/>
              <a:t> </a:t>
            </a:r>
            <a:r>
              <a:rPr sz="4000" spc="-30" dirty="0"/>
              <a:t>Perfectivo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488186" y="2840481"/>
            <a:ext cx="585279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31390" algn="l"/>
                <a:tab pos="2731770" algn="l"/>
                <a:tab pos="4333875" algn="l"/>
                <a:tab pos="5674995" algn="l"/>
              </a:tabLst>
            </a:pPr>
            <a:r>
              <a:rPr sz="1450" spc="-170" dirty="0">
                <a:solidFill>
                  <a:srgbClr val="619CD1"/>
                </a:solidFill>
                <a:latin typeface="Microsoft Sans Serif"/>
                <a:cs typeface="Microsoft Sans Serif"/>
              </a:rPr>
              <a:t> </a:t>
            </a:r>
            <a:r>
              <a:rPr sz="1450" spc="10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900" b="1" spc="-9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900" b="1" spc="-3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900" b="1" spc="-21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b="1" spc="-30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900" b="1" spc="-6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b="1" spc="-22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b="1" spc="-19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b="1" spc="-22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900" b="1" spc="-19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b="1" spc="-5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b="1" spc="-229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b="1" spc="-30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900" b="1" spc="-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9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1900" b="1" spc="-8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900" b="1" spc="-5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1900" b="1" spc="-7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900" b="1" spc="-22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900" b="1" spc="-85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900" b="1" spc="-195" dirty="0">
                <a:solidFill>
                  <a:srgbClr val="232852"/>
                </a:solidFill>
                <a:latin typeface="Verdana"/>
                <a:cs typeface="Verdana"/>
              </a:rPr>
              <a:t>li</a:t>
            </a:r>
            <a:r>
              <a:rPr sz="1900" b="1" spc="-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900" b="1" spc="8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900" b="1" spc="-19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b="1" spc="-100" dirty="0">
                <a:solidFill>
                  <a:srgbClr val="232852"/>
                </a:solidFill>
                <a:latin typeface="Verdana"/>
                <a:cs typeface="Verdana"/>
              </a:rPr>
              <a:t>ó</a:t>
            </a:r>
            <a:r>
              <a:rPr sz="1900" b="1" spc="-22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spc="-340" dirty="0">
                <a:solidFill>
                  <a:srgbClr val="232852"/>
                </a:solidFill>
                <a:latin typeface="Verdana"/>
                <a:cs typeface="Verdana"/>
              </a:rPr>
              <a:t>:</a:t>
            </a:r>
            <a:r>
              <a:rPr sz="19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19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900" spc="-24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900" spc="-12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900" spc="16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900" spc="12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900" spc="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9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1900" spc="15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0957" y="2290066"/>
            <a:ext cx="6551930" cy="864869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87020" marR="5080" indent="-274955">
              <a:lnSpc>
                <a:spcPct val="80000"/>
              </a:lnSpc>
              <a:spcBef>
                <a:spcPts val="585"/>
              </a:spcBef>
              <a:tabLst>
                <a:tab pos="1692275" algn="l"/>
                <a:tab pos="3034030" algn="l"/>
                <a:tab pos="4366895" algn="l"/>
                <a:tab pos="5301615" algn="l"/>
                <a:tab pos="6198870" algn="l"/>
              </a:tabLst>
            </a:pPr>
            <a:r>
              <a:rPr sz="15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 </a:t>
            </a:r>
            <a:r>
              <a:rPr sz="1500" spc="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-14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000" spc="100" dirty="0">
                <a:solidFill>
                  <a:srgbClr val="232852"/>
                </a:solidFill>
                <a:latin typeface="Verdana"/>
                <a:cs typeface="Verdana"/>
              </a:rPr>
              <a:t>g</a:t>
            </a:r>
            <a:r>
              <a:rPr sz="2000" spc="-5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-26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000" spc="16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-6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0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-254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0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-26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0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000" spc="12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2000" spc="-16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-60" dirty="0">
                <a:solidFill>
                  <a:srgbClr val="232852"/>
                </a:solidFill>
                <a:latin typeface="Verdana"/>
                <a:cs typeface="Verdana"/>
              </a:rPr>
              <a:t>v</a:t>
            </a:r>
            <a:r>
              <a:rPr sz="20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0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0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-28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0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000" spc="-10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2000" spc="12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2000" spc="85" dirty="0">
                <a:solidFill>
                  <a:srgbClr val="232852"/>
                </a:solidFill>
                <a:latin typeface="Verdana"/>
                <a:cs typeface="Verdana"/>
              </a:rPr>
              <a:t>e </a:t>
            </a:r>
            <a:r>
              <a:rPr sz="20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6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000" spc="-9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0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-17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2000" spc="-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0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1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000" spc="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12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2000" spc="9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-26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000" spc="-355" dirty="0">
                <a:solidFill>
                  <a:srgbClr val="232852"/>
                </a:solidFill>
                <a:latin typeface="Verdana"/>
                <a:cs typeface="Verdana"/>
              </a:rPr>
              <a:t>:</a:t>
            </a:r>
            <a:endParaRPr sz="2000">
              <a:latin typeface="Verdana"/>
              <a:cs typeface="Verdana"/>
            </a:endParaRPr>
          </a:p>
          <a:p>
            <a:pPr marL="6323965">
              <a:lnSpc>
                <a:spcPct val="100000"/>
              </a:lnSpc>
              <a:spcBef>
                <a:spcPts val="5"/>
              </a:spcBef>
            </a:pPr>
            <a:r>
              <a:rPr sz="1900" spc="-15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900" spc="15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endParaRPr sz="19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0957" y="3072132"/>
            <a:ext cx="6552565" cy="2649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95"/>
              </a:spcBef>
            </a:pPr>
            <a:r>
              <a:rPr sz="19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spc="22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9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900" spc="-24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900" spc="11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9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900" spc="-24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900" spc="15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900" spc="23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9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80" dirty="0">
                <a:solidFill>
                  <a:srgbClr val="232852"/>
                </a:solidFill>
                <a:latin typeface="Verdana"/>
                <a:cs typeface="Verdana"/>
              </a:rPr>
              <a:t>ó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spc="8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900" spc="11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nu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-65" dirty="0">
                <a:solidFill>
                  <a:srgbClr val="232852"/>
                </a:solidFill>
                <a:latin typeface="Verdana"/>
                <a:cs typeface="Verdana"/>
              </a:rPr>
              <a:t>v</a:t>
            </a:r>
            <a:r>
              <a:rPr sz="1900" spc="14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900" spc="-254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900" spc="5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900" spc="-7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1900" spc="6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900" spc="4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spc="14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900" spc="-16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9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11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900" spc="14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900" spc="11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-254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900" spc="-170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  <a:p>
            <a:pPr marL="584200" marR="8255" indent="-274320">
              <a:lnSpc>
                <a:spcPct val="80000"/>
              </a:lnSpc>
              <a:spcBef>
                <a:spcPts val="455"/>
              </a:spcBef>
            </a:pPr>
            <a:r>
              <a:rPr sz="1450" spc="-17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45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900" b="1" spc="-170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900" b="1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b="1" spc="-6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900" b="1" spc="-150" dirty="0">
                <a:solidFill>
                  <a:srgbClr val="232852"/>
                </a:solidFill>
                <a:latin typeface="Verdana"/>
                <a:cs typeface="Verdana"/>
              </a:rPr>
              <a:t>Eficiencia</a:t>
            </a:r>
            <a:r>
              <a:rPr sz="1900" spc="-150" dirty="0">
                <a:solidFill>
                  <a:srgbClr val="232852"/>
                </a:solidFill>
                <a:latin typeface="Verdana"/>
                <a:cs typeface="Verdana"/>
              </a:rPr>
              <a:t>:</a:t>
            </a:r>
            <a:r>
              <a:rPr sz="19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5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9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35" dirty="0">
                <a:solidFill>
                  <a:srgbClr val="232852"/>
                </a:solidFill>
                <a:latin typeface="Verdana"/>
                <a:cs typeface="Verdana"/>
              </a:rPr>
              <a:t>busca</a:t>
            </a:r>
            <a:r>
              <a:rPr sz="19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9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232852"/>
                </a:solidFill>
                <a:latin typeface="Verdana"/>
                <a:cs typeface="Verdana"/>
              </a:rPr>
              <a:t>mejora </a:t>
            </a:r>
            <a:r>
              <a:rPr sz="1900" spc="-6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11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900" spc="-15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900" spc="15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900" spc="6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-70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9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23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900" spc="-15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spc="22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9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15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900" spc="2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900" spc="11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-260" dirty="0">
                <a:solidFill>
                  <a:srgbClr val="232852"/>
                </a:solidFill>
                <a:latin typeface="Verdana"/>
                <a:cs typeface="Verdana"/>
              </a:rPr>
              <a:t>j</a:t>
            </a:r>
            <a:r>
              <a:rPr sz="19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900" spc="23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900" spc="23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9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900" spc="80" dirty="0">
                <a:solidFill>
                  <a:srgbClr val="232852"/>
                </a:solidFill>
                <a:latin typeface="Verdana"/>
                <a:cs typeface="Verdana"/>
              </a:rPr>
              <a:t>ó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900" spc="-170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9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250">
              <a:latin typeface="Verdana"/>
              <a:cs typeface="Verdana"/>
            </a:endParaRPr>
          </a:p>
          <a:p>
            <a:pPr marL="287020" marR="5080" indent="-274955" algn="just">
              <a:lnSpc>
                <a:spcPct val="80000"/>
              </a:lnSpc>
            </a:pPr>
            <a:r>
              <a:rPr sz="1500" spc="-14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50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2000" spc="-114" dirty="0">
                <a:solidFill>
                  <a:srgbClr val="232852"/>
                </a:solidFill>
                <a:latin typeface="Verdana"/>
                <a:cs typeface="Verdana"/>
              </a:rPr>
              <a:t>Este </a:t>
            </a:r>
            <a:r>
              <a:rPr sz="2000" spc="-10" dirty="0">
                <a:solidFill>
                  <a:srgbClr val="232852"/>
                </a:solidFill>
                <a:latin typeface="Verdana"/>
                <a:cs typeface="Verdana"/>
              </a:rPr>
              <a:t>tipo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2000" spc="-25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2000" spc="20" dirty="0">
                <a:solidFill>
                  <a:srgbClr val="232852"/>
                </a:solidFill>
                <a:latin typeface="Verdana"/>
                <a:cs typeface="Verdana"/>
              </a:rPr>
              <a:t>aumenta </a:t>
            </a:r>
            <a:r>
              <a:rPr sz="2000" spc="90" dirty="0">
                <a:solidFill>
                  <a:srgbClr val="232852"/>
                </a:solidFill>
                <a:latin typeface="Verdana"/>
                <a:cs typeface="Verdana"/>
              </a:rPr>
              <a:t>cuando </a:t>
            </a:r>
            <a:r>
              <a:rPr sz="2000" spc="-50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2000" spc="-6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producto</a:t>
            </a:r>
            <a:r>
              <a:rPr sz="20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20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tiene</a:t>
            </a:r>
            <a:r>
              <a:rPr sz="20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32852"/>
                </a:solidFill>
                <a:latin typeface="Verdana"/>
                <a:cs typeface="Verdana"/>
              </a:rPr>
              <a:t>éxito</a:t>
            </a:r>
            <a:r>
              <a:rPr sz="20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232852"/>
                </a:solidFill>
                <a:latin typeface="Verdana"/>
                <a:cs typeface="Verdana"/>
              </a:rPr>
              <a:t>comercial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11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20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32852"/>
                </a:solidFill>
                <a:latin typeface="Verdana"/>
                <a:cs typeface="Verdana"/>
              </a:rPr>
              <a:t>es </a:t>
            </a:r>
            <a:r>
              <a:rPr sz="20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000" spc="-10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-17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-14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0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-200" dirty="0">
                <a:solidFill>
                  <a:srgbClr val="232852"/>
                </a:solidFill>
                <a:latin typeface="Verdana"/>
                <a:cs typeface="Verdana"/>
              </a:rPr>
              <a:t>z</a:t>
            </a:r>
            <a:r>
              <a:rPr sz="2000" spc="16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1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-254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000" spc="15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-8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2000" spc="-5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000" spc="25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000" spc="-45" dirty="0">
                <a:solidFill>
                  <a:srgbClr val="232852"/>
                </a:solidFill>
                <a:latin typeface="Verdana"/>
                <a:cs typeface="Verdana"/>
              </a:rPr>
              <a:t>h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-26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000" spc="1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000" spc="-27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000" spc="-6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000" spc="16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-254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000" spc="-16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-26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000" spc="-175" dirty="0">
                <a:solidFill>
                  <a:srgbClr val="232852"/>
                </a:solidFill>
                <a:latin typeface="Verdana"/>
                <a:cs typeface="Verdana"/>
              </a:rPr>
              <a:t>,</a:t>
            </a:r>
            <a:r>
              <a:rPr sz="2000" spc="1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-12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2000" spc="16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1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q</a:t>
            </a:r>
            <a:r>
              <a:rPr sz="2000" spc="-5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000" spc="1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000" spc="17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25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000" spc="-6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000" spc="16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000" spc="-6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000" spc="-10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1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-8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2000" spc="150" dirty="0">
                <a:solidFill>
                  <a:srgbClr val="232852"/>
                </a:solidFill>
                <a:latin typeface="Verdana"/>
                <a:cs typeface="Verdana"/>
              </a:rPr>
              <a:t>á</a:t>
            </a:r>
            <a:r>
              <a:rPr sz="2000" spc="-225" dirty="0">
                <a:solidFill>
                  <a:srgbClr val="232852"/>
                </a:solidFill>
                <a:latin typeface="Verdana"/>
                <a:cs typeface="Verdana"/>
              </a:rPr>
              <a:t>s </a:t>
            </a:r>
            <a:r>
              <a:rPr sz="2000" spc="-1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000" spc="-8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20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100" dirty="0">
                <a:solidFill>
                  <a:srgbClr val="232852"/>
                </a:solidFill>
                <a:latin typeface="Verdana"/>
                <a:cs typeface="Verdana"/>
              </a:rPr>
              <a:t>utiliza</a:t>
            </a:r>
            <a:r>
              <a:rPr sz="20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20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32852"/>
                </a:solidFill>
                <a:latin typeface="Verdana"/>
                <a:cs typeface="Verdana"/>
              </a:rPr>
              <a:t>software,</a:t>
            </a:r>
            <a:r>
              <a:rPr sz="20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32852"/>
                </a:solidFill>
                <a:latin typeface="Verdana"/>
                <a:cs typeface="Verdana"/>
              </a:rPr>
              <a:t>más</a:t>
            </a:r>
            <a:r>
              <a:rPr sz="20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32852"/>
                </a:solidFill>
                <a:latin typeface="Verdana"/>
                <a:cs typeface="Verdana"/>
              </a:rPr>
              <a:t>peticiones</a:t>
            </a:r>
            <a:r>
              <a:rPr sz="20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2000" spc="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10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2000" spc="-100" dirty="0">
                <a:solidFill>
                  <a:srgbClr val="232852"/>
                </a:solidFill>
                <a:latin typeface="Verdana"/>
                <a:cs typeface="Verdana"/>
              </a:rPr>
              <a:t> usuarios</a:t>
            </a:r>
            <a:r>
              <a:rPr sz="20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20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5" dirty="0">
                <a:solidFill>
                  <a:srgbClr val="232852"/>
                </a:solidFill>
                <a:latin typeface="Verdana"/>
                <a:cs typeface="Verdana"/>
              </a:rPr>
              <a:t>reciben</a:t>
            </a:r>
            <a:r>
              <a:rPr sz="20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232852"/>
                </a:solidFill>
                <a:latin typeface="Verdana"/>
                <a:cs typeface="Verdana"/>
              </a:rPr>
              <a:t>demandando</a:t>
            </a:r>
            <a:r>
              <a:rPr sz="2000" spc="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32852"/>
                </a:solidFill>
                <a:latin typeface="Verdana"/>
                <a:cs typeface="Verdana"/>
              </a:rPr>
              <a:t>nuevas </a:t>
            </a:r>
            <a:r>
              <a:rPr sz="20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5" dirty="0">
                <a:solidFill>
                  <a:srgbClr val="232852"/>
                </a:solidFill>
                <a:latin typeface="Verdana"/>
                <a:cs typeface="Verdana"/>
              </a:rPr>
              <a:t>funcionalidades</a:t>
            </a:r>
            <a:r>
              <a:rPr sz="2000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9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000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75" dirty="0">
                <a:solidFill>
                  <a:srgbClr val="232852"/>
                </a:solidFill>
                <a:latin typeface="Verdana"/>
                <a:cs typeface="Verdana"/>
              </a:rPr>
              <a:t>mejoras</a:t>
            </a:r>
            <a:r>
              <a:rPr sz="2000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3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2000" spc="-1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32852"/>
                </a:solidFill>
                <a:latin typeface="Verdana"/>
                <a:cs typeface="Verdana"/>
              </a:rPr>
              <a:t>las</a:t>
            </a:r>
            <a:r>
              <a:rPr sz="2000" spc="-1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95" dirty="0">
                <a:solidFill>
                  <a:srgbClr val="232852"/>
                </a:solidFill>
                <a:latin typeface="Verdana"/>
                <a:cs typeface="Verdana"/>
              </a:rPr>
              <a:t>existentes.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492377"/>
            <a:ext cx="65163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Mantenimiento</a:t>
            </a:r>
            <a:r>
              <a:rPr sz="4000" spc="-325" dirty="0"/>
              <a:t> </a:t>
            </a:r>
            <a:r>
              <a:rPr sz="4000" spc="-90" dirty="0"/>
              <a:t>Preventivo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90957" y="2352546"/>
            <a:ext cx="655320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</a:pPr>
            <a:r>
              <a:rPr sz="13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50" spc="-13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800" spc="-110" dirty="0">
                <a:solidFill>
                  <a:srgbClr val="232852"/>
                </a:solidFill>
                <a:latin typeface="Verdana"/>
                <a:cs typeface="Verdana"/>
              </a:rPr>
              <a:t>Este</a:t>
            </a:r>
            <a:r>
              <a:rPr sz="18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232852"/>
                </a:solidFill>
                <a:latin typeface="Verdana"/>
                <a:cs typeface="Verdana"/>
              </a:rPr>
              <a:t>último</a:t>
            </a:r>
            <a:r>
              <a:rPr sz="18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tipo</a:t>
            </a:r>
            <a:r>
              <a:rPr sz="18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800" spc="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consiste</a:t>
            </a:r>
            <a:r>
              <a:rPr sz="18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8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modificación</a:t>
            </a:r>
            <a:r>
              <a:rPr sz="18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18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232852"/>
                </a:solidFill>
                <a:latin typeface="Verdana"/>
                <a:cs typeface="Verdana"/>
              </a:rPr>
              <a:t>para</a:t>
            </a:r>
            <a:r>
              <a:rPr sz="18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232852"/>
                </a:solidFill>
                <a:latin typeface="Verdana"/>
                <a:cs typeface="Verdana"/>
              </a:rPr>
              <a:t>mejorar</a:t>
            </a:r>
            <a:r>
              <a:rPr sz="1800" spc="4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80" dirty="0">
                <a:solidFill>
                  <a:srgbClr val="232852"/>
                </a:solidFill>
                <a:latin typeface="Verdana"/>
                <a:cs typeface="Verdana"/>
              </a:rPr>
              <a:t>sus </a:t>
            </a:r>
            <a:r>
              <a:rPr sz="1800" spc="-1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800" spc="-229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800" spc="7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800" spc="85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8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10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800" spc="14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800" spc="10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8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-24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800" spc="1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-185" dirty="0">
                <a:solidFill>
                  <a:srgbClr val="232852"/>
                </a:solidFill>
                <a:latin typeface="Verdana"/>
                <a:cs typeface="Verdana"/>
              </a:rPr>
              <a:t>(</a:t>
            </a:r>
            <a:r>
              <a:rPr sz="1800" spc="11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800" spc="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800" spc="-229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800" spc="1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-254" dirty="0">
                <a:solidFill>
                  <a:srgbClr val="232852"/>
                </a:solidFill>
                <a:latin typeface="Verdana"/>
                <a:cs typeface="Verdana"/>
              </a:rPr>
              <a:t>j</a:t>
            </a:r>
            <a:r>
              <a:rPr sz="18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800" spc="1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800" spc="-12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800" spc="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800" spc="-160" dirty="0">
                <a:solidFill>
                  <a:srgbClr val="232852"/>
                </a:solidFill>
                <a:latin typeface="Verdana"/>
                <a:cs typeface="Verdana"/>
              </a:rPr>
              <a:t>,</a:t>
            </a:r>
            <a:r>
              <a:rPr sz="1800" spc="1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800" spc="-4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800" spc="1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-4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8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800" spc="10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800" spc="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800" spc="1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-24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800" spc="-4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800" spc="13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17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800" spc="19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800" spc="-14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800" spc="10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800" spc="14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800" spc="11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800" spc="1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-11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/</a:t>
            </a:r>
            <a:r>
              <a:rPr sz="1800" spc="65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800" spc="3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-145" dirty="0">
                <a:solidFill>
                  <a:srgbClr val="232852"/>
                </a:solidFill>
                <a:latin typeface="Verdana"/>
                <a:cs typeface="Verdana"/>
              </a:rPr>
              <a:t>su</a:t>
            </a:r>
            <a:r>
              <a:rPr sz="1800" spc="-1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232852"/>
                </a:solidFill>
                <a:latin typeface="Verdana"/>
                <a:cs typeface="Verdana"/>
              </a:rPr>
              <a:t>mantenimiento)</a:t>
            </a:r>
            <a:r>
              <a:rPr sz="18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232852"/>
                </a:solidFill>
                <a:latin typeface="Verdana"/>
                <a:cs typeface="Verdana"/>
              </a:rPr>
              <a:t>sin</a:t>
            </a:r>
            <a:r>
              <a:rPr sz="1800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alterar</a:t>
            </a:r>
            <a:r>
              <a:rPr sz="18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75" dirty="0">
                <a:solidFill>
                  <a:srgbClr val="232852"/>
                </a:solidFill>
                <a:latin typeface="Verdana"/>
                <a:cs typeface="Verdana"/>
              </a:rPr>
              <a:t>sus</a:t>
            </a:r>
            <a:r>
              <a:rPr sz="1800" spc="-1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232852"/>
                </a:solidFill>
                <a:latin typeface="Verdana"/>
                <a:cs typeface="Verdana"/>
              </a:rPr>
              <a:t>especificaciones 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funcionales. </a:t>
            </a:r>
            <a:r>
              <a:rPr sz="1800" spc="-55" dirty="0">
                <a:solidFill>
                  <a:srgbClr val="232852"/>
                </a:solidFill>
                <a:latin typeface="Verdana"/>
                <a:cs typeface="Verdana"/>
              </a:rPr>
              <a:t>Por </a:t>
            </a:r>
            <a:r>
              <a:rPr sz="1800" spc="-30" dirty="0">
                <a:solidFill>
                  <a:srgbClr val="232852"/>
                </a:solidFill>
                <a:latin typeface="Verdana"/>
                <a:cs typeface="Verdana"/>
              </a:rPr>
              <a:t>ejemplo, </a:t>
            </a:r>
            <a:r>
              <a:rPr sz="1800" spc="-75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800" spc="50" dirty="0">
                <a:solidFill>
                  <a:srgbClr val="232852"/>
                </a:solidFill>
                <a:latin typeface="Verdana"/>
                <a:cs typeface="Verdana"/>
              </a:rPr>
              <a:t>pueden </a:t>
            </a:r>
            <a:r>
              <a:rPr sz="1800" spc="-70" dirty="0">
                <a:solidFill>
                  <a:srgbClr val="232852"/>
                </a:solidFill>
                <a:latin typeface="Verdana"/>
                <a:cs typeface="Verdana"/>
              </a:rPr>
              <a:t>incluir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sentencias 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8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232852"/>
                </a:solidFill>
                <a:latin typeface="Verdana"/>
                <a:cs typeface="Verdana"/>
              </a:rPr>
              <a:t>comprueben</a:t>
            </a:r>
            <a:r>
              <a:rPr sz="18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8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validez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8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8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232852"/>
                </a:solidFill>
                <a:latin typeface="Verdana"/>
                <a:cs typeface="Verdana"/>
              </a:rPr>
              <a:t>datos</a:t>
            </a:r>
            <a:r>
              <a:rPr sz="18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8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32852"/>
                </a:solidFill>
                <a:latin typeface="Verdana"/>
                <a:cs typeface="Verdana"/>
              </a:rPr>
              <a:t>entrada,</a:t>
            </a:r>
            <a:r>
              <a:rPr sz="18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232852"/>
                </a:solidFill>
                <a:latin typeface="Verdana"/>
                <a:cs typeface="Verdana"/>
              </a:rPr>
              <a:t>re </a:t>
            </a:r>
            <a:r>
              <a:rPr sz="1800" spc="-6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232852"/>
                </a:solidFill>
                <a:latin typeface="Verdana"/>
                <a:cs typeface="Verdana"/>
              </a:rPr>
              <a:t>estructurar </a:t>
            </a:r>
            <a:r>
              <a:rPr sz="1800" spc="-9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programas </a:t>
            </a:r>
            <a:r>
              <a:rPr sz="1800" spc="35" dirty="0">
                <a:solidFill>
                  <a:srgbClr val="232852"/>
                </a:solidFill>
                <a:latin typeface="Verdana"/>
                <a:cs typeface="Verdana"/>
              </a:rPr>
              <a:t>para </a:t>
            </a:r>
            <a:r>
              <a:rPr sz="1800" spc="-65" dirty="0">
                <a:solidFill>
                  <a:srgbClr val="232852"/>
                </a:solidFill>
                <a:latin typeface="Verdana"/>
                <a:cs typeface="Verdana"/>
              </a:rPr>
              <a:t>mejorar </a:t>
            </a:r>
            <a:r>
              <a:rPr sz="1800" spc="-155" dirty="0">
                <a:solidFill>
                  <a:srgbClr val="232852"/>
                </a:solidFill>
                <a:latin typeface="Verdana"/>
                <a:cs typeface="Verdana"/>
              </a:rPr>
              <a:t>su 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legibilidad, </a:t>
            </a:r>
            <a:r>
              <a:rPr sz="1800" spc="85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800" spc="-6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232852"/>
                </a:solidFill>
                <a:latin typeface="Verdana"/>
                <a:cs typeface="Verdana"/>
              </a:rPr>
              <a:t>incluir</a:t>
            </a:r>
            <a:r>
              <a:rPr sz="18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232852"/>
                </a:solidFill>
                <a:latin typeface="Verdana"/>
                <a:cs typeface="Verdana"/>
              </a:rPr>
              <a:t>nuevos</a:t>
            </a:r>
            <a:r>
              <a:rPr sz="18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comentarios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faciliten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8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232852"/>
                </a:solidFill>
                <a:latin typeface="Verdana"/>
                <a:cs typeface="Verdana"/>
              </a:rPr>
              <a:t>posterior </a:t>
            </a:r>
            <a:r>
              <a:rPr sz="18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comprensión</a:t>
            </a:r>
            <a:r>
              <a:rPr sz="18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8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programa.</a:t>
            </a:r>
            <a:r>
              <a:rPr sz="18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232852"/>
                </a:solidFill>
                <a:latin typeface="Verdana"/>
                <a:cs typeface="Verdana"/>
              </a:rPr>
              <a:t>Este</a:t>
            </a:r>
            <a:r>
              <a:rPr sz="18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tipo</a:t>
            </a:r>
            <a:r>
              <a:rPr sz="18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8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1800" spc="-6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232852"/>
                </a:solidFill>
                <a:latin typeface="Verdana"/>
                <a:cs typeface="Verdana"/>
              </a:rPr>
              <a:t>es</a:t>
            </a:r>
            <a:r>
              <a:rPr sz="18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800" spc="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232852"/>
                </a:solidFill>
                <a:latin typeface="Verdana"/>
                <a:cs typeface="Verdana"/>
              </a:rPr>
              <a:t>más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232852"/>
                </a:solidFill>
                <a:latin typeface="Verdana"/>
                <a:cs typeface="Verdana"/>
              </a:rPr>
              <a:t>partido</a:t>
            </a:r>
            <a:r>
              <a:rPr sz="18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232852"/>
                </a:solidFill>
                <a:latin typeface="Verdana"/>
                <a:cs typeface="Verdana"/>
              </a:rPr>
              <a:t>saca</a:t>
            </a:r>
            <a:r>
              <a:rPr sz="1800" spc="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800" spc="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232852"/>
                </a:solidFill>
                <a:latin typeface="Verdana"/>
                <a:cs typeface="Verdana"/>
              </a:rPr>
              <a:t>las</a:t>
            </a:r>
            <a:r>
              <a:rPr sz="18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técnicas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800" spc="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232852"/>
                </a:solidFill>
                <a:latin typeface="Verdana"/>
                <a:cs typeface="Verdana"/>
              </a:rPr>
              <a:t>g</a:t>
            </a:r>
            <a:r>
              <a:rPr sz="1800" spc="9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8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-229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800" spc="-130" dirty="0">
                <a:solidFill>
                  <a:srgbClr val="232852"/>
                </a:solidFill>
                <a:latin typeface="Verdana"/>
                <a:cs typeface="Verdana"/>
              </a:rPr>
              <a:t>í</a:t>
            </a:r>
            <a:r>
              <a:rPr sz="1800" spc="14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800" spc="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nv</a:t>
            </a:r>
            <a:r>
              <a:rPr sz="18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-229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800" spc="-24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800" spc="14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800" spc="2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-10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8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-229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800" spc="8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800" spc="85" dirty="0">
                <a:solidFill>
                  <a:srgbClr val="232852"/>
                </a:solidFill>
                <a:latin typeface="Verdana"/>
                <a:cs typeface="Verdana"/>
              </a:rPr>
              <a:t>g</a:t>
            </a:r>
            <a:r>
              <a:rPr sz="1800" spc="9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-6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8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-229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800" spc="-130" dirty="0">
                <a:solidFill>
                  <a:srgbClr val="232852"/>
                </a:solidFill>
                <a:latin typeface="Verdana"/>
                <a:cs typeface="Verdana"/>
              </a:rPr>
              <a:t>í</a:t>
            </a:r>
            <a:r>
              <a:rPr sz="1800" spc="14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800" spc="-160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492377"/>
            <a:ext cx="65163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Mantenimiento</a:t>
            </a:r>
            <a:r>
              <a:rPr sz="4000" spc="-325" dirty="0"/>
              <a:t> </a:t>
            </a:r>
            <a:r>
              <a:rPr sz="4000" spc="-90" dirty="0"/>
              <a:t>Preventivo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90957" y="2352546"/>
            <a:ext cx="655193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</a:pPr>
            <a:r>
              <a:rPr sz="13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50" spc="-13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algunos </a:t>
            </a:r>
            <a:r>
              <a:rPr sz="1800" spc="-10" dirty="0">
                <a:solidFill>
                  <a:srgbClr val="232852"/>
                </a:solidFill>
                <a:latin typeface="Verdana"/>
                <a:cs typeface="Verdana"/>
              </a:rPr>
              <a:t>casos </a:t>
            </a:r>
            <a:r>
              <a:rPr sz="1800" spc="-7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800" spc="45" dirty="0">
                <a:solidFill>
                  <a:srgbClr val="232852"/>
                </a:solidFill>
                <a:latin typeface="Verdana"/>
                <a:cs typeface="Verdana"/>
              </a:rPr>
              <a:t>ha planteado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800" spc="-10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18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232852"/>
                </a:solidFill>
                <a:latin typeface="Verdana"/>
                <a:cs typeface="Verdana"/>
              </a:rPr>
              <a:t>para</a:t>
            </a:r>
            <a:r>
              <a:rPr sz="18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8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232852"/>
                </a:solidFill>
                <a:latin typeface="Verdana"/>
                <a:cs typeface="Verdana"/>
              </a:rPr>
              <a:t>Reutilización,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232852"/>
                </a:solidFill>
                <a:latin typeface="Verdana"/>
                <a:cs typeface="Verdana"/>
              </a:rPr>
              <a:t>consistente</a:t>
            </a:r>
            <a:r>
              <a:rPr sz="18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8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32852"/>
                </a:solidFill>
                <a:latin typeface="Verdana"/>
                <a:cs typeface="Verdana"/>
              </a:rPr>
              <a:t>modificar</a:t>
            </a:r>
            <a:r>
              <a:rPr sz="18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232852"/>
                </a:solidFill>
                <a:latin typeface="Verdana"/>
                <a:cs typeface="Verdana"/>
              </a:rPr>
              <a:t>software </a:t>
            </a:r>
            <a:r>
              <a:rPr sz="1800" spc="15" dirty="0">
                <a:solidFill>
                  <a:srgbClr val="232852"/>
                </a:solidFill>
                <a:latin typeface="Verdana"/>
                <a:cs typeface="Verdana"/>
              </a:rPr>
              <a:t>(buscando </a:t>
            </a:r>
            <a:r>
              <a:rPr sz="1800" spc="-105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modificando </a:t>
            </a:r>
            <a:r>
              <a:rPr sz="1800" spc="15" dirty="0">
                <a:solidFill>
                  <a:srgbClr val="232852"/>
                </a:solidFill>
                <a:latin typeface="Verdana"/>
                <a:cs typeface="Verdana"/>
              </a:rPr>
              <a:t>componentes </a:t>
            </a:r>
            <a:r>
              <a:rPr sz="1800" spc="40" dirty="0">
                <a:solidFill>
                  <a:srgbClr val="232852"/>
                </a:solidFill>
                <a:latin typeface="Verdana"/>
                <a:cs typeface="Verdana"/>
              </a:rPr>
              <a:t>para </a:t>
            </a:r>
            <a:r>
              <a:rPr sz="1800" spc="-6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232852"/>
                </a:solidFill>
                <a:latin typeface="Verdana"/>
                <a:cs typeface="Verdana"/>
              </a:rPr>
              <a:t>incluirlos 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bibliotecas) </a:t>
            </a:r>
            <a:r>
              <a:rPr sz="1800" spc="40" dirty="0">
                <a:solidFill>
                  <a:srgbClr val="232852"/>
                </a:solidFill>
                <a:latin typeface="Verdana"/>
                <a:cs typeface="Verdana"/>
              </a:rPr>
              <a:t>para </a:t>
            </a:r>
            <a:r>
              <a:rPr sz="1800" spc="45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800" dirty="0">
                <a:solidFill>
                  <a:srgbClr val="232852"/>
                </a:solidFill>
                <a:latin typeface="Verdana"/>
                <a:cs typeface="Verdana"/>
              </a:rPr>
              <a:t>sea </a:t>
            </a:r>
            <a:r>
              <a:rPr sz="1800" spc="-55" dirty="0">
                <a:solidFill>
                  <a:srgbClr val="232852"/>
                </a:solidFill>
                <a:latin typeface="Verdana"/>
                <a:cs typeface="Verdana"/>
              </a:rPr>
              <a:t>mas </a:t>
            </a:r>
            <a:r>
              <a:rPr sz="1800" dirty="0">
                <a:solidFill>
                  <a:srgbClr val="232852"/>
                </a:solidFill>
                <a:latin typeface="Verdana"/>
                <a:cs typeface="Verdana"/>
              </a:rPr>
              <a:t>fácilmente </a:t>
            </a:r>
            <a:r>
              <a:rPr sz="18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232852"/>
                </a:solidFill>
                <a:latin typeface="Verdana"/>
                <a:cs typeface="Verdana"/>
              </a:rPr>
              <a:t>reutilizable. 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800" spc="10" dirty="0">
                <a:solidFill>
                  <a:srgbClr val="232852"/>
                </a:solidFill>
                <a:latin typeface="Verdana"/>
                <a:cs typeface="Verdana"/>
              </a:rPr>
              <a:t>realidad </a:t>
            </a:r>
            <a:r>
              <a:rPr sz="1800" spc="-40" dirty="0">
                <a:solidFill>
                  <a:srgbClr val="232852"/>
                </a:solidFill>
                <a:latin typeface="Verdana"/>
                <a:cs typeface="Verdana"/>
              </a:rPr>
              <a:t>este 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tipo </a:t>
            </a:r>
            <a:r>
              <a:rPr sz="1800" spc="10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1800" spc="-80" dirty="0">
                <a:solidFill>
                  <a:srgbClr val="232852"/>
                </a:solidFill>
                <a:latin typeface="Verdana"/>
                <a:cs typeface="Verdana"/>
              </a:rPr>
              <a:t>es </a:t>
            </a:r>
            <a:r>
              <a:rPr sz="18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232852"/>
                </a:solidFill>
                <a:latin typeface="Verdana"/>
                <a:cs typeface="Verdana"/>
              </a:rPr>
              <a:t>preventivo, </a:t>
            </a:r>
            <a:r>
              <a:rPr sz="1800" spc="10" dirty="0">
                <a:solidFill>
                  <a:srgbClr val="232852"/>
                </a:solidFill>
                <a:latin typeface="Verdana"/>
                <a:cs typeface="Verdana"/>
              </a:rPr>
              <a:t>especializado </a:t>
            </a:r>
            <a:r>
              <a:rPr sz="1800" spc="3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800" spc="-65" dirty="0">
                <a:solidFill>
                  <a:srgbClr val="232852"/>
                </a:solidFill>
                <a:latin typeface="Verdana"/>
                <a:cs typeface="Verdana"/>
              </a:rPr>
              <a:t>mejorar </a:t>
            </a:r>
            <a:r>
              <a:rPr sz="18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800" spc="40" dirty="0">
                <a:solidFill>
                  <a:srgbClr val="232852"/>
                </a:solidFill>
                <a:latin typeface="Verdana"/>
                <a:cs typeface="Verdana"/>
              </a:rPr>
              <a:t>propiedad </a:t>
            </a:r>
            <a:r>
              <a:rPr sz="1800" spc="10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800" spc="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reusabilidad</a:t>
            </a:r>
            <a:r>
              <a:rPr sz="1800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8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232852"/>
                </a:solidFill>
                <a:latin typeface="Verdana"/>
                <a:cs typeface="Verdana"/>
              </a:rPr>
              <a:t>software.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7563" y="2975229"/>
            <a:ext cx="4064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20" dirty="0"/>
              <a:t>A</a:t>
            </a:r>
            <a:r>
              <a:rPr sz="4000" spc="-155" dirty="0"/>
              <a:t>CT</a:t>
            </a:r>
            <a:r>
              <a:rPr sz="4000" spc="-790" dirty="0"/>
              <a:t>I</a:t>
            </a:r>
            <a:r>
              <a:rPr sz="4000" spc="65" dirty="0"/>
              <a:t>V</a:t>
            </a:r>
            <a:r>
              <a:rPr sz="4000" spc="-790" dirty="0"/>
              <a:t>I</a:t>
            </a:r>
            <a:r>
              <a:rPr sz="4000" spc="-114" dirty="0"/>
              <a:t>D</a:t>
            </a:r>
            <a:r>
              <a:rPr sz="4000" spc="220" dirty="0"/>
              <a:t>A</a:t>
            </a:r>
            <a:r>
              <a:rPr sz="4000" spc="-114" dirty="0"/>
              <a:t>D</a:t>
            </a:r>
            <a:r>
              <a:rPr sz="4000" spc="-395" dirty="0"/>
              <a:t>E</a:t>
            </a:r>
            <a:r>
              <a:rPr sz="4000" spc="-745" dirty="0"/>
              <a:t>S</a:t>
            </a:r>
            <a:r>
              <a:rPr sz="4000" spc="130" dirty="0">
                <a:latin typeface="Times New Roman"/>
                <a:cs typeface="Times New Roman"/>
              </a:rPr>
              <a:t> </a:t>
            </a:r>
            <a:r>
              <a:rPr sz="4000" spc="-114" dirty="0"/>
              <a:t>D</a:t>
            </a:r>
            <a:r>
              <a:rPr sz="4000" spc="-390" dirty="0"/>
              <a:t>E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7563" y="3584906"/>
            <a:ext cx="410717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300" dirty="0">
                <a:solidFill>
                  <a:srgbClr val="619CD1"/>
                </a:solidFill>
                <a:latin typeface="Verdana"/>
                <a:cs typeface="Verdana"/>
              </a:rPr>
              <a:t>M</a:t>
            </a:r>
            <a:r>
              <a:rPr sz="4000" spc="220" dirty="0">
                <a:solidFill>
                  <a:srgbClr val="619CD1"/>
                </a:solidFill>
                <a:latin typeface="Verdana"/>
                <a:cs typeface="Verdana"/>
              </a:rPr>
              <a:t>A</a:t>
            </a:r>
            <a:r>
              <a:rPr sz="4000" spc="-50" dirty="0">
                <a:solidFill>
                  <a:srgbClr val="619CD1"/>
                </a:solidFill>
                <a:latin typeface="Verdana"/>
                <a:cs typeface="Verdana"/>
              </a:rPr>
              <a:t>N</a:t>
            </a:r>
            <a:r>
              <a:rPr sz="4000" spc="-765" dirty="0">
                <a:solidFill>
                  <a:srgbClr val="619CD1"/>
                </a:solidFill>
                <a:latin typeface="Verdana"/>
                <a:cs typeface="Verdana"/>
              </a:rPr>
              <a:t>T</a:t>
            </a:r>
            <a:r>
              <a:rPr sz="4000" spc="-395" dirty="0">
                <a:solidFill>
                  <a:srgbClr val="619CD1"/>
                </a:solidFill>
                <a:latin typeface="Verdana"/>
                <a:cs typeface="Verdana"/>
              </a:rPr>
              <a:t>E</a:t>
            </a:r>
            <a:r>
              <a:rPr sz="4000" spc="-35" dirty="0">
                <a:solidFill>
                  <a:srgbClr val="619CD1"/>
                </a:solidFill>
                <a:latin typeface="Verdana"/>
                <a:cs typeface="Verdana"/>
              </a:rPr>
              <a:t>N</a:t>
            </a:r>
            <a:r>
              <a:rPr sz="4000" spc="-785" dirty="0">
                <a:solidFill>
                  <a:srgbClr val="619CD1"/>
                </a:solidFill>
                <a:latin typeface="Verdana"/>
                <a:cs typeface="Verdana"/>
              </a:rPr>
              <a:t>I</a:t>
            </a:r>
            <a:r>
              <a:rPr sz="4000" spc="300" dirty="0">
                <a:solidFill>
                  <a:srgbClr val="619CD1"/>
                </a:solidFill>
                <a:latin typeface="Verdana"/>
                <a:cs typeface="Verdana"/>
              </a:rPr>
              <a:t>M</a:t>
            </a:r>
            <a:r>
              <a:rPr sz="4000" spc="-785" dirty="0">
                <a:solidFill>
                  <a:srgbClr val="619CD1"/>
                </a:solidFill>
                <a:latin typeface="Verdana"/>
                <a:cs typeface="Verdana"/>
              </a:rPr>
              <a:t>I</a:t>
            </a:r>
            <a:r>
              <a:rPr sz="4000" spc="-395" dirty="0">
                <a:solidFill>
                  <a:srgbClr val="619CD1"/>
                </a:solidFill>
                <a:latin typeface="Verdana"/>
                <a:cs typeface="Verdana"/>
              </a:rPr>
              <a:t>E</a:t>
            </a:r>
            <a:r>
              <a:rPr sz="4000" spc="-45" dirty="0">
                <a:solidFill>
                  <a:srgbClr val="619CD1"/>
                </a:solidFill>
                <a:latin typeface="Verdana"/>
                <a:cs typeface="Verdana"/>
              </a:rPr>
              <a:t>N</a:t>
            </a:r>
            <a:r>
              <a:rPr sz="4000" spc="-765" dirty="0">
                <a:solidFill>
                  <a:srgbClr val="619CD1"/>
                </a:solidFill>
                <a:latin typeface="Verdana"/>
                <a:cs typeface="Verdana"/>
              </a:rPr>
              <a:t>T</a:t>
            </a:r>
            <a:r>
              <a:rPr sz="4000" spc="325" dirty="0">
                <a:solidFill>
                  <a:srgbClr val="619CD1"/>
                </a:solidFill>
                <a:latin typeface="Verdana"/>
                <a:cs typeface="Verdana"/>
              </a:rPr>
              <a:t>O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492377"/>
            <a:ext cx="3161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Introducción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1190957" y="2300733"/>
            <a:ext cx="6553200" cy="308419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87020" marR="8890" indent="-274955" algn="just">
              <a:lnSpc>
                <a:spcPct val="80000"/>
              </a:lnSpc>
              <a:spcBef>
                <a:spcPts val="509"/>
              </a:spcBef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700" spc="-155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desconocimiento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-75" dirty="0">
                <a:solidFill>
                  <a:srgbClr val="232852"/>
                </a:solidFill>
                <a:latin typeface="Verdana"/>
                <a:cs typeface="Verdana"/>
              </a:rPr>
              <a:t>las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actividades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implica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7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software </a:t>
            </a:r>
            <a:r>
              <a:rPr sz="1700" spc="65" dirty="0">
                <a:solidFill>
                  <a:srgbClr val="232852"/>
                </a:solidFill>
                <a:latin typeface="Verdana"/>
                <a:cs typeface="Verdana"/>
              </a:rPr>
              <a:t>puede 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inducir </a:t>
            </a:r>
            <a:r>
              <a:rPr sz="1700" spc="14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minusvalorar 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su </a:t>
            </a:r>
            <a:r>
              <a:rPr sz="1700" spc="-15" dirty="0">
                <a:solidFill>
                  <a:srgbClr val="232852"/>
                </a:solidFill>
                <a:latin typeface="Verdana"/>
                <a:cs typeface="Verdana"/>
              </a:rPr>
              <a:t>importancia, </a:t>
            </a:r>
            <a:r>
              <a:rPr sz="1700" spc="-95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tiende </a:t>
            </a:r>
            <a:r>
              <a:rPr sz="1700" spc="14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asociar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el mantenimiento 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700" spc="-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con</a:t>
            </a:r>
            <a:r>
              <a:rPr sz="17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700" spc="-1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30" dirty="0">
                <a:solidFill>
                  <a:srgbClr val="232852"/>
                </a:solidFill>
                <a:latin typeface="Verdana"/>
                <a:cs typeface="Verdana"/>
              </a:rPr>
              <a:t>corrección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700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errores</a:t>
            </a:r>
            <a:r>
              <a:rPr sz="1700" spc="-1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7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700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programas.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000">
              <a:latin typeface="Verdana"/>
              <a:cs typeface="Verdana"/>
            </a:endParaRPr>
          </a:p>
          <a:p>
            <a:pPr marL="287020" marR="5080" indent="-274955" algn="just">
              <a:lnSpc>
                <a:spcPct val="80000"/>
              </a:lnSpc>
              <a:spcBef>
                <a:spcPts val="5"/>
              </a:spcBef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Por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esta 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causa,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impresión 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mas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generalizada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entre </a:t>
            </a:r>
            <a:r>
              <a:rPr sz="1700" spc="-9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7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gestores, </a:t>
            </a:r>
            <a:r>
              <a:rPr sz="1700" spc="-90" dirty="0">
                <a:solidFill>
                  <a:srgbClr val="232852"/>
                </a:solidFill>
                <a:latin typeface="Verdana"/>
                <a:cs typeface="Verdana"/>
              </a:rPr>
              <a:t>usuarios, 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incluso 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entre 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propios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informáticos,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es</a:t>
            </a:r>
            <a:r>
              <a:rPr sz="17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7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7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mayor</a:t>
            </a:r>
            <a:r>
              <a:rPr sz="17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parte</a:t>
            </a:r>
            <a:r>
              <a:rPr sz="17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7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7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7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7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realiza</a:t>
            </a:r>
            <a:r>
              <a:rPr sz="17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700" spc="-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7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mundo</a:t>
            </a:r>
            <a:r>
              <a:rPr sz="17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es</a:t>
            </a:r>
            <a:r>
              <a:rPr sz="17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7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232852"/>
                </a:solidFill>
                <a:latin typeface="Verdana"/>
                <a:cs typeface="Verdana"/>
              </a:rPr>
              <a:t>tipo</a:t>
            </a:r>
            <a:r>
              <a:rPr sz="17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correctivo.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60" dirty="0">
                <a:solidFill>
                  <a:srgbClr val="232852"/>
                </a:solidFill>
                <a:latin typeface="Verdana"/>
                <a:cs typeface="Verdana"/>
              </a:rPr>
              <a:t>Sin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embargo,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varios</a:t>
            </a:r>
            <a:r>
              <a:rPr sz="17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autores </a:t>
            </a:r>
            <a:r>
              <a:rPr sz="1700" spc="-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5" dirty="0">
                <a:solidFill>
                  <a:srgbClr val="232852"/>
                </a:solidFill>
                <a:latin typeface="Verdana"/>
                <a:cs typeface="Verdana"/>
              </a:rPr>
              <a:t>([McKee, 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1984], </a:t>
            </a:r>
            <a:r>
              <a:rPr sz="1700" spc="-105" dirty="0">
                <a:solidFill>
                  <a:srgbClr val="232852"/>
                </a:solidFill>
                <a:latin typeface="Verdana"/>
                <a:cs typeface="Verdana"/>
              </a:rPr>
              <a:t>[Frazer, 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1992], </a:t>
            </a:r>
            <a:r>
              <a:rPr sz="1700" spc="-120" dirty="0">
                <a:solidFill>
                  <a:srgbClr val="232852"/>
                </a:solidFill>
                <a:latin typeface="Verdana"/>
                <a:cs typeface="Verdana"/>
              </a:rPr>
              <a:t>[Basili 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et </a:t>
            </a:r>
            <a:r>
              <a:rPr sz="1700" spc="-75" dirty="0">
                <a:solidFill>
                  <a:srgbClr val="232852"/>
                </a:solidFill>
                <a:latin typeface="Verdana"/>
                <a:cs typeface="Verdana"/>
              </a:rPr>
              <a:t>al., 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1996])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indican 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esta 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impresión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es </a:t>
            </a:r>
            <a:r>
              <a:rPr sz="1700" spc="40" dirty="0">
                <a:solidFill>
                  <a:srgbClr val="232852"/>
                </a:solidFill>
                <a:latin typeface="Verdana"/>
                <a:cs typeface="Verdana"/>
              </a:rPr>
              <a:t>equivocada,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mostrando 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cómo </a:t>
            </a:r>
            <a:r>
              <a:rPr sz="1700" spc="-90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mayores</a:t>
            </a:r>
            <a:r>
              <a:rPr sz="1700" spc="5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32852"/>
                </a:solidFill>
                <a:latin typeface="Verdana"/>
                <a:cs typeface="Verdana"/>
              </a:rPr>
              <a:t>porcentajes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esfuerzo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65" dirty="0">
                <a:solidFill>
                  <a:srgbClr val="232852"/>
                </a:solidFill>
                <a:latin typeface="Verdana"/>
                <a:cs typeface="Verdana"/>
              </a:rPr>
              <a:t>dedican</a:t>
            </a:r>
            <a:r>
              <a:rPr sz="1700" spc="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4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700" spc="1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perfectivo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(véase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Figura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45" dirty="0">
                <a:solidFill>
                  <a:srgbClr val="232852"/>
                </a:solidFill>
                <a:latin typeface="Verdana"/>
                <a:cs typeface="Verdana"/>
              </a:rPr>
              <a:t>3,</a:t>
            </a:r>
            <a:r>
              <a:rPr sz="1700" spc="-1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tomada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5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170" dirty="0">
                <a:solidFill>
                  <a:srgbClr val="232852"/>
                </a:solidFill>
                <a:latin typeface="Verdana"/>
                <a:cs typeface="Verdana"/>
              </a:rPr>
              <a:t>z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175" dirty="0">
                <a:solidFill>
                  <a:srgbClr val="232852"/>
                </a:solidFill>
                <a:latin typeface="Verdana"/>
                <a:cs typeface="Verdana"/>
              </a:rPr>
              <a:t>[</a:t>
            </a:r>
            <a:r>
              <a:rPr sz="1700" spc="-140" dirty="0">
                <a:solidFill>
                  <a:srgbClr val="232852"/>
                </a:solidFill>
                <a:latin typeface="Verdana"/>
                <a:cs typeface="Verdana"/>
              </a:rPr>
              <a:t>199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2</a:t>
            </a:r>
            <a:r>
              <a:rPr sz="1700" spc="-175" dirty="0">
                <a:solidFill>
                  <a:srgbClr val="232852"/>
                </a:solidFill>
                <a:latin typeface="Verdana"/>
                <a:cs typeface="Verdana"/>
              </a:rPr>
              <a:t>]</a:t>
            </a:r>
            <a:r>
              <a:rPr sz="1700" spc="-165" dirty="0">
                <a:solidFill>
                  <a:srgbClr val="232852"/>
                </a:solidFill>
                <a:latin typeface="Verdana"/>
                <a:cs typeface="Verdana"/>
              </a:rPr>
              <a:t>)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2079" y="2420111"/>
            <a:ext cx="626211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615820"/>
            <a:ext cx="40951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610" dirty="0"/>
              <a:t>T</a:t>
            </a:r>
            <a:r>
              <a:rPr sz="3200" spc="-245" dirty="0"/>
              <a:t>i</a:t>
            </a:r>
            <a:r>
              <a:rPr sz="3200" spc="185" dirty="0"/>
              <a:t>p</a:t>
            </a:r>
            <a:r>
              <a:rPr sz="3200" spc="155" dirty="0"/>
              <a:t>o</a:t>
            </a:r>
            <a:r>
              <a:rPr sz="3200" spc="-425" dirty="0"/>
              <a:t>s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spc="195" dirty="0"/>
              <a:t>d</a:t>
            </a:r>
            <a:r>
              <a:rPr sz="3200" spc="175" dirty="0"/>
              <a:t>e</a:t>
            </a:r>
            <a:r>
              <a:rPr sz="3200" spc="60" dirty="0">
                <a:latin typeface="Times New Roman"/>
                <a:cs typeface="Times New Roman"/>
              </a:rPr>
              <a:t> </a:t>
            </a:r>
            <a:r>
              <a:rPr sz="3200" spc="180" dirty="0"/>
              <a:t>A</a:t>
            </a:r>
            <a:r>
              <a:rPr sz="3200" spc="405" dirty="0"/>
              <a:t>c</a:t>
            </a:r>
            <a:r>
              <a:rPr sz="3200" spc="-180" dirty="0"/>
              <a:t>t</a:t>
            </a:r>
            <a:r>
              <a:rPr sz="3200" spc="-245" dirty="0"/>
              <a:t>i</a:t>
            </a:r>
            <a:r>
              <a:rPr sz="3200" spc="-125" dirty="0"/>
              <a:t>v</a:t>
            </a:r>
            <a:r>
              <a:rPr sz="3200" spc="-245" dirty="0"/>
              <a:t>i</a:t>
            </a:r>
            <a:r>
              <a:rPr sz="3200" spc="195" dirty="0"/>
              <a:t>d</a:t>
            </a:r>
            <a:r>
              <a:rPr sz="3200" spc="250" dirty="0"/>
              <a:t>a</a:t>
            </a:r>
            <a:r>
              <a:rPr sz="3200" spc="195" dirty="0"/>
              <a:t>d</a:t>
            </a:r>
            <a:r>
              <a:rPr sz="3200" spc="175" dirty="0"/>
              <a:t>e</a:t>
            </a:r>
            <a:r>
              <a:rPr sz="3200" spc="-425" dirty="0"/>
              <a:t>s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0957" y="2300733"/>
            <a:ext cx="6552565" cy="348869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87020" marR="5080" indent="-274955" algn="just">
              <a:lnSpc>
                <a:spcPct val="80000"/>
              </a:lnSpc>
              <a:spcBef>
                <a:spcPts val="509"/>
              </a:spcBef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700" spc="-114" dirty="0">
                <a:solidFill>
                  <a:srgbClr val="232852"/>
                </a:solidFill>
                <a:latin typeface="Verdana"/>
                <a:cs typeface="Verdana"/>
              </a:rPr>
              <a:t>Basili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et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al.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55" dirty="0">
                <a:solidFill>
                  <a:srgbClr val="232852"/>
                </a:solidFill>
                <a:latin typeface="Verdana"/>
                <a:cs typeface="Verdana"/>
              </a:rPr>
              <a:t>[1996]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32852"/>
                </a:solidFill>
                <a:latin typeface="Verdana"/>
                <a:cs typeface="Verdana"/>
              </a:rPr>
              <a:t>identifican</a:t>
            </a:r>
            <a:r>
              <a:rPr sz="1700" spc="5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las</a:t>
            </a:r>
            <a:r>
              <a:rPr sz="1700" spc="459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siguientes</a:t>
            </a:r>
            <a:r>
              <a:rPr sz="1700" spc="4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once 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actividades, </a:t>
            </a:r>
            <a:r>
              <a:rPr sz="1700" spc="55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realizan 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con </a:t>
            </a:r>
            <a:r>
              <a:rPr sz="1700" spc="145" dirty="0">
                <a:solidFill>
                  <a:srgbClr val="232852"/>
                </a:solidFill>
                <a:latin typeface="Verdana"/>
                <a:cs typeface="Verdana"/>
              </a:rPr>
              <a:t>cada 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modificación 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software:</a:t>
            </a:r>
            <a:endParaRPr sz="1700">
              <a:latin typeface="Verdana"/>
              <a:cs typeface="Verdana"/>
            </a:endParaRPr>
          </a:p>
          <a:p>
            <a:pPr marL="584200" marR="5080" indent="-274320" algn="just">
              <a:lnSpc>
                <a:spcPct val="80000"/>
              </a:lnSpc>
              <a:spcBef>
                <a:spcPts val="355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150" dirty="0">
                <a:solidFill>
                  <a:srgbClr val="232852"/>
                </a:solidFill>
                <a:latin typeface="Verdana"/>
                <a:cs typeface="Verdana"/>
              </a:rPr>
              <a:t>Análisis</a:t>
            </a:r>
            <a:r>
              <a:rPr sz="1500" b="1" spc="-1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4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b="1" spc="-95" dirty="0">
                <a:solidFill>
                  <a:srgbClr val="232852"/>
                </a:solidFill>
                <a:latin typeface="Verdana"/>
                <a:cs typeface="Verdana"/>
              </a:rPr>
              <a:t>impacto</a:t>
            </a:r>
            <a:r>
              <a:rPr sz="1500" b="1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11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500" b="1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4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500" b="1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135" dirty="0">
                <a:solidFill>
                  <a:srgbClr val="232852"/>
                </a:solidFill>
                <a:latin typeface="Verdana"/>
                <a:cs typeface="Verdana"/>
              </a:rPr>
              <a:t>costes/beneficios</a:t>
            </a:r>
            <a:r>
              <a:rPr sz="1500" spc="-135" dirty="0">
                <a:solidFill>
                  <a:srgbClr val="232852"/>
                </a:solidFill>
                <a:latin typeface="Verdana"/>
                <a:cs typeface="Verdana"/>
              </a:rPr>
              <a:t>:</a:t>
            </a:r>
            <a:r>
              <a:rPr sz="1500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500" spc="75" dirty="0">
                <a:solidFill>
                  <a:srgbClr val="232852"/>
                </a:solidFill>
                <a:latin typeface="Verdana"/>
                <a:cs typeface="Verdana"/>
              </a:rPr>
              <a:t>dedica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esta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5" dirty="0">
                <a:solidFill>
                  <a:srgbClr val="232852"/>
                </a:solidFill>
                <a:latin typeface="Verdana"/>
                <a:cs typeface="Verdana"/>
              </a:rPr>
              <a:t>actividad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analizar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diferentes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alternativas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implementación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y/o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comprobar 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su</a:t>
            </a:r>
            <a:r>
              <a:rPr sz="15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30" dirty="0">
                <a:solidFill>
                  <a:srgbClr val="232852"/>
                </a:solidFill>
                <a:latin typeface="Verdana"/>
                <a:cs typeface="Verdana"/>
              </a:rPr>
              <a:t>impacto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planificación,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coste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500" spc="11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5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500" spc="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li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500" spc="114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9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500" spc="2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9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pe</a:t>
            </a:r>
            <a:r>
              <a:rPr sz="1500" spc="-19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500" spc="114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5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500" spc="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ó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500" spc="-13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500">
              <a:latin typeface="Verdana"/>
              <a:cs typeface="Verdana"/>
            </a:endParaRPr>
          </a:p>
          <a:p>
            <a:pPr marL="584200" marR="5080" indent="-274320" algn="just">
              <a:lnSpc>
                <a:spcPct val="80100"/>
              </a:lnSpc>
              <a:spcBef>
                <a:spcPts val="360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125" dirty="0">
                <a:solidFill>
                  <a:srgbClr val="232852"/>
                </a:solidFill>
                <a:latin typeface="Verdana"/>
                <a:cs typeface="Verdana"/>
              </a:rPr>
              <a:t>Comprensión </a:t>
            </a:r>
            <a:r>
              <a:rPr sz="1500" b="1" spc="-8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500" b="1" spc="-100" dirty="0">
                <a:solidFill>
                  <a:srgbClr val="232852"/>
                </a:solidFill>
                <a:latin typeface="Verdana"/>
                <a:cs typeface="Verdana"/>
              </a:rPr>
              <a:t>cambio</a:t>
            </a:r>
            <a:r>
              <a:rPr sz="1500" spc="-100" dirty="0">
                <a:solidFill>
                  <a:srgbClr val="232852"/>
                </a:solidFill>
                <a:latin typeface="Verdana"/>
                <a:cs typeface="Verdana"/>
              </a:rPr>
              <a:t>: </a:t>
            </a:r>
            <a:r>
              <a:rPr sz="1500" spc="60" dirty="0">
                <a:solidFill>
                  <a:srgbClr val="232852"/>
                </a:solidFill>
                <a:latin typeface="Verdana"/>
                <a:cs typeface="Verdana"/>
              </a:rPr>
              <a:t>puede 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consistir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localizar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error y 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determinar 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su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causa, 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comprender 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requisitos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una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5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-210" dirty="0">
                <a:solidFill>
                  <a:srgbClr val="232852"/>
                </a:solidFill>
                <a:latin typeface="Verdana"/>
                <a:cs typeface="Verdana"/>
              </a:rPr>
              <a:t>j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19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500" spc="1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-2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li</a:t>
            </a:r>
            <a:r>
              <a:rPr sz="1500" spc="5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500" spc="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500" spc="114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500" spc="1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-130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500">
              <a:latin typeface="Verdana"/>
              <a:cs typeface="Verdana"/>
            </a:endParaRPr>
          </a:p>
          <a:p>
            <a:pPr marL="584200" marR="7620" indent="-274320" algn="just">
              <a:lnSpc>
                <a:spcPct val="80000"/>
              </a:lnSpc>
              <a:spcBef>
                <a:spcPts val="360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145" dirty="0">
                <a:solidFill>
                  <a:srgbClr val="232852"/>
                </a:solidFill>
                <a:latin typeface="Verdana"/>
                <a:cs typeface="Verdana"/>
              </a:rPr>
              <a:t>Diseño</a:t>
            </a:r>
            <a:r>
              <a:rPr sz="1500" b="1" spc="-1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8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500" b="1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100" dirty="0">
                <a:solidFill>
                  <a:srgbClr val="232852"/>
                </a:solidFill>
                <a:latin typeface="Verdana"/>
                <a:cs typeface="Verdana"/>
              </a:rPr>
              <a:t>cambio</a:t>
            </a:r>
            <a:r>
              <a:rPr sz="1500" spc="-100" dirty="0">
                <a:solidFill>
                  <a:srgbClr val="232852"/>
                </a:solidFill>
                <a:latin typeface="Verdana"/>
                <a:cs typeface="Verdana"/>
              </a:rPr>
              <a:t>:</a:t>
            </a:r>
            <a:r>
              <a:rPr sz="15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refiere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al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diseño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 propuesto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30" dirty="0">
                <a:solidFill>
                  <a:srgbClr val="232852"/>
                </a:solidFill>
                <a:latin typeface="Verdana"/>
                <a:cs typeface="Verdana"/>
              </a:rPr>
              <a:t>para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cambio,</a:t>
            </a:r>
            <a:r>
              <a:rPr sz="15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pudiéndose</a:t>
            </a:r>
            <a:r>
              <a:rPr sz="1500" spc="2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incluir</a:t>
            </a:r>
            <a:r>
              <a:rPr sz="1500" spc="-1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rediseño</a:t>
            </a:r>
            <a:r>
              <a:rPr sz="15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5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sistema.</a:t>
            </a:r>
            <a:endParaRPr sz="1500">
              <a:latin typeface="Verdana"/>
              <a:cs typeface="Verdana"/>
            </a:endParaRPr>
          </a:p>
          <a:p>
            <a:pPr marL="584200" marR="8255" indent="-274320" algn="just">
              <a:lnSpc>
                <a:spcPts val="1440"/>
              </a:lnSpc>
              <a:spcBef>
                <a:spcPts val="350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75" dirty="0">
                <a:solidFill>
                  <a:srgbClr val="232852"/>
                </a:solidFill>
                <a:latin typeface="Verdana"/>
                <a:cs typeface="Verdana"/>
              </a:rPr>
              <a:t>Codificación</a:t>
            </a:r>
            <a:r>
              <a:rPr sz="1500" b="1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11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500" b="1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120" dirty="0">
                <a:solidFill>
                  <a:srgbClr val="232852"/>
                </a:solidFill>
                <a:latin typeface="Verdana"/>
                <a:cs typeface="Verdana"/>
              </a:rPr>
              <a:t>pruebas</a:t>
            </a:r>
            <a:r>
              <a:rPr sz="1500" b="1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170" dirty="0">
                <a:solidFill>
                  <a:srgbClr val="232852"/>
                </a:solidFill>
                <a:latin typeface="Verdana"/>
                <a:cs typeface="Verdana"/>
              </a:rPr>
              <a:t>unitarias</a:t>
            </a:r>
            <a:r>
              <a:rPr sz="1500" spc="-170" dirty="0">
                <a:solidFill>
                  <a:srgbClr val="232852"/>
                </a:solidFill>
                <a:latin typeface="Verdana"/>
                <a:cs typeface="Verdana"/>
              </a:rPr>
              <a:t>:</a:t>
            </a:r>
            <a:r>
              <a:rPr sz="1500" spc="1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5" dirty="0">
                <a:solidFill>
                  <a:srgbClr val="232852"/>
                </a:solidFill>
                <a:latin typeface="Verdana"/>
                <a:cs typeface="Verdana"/>
              </a:rPr>
              <a:t>codifica</a:t>
            </a:r>
            <a:r>
              <a:rPr sz="1500" spc="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prueba</a:t>
            </a:r>
            <a:r>
              <a:rPr sz="15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funcionamiento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25" dirty="0">
                <a:solidFill>
                  <a:srgbClr val="232852"/>
                </a:solidFill>
                <a:latin typeface="Verdana"/>
                <a:cs typeface="Verdana"/>
              </a:rPr>
              <a:t>cada</a:t>
            </a:r>
            <a:r>
              <a:rPr sz="15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35" dirty="0">
                <a:solidFill>
                  <a:srgbClr val="232852"/>
                </a:solidFill>
                <a:latin typeface="Verdana"/>
                <a:cs typeface="Verdana"/>
              </a:rPr>
              <a:t>componente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modificado.</a:t>
            </a:r>
            <a:endParaRPr sz="1500">
              <a:latin typeface="Verdana"/>
              <a:cs typeface="Verdana"/>
            </a:endParaRPr>
          </a:p>
          <a:p>
            <a:pPr marL="584200" marR="5080" indent="-274320" algn="just">
              <a:lnSpc>
                <a:spcPct val="80000"/>
              </a:lnSpc>
              <a:spcBef>
                <a:spcPts val="370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120" dirty="0">
                <a:solidFill>
                  <a:srgbClr val="232852"/>
                </a:solidFill>
                <a:latin typeface="Verdana"/>
                <a:cs typeface="Verdana"/>
              </a:rPr>
              <a:t>Inspección, </a:t>
            </a:r>
            <a:r>
              <a:rPr sz="1500" b="1" spc="-100" dirty="0">
                <a:solidFill>
                  <a:srgbClr val="232852"/>
                </a:solidFill>
                <a:latin typeface="Verdana"/>
                <a:cs typeface="Verdana"/>
              </a:rPr>
              <a:t>certificación </a:t>
            </a:r>
            <a:r>
              <a:rPr sz="1500" b="1" spc="-110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500" b="1" spc="-145" dirty="0">
                <a:solidFill>
                  <a:srgbClr val="232852"/>
                </a:solidFill>
                <a:latin typeface="Verdana"/>
                <a:cs typeface="Verdana"/>
              </a:rPr>
              <a:t>consultoría</a:t>
            </a:r>
            <a:r>
              <a:rPr sz="1500" spc="-145" dirty="0">
                <a:solidFill>
                  <a:srgbClr val="232852"/>
                </a:solidFill>
                <a:latin typeface="Verdana"/>
                <a:cs typeface="Verdana"/>
              </a:rPr>
              <a:t>: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esta </a:t>
            </a:r>
            <a:r>
              <a:rPr sz="1500" spc="25" dirty="0">
                <a:solidFill>
                  <a:srgbClr val="232852"/>
                </a:solidFill>
                <a:latin typeface="Verdana"/>
                <a:cs typeface="Verdana"/>
              </a:rPr>
              <a:t>actividad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dedica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inspeccionar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cambio, comprobar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otros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diseños, 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reuniones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5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inspección,</a:t>
            </a:r>
            <a:r>
              <a:rPr sz="1500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etc.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8186" y="2306828"/>
            <a:ext cx="6256020" cy="32264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86385" marR="5080" indent="-274320" algn="just">
              <a:lnSpc>
                <a:spcPct val="80000"/>
              </a:lnSpc>
              <a:spcBef>
                <a:spcPts val="459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3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155" dirty="0">
                <a:solidFill>
                  <a:srgbClr val="232852"/>
                </a:solidFill>
                <a:latin typeface="Verdana"/>
                <a:cs typeface="Verdana"/>
              </a:rPr>
              <a:t>Pruebas </a:t>
            </a:r>
            <a:r>
              <a:rPr sz="1500" b="1" spc="-4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b="1" spc="-130" dirty="0">
                <a:solidFill>
                  <a:srgbClr val="232852"/>
                </a:solidFill>
                <a:latin typeface="Verdana"/>
                <a:cs typeface="Verdana"/>
              </a:rPr>
              <a:t>integración</a:t>
            </a:r>
            <a:r>
              <a:rPr sz="1500" spc="-130" dirty="0">
                <a:solidFill>
                  <a:srgbClr val="232852"/>
                </a:solidFill>
                <a:latin typeface="Verdana"/>
                <a:cs typeface="Verdana"/>
              </a:rPr>
              <a:t>: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refiere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comprobar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integración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9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2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130" dirty="0">
                <a:solidFill>
                  <a:srgbClr val="232852"/>
                </a:solidFill>
                <a:latin typeface="Verdana"/>
                <a:cs typeface="Verdana"/>
              </a:rPr>
              <a:t>co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-2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spc="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mo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500" spc="14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500" spc="16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2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130" dirty="0">
                <a:solidFill>
                  <a:srgbClr val="232852"/>
                </a:solidFill>
                <a:latin typeface="Verdana"/>
                <a:cs typeface="Verdana"/>
              </a:rPr>
              <a:t>co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5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-114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5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-19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-19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-114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500" spc="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-2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500" spc="-2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-13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500">
              <a:latin typeface="Verdana"/>
              <a:cs typeface="Verdana"/>
            </a:endParaRPr>
          </a:p>
          <a:p>
            <a:pPr marL="286385" marR="5080" indent="-274320" algn="just">
              <a:lnSpc>
                <a:spcPct val="80000"/>
              </a:lnSpc>
              <a:spcBef>
                <a:spcPts val="360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155" dirty="0">
                <a:solidFill>
                  <a:srgbClr val="232852"/>
                </a:solidFill>
                <a:latin typeface="Verdana"/>
                <a:cs typeface="Verdana"/>
              </a:rPr>
              <a:t>Pruebas</a:t>
            </a:r>
            <a:r>
              <a:rPr sz="1500" b="1" spc="-1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5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500" b="1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85" dirty="0">
                <a:solidFill>
                  <a:srgbClr val="232852"/>
                </a:solidFill>
                <a:latin typeface="Verdana"/>
                <a:cs typeface="Verdana"/>
              </a:rPr>
              <a:t>aceptación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: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5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esta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actividad,</a:t>
            </a:r>
            <a:r>
              <a:rPr sz="1500" spc="5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usuario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comprueba,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junto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al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personal</a:t>
            </a:r>
            <a:r>
              <a:rPr sz="15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232852"/>
                </a:solidFill>
                <a:latin typeface="Verdana"/>
                <a:cs typeface="Verdana"/>
              </a:rPr>
              <a:t>encargado</a:t>
            </a:r>
            <a:r>
              <a:rPr sz="15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mantenimiento,</a:t>
            </a:r>
            <a:r>
              <a:rPr sz="15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65" dirty="0">
                <a:solidFill>
                  <a:srgbClr val="232852"/>
                </a:solidFill>
                <a:latin typeface="Verdana"/>
                <a:cs typeface="Verdana"/>
              </a:rPr>
              <a:t>adecuación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5" dirty="0">
                <a:solidFill>
                  <a:srgbClr val="232852"/>
                </a:solidFill>
                <a:latin typeface="Verdana"/>
                <a:cs typeface="Verdana"/>
              </a:rPr>
              <a:t>cambio</a:t>
            </a:r>
            <a:r>
              <a:rPr sz="15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50" dirty="0">
                <a:solidFill>
                  <a:srgbClr val="232852"/>
                </a:solidFill>
                <a:latin typeface="Verdana"/>
                <a:cs typeface="Verdana"/>
              </a:rPr>
              <a:t>sus</a:t>
            </a:r>
            <a:r>
              <a:rPr sz="15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necesidades.</a:t>
            </a:r>
            <a:endParaRPr sz="1500">
              <a:latin typeface="Verdana"/>
              <a:cs typeface="Verdana"/>
            </a:endParaRPr>
          </a:p>
          <a:p>
            <a:pPr marL="287020" marR="5080" indent="-274320" algn="just">
              <a:lnSpc>
                <a:spcPts val="1440"/>
              </a:lnSpc>
              <a:spcBef>
                <a:spcPts val="350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155" dirty="0">
                <a:solidFill>
                  <a:srgbClr val="232852"/>
                </a:solidFill>
                <a:latin typeface="Verdana"/>
                <a:cs typeface="Verdana"/>
              </a:rPr>
              <a:t>Pruebas </a:t>
            </a:r>
            <a:r>
              <a:rPr sz="1500" b="1" spc="-4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b="1" spc="-160" dirty="0">
                <a:solidFill>
                  <a:srgbClr val="232852"/>
                </a:solidFill>
                <a:latin typeface="Verdana"/>
                <a:cs typeface="Verdana"/>
              </a:rPr>
              <a:t>regresión</a:t>
            </a:r>
            <a:r>
              <a:rPr sz="1500" spc="-160" dirty="0">
                <a:solidFill>
                  <a:srgbClr val="232852"/>
                </a:solidFill>
                <a:latin typeface="Verdana"/>
                <a:cs typeface="Verdana"/>
              </a:rPr>
              <a:t>: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esta </a:t>
            </a:r>
            <a:r>
              <a:rPr sz="1500" spc="25" dirty="0">
                <a:solidFill>
                  <a:srgbClr val="232852"/>
                </a:solidFill>
                <a:latin typeface="Verdana"/>
                <a:cs typeface="Verdana"/>
              </a:rPr>
              <a:t>actividad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somete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software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30" dirty="0">
                <a:solidFill>
                  <a:srgbClr val="232852"/>
                </a:solidFill>
                <a:latin typeface="Verdana"/>
                <a:cs typeface="Verdana"/>
              </a:rPr>
              <a:t>modificado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casos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pruebas previamente </a:t>
            </a:r>
            <a:r>
              <a:rPr sz="1500" spc="35" dirty="0">
                <a:solidFill>
                  <a:srgbClr val="232852"/>
                </a:solidFill>
                <a:latin typeface="Verdana"/>
                <a:cs typeface="Verdana"/>
              </a:rPr>
              <a:t>almacenados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19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500" spc="5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2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spc="2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q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3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-9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500" spc="11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-2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ó</a:t>
            </a:r>
            <a:r>
              <a:rPr sz="1500" spc="-13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500">
              <a:latin typeface="Verdana"/>
              <a:cs typeface="Verdana"/>
            </a:endParaRPr>
          </a:p>
          <a:p>
            <a:pPr marL="286385" marR="6985" indent="-274320" algn="just">
              <a:lnSpc>
                <a:spcPct val="80100"/>
              </a:lnSpc>
              <a:spcBef>
                <a:spcPts val="370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105" dirty="0">
                <a:solidFill>
                  <a:srgbClr val="232852"/>
                </a:solidFill>
                <a:latin typeface="Verdana"/>
                <a:cs typeface="Verdana"/>
              </a:rPr>
              <a:t>Documentación</a:t>
            </a:r>
            <a:r>
              <a:rPr sz="1500" b="1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8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500" b="1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170" dirty="0">
                <a:solidFill>
                  <a:srgbClr val="232852"/>
                </a:solidFill>
                <a:latin typeface="Verdana"/>
                <a:cs typeface="Verdana"/>
              </a:rPr>
              <a:t>sistema</a:t>
            </a:r>
            <a:r>
              <a:rPr sz="1500" spc="-170" dirty="0">
                <a:solidFill>
                  <a:srgbClr val="232852"/>
                </a:solidFill>
                <a:latin typeface="Verdana"/>
                <a:cs typeface="Verdana"/>
              </a:rPr>
              <a:t>:</a:t>
            </a:r>
            <a:r>
              <a:rPr sz="1500" spc="-1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revisa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reescribe,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caso </a:t>
            </a:r>
            <a:r>
              <a:rPr sz="15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necesario,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500" spc="35" dirty="0">
                <a:solidFill>
                  <a:srgbClr val="232852"/>
                </a:solidFill>
                <a:latin typeface="Verdana"/>
                <a:cs typeface="Verdana"/>
              </a:rPr>
              <a:t>documentación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500" spc="-70" dirty="0">
                <a:solidFill>
                  <a:srgbClr val="232852"/>
                </a:solidFill>
                <a:latin typeface="Verdana"/>
                <a:cs typeface="Verdana"/>
              </a:rPr>
              <a:t>sistema </a:t>
            </a:r>
            <a:r>
              <a:rPr sz="1500" spc="30" dirty="0">
                <a:solidFill>
                  <a:srgbClr val="232852"/>
                </a:solidFill>
                <a:latin typeface="Verdana"/>
                <a:cs typeface="Verdana"/>
              </a:rPr>
              <a:t>para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ajuste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al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500" spc="-19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9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500" spc="6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500" spc="5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-2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w</a:t>
            </a:r>
            <a:r>
              <a:rPr sz="1500" spc="114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-19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500" spc="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-9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3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mo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500" spc="14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500" spc="16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500" spc="7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13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500">
              <a:latin typeface="Verdana"/>
              <a:cs typeface="Verdana"/>
            </a:endParaRPr>
          </a:p>
          <a:p>
            <a:pPr marL="286385" marR="5080" indent="-274320" algn="just">
              <a:lnSpc>
                <a:spcPct val="80000"/>
              </a:lnSpc>
              <a:spcBef>
                <a:spcPts val="360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135" dirty="0">
                <a:solidFill>
                  <a:srgbClr val="232852"/>
                </a:solidFill>
                <a:latin typeface="Verdana"/>
                <a:cs typeface="Verdana"/>
              </a:rPr>
              <a:t>Otra</a:t>
            </a:r>
            <a:r>
              <a:rPr sz="1500" b="1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95" dirty="0">
                <a:solidFill>
                  <a:srgbClr val="232852"/>
                </a:solidFill>
                <a:latin typeface="Verdana"/>
                <a:cs typeface="Verdana"/>
              </a:rPr>
              <a:t>documentación</a:t>
            </a:r>
            <a:r>
              <a:rPr sz="1500" b="1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130" dirty="0">
                <a:solidFill>
                  <a:srgbClr val="232852"/>
                </a:solidFill>
                <a:latin typeface="Verdana"/>
                <a:cs typeface="Verdana"/>
              </a:rPr>
              <a:t>(del</a:t>
            </a:r>
            <a:r>
              <a:rPr sz="1500" b="1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150" dirty="0">
                <a:solidFill>
                  <a:srgbClr val="232852"/>
                </a:solidFill>
                <a:latin typeface="Verdana"/>
                <a:cs typeface="Verdana"/>
              </a:rPr>
              <a:t>usuario,</a:t>
            </a:r>
            <a:r>
              <a:rPr sz="1500" b="1" spc="-1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135" dirty="0">
                <a:solidFill>
                  <a:srgbClr val="232852"/>
                </a:solidFill>
                <a:latin typeface="Verdana"/>
                <a:cs typeface="Verdana"/>
              </a:rPr>
              <a:t>por</a:t>
            </a:r>
            <a:r>
              <a:rPr sz="1500" b="1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135" dirty="0">
                <a:solidFill>
                  <a:srgbClr val="232852"/>
                </a:solidFill>
                <a:latin typeface="Verdana"/>
                <a:cs typeface="Verdana"/>
              </a:rPr>
              <a:t>ejemplo):</a:t>
            </a:r>
            <a:r>
              <a:rPr sz="1500" b="1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revisa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reescribe,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caso</a:t>
            </a:r>
            <a:r>
              <a:rPr sz="15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necesario,</a:t>
            </a:r>
            <a:r>
              <a:rPr sz="15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5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diferentes</a:t>
            </a:r>
            <a:r>
              <a:rPr sz="15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manuales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5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usuario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otra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documentación,</a:t>
            </a:r>
            <a:r>
              <a:rPr sz="15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35" dirty="0">
                <a:solidFill>
                  <a:srgbClr val="232852"/>
                </a:solidFill>
                <a:latin typeface="Verdana"/>
                <a:cs typeface="Verdana"/>
              </a:rPr>
              <a:t>excepto</a:t>
            </a:r>
            <a:r>
              <a:rPr sz="15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5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35" dirty="0">
                <a:solidFill>
                  <a:srgbClr val="232852"/>
                </a:solidFill>
                <a:latin typeface="Verdana"/>
                <a:cs typeface="Verdana"/>
              </a:rPr>
              <a:t>documentación</a:t>
            </a:r>
            <a:r>
              <a:rPr sz="15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5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sistema.</a:t>
            </a:r>
            <a:endParaRPr sz="1500">
              <a:latin typeface="Verdana"/>
              <a:cs typeface="Verdana"/>
            </a:endParaRPr>
          </a:p>
          <a:p>
            <a:pPr marL="286385" marR="6985" indent="-274320" algn="just">
              <a:lnSpc>
                <a:spcPts val="1440"/>
              </a:lnSpc>
              <a:spcBef>
                <a:spcPts val="345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b="1" spc="-155" dirty="0">
                <a:solidFill>
                  <a:srgbClr val="232852"/>
                </a:solidFill>
                <a:latin typeface="Verdana"/>
                <a:cs typeface="Verdana"/>
              </a:rPr>
              <a:t>Otras</a:t>
            </a:r>
            <a:r>
              <a:rPr sz="1500" b="1" spc="-1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b="1" spc="-100" dirty="0">
                <a:solidFill>
                  <a:srgbClr val="232852"/>
                </a:solidFill>
                <a:latin typeface="Verdana"/>
                <a:cs typeface="Verdana"/>
              </a:rPr>
              <a:t>actividades</a:t>
            </a:r>
            <a:r>
              <a:rPr sz="1500" spc="-100" dirty="0">
                <a:solidFill>
                  <a:srgbClr val="232852"/>
                </a:solidFill>
                <a:latin typeface="Verdana"/>
                <a:cs typeface="Verdana"/>
              </a:rPr>
              <a:t>,</a:t>
            </a:r>
            <a:r>
              <a:rPr sz="15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como</a:t>
            </a:r>
            <a:r>
              <a:rPr sz="1500" spc="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las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232852"/>
                </a:solidFill>
                <a:latin typeface="Verdana"/>
                <a:cs typeface="Verdana"/>
              </a:rPr>
              <a:t>dedicadas</a:t>
            </a:r>
            <a:r>
              <a:rPr sz="1500" spc="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gestión</a:t>
            </a:r>
            <a:r>
              <a:rPr sz="1500" spc="4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 proyecto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5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mantenimiento.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0957" y="2294636"/>
            <a:ext cx="655256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spc="-170" dirty="0">
                <a:latin typeface="Microsoft Sans Serif"/>
                <a:cs typeface="Microsoft Sans Serif"/>
              </a:rPr>
              <a:t></a:t>
            </a:r>
            <a:r>
              <a:rPr sz="1450" spc="50" dirty="0">
                <a:latin typeface="Microsoft Sans Serif"/>
                <a:cs typeface="Microsoft Sans Serif"/>
              </a:rPr>
              <a:t>  </a:t>
            </a:r>
            <a:r>
              <a:rPr sz="1900" spc="-75" dirty="0">
                <a:solidFill>
                  <a:srgbClr val="232852"/>
                </a:solidFill>
              </a:rPr>
              <a:t>Otros</a:t>
            </a:r>
            <a:r>
              <a:rPr sz="1900" spc="160" dirty="0">
                <a:solidFill>
                  <a:srgbClr val="232852"/>
                </a:solidFill>
              </a:rPr>
              <a:t> </a:t>
            </a:r>
            <a:r>
              <a:rPr sz="1900" spc="-60" dirty="0">
                <a:solidFill>
                  <a:srgbClr val="232852"/>
                </a:solidFill>
              </a:rPr>
              <a:t>resultados</a:t>
            </a:r>
            <a:r>
              <a:rPr sz="1900" spc="165" dirty="0">
                <a:solidFill>
                  <a:srgbClr val="232852"/>
                </a:solidFill>
              </a:rPr>
              <a:t> </a:t>
            </a:r>
            <a:r>
              <a:rPr sz="1900" spc="-60" dirty="0">
                <a:solidFill>
                  <a:srgbClr val="232852"/>
                </a:solidFill>
              </a:rPr>
              <a:t>interesantes</a:t>
            </a:r>
            <a:r>
              <a:rPr sz="1900" spc="160" dirty="0">
                <a:solidFill>
                  <a:srgbClr val="232852"/>
                </a:solidFill>
              </a:rPr>
              <a:t> </a:t>
            </a:r>
            <a:r>
              <a:rPr sz="1900" spc="105" dirty="0">
                <a:solidFill>
                  <a:srgbClr val="232852"/>
                </a:solidFill>
              </a:rPr>
              <a:t>de</a:t>
            </a:r>
            <a:r>
              <a:rPr sz="1900" spc="165" dirty="0">
                <a:solidFill>
                  <a:srgbClr val="232852"/>
                </a:solidFill>
              </a:rPr>
              <a:t> </a:t>
            </a:r>
            <a:r>
              <a:rPr sz="1900" spc="-45" dirty="0">
                <a:solidFill>
                  <a:srgbClr val="232852"/>
                </a:solidFill>
              </a:rPr>
              <a:t>este</a:t>
            </a:r>
            <a:r>
              <a:rPr sz="1900" spc="185" dirty="0">
                <a:solidFill>
                  <a:srgbClr val="232852"/>
                </a:solidFill>
              </a:rPr>
              <a:t> </a:t>
            </a:r>
            <a:r>
              <a:rPr sz="1900" spc="-95" dirty="0">
                <a:solidFill>
                  <a:srgbClr val="232852"/>
                </a:solidFill>
              </a:rPr>
              <a:t>mismo</a:t>
            </a:r>
            <a:r>
              <a:rPr sz="1900" spc="155" dirty="0">
                <a:solidFill>
                  <a:srgbClr val="232852"/>
                </a:solidFill>
              </a:rPr>
              <a:t> </a:t>
            </a:r>
            <a:r>
              <a:rPr sz="1900" spc="-35" dirty="0">
                <a:solidFill>
                  <a:srgbClr val="232852"/>
                </a:solidFill>
              </a:rPr>
              <a:t>estudio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5324" y="2526286"/>
            <a:ext cx="6278245" cy="303212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6985" algn="just">
              <a:lnSpc>
                <a:spcPct val="80000"/>
              </a:lnSpc>
              <a:spcBef>
                <a:spcPts val="550"/>
              </a:spcBef>
            </a:pPr>
            <a:r>
              <a:rPr sz="1900" spc="-8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900" spc="-55" dirty="0">
                <a:solidFill>
                  <a:srgbClr val="232852"/>
                </a:solidFill>
                <a:latin typeface="Verdana"/>
                <a:cs typeface="Verdana"/>
              </a:rPr>
              <a:t>refieren </a:t>
            </a:r>
            <a:r>
              <a:rPr sz="1900" spc="15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90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900" spc="-50" dirty="0">
                <a:solidFill>
                  <a:srgbClr val="232852"/>
                </a:solidFill>
                <a:latin typeface="Verdana"/>
                <a:cs typeface="Verdana"/>
              </a:rPr>
              <a:t>distribución </a:t>
            </a:r>
            <a:r>
              <a:rPr sz="1900" spc="20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900" spc="-65" dirty="0">
                <a:solidFill>
                  <a:srgbClr val="232852"/>
                </a:solidFill>
                <a:latin typeface="Verdana"/>
                <a:cs typeface="Verdana"/>
              </a:rPr>
              <a:t>esfuerzo </a:t>
            </a:r>
            <a:r>
              <a:rPr sz="1900" spc="3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900" spc="165" dirty="0">
                <a:solidFill>
                  <a:srgbClr val="232852"/>
                </a:solidFill>
                <a:latin typeface="Verdana"/>
                <a:cs typeface="Verdana"/>
              </a:rPr>
              <a:t>cada </a:t>
            </a:r>
            <a:r>
              <a:rPr sz="1900" spc="1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5" dirty="0">
                <a:solidFill>
                  <a:srgbClr val="232852"/>
                </a:solidFill>
                <a:latin typeface="Verdana"/>
                <a:cs typeface="Verdana"/>
              </a:rPr>
              <a:t>grupo</a:t>
            </a:r>
            <a:r>
              <a:rPr sz="19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10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900" spc="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10" dirty="0">
                <a:solidFill>
                  <a:srgbClr val="232852"/>
                </a:solidFill>
                <a:latin typeface="Verdana"/>
                <a:cs typeface="Verdana"/>
              </a:rPr>
              <a:t>actividades</a:t>
            </a:r>
            <a:r>
              <a:rPr sz="1900" spc="6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35" dirty="0">
                <a:solidFill>
                  <a:srgbClr val="232852"/>
                </a:solidFill>
                <a:latin typeface="Verdana"/>
                <a:cs typeface="Verdana"/>
              </a:rPr>
              <a:t>según</a:t>
            </a:r>
            <a:r>
              <a:rPr sz="19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8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9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40" dirty="0">
                <a:solidFill>
                  <a:srgbClr val="232852"/>
                </a:solidFill>
                <a:latin typeface="Verdana"/>
                <a:cs typeface="Verdana"/>
              </a:rPr>
              <a:t>trate</a:t>
            </a:r>
            <a:r>
              <a:rPr sz="19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10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900" spc="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25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1900" spc="-5" dirty="0">
                <a:solidFill>
                  <a:srgbClr val="232852"/>
                </a:solidFill>
                <a:latin typeface="Verdana"/>
                <a:cs typeface="Verdana"/>
              </a:rPr>
              <a:t>correctivo </a:t>
            </a:r>
            <a:r>
              <a:rPr sz="1900" spc="85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900" spc="-15" dirty="0">
                <a:solidFill>
                  <a:srgbClr val="232852"/>
                </a:solidFill>
                <a:latin typeface="Verdana"/>
                <a:cs typeface="Verdana"/>
              </a:rPr>
              <a:t>perfectivo, </a:t>
            </a:r>
            <a:r>
              <a:rPr sz="1900" spc="-40" dirty="0">
                <a:solidFill>
                  <a:srgbClr val="232852"/>
                </a:solidFill>
                <a:latin typeface="Verdana"/>
                <a:cs typeface="Verdana"/>
              </a:rPr>
              <a:t>resultando </a:t>
            </a:r>
            <a:r>
              <a:rPr sz="19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900" spc="-45" dirty="0">
                <a:solidFill>
                  <a:srgbClr val="232852"/>
                </a:solidFill>
                <a:latin typeface="Verdana"/>
                <a:cs typeface="Verdana"/>
              </a:rPr>
              <a:t>que:</a:t>
            </a:r>
            <a:endParaRPr sz="1900">
              <a:latin typeface="Verdana"/>
              <a:cs typeface="Verdana"/>
            </a:endParaRPr>
          </a:p>
          <a:p>
            <a:pPr marL="309880" marR="5080" indent="-274320" algn="just">
              <a:lnSpc>
                <a:spcPct val="80000"/>
              </a:lnSpc>
              <a:spcBef>
                <a:spcPts val="415"/>
              </a:spcBef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proporción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esfuerzo 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dedicado </a:t>
            </a:r>
            <a:r>
              <a:rPr sz="1700" spc="14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700" spc="-15" dirty="0">
                <a:solidFill>
                  <a:srgbClr val="232852"/>
                </a:solidFill>
                <a:latin typeface="Verdana"/>
                <a:cs typeface="Verdana"/>
              </a:rPr>
              <a:t>comprensión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es </a:t>
            </a:r>
            <a:r>
              <a:rPr sz="1700" spc="-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30" dirty="0">
                <a:solidFill>
                  <a:srgbClr val="232852"/>
                </a:solidFill>
                <a:latin typeface="Verdana"/>
                <a:cs typeface="Verdana"/>
              </a:rPr>
              <a:t>mucho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mayor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caso 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correctivo </a:t>
            </a:r>
            <a:r>
              <a:rPr sz="1700" spc="-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7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700" spc="-1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32852"/>
                </a:solidFill>
                <a:latin typeface="Verdana"/>
                <a:cs typeface="Verdana"/>
              </a:rPr>
              <a:t>perfectivo.</a:t>
            </a:r>
            <a:endParaRPr sz="1700">
              <a:latin typeface="Verdana"/>
              <a:cs typeface="Verdana"/>
            </a:endParaRPr>
          </a:p>
          <a:p>
            <a:pPr marL="309880" marR="5080" indent="-274320" algn="just">
              <a:lnSpc>
                <a:spcPts val="1630"/>
              </a:lnSpc>
              <a:spcBef>
                <a:spcPts val="400"/>
              </a:spcBef>
            </a:pPr>
            <a:r>
              <a:rPr sz="13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00" spc="-1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proporción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esfuerzo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empleado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inspección,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certificación </a:t>
            </a:r>
            <a:r>
              <a:rPr sz="1700" spc="-95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consultoría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es </a:t>
            </a:r>
            <a:r>
              <a:rPr sz="1700" spc="30" dirty="0">
                <a:solidFill>
                  <a:srgbClr val="232852"/>
                </a:solidFill>
                <a:latin typeface="Verdana"/>
                <a:cs typeface="Verdana"/>
              </a:rPr>
              <a:t>mucho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mayor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700" spc="45" dirty="0">
                <a:solidFill>
                  <a:srgbClr val="232852"/>
                </a:solidFill>
                <a:latin typeface="Verdana"/>
                <a:cs typeface="Verdana"/>
              </a:rPr>
              <a:t>caso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perfectivo</a:t>
            </a:r>
            <a:r>
              <a:rPr sz="1700" spc="-1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700" spc="-1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7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correctivo.</a:t>
            </a:r>
            <a:endParaRPr sz="1700">
              <a:latin typeface="Verdana"/>
              <a:cs typeface="Verdana"/>
            </a:endParaRPr>
          </a:p>
          <a:p>
            <a:pPr marL="309880" marR="5715" indent="-274320" algn="just">
              <a:lnSpc>
                <a:spcPct val="80000"/>
              </a:lnSpc>
              <a:spcBef>
                <a:spcPts val="425"/>
              </a:spcBef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proporción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esfuerzo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dedicado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4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1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diseño, 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50" dirty="0">
                <a:solidFill>
                  <a:srgbClr val="232852"/>
                </a:solidFill>
                <a:latin typeface="Verdana"/>
                <a:cs typeface="Verdana"/>
              </a:rPr>
              <a:t>co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-7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16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700" spc="17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5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ó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7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9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700" spc="6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b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6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7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700" spc="-9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700" spc="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229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-14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-114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7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7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1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b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7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6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75" dirty="0">
                <a:solidFill>
                  <a:srgbClr val="232852"/>
                </a:solidFill>
                <a:latin typeface="Verdana"/>
                <a:cs typeface="Verdana"/>
              </a:rPr>
              <a:t>e </a:t>
            </a:r>
            <a:r>
              <a:rPr sz="1700" spc="3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mantenimiento.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127836"/>
            <a:ext cx="53867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85" dirty="0"/>
              <a:t>D</a:t>
            </a:r>
            <a:r>
              <a:rPr sz="3200" spc="-245" dirty="0"/>
              <a:t>i</a:t>
            </a:r>
            <a:r>
              <a:rPr sz="3200" spc="-430" dirty="0"/>
              <a:t>s</a:t>
            </a:r>
            <a:r>
              <a:rPr sz="3200" spc="-175" dirty="0"/>
              <a:t>t</a:t>
            </a:r>
            <a:r>
              <a:rPr sz="3200" spc="-415" dirty="0"/>
              <a:t>r</a:t>
            </a:r>
            <a:r>
              <a:rPr sz="3200" spc="-245" dirty="0"/>
              <a:t>i</a:t>
            </a:r>
            <a:r>
              <a:rPr sz="3200" spc="185" dirty="0"/>
              <a:t>b</a:t>
            </a:r>
            <a:r>
              <a:rPr sz="3200" spc="-95" dirty="0"/>
              <a:t>u</a:t>
            </a:r>
            <a:r>
              <a:rPr sz="3200" spc="405" dirty="0"/>
              <a:t>c</a:t>
            </a:r>
            <a:r>
              <a:rPr sz="3200" spc="-245" dirty="0"/>
              <a:t>i</a:t>
            </a:r>
            <a:r>
              <a:rPr sz="3200" spc="155" dirty="0"/>
              <a:t>ó</a:t>
            </a:r>
            <a:r>
              <a:rPr sz="3200" spc="-70" dirty="0"/>
              <a:t>n</a:t>
            </a:r>
            <a:r>
              <a:rPr sz="3200" spc="85" dirty="0">
                <a:latin typeface="Times New Roman"/>
                <a:cs typeface="Times New Roman"/>
              </a:rPr>
              <a:t> </a:t>
            </a:r>
            <a:r>
              <a:rPr sz="3200" spc="195" dirty="0"/>
              <a:t>d</a:t>
            </a:r>
            <a:r>
              <a:rPr sz="3200" spc="175" dirty="0"/>
              <a:t>e</a:t>
            </a:r>
            <a:r>
              <a:rPr sz="3200" spc="-240" dirty="0"/>
              <a:t>l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175" dirty="0"/>
              <a:t>e</a:t>
            </a:r>
            <a:r>
              <a:rPr sz="3200" spc="-430" dirty="0"/>
              <a:t>s</a:t>
            </a:r>
            <a:r>
              <a:rPr sz="3200" spc="-120" dirty="0"/>
              <a:t>f</a:t>
            </a:r>
            <a:r>
              <a:rPr sz="3200" spc="-80" dirty="0"/>
              <a:t>u</a:t>
            </a:r>
            <a:r>
              <a:rPr sz="3200" spc="175" dirty="0"/>
              <a:t>e</a:t>
            </a:r>
            <a:r>
              <a:rPr sz="3200" spc="-405" dirty="0"/>
              <a:t>r</a:t>
            </a:r>
            <a:r>
              <a:rPr sz="3200" spc="-320" dirty="0"/>
              <a:t>z</a:t>
            </a:r>
            <a:r>
              <a:rPr sz="3200" spc="155" dirty="0"/>
              <a:t>o</a:t>
            </a:r>
            <a:r>
              <a:rPr sz="3200" spc="45" dirty="0">
                <a:latin typeface="Times New Roman"/>
                <a:cs typeface="Times New Roman"/>
              </a:rPr>
              <a:t> </a:t>
            </a:r>
            <a:r>
              <a:rPr sz="3200" spc="175" dirty="0"/>
              <a:t>e</a:t>
            </a:r>
            <a:r>
              <a:rPr sz="3200" spc="-70" dirty="0"/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22377" y="1615820"/>
            <a:ext cx="61302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260" dirty="0">
                <a:solidFill>
                  <a:srgbClr val="619CD1"/>
                </a:solidFill>
                <a:latin typeface="Verdana"/>
                <a:cs typeface="Verdana"/>
              </a:rPr>
              <a:t>a</a:t>
            </a:r>
            <a:r>
              <a:rPr sz="3200" spc="405" dirty="0">
                <a:solidFill>
                  <a:srgbClr val="619CD1"/>
                </a:solidFill>
                <a:latin typeface="Verdana"/>
                <a:cs typeface="Verdana"/>
              </a:rPr>
              <a:t>c</a:t>
            </a:r>
            <a:r>
              <a:rPr sz="3200" spc="-180" dirty="0">
                <a:solidFill>
                  <a:srgbClr val="619CD1"/>
                </a:solidFill>
                <a:latin typeface="Verdana"/>
                <a:cs typeface="Verdana"/>
              </a:rPr>
              <a:t>t</a:t>
            </a:r>
            <a:r>
              <a:rPr sz="3200" spc="-254" dirty="0">
                <a:solidFill>
                  <a:srgbClr val="619CD1"/>
                </a:solidFill>
                <a:latin typeface="Verdana"/>
                <a:cs typeface="Verdana"/>
              </a:rPr>
              <a:t>i</a:t>
            </a:r>
            <a:r>
              <a:rPr sz="3200" spc="-125" dirty="0">
                <a:solidFill>
                  <a:srgbClr val="619CD1"/>
                </a:solidFill>
                <a:latin typeface="Verdana"/>
                <a:cs typeface="Verdana"/>
              </a:rPr>
              <a:t>v</a:t>
            </a:r>
            <a:r>
              <a:rPr sz="3200" spc="-245" dirty="0">
                <a:solidFill>
                  <a:srgbClr val="619CD1"/>
                </a:solidFill>
                <a:latin typeface="Verdana"/>
                <a:cs typeface="Verdana"/>
              </a:rPr>
              <a:t>i</a:t>
            </a:r>
            <a:r>
              <a:rPr sz="3200" spc="195" dirty="0">
                <a:solidFill>
                  <a:srgbClr val="619CD1"/>
                </a:solidFill>
                <a:latin typeface="Verdana"/>
                <a:cs typeface="Verdana"/>
              </a:rPr>
              <a:t>d</a:t>
            </a:r>
            <a:r>
              <a:rPr sz="3200" spc="260" dirty="0">
                <a:solidFill>
                  <a:srgbClr val="619CD1"/>
                </a:solidFill>
                <a:latin typeface="Verdana"/>
                <a:cs typeface="Verdana"/>
              </a:rPr>
              <a:t>a</a:t>
            </a:r>
            <a:r>
              <a:rPr sz="3200" spc="195" dirty="0">
                <a:solidFill>
                  <a:srgbClr val="619CD1"/>
                </a:solidFill>
                <a:latin typeface="Verdana"/>
                <a:cs typeface="Verdana"/>
              </a:rPr>
              <a:t>d</a:t>
            </a:r>
            <a:r>
              <a:rPr sz="3200" spc="175" dirty="0">
                <a:solidFill>
                  <a:srgbClr val="619CD1"/>
                </a:solidFill>
                <a:latin typeface="Verdana"/>
                <a:cs typeface="Verdana"/>
              </a:rPr>
              <a:t>e</a:t>
            </a:r>
            <a:r>
              <a:rPr sz="3200" spc="-425" dirty="0">
                <a:solidFill>
                  <a:srgbClr val="619CD1"/>
                </a:solidFill>
                <a:latin typeface="Verdana"/>
                <a:cs typeface="Verdana"/>
              </a:rPr>
              <a:t>s</a:t>
            </a:r>
            <a:r>
              <a:rPr sz="3200" spc="65" dirty="0">
                <a:solidFill>
                  <a:srgbClr val="619CD1"/>
                </a:solidFill>
                <a:latin typeface="Times New Roman"/>
                <a:cs typeface="Times New Roman"/>
              </a:rPr>
              <a:t> </a:t>
            </a:r>
            <a:r>
              <a:rPr sz="3200" spc="195" dirty="0">
                <a:solidFill>
                  <a:srgbClr val="619CD1"/>
                </a:solidFill>
                <a:latin typeface="Verdana"/>
                <a:cs typeface="Verdana"/>
              </a:rPr>
              <a:t>d</a:t>
            </a:r>
            <a:r>
              <a:rPr sz="3200" spc="175" dirty="0">
                <a:solidFill>
                  <a:srgbClr val="619CD1"/>
                </a:solidFill>
                <a:latin typeface="Verdana"/>
                <a:cs typeface="Verdana"/>
              </a:rPr>
              <a:t>e</a:t>
            </a:r>
            <a:r>
              <a:rPr sz="3200" spc="70" dirty="0">
                <a:solidFill>
                  <a:srgbClr val="619CD1"/>
                </a:solidFill>
                <a:latin typeface="Times New Roman"/>
                <a:cs typeface="Times New Roman"/>
              </a:rPr>
              <a:t> </a:t>
            </a:r>
            <a:r>
              <a:rPr sz="3200" spc="95" dirty="0">
                <a:solidFill>
                  <a:srgbClr val="619CD1"/>
                </a:solidFill>
                <a:latin typeface="Verdana"/>
                <a:cs typeface="Verdana"/>
              </a:rPr>
              <a:t>m</a:t>
            </a:r>
            <a:r>
              <a:rPr sz="3200" spc="50" dirty="0">
                <a:solidFill>
                  <a:srgbClr val="619CD1"/>
                </a:solidFill>
                <a:latin typeface="Verdana"/>
                <a:cs typeface="Verdana"/>
              </a:rPr>
              <a:t>a</a:t>
            </a:r>
            <a:r>
              <a:rPr sz="3200" spc="-75" dirty="0">
                <a:solidFill>
                  <a:srgbClr val="619CD1"/>
                </a:solidFill>
                <a:latin typeface="Verdana"/>
                <a:cs typeface="Verdana"/>
              </a:rPr>
              <a:t>n</a:t>
            </a:r>
            <a:r>
              <a:rPr sz="3200" spc="-180" dirty="0">
                <a:solidFill>
                  <a:srgbClr val="619CD1"/>
                </a:solidFill>
                <a:latin typeface="Verdana"/>
                <a:cs typeface="Verdana"/>
              </a:rPr>
              <a:t>t</a:t>
            </a:r>
            <a:r>
              <a:rPr sz="3200" spc="175" dirty="0">
                <a:solidFill>
                  <a:srgbClr val="619CD1"/>
                </a:solidFill>
                <a:latin typeface="Verdana"/>
                <a:cs typeface="Verdana"/>
              </a:rPr>
              <a:t>e</a:t>
            </a:r>
            <a:r>
              <a:rPr sz="3200" spc="-75" dirty="0">
                <a:solidFill>
                  <a:srgbClr val="619CD1"/>
                </a:solidFill>
                <a:latin typeface="Verdana"/>
                <a:cs typeface="Verdana"/>
              </a:rPr>
              <a:t>n</a:t>
            </a:r>
            <a:r>
              <a:rPr sz="3200" spc="-245" dirty="0">
                <a:solidFill>
                  <a:srgbClr val="619CD1"/>
                </a:solidFill>
                <a:latin typeface="Verdana"/>
                <a:cs typeface="Verdana"/>
              </a:rPr>
              <a:t>i</a:t>
            </a:r>
            <a:r>
              <a:rPr sz="3200" spc="-270" dirty="0">
                <a:solidFill>
                  <a:srgbClr val="619CD1"/>
                </a:solidFill>
                <a:latin typeface="Verdana"/>
                <a:cs typeface="Verdana"/>
              </a:rPr>
              <a:t>m</a:t>
            </a:r>
            <a:r>
              <a:rPr sz="3200" spc="-95" dirty="0">
                <a:solidFill>
                  <a:srgbClr val="619CD1"/>
                </a:solidFill>
                <a:latin typeface="Verdana"/>
                <a:cs typeface="Verdana"/>
              </a:rPr>
              <a:t>i</a:t>
            </a:r>
            <a:r>
              <a:rPr sz="3200" spc="175" dirty="0">
                <a:solidFill>
                  <a:srgbClr val="619CD1"/>
                </a:solidFill>
                <a:latin typeface="Verdana"/>
                <a:cs typeface="Verdana"/>
              </a:rPr>
              <a:t>e</a:t>
            </a:r>
            <a:r>
              <a:rPr sz="3200" spc="-75" dirty="0">
                <a:solidFill>
                  <a:srgbClr val="619CD1"/>
                </a:solidFill>
                <a:latin typeface="Verdana"/>
                <a:cs typeface="Verdana"/>
              </a:rPr>
              <a:t>n</a:t>
            </a:r>
            <a:r>
              <a:rPr sz="3200" spc="-180" dirty="0">
                <a:solidFill>
                  <a:srgbClr val="619CD1"/>
                </a:solidFill>
                <a:latin typeface="Verdana"/>
                <a:cs typeface="Verdana"/>
              </a:rPr>
              <a:t>t</a:t>
            </a:r>
            <a:r>
              <a:rPr sz="3200" spc="155" dirty="0">
                <a:solidFill>
                  <a:srgbClr val="619CD1"/>
                </a:solidFill>
                <a:latin typeface="Verdana"/>
                <a:cs typeface="Verdana"/>
              </a:rPr>
              <a:t>o</a:t>
            </a:r>
            <a:endParaRPr sz="3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3609" y="2204872"/>
            <a:ext cx="7200773" cy="417207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615820"/>
            <a:ext cx="61836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90" dirty="0"/>
              <a:t>D</a:t>
            </a:r>
            <a:r>
              <a:rPr sz="3200" spc="-245" dirty="0"/>
              <a:t>i</a:t>
            </a:r>
            <a:r>
              <a:rPr sz="3200" spc="-120" dirty="0"/>
              <a:t>f</a:t>
            </a:r>
            <a:r>
              <a:rPr sz="3200" spc="-245" dirty="0"/>
              <a:t>i</a:t>
            </a:r>
            <a:r>
              <a:rPr sz="3200" spc="405" dirty="0"/>
              <a:t>c</a:t>
            </a:r>
            <a:r>
              <a:rPr sz="3200" spc="-80" dirty="0"/>
              <a:t>u</a:t>
            </a:r>
            <a:r>
              <a:rPr sz="3200" spc="-245" dirty="0"/>
              <a:t>l</a:t>
            </a:r>
            <a:r>
              <a:rPr sz="3200" spc="-200" dirty="0"/>
              <a:t>t</a:t>
            </a:r>
            <a:r>
              <a:rPr sz="3200" spc="260" dirty="0"/>
              <a:t>a</a:t>
            </a:r>
            <a:r>
              <a:rPr sz="3200" spc="195" dirty="0"/>
              <a:t>d</a:t>
            </a:r>
            <a:r>
              <a:rPr sz="3200" spc="175" dirty="0"/>
              <a:t>e</a:t>
            </a:r>
            <a:r>
              <a:rPr sz="3200" spc="-425" dirty="0"/>
              <a:t>s</a:t>
            </a:r>
            <a:r>
              <a:rPr sz="3200" spc="70" dirty="0">
                <a:latin typeface="Times New Roman"/>
                <a:cs typeface="Times New Roman"/>
              </a:rPr>
              <a:t> </a:t>
            </a:r>
            <a:r>
              <a:rPr sz="3200" spc="195" dirty="0"/>
              <a:t>d</a:t>
            </a:r>
            <a:r>
              <a:rPr sz="3200" spc="175" dirty="0"/>
              <a:t>e</a:t>
            </a:r>
            <a:r>
              <a:rPr sz="3200" spc="-240" dirty="0"/>
              <a:t>l</a:t>
            </a:r>
            <a:r>
              <a:rPr sz="3200" spc="75" dirty="0">
                <a:latin typeface="Times New Roman"/>
                <a:cs typeface="Times New Roman"/>
              </a:rPr>
              <a:t> </a:t>
            </a:r>
            <a:r>
              <a:rPr sz="3200" spc="245" dirty="0"/>
              <a:t>M</a:t>
            </a:r>
            <a:r>
              <a:rPr sz="3200" spc="260" dirty="0"/>
              <a:t>a</a:t>
            </a:r>
            <a:r>
              <a:rPr sz="3200" spc="-75" dirty="0"/>
              <a:t>n</a:t>
            </a:r>
            <a:r>
              <a:rPr sz="3200" spc="-195" dirty="0"/>
              <a:t>t</a:t>
            </a:r>
            <a:r>
              <a:rPr sz="3200" spc="175" dirty="0"/>
              <a:t>e</a:t>
            </a:r>
            <a:r>
              <a:rPr sz="3200" spc="-75" dirty="0"/>
              <a:t>n</a:t>
            </a:r>
            <a:r>
              <a:rPr sz="3200" spc="-245" dirty="0"/>
              <a:t>i</a:t>
            </a:r>
            <a:r>
              <a:rPr sz="3200" spc="-270" dirty="0"/>
              <a:t>m</a:t>
            </a:r>
            <a:r>
              <a:rPr sz="3200" spc="-85" dirty="0"/>
              <a:t>i</a:t>
            </a:r>
            <a:r>
              <a:rPr sz="3200" spc="175" dirty="0"/>
              <a:t>e</a:t>
            </a:r>
            <a:r>
              <a:rPr sz="3200" spc="-75" dirty="0"/>
              <a:t>n</a:t>
            </a:r>
            <a:r>
              <a:rPr sz="3200" spc="-180" dirty="0"/>
              <a:t>t</a:t>
            </a:r>
            <a:r>
              <a:rPr sz="3200" spc="155" dirty="0"/>
              <a:t>o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0957" y="2283969"/>
            <a:ext cx="6552565" cy="344551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287020" marR="5080" indent="-274955" algn="just">
              <a:lnSpc>
                <a:spcPct val="80000"/>
              </a:lnSpc>
              <a:spcBef>
                <a:spcPts val="620"/>
              </a:spcBef>
            </a:pPr>
            <a:r>
              <a:rPr sz="1650" spc="-16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650" spc="-16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2200" spc="-15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2200" spc="7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20" dirty="0">
                <a:solidFill>
                  <a:srgbClr val="232852"/>
                </a:solidFill>
                <a:latin typeface="Verdana"/>
                <a:cs typeface="Verdana"/>
              </a:rPr>
              <a:t>problemática</a:t>
            </a:r>
            <a:r>
              <a:rPr sz="2200" spc="25" dirty="0">
                <a:solidFill>
                  <a:srgbClr val="232852"/>
                </a:solidFill>
                <a:latin typeface="Verdana"/>
                <a:cs typeface="Verdana"/>
              </a:rPr>
              <a:t> del</a:t>
            </a:r>
            <a:r>
              <a:rPr sz="22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22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22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232852"/>
                </a:solidFill>
                <a:latin typeface="Verdana"/>
                <a:cs typeface="Verdana"/>
              </a:rPr>
              <a:t>resume</a:t>
            </a:r>
            <a:r>
              <a:rPr sz="22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2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22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232852"/>
                </a:solidFill>
                <a:latin typeface="Verdana"/>
                <a:cs typeface="Verdana"/>
              </a:rPr>
              <a:t>realizar</a:t>
            </a:r>
            <a:r>
              <a:rPr sz="22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22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35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22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2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22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3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spc="10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200" spc="-8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2200" spc="-12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200" spc="15" dirty="0">
                <a:solidFill>
                  <a:srgbClr val="232852"/>
                </a:solidFill>
                <a:latin typeface="Verdana"/>
                <a:cs typeface="Verdana"/>
              </a:rPr>
              <a:t>w</a:t>
            </a:r>
            <a:r>
              <a:rPr sz="2200" spc="17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-2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6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13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2200" spc="10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200" spc="-2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45" dirty="0">
                <a:solidFill>
                  <a:srgbClr val="232852"/>
                </a:solidFill>
                <a:latin typeface="Verdana"/>
                <a:cs typeface="Verdana"/>
              </a:rPr>
              <a:t>ma</a:t>
            </a:r>
            <a:r>
              <a:rPr sz="2200" spc="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-12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200" spc="17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200" spc="7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-29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200" spc="105" dirty="0">
                <a:solidFill>
                  <a:srgbClr val="232852"/>
                </a:solidFill>
                <a:latin typeface="Verdana"/>
                <a:cs typeface="Verdana"/>
              </a:rPr>
              <a:t>g</a:t>
            </a:r>
            <a:r>
              <a:rPr sz="2200" spc="-6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200" spc="-2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10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200" spc="-30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spc="17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120" dirty="0">
                <a:solidFill>
                  <a:srgbClr val="232852"/>
                </a:solidFill>
                <a:latin typeface="Verdana"/>
                <a:cs typeface="Verdana"/>
              </a:rPr>
              <a:t>q</a:t>
            </a:r>
            <a:r>
              <a:rPr sz="2200" spc="-6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5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-16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200" spc="17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6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27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200" spc="17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-170" dirty="0">
                <a:solidFill>
                  <a:srgbClr val="232852"/>
                </a:solidFill>
                <a:latin typeface="Verdana"/>
                <a:cs typeface="Verdana"/>
              </a:rPr>
              <a:t>li</a:t>
            </a:r>
            <a:r>
              <a:rPr sz="2200" spc="12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2200" spc="18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100" dirty="0">
                <a:solidFill>
                  <a:srgbClr val="232852"/>
                </a:solidFill>
                <a:latin typeface="Verdana"/>
                <a:cs typeface="Verdana"/>
              </a:rPr>
              <a:t>d </a:t>
            </a:r>
            <a:r>
              <a:rPr sz="2200" spc="5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25" dirty="0">
                <a:solidFill>
                  <a:srgbClr val="232852"/>
                </a:solidFill>
                <a:latin typeface="Verdana"/>
                <a:cs typeface="Verdana"/>
              </a:rPr>
              <a:t>no</a:t>
            </a:r>
            <a:r>
              <a:rPr sz="22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95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22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232852"/>
                </a:solidFill>
                <a:latin typeface="Verdana"/>
                <a:cs typeface="Verdana"/>
              </a:rPr>
              <a:t>deteriore</a:t>
            </a:r>
            <a:r>
              <a:rPr sz="22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100" dirty="0">
                <a:solidFill>
                  <a:srgbClr val="232852"/>
                </a:solidFill>
                <a:latin typeface="Verdana"/>
                <a:cs typeface="Verdana"/>
              </a:rPr>
              <a:t>como</a:t>
            </a:r>
            <a:r>
              <a:rPr sz="2200" spc="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232852"/>
                </a:solidFill>
                <a:latin typeface="Verdana"/>
                <a:cs typeface="Verdana"/>
              </a:rPr>
              <a:t>resultado</a:t>
            </a:r>
            <a:r>
              <a:rPr sz="22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12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2200" spc="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232852"/>
                </a:solidFill>
                <a:latin typeface="Verdana"/>
                <a:cs typeface="Verdana"/>
              </a:rPr>
              <a:t>este </a:t>
            </a:r>
            <a:r>
              <a:rPr sz="22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232852"/>
                </a:solidFill>
                <a:latin typeface="Verdana"/>
                <a:cs typeface="Verdana"/>
              </a:rPr>
              <a:t>proceso.</a:t>
            </a:r>
            <a:endParaRPr sz="2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Verdana"/>
              <a:cs typeface="Verdana"/>
            </a:endParaRPr>
          </a:p>
          <a:p>
            <a:pPr marL="287020" marR="5080" indent="-274955" algn="just">
              <a:lnSpc>
                <a:spcPct val="80000"/>
              </a:lnSpc>
            </a:pPr>
            <a:r>
              <a:rPr sz="1650" spc="-165" dirty="0">
                <a:solidFill>
                  <a:srgbClr val="619CD1"/>
                </a:solidFill>
                <a:latin typeface="Microsoft Sans Serif"/>
                <a:cs typeface="Microsoft Sans Serif"/>
              </a:rPr>
              <a:t> </a:t>
            </a:r>
            <a:r>
              <a:rPr sz="1650" spc="-204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2200" spc="-21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200" spc="18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8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12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2200" spc="-2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114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105" dirty="0">
                <a:solidFill>
                  <a:srgbClr val="232852"/>
                </a:solidFill>
                <a:latin typeface="Verdana"/>
                <a:cs typeface="Verdana"/>
              </a:rPr>
              <a:t>g</a:t>
            </a:r>
            <a:r>
              <a:rPr sz="2200" spc="-7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2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200" spc="-12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200" spc="18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8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18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8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-8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2200" spc="10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2200" spc="-29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-70" dirty="0">
                <a:solidFill>
                  <a:srgbClr val="232852"/>
                </a:solidFill>
                <a:latin typeface="Verdana"/>
                <a:cs typeface="Verdana"/>
              </a:rPr>
              <a:t>mu</a:t>
            </a:r>
            <a:r>
              <a:rPr sz="2200" spc="-17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200" spc="17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-2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2200" spc="8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1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-29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spc="8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-16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2200" spc="18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2200" spc="8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-31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2200" spc="-15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200" spc="90" dirty="0">
                <a:solidFill>
                  <a:srgbClr val="232852"/>
                </a:solidFill>
                <a:latin typeface="Verdana"/>
                <a:cs typeface="Verdana"/>
              </a:rPr>
              <a:t>g</a:t>
            </a:r>
            <a:r>
              <a:rPr sz="2200" spc="-6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2200" spc="-16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2200" spc="10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-5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2200" spc="-12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2200" spc="12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2200" spc="-395" dirty="0">
                <a:solidFill>
                  <a:srgbClr val="232852"/>
                </a:solidFill>
                <a:latin typeface="Verdana"/>
                <a:cs typeface="Verdana"/>
              </a:rPr>
              <a:t>:</a:t>
            </a:r>
            <a:r>
              <a:rPr sz="2200" spc="7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100" dirty="0">
                <a:solidFill>
                  <a:srgbClr val="232852"/>
                </a:solidFill>
                <a:latin typeface="Verdana"/>
                <a:cs typeface="Verdana"/>
              </a:rPr>
              <a:t>¿</a:t>
            </a:r>
            <a:r>
              <a:rPr sz="2200" spc="27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2200" spc="100" dirty="0">
                <a:solidFill>
                  <a:srgbClr val="232852"/>
                </a:solidFill>
                <a:latin typeface="Verdana"/>
                <a:cs typeface="Verdana"/>
              </a:rPr>
              <a:t>ó</a:t>
            </a:r>
            <a:r>
              <a:rPr sz="2200" spc="10" dirty="0">
                <a:solidFill>
                  <a:srgbClr val="232852"/>
                </a:solidFill>
                <a:latin typeface="Verdana"/>
                <a:cs typeface="Verdana"/>
              </a:rPr>
              <a:t>mo </a:t>
            </a:r>
            <a:r>
              <a:rPr sz="220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2200" spc="120" dirty="0">
                <a:solidFill>
                  <a:srgbClr val="232852"/>
                </a:solidFill>
                <a:latin typeface="Verdana"/>
                <a:cs typeface="Verdana"/>
              </a:rPr>
              <a:t>debe </a:t>
            </a:r>
            <a:r>
              <a:rPr sz="2200" spc="-40" dirty="0">
                <a:solidFill>
                  <a:srgbClr val="232852"/>
                </a:solidFill>
                <a:latin typeface="Verdana"/>
                <a:cs typeface="Verdana"/>
              </a:rPr>
              <a:t>mantenerse </a:t>
            </a:r>
            <a:r>
              <a:rPr sz="2200" spc="-3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2200" spc="-50" dirty="0">
                <a:solidFill>
                  <a:srgbClr val="232852"/>
                </a:solidFill>
                <a:latin typeface="Verdana"/>
                <a:cs typeface="Verdana"/>
              </a:rPr>
              <a:t>software </a:t>
            </a:r>
            <a:r>
              <a:rPr sz="2200" spc="45" dirty="0">
                <a:solidFill>
                  <a:srgbClr val="232852"/>
                </a:solidFill>
                <a:latin typeface="Verdana"/>
                <a:cs typeface="Verdana"/>
              </a:rPr>
              <a:t>para </a:t>
            </a:r>
            <a:r>
              <a:rPr sz="2200" spc="-75" dirty="0">
                <a:solidFill>
                  <a:srgbClr val="232852"/>
                </a:solidFill>
                <a:latin typeface="Verdana"/>
                <a:cs typeface="Verdana"/>
              </a:rPr>
              <a:t>preservar </a:t>
            </a:r>
            <a:r>
              <a:rPr sz="2200" spc="-7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180" dirty="0">
                <a:solidFill>
                  <a:srgbClr val="232852"/>
                </a:solidFill>
                <a:latin typeface="Verdana"/>
                <a:cs typeface="Verdana"/>
              </a:rPr>
              <a:t>su</a:t>
            </a:r>
            <a:r>
              <a:rPr sz="2200" spc="-1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32852"/>
                </a:solidFill>
                <a:latin typeface="Verdana"/>
                <a:cs typeface="Verdana"/>
              </a:rPr>
              <a:t>fiabilidad?</a:t>
            </a:r>
            <a:r>
              <a:rPr sz="22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2200" spc="20" dirty="0">
                <a:solidFill>
                  <a:srgbClr val="232852"/>
                </a:solidFill>
                <a:latin typeface="Verdana"/>
                <a:cs typeface="Verdana"/>
              </a:rPr>
              <a:t>continuación</a:t>
            </a:r>
            <a:r>
              <a:rPr sz="22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232852"/>
                </a:solidFill>
                <a:latin typeface="Verdana"/>
                <a:cs typeface="Verdana"/>
              </a:rPr>
              <a:t>veremos</a:t>
            </a:r>
            <a:r>
              <a:rPr sz="22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100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22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25" dirty="0">
                <a:solidFill>
                  <a:srgbClr val="232852"/>
                </a:solidFill>
                <a:latin typeface="Verdana"/>
                <a:cs typeface="Verdana"/>
              </a:rPr>
              <a:t>circunstancias</a:t>
            </a:r>
            <a:r>
              <a:rPr sz="22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6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22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85" dirty="0">
                <a:solidFill>
                  <a:srgbClr val="232852"/>
                </a:solidFill>
                <a:latin typeface="Verdana"/>
                <a:cs typeface="Verdana"/>
              </a:rPr>
              <a:t>hacen</a:t>
            </a:r>
            <a:r>
              <a:rPr sz="22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6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22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22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60" dirty="0">
                <a:solidFill>
                  <a:srgbClr val="232852"/>
                </a:solidFill>
                <a:latin typeface="Verdana"/>
                <a:cs typeface="Verdana"/>
              </a:rPr>
              <a:t>respuesta</a:t>
            </a:r>
            <a:r>
              <a:rPr sz="22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17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2200" spc="-7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232852"/>
                </a:solidFill>
                <a:latin typeface="Verdana"/>
                <a:cs typeface="Verdana"/>
              </a:rPr>
              <a:t>esta</a:t>
            </a:r>
            <a:r>
              <a:rPr sz="22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32852"/>
                </a:solidFill>
                <a:latin typeface="Verdana"/>
                <a:cs typeface="Verdana"/>
              </a:rPr>
              <a:t>pregunta</a:t>
            </a:r>
            <a:r>
              <a:rPr sz="22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25" dirty="0">
                <a:solidFill>
                  <a:srgbClr val="232852"/>
                </a:solidFill>
                <a:latin typeface="Verdana"/>
                <a:cs typeface="Verdana"/>
              </a:rPr>
              <a:t>no</a:t>
            </a:r>
            <a:r>
              <a:rPr sz="22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5" dirty="0">
                <a:solidFill>
                  <a:srgbClr val="232852"/>
                </a:solidFill>
                <a:latin typeface="Verdana"/>
                <a:cs typeface="Verdana"/>
              </a:rPr>
              <a:t>sea</a:t>
            </a:r>
            <a:r>
              <a:rPr sz="22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5" dirty="0">
                <a:solidFill>
                  <a:srgbClr val="232852"/>
                </a:solidFill>
                <a:latin typeface="Verdana"/>
                <a:cs typeface="Verdana"/>
              </a:rPr>
              <a:t>fácil</a:t>
            </a:r>
            <a:r>
              <a:rPr sz="22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12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22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232852"/>
                </a:solidFill>
                <a:latin typeface="Verdana"/>
                <a:cs typeface="Verdana"/>
              </a:rPr>
              <a:t>esté</a:t>
            </a:r>
            <a:r>
              <a:rPr sz="22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-85" dirty="0">
                <a:solidFill>
                  <a:srgbClr val="232852"/>
                </a:solidFill>
                <a:latin typeface="Verdana"/>
                <a:cs typeface="Verdana"/>
              </a:rPr>
              <a:t>muy </a:t>
            </a:r>
            <a:r>
              <a:rPr sz="22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200" spc="55" dirty="0">
                <a:solidFill>
                  <a:srgbClr val="232852"/>
                </a:solidFill>
                <a:latin typeface="Verdana"/>
                <a:cs typeface="Verdana"/>
              </a:rPr>
              <a:t>condicionada.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615820"/>
            <a:ext cx="36645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260" dirty="0"/>
              <a:t>Có</a:t>
            </a:r>
            <a:r>
              <a:rPr sz="3200" spc="195" dirty="0"/>
              <a:t>d</a:t>
            </a:r>
            <a:r>
              <a:rPr sz="3200" spc="-245" dirty="0"/>
              <a:t>i</a:t>
            </a:r>
            <a:r>
              <a:rPr sz="3200" spc="160" dirty="0"/>
              <a:t>g</a:t>
            </a:r>
            <a:r>
              <a:rPr sz="3200" spc="155" dirty="0"/>
              <a:t>o</a:t>
            </a:r>
            <a:r>
              <a:rPr sz="3200" spc="65" dirty="0">
                <a:latin typeface="Times New Roman"/>
                <a:cs typeface="Times New Roman"/>
              </a:rPr>
              <a:t> </a:t>
            </a:r>
            <a:r>
              <a:rPr sz="3200" spc="-225" dirty="0"/>
              <a:t>H</a:t>
            </a:r>
            <a:r>
              <a:rPr sz="3200" spc="175" dirty="0"/>
              <a:t>e</a:t>
            </a:r>
            <a:r>
              <a:rPr sz="3200" spc="-405" dirty="0"/>
              <a:t>r</a:t>
            </a:r>
            <a:r>
              <a:rPr sz="3200" spc="175" dirty="0"/>
              <a:t>e</a:t>
            </a:r>
            <a:r>
              <a:rPr sz="3200" spc="195" dirty="0"/>
              <a:t>d</a:t>
            </a:r>
            <a:r>
              <a:rPr sz="3200" spc="260" dirty="0"/>
              <a:t>a</a:t>
            </a:r>
            <a:r>
              <a:rPr sz="3200" spc="195" dirty="0"/>
              <a:t>d</a:t>
            </a:r>
            <a:r>
              <a:rPr sz="3200" spc="155" dirty="0"/>
              <a:t>o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90957" y="2352549"/>
            <a:ext cx="6551295" cy="37325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95"/>
              </a:spcBef>
            </a:pPr>
            <a:r>
              <a:rPr sz="1200" spc="-12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200" spc="-114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actualidad,</a:t>
            </a:r>
            <a:r>
              <a:rPr sz="16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mayor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parte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éste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1600" spc="4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está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232852"/>
                </a:solidFill>
                <a:latin typeface="Verdana"/>
                <a:cs typeface="Verdana"/>
              </a:rPr>
              <a:t>formado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por </a:t>
            </a:r>
            <a:r>
              <a:rPr sz="1600" spc="65" dirty="0">
                <a:solidFill>
                  <a:srgbClr val="232852"/>
                </a:solidFill>
                <a:latin typeface="Verdana"/>
                <a:cs typeface="Verdana"/>
              </a:rPr>
              <a:t>código 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antiguo </a:t>
            </a:r>
            <a:r>
              <a:rPr sz="1600" spc="40" dirty="0">
                <a:solidFill>
                  <a:srgbClr val="232852"/>
                </a:solidFill>
                <a:latin typeface="Verdana"/>
                <a:cs typeface="Verdana"/>
              </a:rPr>
              <a:t>“heredado”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(del 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inglés </a:t>
            </a:r>
            <a:r>
              <a:rPr sz="1600" spc="45" dirty="0">
                <a:solidFill>
                  <a:srgbClr val="232852"/>
                </a:solidFill>
                <a:latin typeface="Verdana"/>
                <a:cs typeface="Verdana"/>
              </a:rPr>
              <a:t>legacy </a:t>
            </a:r>
            <a:r>
              <a:rPr sz="1600" spc="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code); </a:t>
            </a:r>
            <a:r>
              <a:rPr sz="1600" spc="-70" dirty="0">
                <a:solidFill>
                  <a:srgbClr val="232852"/>
                </a:solidFill>
                <a:latin typeface="Verdana"/>
                <a:cs typeface="Verdana"/>
              </a:rPr>
              <a:t>es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decir, </a:t>
            </a:r>
            <a:r>
              <a:rPr sz="1600" spc="65" dirty="0">
                <a:solidFill>
                  <a:srgbClr val="232852"/>
                </a:solidFill>
                <a:latin typeface="Verdana"/>
                <a:cs typeface="Verdana"/>
              </a:rPr>
              <a:t>código </a:t>
            </a:r>
            <a:r>
              <a:rPr sz="16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aplicaciones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desarrolladas 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hace </a:t>
            </a:r>
            <a:r>
              <a:rPr sz="1600" spc="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algún</a:t>
            </a:r>
            <a:r>
              <a:rPr sz="16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tiempo,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con</a:t>
            </a:r>
            <a:r>
              <a:rPr sz="1600" spc="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técnicas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6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herramientas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desuso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6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probablemente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por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personas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6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ya</a:t>
            </a:r>
            <a:r>
              <a:rPr sz="16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no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pertenecen</a:t>
            </a:r>
            <a:r>
              <a:rPr sz="16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al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232852"/>
                </a:solidFill>
                <a:latin typeface="Verdana"/>
                <a:cs typeface="Verdana"/>
              </a:rPr>
              <a:t>colectivo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responsable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este 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momento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16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16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concreto.</a:t>
            </a:r>
            <a:endParaRPr sz="1600">
              <a:latin typeface="Verdana"/>
              <a:cs typeface="Verdan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385"/>
              </a:spcBef>
            </a:pPr>
            <a:r>
              <a:rPr sz="1200" spc="-12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200" spc="-114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6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muchas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ocasiones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situación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600" spc="4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50" dirty="0">
                <a:solidFill>
                  <a:srgbClr val="232852"/>
                </a:solidFill>
                <a:latin typeface="Verdana"/>
                <a:cs typeface="Verdana"/>
              </a:rPr>
              <a:t>complica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porque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6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65" dirty="0">
                <a:solidFill>
                  <a:srgbClr val="232852"/>
                </a:solidFill>
                <a:latin typeface="Verdana"/>
                <a:cs typeface="Verdana"/>
              </a:rPr>
              <a:t>código </a:t>
            </a:r>
            <a:r>
              <a:rPr sz="1600" spc="40" dirty="0">
                <a:solidFill>
                  <a:srgbClr val="232852"/>
                </a:solidFill>
                <a:latin typeface="Verdana"/>
                <a:cs typeface="Verdana"/>
              </a:rPr>
              <a:t>heredado 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fue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objeto</a:t>
            </a:r>
            <a:r>
              <a:rPr sz="16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-65" dirty="0">
                <a:solidFill>
                  <a:srgbClr val="232852"/>
                </a:solidFill>
                <a:latin typeface="Verdana"/>
                <a:cs typeface="Verdana"/>
              </a:rPr>
              <a:t>múltiples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232852"/>
                </a:solidFill>
                <a:latin typeface="Verdana"/>
                <a:cs typeface="Verdana"/>
              </a:rPr>
              <a:t>actividades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mantenimiento.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45" dirty="0">
                <a:solidFill>
                  <a:srgbClr val="232852"/>
                </a:solidFill>
                <a:latin typeface="Verdana"/>
                <a:cs typeface="Verdana"/>
              </a:rPr>
              <a:t>opción</a:t>
            </a:r>
            <a:r>
              <a:rPr sz="1600" spc="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desechar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este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 software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6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232852"/>
                </a:solidFill>
                <a:latin typeface="Verdana"/>
                <a:cs typeface="Verdana"/>
              </a:rPr>
              <a:t>reescribirlo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30" dirty="0">
                <a:solidFill>
                  <a:srgbClr val="232852"/>
                </a:solidFill>
                <a:latin typeface="Verdana"/>
                <a:cs typeface="Verdana"/>
              </a:rPr>
              <a:t>para</a:t>
            </a:r>
            <a:r>
              <a:rPr sz="16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adaptarlo</a:t>
            </a:r>
            <a:r>
              <a:rPr sz="16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232852"/>
                </a:solidFill>
                <a:latin typeface="Verdana"/>
                <a:cs typeface="Verdana"/>
              </a:rPr>
              <a:t>las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nuevas</a:t>
            </a:r>
            <a:r>
              <a:rPr sz="16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necesidades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tecnológicas 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600" spc="12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600" spc="-8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cambios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600" spc="25" dirty="0">
                <a:solidFill>
                  <a:srgbClr val="232852"/>
                </a:solidFill>
                <a:latin typeface="Verdana"/>
                <a:cs typeface="Verdana"/>
              </a:rPr>
              <a:t>especificación </a:t>
            </a:r>
            <a:r>
              <a:rPr sz="1600" spc="-70" dirty="0">
                <a:solidFill>
                  <a:srgbClr val="232852"/>
                </a:solidFill>
                <a:latin typeface="Verdana"/>
                <a:cs typeface="Verdana"/>
              </a:rPr>
              <a:t>es 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muchas </a:t>
            </a:r>
            <a:r>
              <a:rPr sz="1600" spc="-5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veces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232852"/>
                </a:solidFill>
                <a:latin typeface="Verdana"/>
                <a:cs typeface="Verdana"/>
              </a:rPr>
              <a:t>inadecuada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por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gran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60" dirty="0">
                <a:solidFill>
                  <a:srgbClr val="232852"/>
                </a:solidFill>
                <a:latin typeface="Verdana"/>
                <a:cs typeface="Verdana"/>
              </a:rPr>
              <a:t>carga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financiera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supuso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600" spc="-5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desarrollo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software 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original </a:t>
            </a:r>
            <a:r>
              <a:rPr sz="1600" spc="-90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600" spc="30" dirty="0">
                <a:solidFill>
                  <a:srgbClr val="232852"/>
                </a:solidFill>
                <a:latin typeface="Verdana"/>
                <a:cs typeface="Verdana"/>
              </a:rPr>
              <a:t>necesidad </a:t>
            </a:r>
            <a:r>
              <a:rPr sz="1600" spc="60" dirty="0">
                <a:solidFill>
                  <a:srgbClr val="232852"/>
                </a:solidFill>
                <a:latin typeface="Verdana"/>
                <a:cs typeface="Verdana"/>
              </a:rPr>
              <a:t>económica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21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6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6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spc="-204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600" spc="-10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600" spc="-12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600" spc="-175" dirty="0">
                <a:solidFill>
                  <a:srgbClr val="232852"/>
                </a:solidFill>
                <a:latin typeface="Verdana"/>
                <a:cs typeface="Verdana"/>
              </a:rPr>
              <a:t>z</a:t>
            </a:r>
            <a:r>
              <a:rPr sz="1600" spc="1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35" dirty="0">
                <a:solidFill>
                  <a:srgbClr val="232852"/>
                </a:solidFill>
                <a:latin typeface="Verdana"/>
                <a:cs typeface="Verdana"/>
              </a:rPr>
              <a:t>ci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ó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600" spc="-14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0957" y="2300732"/>
            <a:ext cx="655193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86385" algn="l"/>
              </a:tabLst>
            </a:pPr>
            <a:r>
              <a:rPr sz="1300" spc="-150" dirty="0">
                <a:latin typeface="Microsoft Sans Serif"/>
                <a:cs typeface="Microsoft Sans Serif"/>
              </a:rPr>
              <a:t>	</a:t>
            </a:r>
            <a:r>
              <a:rPr sz="1700" spc="-100" dirty="0">
                <a:solidFill>
                  <a:srgbClr val="232852"/>
                </a:solidFill>
              </a:rPr>
              <a:t>Los</a:t>
            </a:r>
            <a:r>
              <a:rPr sz="1700" spc="250" dirty="0">
                <a:solidFill>
                  <a:srgbClr val="232852"/>
                </a:solidFill>
              </a:rPr>
              <a:t> </a:t>
            </a:r>
            <a:r>
              <a:rPr sz="1700" spc="-15" dirty="0">
                <a:solidFill>
                  <a:srgbClr val="232852"/>
                </a:solidFill>
              </a:rPr>
              <a:t>problemas</a:t>
            </a:r>
            <a:r>
              <a:rPr sz="1700" spc="245" dirty="0">
                <a:solidFill>
                  <a:srgbClr val="232852"/>
                </a:solidFill>
              </a:rPr>
              <a:t> </a:t>
            </a:r>
            <a:r>
              <a:rPr sz="1700" dirty="0">
                <a:solidFill>
                  <a:srgbClr val="232852"/>
                </a:solidFill>
              </a:rPr>
              <a:t>específicos</a:t>
            </a:r>
            <a:r>
              <a:rPr sz="1700" spc="254" dirty="0">
                <a:solidFill>
                  <a:srgbClr val="232852"/>
                </a:solidFill>
              </a:rPr>
              <a:t> </a:t>
            </a:r>
            <a:r>
              <a:rPr sz="1700" spc="15" dirty="0">
                <a:solidFill>
                  <a:srgbClr val="232852"/>
                </a:solidFill>
              </a:rPr>
              <a:t>del</a:t>
            </a:r>
            <a:r>
              <a:rPr sz="1700" spc="265" dirty="0">
                <a:solidFill>
                  <a:srgbClr val="232852"/>
                </a:solidFill>
              </a:rPr>
              <a:t> </a:t>
            </a:r>
            <a:r>
              <a:rPr sz="1700" spc="-25" dirty="0">
                <a:solidFill>
                  <a:srgbClr val="232852"/>
                </a:solidFill>
              </a:rPr>
              <a:t>mantenimiento</a:t>
            </a:r>
            <a:r>
              <a:rPr sz="1700" spc="250" dirty="0">
                <a:solidFill>
                  <a:srgbClr val="232852"/>
                </a:solidFill>
              </a:rPr>
              <a:t> </a:t>
            </a:r>
            <a:r>
              <a:rPr sz="1700" spc="95" dirty="0">
                <a:solidFill>
                  <a:srgbClr val="232852"/>
                </a:solidFill>
              </a:rPr>
              <a:t>de</a:t>
            </a:r>
            <a:r>
              <a:rPr sz="1700" spc="245" dirty="0">
                <a:solidFill>
                  <a:srgbClr val="232852"/>
                </a:solidFill>
              </a:rPr>
              <a:t> </a:t>
            </a:r>
            <a:r>
              <a:rPr sz="1700" spc="75" dirty="0">
                <a:solidFill>
                  <a:srgbClr val="232852"/>
                </a:solidFill>
              </a:rPr>
              <a:t>código</a:t>
            </a:r>
            <a:endParaRPr sz="170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5327" y="2507994"/>
            <a:ext cx="6278880" cy="28092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835"/>
              </a:lnSpc>
              <a:spcBef>
                <a:spcPts val="105"/>
              </a:spcBef>
            </a:pPr>
            <a:r>
              <a:rPr sz="1700" spc="40" dirty="0">
                <a:solidFill>
                  <a:srgbClr val="232852"/>
                </a:solidFill>
                <a:latin typeface="Verdana"/>
                <a:cs typeface="Verdana"/>
              </a:rPr>
              <a:t>heredado</a:t>
            </a:r>
            <a:r>
              <a:rPr sz="1700" spc="1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han</a:t>
            </a:r>
            <a:r>
              <a:rPr sz="1700" spc="1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sido</a:t>
            </a:r>
            <a:r>
              <a:rPr sz="1700" spc="1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caracterizados</a:t>
            </a:r>
            <a:r>
              <a:rPr sz="1700" spc="1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700" spc="1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las</a:t>
            </a:r>
            <a:r>
              <a:rPr sz="1700" spc="1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llamadas</a:t>
            </a:r>
            <a:r>
              <a:rPr sz="1700" spc="1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Leyes</a:t>
            </a:r>
            <a:endParaRPr sz="1700">
              <a:latin typeface="Verdana"/>
              <a:cs typeface="Verdana"/>
            </a:endParaRPr>
          </a:p>
          <a:p>
            <a:pPr marL="12700">
              <a:lnSpc>
                <a:spcPts val="1835"/>
              </a:lnSpc>
            </a:pP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700" spc="-1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1700" spc="3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[Lehman,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75" dirty="0">
                <a:solidFill>
                  <a:srgbClr val="232852"/>
                </a:solidFill>
                <a:latin typeface="Verdana"/>
                <a:cs typeface="Verdana"/>
              </a:rPr>
              <a:t>1980]: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Verdana"/>
              <a:cs typeface="Verdana"/>
            </a:endParaRPr>
          </a:p>
          <a:p>
            <a:pPr marL="309245" marR="5080" indent="-274320" algn="just">
              <a:lnSpc>
                <a:spcPct val="80000"/>
              </a:lnSpc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-1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i="1" spc="10" dirty="0">
                <a:solidFill>
                  <a:srgbClr val="232852"/>
                </a:solidFill>
                <a:latin typeface="Verdana"/>
                <a:cs typeface="Verdana"/>
              </a:rPr>
              <a:t>Continuidad</a:t>
            </a:r>
            <a:r>
              <a:rPr sz="1500" i="1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i="1" spc="1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500" i="1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i="1" spc="45" dirty="0">
                <a:solidFill>
                  <a:srgbClr val="232852"/>
                </a:solidFill>
                <a:latin typeface="Verdana"/>
                <a:cs typeface="Verdana"/>
              </a:rPr>
              <a:t>Cambio</a:t>
            </a:r>
            <a:r>
              <a:rPr sz="1500" i="1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4" dirty="0">
                <a:solidFill>
                  <a:srgbClr val="232852"/>
                </a:solidFill>
                <a:latin typeface="Verdana"/>
                <a:cs typeface="Verdana"/>
              </a:rPr>
              <a:t>–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 Un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programa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utilizado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entorno </a:t>
            </a:r>
            <a:r>
              <a:rPr sz="1500" spc="-5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mundo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real 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debe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cambiar,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ya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500" spc="-165" dirty="0">
                <a:solidFill>
                  <a:srgbClr val="232852"/>
                </a:solidFill>
                <a:latin typeface="Verdana"/>
                <a:cs typeface="Verdana"/>
              </a:rPr>
              <a:t>si</a:t>
            </a:r>
            <a:r>
              <a:rPr sz="1500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no </a:t>
            </a:r>
            <a:r>
              <a:rPr sz="1500" spc="125" dirty="0">
                <a:solidFill>
                  <a:srgbClr val="232852"/>
                </a:solidFill>
                <a:latin typeface="Verdana"/>
                <a:cs typeface="Verdana"/>
              </a:rPr>
              <a:t>cada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vez 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será 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menos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usado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dicho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entorno.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9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otras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palabras,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esto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significa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que,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tan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pronto 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como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programa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ha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sido 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escrito,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está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ya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desfasado. 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razones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500" spc="65" dirty="0">
                <a:solidFill>
                  <a:srgbClr val="232852"/>
                </a:solidFill>
                <a:latin typeface="Verdana"/>
                <a:cs typeface="Verdana"/>
              </a:rPr>
              <a:t>conducen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esta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afirmación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son 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varias: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2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 usuarios</a:t>
            </a:r>
            <a:r>
              <a:rPr sz="15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les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ocurren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nuevas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funcionalidades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60" dirty="0">
                <a:solidFill>
                  <a:srgbClr val="232852"/>
                </a:solidFill>
                <a:latin typeface="Verdana"/>
                <a:cs typeface="Verdana"/>
              </a:rPr>
              <a:t>cuando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comienzan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utilizar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software;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nuevas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características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hardware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pueden 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permitir</a:t>
            </a:r>
            <a:r>
              <a:rPr sz="15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mejoras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software;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encuentran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defectos en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software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500" spc="60" dirty="0">
                <a:solidFill>
                  <a:srgbClr val="232852"/>
                </a:solidFill>
                <a:latin typeface="Verdana"/>
                <a:cs typeface="Verdana"/>
              </a:rPr>
              <a:t>deben 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ser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corregidos;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75" dirty="0">
                <a:solidFill>
                  <a:srgbClr val="232852"/>
                </a:solidFill>
                <a:latin typeface="Verdana"/>
                <a:cs typeface="Verdana"/>
              </a:rPr>
              <a:t>debe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instalarse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5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otro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sistema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operativo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500" spc="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máquina;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necesita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ser</a:t>
            </a:r>
            <a:r>
              <a:rPr sz="15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más</a:t>
            </a:r>
            <a:r>
              <a:rPr sz="15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eficiente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0957" y="2300732"/>
            <a:ext cx="6552565" cy="28765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87020" marR="5080" indent="-274955" algn="just">
              <a:lnSpc>
                <a:spcPct val="80000"/>
              </a:lnSpc>
              <a:spcBef>
                <a:spcPts val="509"/>
              </a:spcBef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700" i="1" spc="-35" dirty="0">
                <a:solidFill>
                  <a:srgbClr val="232852"/>
                </a:solidFill>
                <a:latin typeface="Verdana"/>
                <a:cs typeface="Verdana"/>
              </a:rPr>
              <a:t>Incremento </a:t>
            </a:r>
            <a:r>
              <a:rPr sz="1700" i="1" spc="9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i="1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700" i="1" spc="20" dirty="0">
                <a:solidFill>
                  <a:srgbClr val="232852"/>
                </a:solidFill>
                <a:latin typeface="Verdana"/>
                <a:cs typeface="Verdana"/>
              </a:rPr>
              <a:t>Complejidad </a:t>
            </a:r>
            <a:r>
              <a:rPr sz="1700" spc="-229" dirty="0">
                <a:solidFill>
                  <a:srgbClr val="232852"/>
                </a:solidFill>
                <a:latin typeface="Verdana"/>
                <a:cs typeface="Verdana"/>
              </a:rPr>
              <a:t>–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par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cambios </a:t>
            </a:r>
            <a:r>
              <a:rPr sz="1700" spc="-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transforman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90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programas,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su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estructura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hará 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progresivamente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más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compleja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salvo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45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haga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esfuerzo 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activo </a:t>
            </a:r>
            <a:r>
              <a:rPr sz="1700" spc="40" dirty="0">
                <a:solidFill>
                  <a:srgbClr val="232852"/>
                </a:solidFill>
                <a:latin typeface="Verdana"/>
                <a:cs typeface="Verdana"/>
              </a:rPr>
              <a:t>para 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evitar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este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fenómeno. </a:t>
            </a:r>
            <a:r>
              <a:rPr sz="1700" spc="-100" dirty="0">
                <a:solidFill>
                  <a:srgbClr val="232852"/>
                </a:solidFill>
                <a:latin typeface="Verdana"/>
                <a:cs typeface="Verdana"/>
              </a:rPr>
              <a:t>Esto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significa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al 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realizar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cambios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programa </a:t>
            </a:r>
            <a:r>
              <a:rPr sz="1700" spc="-10" dirty="0">
                <a:solidFill>
                  <a:srgbClr val="232852"/>
                </a:solidFill>
                <a:latin typeface="Verdana"/>
                <a:cs typeface="Verdana"/>
              </a:rPr>
              <a:t>(excluyendo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 mantenimiento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preventivo),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estructura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45" dirty="0">
                <a:solidFill>
                  <a:srgbClr val="232852"/>
                </a:solidFill>
                <a:latin typeface="Verdana"/>
                <a:cs typeface="Verdana"/>
              </a:rPr>
              <a:t>dicho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programa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hace</a:t>
            </a:r>
            <a:r>
              <a:rPr sz="1700" spc="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50" dirty="0">
                <a:solidFill>
                  <a:srgbClr val="232852"/>
                </a:solidFill>
                <a:latin typeface="Verdana"/>
                <a:cs typeface="Verdana"/>
              </a:rPr>
              <a:t>más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compleja</a:t>
            </a:r>
            <a:r>
              <a:rPr sz="17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75" dirty="0">
                <a:solidFill>
                  <a:srgbClr val="232852"/>
                </a:solidFill>
                <a:latin typeface="Verdana"/>
                <a:cs typeface="Verdana"/>
              </a:rPr>
              <a:t>cuando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90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0" dirty="0">
                <a:solidFill>
                  <a:srgbClr val="232852"/>
                </a:solidFill>
                <a:latin typeface="Verdana"/>
                <a:cs typeface="Verdana"/>
              </a:rPr>
              <a:t>programadores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no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pueden 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no 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quieren </a:t>
            </a:r>
            <a:r>
              <a:rPr sz="1700" spc="-90" dirty="0">
                <a:solidFill>
                  <a:srgbClr val="232852"/>
                </a:solidFill>
                <a:latin typeface="Verdana"/>
                <a:cs typeface="Verdana"/>
              </a:rPr>
              <a:t>usar 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técnicas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-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ge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-12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í</a:t>
            </a:r>
            <a:r>
              <a:rPr sz="1700" spc="14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2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700" spc="3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229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700" spc="-10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15" dirty="0">
                <a:solidFill>
                  <a:srgbClr val="232852"/>
                </a:solidFill>
                <a:latin typeface="Verdana"/>
                <a:cs typeface="Verdana"/>
              </a:rPr>
              <a:t>w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00">
              <a:latin typeface="Verdana"/>
              <a:cs typeface="Verdana"/>
            </a:endParaRPr>
          </a:p>
          <a:p>
            <a:pPr marL="287020" marR="6350" indent="-274955" algn="just">
              <a:lnSpc>
                <a:spcPct val="80000"/>
              </a:lnSpc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700" i="1" spc="-25" dirty="0">
                <a:solidFill>
                  <a:srgbClr val="232852"/>
                </a:solidFill>
                <a:latin typeface="Verdana"/>
                <a:cs typeface="Verdana"/>
              </a:rPr>
              <a:t>Evolución </a:t>
            </a:r>
            <a:r>
              <a:rPr sz="1700" i="1" spc="20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700" i="1" spc="-10" dirty="0">
                <a:solidFill>
                  <a:srgbClr val="232852"/>
                </a:solidFill>
                <a:latin typeface="Verdana"/>
                <a:cs typeface="Verdana"/>
              </a:rPr>
              <a:t>Programa </a:t>
            </a:r>
            <a:r>
              <a:rPr sz="1700" spc="-229" dirty="0">
                <a:solidFill>
                  <a:srgbClr val="232852"/>
                </a:solidFill>
                <a:latin typeface="Verdana"/>
                <a:cs typeface="Verdana"/>
              </a:rPr>
              <a:t>– </a:t>
            </a:r>
            <a:r>
              <a:rPr sz="1700" spc="-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evolución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1700" spc="5" dirty="0">
                <a:solidFill>
                  <a:srgbClr val="232852"/>
                </a:solidFill>
                <a:latin typeface="Verdana"/>
                <a:cs typeface="Verdana"/>
              </a:rPr>
              <a:t>programa 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es </a:t>
            </a:r>
            <a:r>
              <a:rPr sz="1700" spc="-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proceso </a:t>
            </a:r>
            <a:r>
              <a:rPr sz="1700" spc="-15" dirty="0">
                <a:solidFill>
                  <a:srgbClr val="232852"/>
                </a:solidFill>
                <a:latin typeface="Verdana"/>
                <a:cs typeface="Verdana"/>
              </a:rPr>
              <a:t>autorregulado. </a:t>
            </a:r>
            <a:r>
              <a:rPr sz="1700" spc="-85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1700" dirty="0">
                <a:solidFill>
                  <a:srgbClr val="232852"/>
                </a:solidFill>
                <a:latin typeface="Verdana"/>
                <a:cs typeface="Verdana"/>
              </a:rPr>
              <a:t>medidas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700" spc="-10" dirty="0">
                <a:solidFill>
                  <a:srgbClr val="232852"/>
                </a:solidFill>
                <a:latin typeface="Verdana"/>
                <a:cs typeface="Verdana"/>
              </a:rPr>
              <a:t>determinadas </a:t>
            </a:r>
            <a:r>
              <a:rPr sz="17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9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165" dirty="0">
                <a:solidFill>
                  <a:srgbClr val="232852"/>
                </a:solidFill>
                <a:latin typeface="Verdana"/>
                <a:cs typeface="Verdana"/>
              </a:rPr>
              <a:t>(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ñ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,</a:t>
            </a:r>
            <a:r>
              <a:rPr sz="1700" spc="8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700" spc="8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6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v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-24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7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9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700" spc="7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nú</a:t>
            </a:r>
            <a:r>
              <a:rPr sz="1700" spc="2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700" spc="1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700" spc="7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5321" y="5099427"/>
            <a:ext cx="433768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9205" algn="l"/>
                <a:tab pos="2515235" algn="l"/>
              </a:tabLst>
            </a:pPr>
            <a:r>
              <a:rPr sz="1700" spc="-95" dirty="0">
                <a:solidFill>
                  <a:srgbClr val="232852"/>
                </a:solidFill>
                <a:latin typeface="Verdana"/>
                <a:cs typeface="Verdana"/>
              </a:rPr>
              <a:t>errores)</a:t>
            </a:r>
            <a:r>
              <a:rPr sz="1700" spc="-95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revelan</a:t>
            </a:r>
            <a:r>
              <a:rPr sz="1700" spc="-20" dirty="0">
                <a:solidFill>
                  <a:srgbClr val="232852"/>
                </a:solidFill>
                <a:latin typeface="Times New Roman"/>
                <a:cs typeface="Times New Roman"/>
              </a:rPr>
              <a:t>	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estadísticamente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5706" y="5099427"/>
            <a:ext cx="14966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-14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700" spc="-4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-35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1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endParaRPr sz="17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5321" y="5306690"/>
            <a:ext cx="265430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220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2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5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v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21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-10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0957" y="2352548"/>
            <a:ext cx="6553200" cy="3781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7020" marR="7620" indent="-274955" algn="just">
              <a:lnSpc>
                <a:spcPct val="100000"/>
              </a:lnSpc>
              <a:spcBef>
                <a:spcPts val="95"/>
              </a:spcBef>
            </a:pPr>
            <a:r>
              <a:rPr sz="1200" spc="-12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200" spc="-2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600" i="1" spc="5" dirty="0">
                <a:solidFill>
                  <a:srgbClr val="232852"/>
                </a:solidFill>
                <a:latin typeface="Verdana"/>
                <a:cs typeface="Verdana"/>
              </a:rPr>
              <a:t>Conservación</a:t>
            </a:r>
            <a:r>
              <a:rPr sz="1600" i="1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i="1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600" i="1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600" i="1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i="1" spc="-30" dirty="0">
                <a:solidFill>
                  <a:srgbClr val="232852"/>
                </a:solidFill>
                <a:latin typeface="Verdana"/>
                <a:cs typeface="Verdana"/>
              </a:rPr>
              <a:t>Estabilidad</a:t>
            </a:r>
            <a:r>
              <a:rPr sz="1600" i="1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rganizacional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220" dirty="0">
                <a:solidFill>
                  <a:srgbClr val="232852"/>
                </a:solidFill>
                <a:latin typeface="Verdana"/>
                <a:cs typeface="Verdana"/>
              </a:rPr>
              <a:t>–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232852"/>
                </a:solidFill>
                <a:latin typeface="Verdana"/>
                <a:cs typeface="Verdana"/>
              </a:rPr>
              <a:t>lo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largo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600" spc="-5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tiempo </a:t>
            </a:r>
            <a:r>
              <a:rPr sz="1600" spc="9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vida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programa,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600" spc="60" dirty="0">
                <a:solidFill>
                  <a:srgbClr val="232852"/>
                </a:solidFill>
                <a:latin typeface="Verdana"/>
                <a:cs typeface="Verdana"/>
              </a:rPr>
              <a:t>carga </a:t>
            </a:r>
            <a:r>
              <a:rPr sz="16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supone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6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desarrollo</a:t>
            </a:r>
            <a:r>
              <a:rPr sz="16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6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232852"/>
                </a:solidFill>
                <a:latin typeface="Verdana"/>
                <a:cs typeface="Verdana"/>
              </a:rPr>
              <a:t>dicho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programa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232852"/>
                </a:solidFill>
                <a:latin typeface="Verdana"/>
                <a:cs typeface="Verdana"/>
              </a:rPr>
              <a:t>es</a:t>
            </a:r>
            <a:r>
              <a:rPr sz="16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aproximadamente</a:t>
            </a:r>
            <a:r>
              <a:rPr sz="16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constante </a:t>
            </a:r>
            <a:r>
              <a:rPr sz="1600" spc="-5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600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5" dirty="0">
                <a:solidFill>
                  <a:srgbClr val="232852"/>
                </a:solidFill>
                <a:latin typeface="Verdana"/>
                <a:cs typeface="Verdana"/>
              </a:rPr>
              <a:t>independiente</a:t>
            </a:r>
            <a:r>
              <a:rPr sz="16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6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85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6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232852"/>
                </a:solidFill>
                <a:latin typeface="Verdana"/>
                <a:cs typeface="Verdana"/>
              </a:rPr>
              <a:t>recursos</a:t>
            </a:r>
            <a:r>
              <a:rPr sz="16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25" dirty="0">
                <a:solidFill>
                  <a:srgbClr val="232852"/>
                </a:solidFill>
                <a:latin typeface="Verdana"/>
                <a:cs typeface="Verdana"/>
              </a:rPr>
              <a:t>dedicados.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00">
              <a:latin typeface="Verdana"/>
              <a:cs typeface="Verdana"/>
            </a:endParaRPr>
          </a:p>
          <a:p>
            <a:pPr marL="287020" marR="5080" indent="-274955" algn="just">
              <a:lnSpc>
                <a:spcPct val="100000"/>
              </a:lnSpc>
            </a:pPr>
            <a:r>
              <a:rPr sz="1200" spc="-12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200" spc="-114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600" i="1" spc="5" dirty="0">
                <a:solidFill>
                  <a:srgbClr val="232852"/>
                </a:solidFill>
                <a:latin typeface="Verdana"/>
                <a:cs typeface="Verdana"/>
              </a:rPr>
              <a:t>Conservación </a:t>
            </a:r>
            <a:r>
              <a:rPr sz="1600" i="1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i="1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600" i="1" spc="-30" dirty="0">
                <a:solidFill>
                  <a:srgbClr val="232852"/>
                </a:solidFill>
                <a:latin typeface="Verdana"/>
                <a:cs typeface="Verdana"/>
              </a:rPr>
              <a:t>Familiaridad </a:t>
            </a:r>
            <a:r>
              <a:rPr sz="1600" spc="-220" dirty="0">
                <a:solidFill>
                  <a:srgbClr val="232852"/>
                </a:solidFill>
                <a:latin typeface="Verdana"/>
                <a:cs typeface="Verdana"/>
              </a:rPr>
              <a:t>–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Durante </a:t>
            </a:r>
            <a:r>
              <a:rPr sz="1600" spc="35" dirty="0">
                <a:solidFill>
                  <a:srgbClr val="232852"/>
                </a:solidFill>
                <a:latin typeface="Verdana"/>
                <a:cs typeface="Verdana"/>
              </a:rPr>
              <a:t>todo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tiempo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vida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1600" spc="-80" dirty="0">
                <a:solidFill>
                  <a:srgbClr val="232852"/>
                </a:solidFill>
                <a:latin typeface="Verdana"/>
                <a:cs typeface="Verdana"/>
              </a:rPr>
              <a:t>sistema,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incremento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número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cambios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incluidos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0" dirty="0">
                <a:solidFill>
                  <a:srgbClr val="232852"/>
                </a:solidFill>
                <a:latin typeface="Verdana"/>
                <a:cs typeface="Verdana"/>
              </a:rPr>
              <a:t>con </a:t>
            </a:r>
            <a:r>
              <a:rPr sz="1600" spc="135" dirty="0">
                <a:solidFill>
                  <a:srgbClr val="232852"/>
                </a:solidFill>
                <a:latin typeface="Verdana"/>
                <a:cs typeface="Verdana"/>
              </a:rPr>
              <a:t>cada </a:t>
            </a:r>
            <a:r>
              <a:rPr sz="1600" spc="-70" dirty="0">
                <a:solidFill>
                  <a:srgbClr val="232852"/>
                </a:solidFill>
                <a:latin typeface="Verdana"/>
                <a:cs typeface="Verdana"/>
              </a:rPr>
              <a:t>versión</a:t>
            </a:r>
            <a:r>
              <a:rPr sz="16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(release)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232852"/>
                </a:solidFill>
                <a:latin typeface="Verdana"/>
                <a:cs typeface="Verdana"/>
              </a:rPr>
              <a:t>es</a:t>
            </a:r>
            <a:r>
              <a:rPr sz="16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aproximadamente </a:t>
            </a:r>
            <a:r>
              <a:rPr sz="16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constante. 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Casi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veinte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años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después,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600" spc="-75" dirty="0">
                <a:solidFill>
                  <a:srgbClr val="232852"/>
                </a:solidFill>
                <a:latin typeface="Verdana"/>
                <a:cs typeface="Verdana"/>
              </a:rPr>
              <a:t>mismo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autor </a:t>
            </a:r>
            <a:r>
              <a:rPr sz="1600" spc="-20" dirty="0">
                <a:solidFill>
                  <a:srgbClr val="232852"/>
                </a:solidFill>
                <a:latin typeface="Verdana"/>
                <a:cs typeface="Verdana"/>
              </a:rPr>
              <a:t>vuelve </a:t>
            </a:r>
            <a:r>
              <a:rPr sz="1600" spc="12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600" spc="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confirmar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232852"/>
                </a:solidFill>
                <a:latin typeface="Verdana"/>
                <a:cs typeface="Verdana"/>
              </a:rPr>
              <a:t>las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leyes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5" dirty="0">
                <a:solidFill>
                  <a:srgbClr val="232852"/>
                </a:solidFill>
                <a:latin typeface="Verdana"/>
                <a:cs typeface="Verdana"/>
              </a:rPr>
              <a:t>anteriores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[Lehman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et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70" dirty="0">
                <a:solidFill>
                  <a:srgbClr val="232852"/>
                </a:solidFill>
                <a:latin typeface="Verdana"/>
                <a:cs typeface="Verdana"/>
              </a:rPr>
              <a:t>al.,</a:t>
            </a:r>
            <a:r>
              <a:rPr sz="16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65" dirty="0">
                <a:solidFill>
                  <a:srgbClr val="232852"/>
                </a:solidFill>
                <a:latin typeface="Verdana"/>
                <a:cs typeface="Verdana"/>
              </a:rPr>
              <a:t>1998]:</a:t>
            </a:r>
            <a:r>
              <a:rPr sz="1600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6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afirmación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“los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grandes</a:t>
            </a:r>
            <a:r>
              <a:rPr sz="16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programas</a:t>
            </a:r>
            <a:r>
              <a:rPr sz="16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no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llegan</a:t>
            </a:r>
            <a:r>
              <a:rPr sz="16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40" dirty="0">
                <a:solidFill>
                  <a:srgbClr val="232852"/>
                </a:solidFill>
                <a:latin typeface="Verdana"/>
                <a:cs typeface="Verdana"/>
              </a:rPr>
              <a:t>nunca</a:t>
            </a:r>
            <a:r>
              <a:rPr sz="16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2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600" spc="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completarse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6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están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constante</a:t>
            </a:r>
            <a:r>
              <a:rPr sz="1600" spc="5" dirty="0">
                <a:solidFill>
                  <a:srgbClr val="232852"/>
                </a:solidFill>
                <a:latin typeface="Verdana"/>
                <a:cs typeface="Verdana"/>
              </a:rPr>
              <a:t> evolución”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600" spc="43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ve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232852"/>
                </a:solidFill>
                <a:latin typeface="Verdana"/>
                <a:cs typeface="Verdana"/>
              </a:rPr>
              <a:t>confirmada</a:t>
            </a:r>
            <a:r>
              <a:rPr sz="1600" spc="5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232852"/>
                </a:solidFill>
                <a:latin typeface="Verdana"/>
                <a:cs typeface="Verdana"/>
              </a:rPr>
              <a:t>por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6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50" dirty="0">
                <a:solidFill>
                  <a:srgbClr val="232852"/>
                </a:solidFill>
                <a:latin typeface="Verdana"/>
                <a:cs typeface="Verdana"/>
              </a:rPr>
              <a:t>hecho</a:t>
            </a:r>
            <a:r>
              <a:rPr sz="1600" spc="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600" spc="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" dirty="0">
                <a:solidFill>
                  <a:srgbClr val="232852"/>
                </a:solidFill>
                <a:latin typeface="Verdana"/>
                <a:cs typeface="Verdana"/>
              </a:rPr>
              <a:t>que,</a:t>
            </a:r>
            <a:r>
              <a:rPr sz="16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70" dirty="0">
                <a:solidFill>
                  <a:srgbClr val="232852"/>
                </a:solidFill>
                <a:latin typeface="Verdana"/>
                <a:cs typeface="Verdana"/>
              </a:rPr>
              <a:t>como</a:t>
            </a:r>
            <a:r>
              <a:rPr sz="1600" spc="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ya</a:t>
            </a:r>
            <a:r>
              <a:rPr sz="16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232852"/>
                </a:solidFill>
                <a:latin typeface="Verdana"/>
                <a:cs typeface="Verdana"/>
              </a:rPr>
              <a:t>hemos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20" dirty="0">
                <a:solidFill>
                  <a:srgbClr val="232852"/>
                </a:solidFill>
                <a:latin typeface="Verdana"/>
                <a:cs typeface="Verdana"/>
              </a:rPr>
              <a:t>mencionado, </a:t>
            </a:r>
            <a:r>
              <a:rPr sz="1600" spc="40" dirty="0">
                <a:solidFill>
                  <a:srgbClr val="232852"/>
                </a:solidFill>
                <a:latin typeface="Verdana"/>
                <a:cs typeface="Verdana"/>
              </a:rPr>
              <a:t>algo 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más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600" spc="-250" dirty="0">
                <a:solidFill>
                  <a:srgbClr val="232852"/>
                </a:solidFill>
                <a:latin typeface="Verdana"/>
                <a:cs typeface="Verdana"/>
              </a:rPr>
              <a:t>60%</a:t>
            </a:r>
            <a:r>
              <a:rPr sz="1600" spc="-2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600" spc="-70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1600" spc="5" dirty="0">
                <a:solidFill>
                  <a:srgbClr val="232852"/>
                </a:solidFill>
                <a:latin typeface="Verdana"/>
                <a:cs typeface="Verdana"/>
              </a:rPr>
              <a:t>modificaciones </a:t>
            </a:r>
            <a:r>
              <a:rPr sz="16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600" spc="-6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600" spc="-5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232852"/>
                </a:solidFill>
                <a:latin typeface="Verdana"/>
                <a:cs typeface="Verdana"/>
              </a:rPr>
              <a:t>realizan</a:t>
            </a:r>
            <a:r>
              <a:rPr sz="16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5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6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6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45" dirty="0">
                <a:solidFill>
                  <a:srgbClr val="232852"/>
                </a:solidFill>
                <a:latin typeface="Verdana"/>
                <a:cs typeface="Verdana"/>
              </a:rPr>
              <a:t>software</a:t>
            </a:r>
            <a:r>
              <a:rPr sz="16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65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6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232852"/>
                </a:solidFill>
                <a:latin typeface="Verdana"/>
                <a:cs typeface="Verdana"/>
              </a:rPr>
              <a:t>refieren</a:t>
            </a:r>
            <a:r>
              <a:rPr sz="16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1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6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6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232852"/>
                </a:solidFill>
                <a:latin typeface="Verdana"/>
                <a:cs typeface="Verdana"/>
              </a:rPr>
              <a:t>perfectivo.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2377" y="1553336"/>
            <a:ext cx="6602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P</a:t>
            </a:r>
            <a:r>
              <a:rPr spc="-455" dirty="0"/>
              <a:t>r</a:t>
            </a:r>
            <a:r>
              <a:rPr spc="170" dirty="0"/>
              <a:t>o</a:t>
            </a:r>
            <a:r>
              <a:rPr spc="204" dirty="0"/>
              <a:t>b</a:t>
            </a:r>
            <a:r>
              <a:rPr spc="-275" dirty="0"/>
              <a:t>l</a:t>
            </a:r>
            <a:r>
              <a:rPr spc="195" dirty="0"/>
              <a:t>e</a:t>
            </a:r>
            <a:r>
              <a:rPr spc="105" dirty="0"/>
              <a:t>m</a:t>
            </a:r>
            <a:r>
              <a:rPr spc="60" dirty="0"/>
              <a:t>a</a:t>
            </a:r>
            <a:r>
              <a:rPr spc="-480" dirty="0"/>
              <a:t>s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spc="215" dirty="0"/>
              <a:t>d</a:t>
            </a:r>
            <a:r>
              <a:rPr spc="195" dirty="0"/>
              <a:t>e</a:t>
            </a:r>
            <a:r>
              <a:rPr spc="95" dirty="0">
                <a:latin typeface="Times New Roman"/>
                <a:cs typeface="Times New Roman"/>
              </a:rPr>
              <a:t> </a:t>
            </a:r>
            <a:r>
              <a:rPr spc="275" dirty="0"/>
              <a:t>M</a:t>
            </a:r>
            <a:r>
              <a:rPr spc="290" dirty="0"/>
              <a:t>a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195" dirty="0"/>
              <a:t>e</a:t>
            </a:r>
            <a:r>
              <a:rPr spc="-85" dirty="0"/>
              <a:t>n</a:t>
            </a:r>
            <a:r>
              <a:rPr spc="-275" dirty="0"/>
              <a:t>i</a:t>
            </a:r>
            <a:r>
              <a:rPr spc="-310" dirty="0"/>
              <a:t>m</a:t>
            </a:r>
            <a:r>
              <a:rPr spc="-95" dirty="0"/>
              <a:t>i</a:t>
            </a:r>
            <a:r>
              <a:rPr spc="195" dirty="0"/>
              <a:t>e</a:t>
            </a:r>
            <a:r>
              <a:rPr spc="-85" dirty="0"/>
              <a:t>n</a:t>
            </a:r>
            <a:r>
              <a:rPr spc="-200" dirty="0"/>
              <a:t>t</a:t>
            </a:r>
            <a:r>
              <a:rPr spc="17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0957" y="2300729"/>
            <a:ext cx="6553834" cy="338201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287020" marR="5715" indent="-274955" algn="just">
              <a:lnSpc>
                <a:spcPct val="80000"/>
              </a:lnSpc>
              <a:spcBef>
                <a:spcPts val="509"/>
              </a:spcBef>
            </a:pPr>
            <a:r>
              <a:rPr sz="1300" spc="-150" dirty="0">
                <a:solidFill>
                  <a:srgbClr val="619CD1"/>
                </a:solidFill>
                <a:latin typeface="Microsoft Sans Serif"/>
                <a:cs typeface="Microsoft Sans Serif"/>
              </a:rPr>
              <a:t>  </a:t>
            </a:r>
            <a:r>
              <a:rPr sz="1300" spc="-3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700" spc="114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8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7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á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9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7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114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700" spc="1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9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-60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75" dirty="0">
                <a:solidFill>
                  <a:srgbClr val="232852"/>
                </a:solidFill>
                <a:latin typeface="Verdana"/>
                <a:cs typeface="Verdana"/>
              </a:rPr>
              <a:t>cu</a:t>
            </a:r>
            <a:r>
              <a:rPr sz="1700" spc="-114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22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9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10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8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700" spc="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-11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-12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-7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700" spc="-135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700" spc="-10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700" spc="8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700" spc="9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95" dirty="0">
                <a:solidFill>
                  <a:srgbClr val="232852"/>
                </a:solidFill>
                <a:latin typeface="Verdana"/>
                <a:cs typeface="Verdana"/>
              </a:rPr>
              <a:t>q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8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229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700" spc="9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700" spc="-40" dirty="0">
                <a:solidFill>
                  <a:srgbClr val="232852"/>
                </a:solidFill>
                <a:latin typeface="Verdana"/>
                <a:cs typeface="Verdana"/>
              </a:rPr>
              <a:t>ñ</a:t>
            </a:r>
            <a:r>
              <a:rPr sz="1700" spc="13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13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700" spc="125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n </a:t>
            </a:r>
            <a:r>
              <a:rPr sz="1700" spc="-1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700" spc="-75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1700" spc="-55" dirty="0">
                <a:solidFill>
                  <a:srgbClr val="232852"/>
                </a:solidFill>
                <a:latin typeface="Verdana"/>
                <a:cs typeface="Verdana"/>
              </a:rPr>
              <a:t>leyes </a:t>
            </a:r>
            <a:r>
              <a:rPr sz="1700" spc="-65" dirty="0">
                <a:solidFill>
                  <a:srgbClr val="232852"/>
                </a:solidFill>
                <a:latin typeface="Verdana"/>
                <a:cs typeface="Verdana"/>
              </a:rPr>
              <a:t>anteriores, </a:t>
            </a:r>
            <a:r>
              <a:rPr sz="1700" spc="-75" dirty="0">
                <a:solidFill>
                  <a:srgbClr val="232852"/>
                </a:solidFill>
                <a:latin typeface="Verdana"/>
                <a:cs typeface="Verdana"/>
              </a:rPr>
              <a:t>existen </a:t>
            </a:r>
            <a:r>
              <a:rPr sz="1700" spc="-80" dirty="0">
                <a:solidFill>
                  <a:srgbClr val="232852"/>
                </a:solidFill>
                <a:latin typeface="Verdana"/>
                <a:cs typeface="Verdana"/>
              </a:rPr>
              <a:t>otros </a:t>
            </a:r>
            <a:r>
              <a:rPr sz="1700" spc="-15" dirty="0">
                <a:solidFill>
                  <a:srgbClr val="232852"/>
                </a:solidFill>
                <a:latin typeface="Verdana"/>
                <a:cs typeface="Verdana"/>
              </a:rPr>
              <a:t>problemas </a:t>
            </a:r>
            <a:r>
              <a:rPr sz="1700" spc="-10" dirty="0">
                <a:solidFill>
                  <a:srgbClr val="232852"/>
                </a:solidFill>
                <a:latin typeface="Verdana"/>
                <a:cs typeface="Verdana"/>
              </a:rPr>
              <a:t>clásicos </a:t>
            </a:r>
            <a:r>
              <a:rPr sz="1700" spc="5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700" spc="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45" dirty="0">
                <a:solidFill>
                  <a:srgbClr val="232852"/>
                </a:solidFill>
                <a:latin typeface="Verdana"/>
                <a:cs typeface="Verdana"/>
              </a:rPr>
              <a:t>complican</a:t>
            </a:r>
            <a:r>
              <a:rPr sz="1700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0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7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25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30" dirty="0">
                <a:solidFill>
                  <a:srgbClr val="232852"/>
                </a:solidFill>
                <a:latin typeface="Verdana"/>
                <a:cs typeface="Verdana"/>
              </a:rPr>
              <a:t>[Schneidewind,</a:t>
            </a:r>
            <a:r>
              <a:rPr sz="1700" spc="-1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700" spc="-175" dirty="0">
                <a:solidFill>
                  <a:srgbClr val="232852"/>
                </a:solidFill>
                <a:latin typeface="Verdana"/>
                <a:cs typeface="Verdana"/>
              </a:rPr>
              <a:t>1987]:</a:t>
            </a:r>
            <a:endParaRPr sz="17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>
              <a:latin typeface="Verdana"/>
              <a:cs typeface="Verdana"/>
            </a:endParaRPr>
          </a:p>
          <a:p>
            <a:pPr marL="584200" marR="5080" indent="-274320" algn="just">
              <a:lnSpc>
                <a:spcPct val="80000"/>
              </a:lnSpc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menudo,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mantenimiento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es 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realizado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una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manera </a:t>
            </a:r>
            <a:r>
              <a:rPr sz="1500" spc="105" dirty="0">
                <a:solidFill>
                  <a:srgbClr val="232852"/>
                </a:solidFill>
                <a:latin typeface="Verdana"/>
                <a:cs typeface="Verdana"/>
              </a:rPr>
              <a:t>ad </a:t>
            </a:r>
            <a:r>
              <a:rPr sz="1500" spc="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75" dirty="0">
                <a:solidFill>
                  <a:srgbClr val="232852"/>
                </a:solidFill>
                <a:latin typeface="Verdana"/>
                <a:cs typeface="Verdana"/>
              </a:rPr>
              <a:t>hoc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un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estilo 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libre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establecido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por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propio programador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(esta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opinión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también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es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5" dirty="0">
                <a:solidFill>
                  <a:srgbClr val="232852"/>
                </a:solidFill>
                <a:latin typeface="Verdana"/>
                <a:cs typeface="Verdana"/>
              </a:rPr>
              <a:t>compartida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por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Pressman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35" dirty="0">
                <a:solidFill>
                  <a:srgbClr val="232852"/>
                </a:solidFill>
                <a:latin typeface="Verdana"/>
                <a:cs typeface="Verdana"/>
              </a:rPr>
              <a:t>[1993], </a:t>
            </a:r>
            <a:r>
              <a:rPr sz="1500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quien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afirma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“raramente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existen 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organizaciones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formales, 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modo que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mantenimiento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lleva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110" dirty="0">
                <a:solidFill>
                  <a:srgbClr val="232852"/>
                </a:solidFill>
                <a:latin typeface="Verdana"/>
                <a:cs typeface="Verdana"/>
              </a:rPr>
              <a:t>cabo 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como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pueda”). </a:t>
            </a:r>
            <a:r>
              <a:rPr sz="1500" spc="25" dirty="0">
                <a:solidFill>
                  <a:srgbClr val="232852"/>
                </a:solidFill>
                <a:latin typeface="Verdana"/>
                <a:cs typeface="Verdana"/>
              </a:rPr>
              <a:t>No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todas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ocasiones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esta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situación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es </a:t>
            </a:r>
            <a:r>
              <a:rPr sz="1500" spc="55" dirty="0">
                <a:solidFill>
                  <a:srgbClr val="232852"/>
                </a:solidFill>
                <a:latin typeface="Verdana"/>
                <a:cs typeface="Verdana"/>
              </a:rPr>
              <a:t>debida </a:t>
            </a:r>
            <a:r>
              <a:rPr sz="1500" spc="12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falta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tiempo </a:t>
            </a:r>
            <a:r>
              <a:rPr sz="1500" spc="30" dirty="0">
                <a:solidFill>
                  <a:srgbClr val="232852"/>
                </a:solidFill>
                <a:latin typeface="Verdana"/>
                <a:cs typeface="Verdana"/>
              </a:rPr>
              <a:t>para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producir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una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modificación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diseñada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cuidadosamente.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Prácticamente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todas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las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metodologías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han </a:t>
            </a:r>
            <a:r>
              <a:rPr sz="1500" spc="30" dirty="0">
                <a:solidFill>
                  <a:srgbClr val="232852"/>
                </a:solidFill>
                <a:latin typeface="Verdana"/>
                <a:cs typeface="Verdana"/>
              </a:rPr>
              <a:t>centrado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desarrollo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nuevos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sistemas y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no han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tenido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spc="35" dirty="0">
                <a:solidFill>
                  <a:srgbClr val="232852"/>
                </a:solidFill>
                <a:latin typeface="Verdana"/>
                <a:cs typeface="Verdana"/>
              </a:rPr>
              <a:t>cuenta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importancia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mantenimiento. 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Por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esta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razón,</a:t>
            </a:r>
            <a:r>
              <a:rPr sz="15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no</a:t>
            </a:r>
            <a:r>
              <a:rPr sz="15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existen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5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son</a:t>
            </a:r>
            <a:r>
              <a:rPr sz="15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0" dirty="0">
                <a:solidFill>
                  <a:srgbClr val="232852"/>
                </a:solidFill>
                <a:latin typeface="Verdana"/>
                <a:cs typeface="Verdana"/>
              </a:rPr>
              <a:t>poco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conocidos</a:t>
            </a:r>
            <a:r>
              <a:rPr sz="15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métodos,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técnicas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herramientas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5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proporcionan</a:t>
            </a:r>
            <a:r>
              <a:rPr sz="1500" spc="5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una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solución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global</a:t>
            </a:r>
            <a:r>
              <a:rPr sz="15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al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problema</a:t>
            </a:r>
            <a:r>
              <a:rPr sz="15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5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mantenimiento.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0957" y="2352547"/>
            <a:ext cx="6553200" cy="35928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0"/>
              </a:spcBef>
            </a:pPr>
            <a:r>
              <a:rPr sz="13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350" spc="-13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800" spc="55" dirty="0">
                <a:solidFill>
                  <a:srgbClr val="232852"/>
                </a:solidFill>
                <a:latin typeface="Verdana"/>
                <a:cs typeface="Verdana"/>
              </a:rPr>
              <a:t>Cambio</a:t>
            </a:r>
            <a:r>
              <a:rPr sz="1800" spc="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tras</a:t>
            </a:r>
            <a:r>
              <a:rPr sz="18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232852"/>
                </a:solidFill>
                <a:latin typeface="Verdana"/>
                <a:cs typeface="Verdana"/>
              </a:rPr>
              <a:t>cambio,</a:t>
            </a:r>
            <a:r>
              <a:rPr sz="18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8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programas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232852"/>
                </a:solidFill>
                <a:latin typeface="Verdana"/>
                <a:cs typeface="Verdana"/>
              </a:rPr>
              <a:t>tienden</a:t>
            </a:r>
            <a:r>
              <a:rPr sz="1800" spc="6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4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800" spc="-130" dirty="0">
                <a:solidFill>
                  <a:srgbClr val="232852"/>
                </a:solidFill>
                <a:latin typeface="Verdana"/>
                <a:cs typeface="Verdana"/>
              </a:rPr>
              <a:t>ser </a:t>
            </a:r>
            <a:r>
              <a:rPr sz="18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232852"/>
                </a:solidFill>
                <a:latin typeface="Verdana"/>
                <a:cs typeface="Verdana"/>
              </a:rPr>
              <a:t>menos</a:t>
            </a:r>
            <a:r>
              <a:rPr sz="18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232852"/>
                </a:solidFill>
                <a:latin typeface="Verdana"/>
                <a:cs typeface="Verdana"/>
              </a:rPr>
              <a:t>estructurados.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Esto</a:t>
            </a:r>
            <a:r>
              <a:rPr sz="18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8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232852"/>
                </a:solidFill>
                <a:latin typeface="Verdana"/>
                <a:cs typeface="Verdana"/>
              </a:rPr>
              <a:t>manifiesta</a:t>
            </a:r>
            <a:r>
              <a:rPr sz="1800" spc="5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una 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232852"/>
                </a:solidFill>
                <a:latin typeface="Verdana"/>
                <a:cs typeface="Verdana"/>
              </a:rPr>
              <a:t>documentación</a:t>
            </a:r>
            <a:r>
              <a:rPr sz="18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desfasada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 (como</a:t>
            </a:r>
            <a:r>
              <a:rPr sz="18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232852"/>
                </a:solidFill>
                <a:latin typeface="Verdana"/>
                <a:cs typeface="Verdana"/>
              </a:rPr>
              <a:t>afirman</a:t>
            </a:r>
            <a:r>
              <a:rPr sz="18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232852"/>
                </a:solidFill>
                <a:latin typeface="Verdana"/>
                <a:cs typeface="Verdana"/>
              </a:rPr>
              <a:t>Baxter</a:t>
            </a:r>
            <a:r>
              <a:rPr sz="18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8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Pigdeon</a:t>
            </a:r>
            <a:r>
              <a:rPr sz="18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65" dirty="0">
                <a:solidFill>
                  <a:srgbClr val="232852"/>
                </a:solidFill>
                <a:latin typeface="Verdana"/>
                <a:cs typeface="Verdana"/>
              </a:rPr>
              <a:t>[1997]</a:t>
            </a:r>
            <a:r>
              <a:rPr sz="1800" spc="-1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32852"/>
                </a:solidFill>
                <a:latin typeface="Verdana"/>
                <a:cs typeface="Verdana"/>
              </a:rPr>
              <a:t>al</a:t>
            </a:r>
            <a:r>
              <a:rPr sz="18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32852"/>
                </a:solidFill>
                <a:latin typeface="Verdana"/>
                <a:cs typeface="Verdana"/>
              </a:rPr>
              <a:t>indicar</a:t>
            </a:r>
            <a:r>
              <a:rPr sz="18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800" spc="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232852"/>
                </a:solidFill>
                <a:latin typeface="Verdana"/>
                <a:cs typeface="Verdana"/>
              </a:rPr>
              <a:t>“la</a:t>
            </a:r>
            <a:r>
              <a:rPr sz="18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232852"/>
                </a:solidFill>
                <a:latin typeface="Verdana"/>
                <a:cs typeface="Verdana"/>
              </a:rPr>
              <a:t>documentación </a:t>
            </a:r>
            <a:r>
              <a:rPr sz="18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232852"/>
                </a:solidFill>
                <a:latin typeface="Verdana"/>
                <a:cs typeface="Verdana"/>
              </a:rPr>
              <a:t>completa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800" spc="-65" dirty="0">
                <a:solidFill>
                  <a:srgbClr val="232852"/>
                </a:solidFill>
                <a:latin typeface="Verdana"/>
                <a:cs typeface="Verdana"/>
              </a:rPr>
              <a:t> inexistente</a:t>
            </a:r>
            <a:r>
              <a:rPr sz="18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8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232852"/>
                </a:solidFill>
                <a:latin typeface="Verdana"/>
                <a:cs typeface="Verdana"/>
              </a:rPr>
              <a:t>sistema</a:t>
            </a:r>
            <a:r>
              <a:rPr sz="18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232852"/>
                </a:solidFill>
                <a:latin typeface="Verdana"/>
                <a:cs typeface="Verdana"/>
              </a:rPr>
              <a:t>es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32852"/>
                </a:solidFill>
                <a:latin typeface="Verdana"/>
                <a:cs typeface="Verdana"/>
              </a:rPr>
              <a:t>uno</a:t>
            </a:r>
            <a:r>
              <a:rPr sz="18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8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8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32852"/>
                </a:solidFill>
                <a:latin typeface="Verdana"/>
                <a:cs typeface="Verdana"/>
              </a:rPr>
              <a:t>cuatro </a:t>
            </a:r>
            <a:r>
              <a:rPr sz="1800" spc="-6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problemas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232852"/>
                </a:solidFill>
                <a:latin typeface="Verdana"/>
                <a:cs typeface="Verdana"/>
              </a:rPr>
              <a:t>más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232852"/>
                </a:solidFill>
                <a:latin typeface="Verdana"/>
                <a:cs typeface="Verdana"/>
              </a:rPr>
              <a:t>importantes</a:t>
            </a:r>
            <a:r>
              <a:rPr sz="18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8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800" spc="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232852"/>
                </a:solidFill>
                <a:latin typeface="Verdana"/>
                <a:cs typeface="Verdana"/>
              </a:rPr>
              <a:t>software”),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232852"/>
                </a:solidFill>
                <a:latin typeface="Verdana"/>
                <a:cs typeface="Verdana"/>
              </a:rPr>
              <a:t>código</a:t>
            </a:r>
            <a:r>
              <a:rPr sz="1800" spc="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800" spc="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232852"/>
                </a:solidFill>
                <a:latin typeface="Verdana"/>
                <a:cs typeface="Verdana"/>
              </a:rPr>
              <a:t>no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232852"/>
                </a:solidFill>
                <a:latin typeface="Verdana"/>
                <a:cs typeface="Verdana"/>
              </a:rPr>
              <a:t>cumple</a:t>
            </a:r>
            <a:r>
              <a:rPr sz="18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8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232852"/>
                </a:solidFill>
                <a:latin typeface="Verdana"/>
                <a:cs typeface="Verdana"/>
              </a:rPr>
              <a:t>estándares, </a:t>
            </a:r>
            <a:r>
              <a:rPr sz="18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incremento</a:t>
            </a:r>
            <a:r>
              <a:rPr sz="18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8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232852"/>
                </a:solidFill>
                <a:latin typeface="Verdana"/>
                <a:cs typeface="Verdana"/>
              </a:rPr>
              <a:t>tiempo</a:t>
            </a:r>
            <a:r>
              <a:rPr sz="18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800" spc="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8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programadores </a:t>
            </a:r>
            <a:r>
              <a:rPr sz="18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232852"/>
                </a:solidFill>
                <a:latin typeface="Verdana"/>
                <a:cs typeface="Verdana"/>
              </a:rPr>
              <a:t>necesitan </a:t>
            </a:r>
            <a:r>
              <a:rPr sz="1800" spc="40" dirty="0">
                <a:solidFill>
                  <a:srgbClr val="232852"/>
                </a:solidFill>
                <a:latin typeface="Verdana"/>
                <a:cs typeface="Verdana"/>
              </a:rPr>
              <a:t>para </a:t>
            </a:r>
            <a:r>
              <a:rPr sz="1800" spc="-5" dirty="0">
                <a:solidFill>
                  <a:srgbClr val="232852"/>
                </a:solidFill>
                <a:latin typeface="Verdana"/>
                <a:cs typeface="Verdana"/>
              </a:rPr>
              <a:t>entender </a:t>
            </a:r>
            <a:r>
              <a:rPr sz="1800" spc="-105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800" spc="15" dirty="0">
                <a:solidFill>
                  <a:srgbClr val="232852"/>
                </a:solidFill>
                <a:latin typeface="Verdana"/>
                <a:cs typeface="Verdana"/>
              </a:rPr>
              <a:t>comprender </a:t>
            </a:r>
            <a:r>
              <a:rPr sz="1800" spc="-9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programas 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800" spc="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8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incremento</a:t>
            </a:r>
            <a:r>
              <a:rPr sz="1800" spc="6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800" spc="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95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8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232852"/>
                </a:solidFill>
                <a:latin typeface="Verdana"/>
                <a:cs typeface="Verdana"/>
              </a:rPr>
              <a:t>efectos</a:t>
            </a:r>
            <a:r>
              <a:rPr sz="18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secundarios 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232852"/>
                </a:solidFill>
                <a:latin typeface="Verdana"/>
                <a:cs typeface="Verdana"/>
              </a:rPr>
              <a:t>producidos 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por </a:t>
            </a:r>
            <a:r>
              <a:rPr sz="1800" spc="-95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8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32852"/>
                </a:solidFill>
                <a:latin typeface="Verdana"/>
                <a:cs typeface="Verdana"/>
              </a:rPr>
              <a:t>cambios. </a:t>
            </a:r>
            <a:r>
              <a:rPr sz="1800" spc="-55" dirty="0">
                <a:solidFill>
                  <a:srgbClr val="232852"/>
                </a:solidFill>
                <a:latin typeface="Verdana"/>
                <a:cs typeface="Verdana"/>
              </a:rPr>
              <a:t>Todas</a:t>
            </a:r>
            <a:r>
              <a:rPr sz="18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232852"/>
                </a:solidFill>
                <a:latin typeface="Verdana"/>
                <a:cs typeface="Verdana"/>
              </a:rPr>
              <a:t>estas</a:t>
            </a:r>
            <a:r>
              <a:rPr sz="18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232852"/>
                </a:solidFill>
                <a:latin typeface="Verdana"/>
                <a:cs typeface="Verdana"/>
              </a:rPr>
              <a:t>situaciones </a:t>
            </a:r>
            <a:r>
              <a:rPr sz="18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232852"/>
                </a:solidFill>
                <a:latin typeface="Verdana"/>
                <a:cs typeface="Verdana"/>
              </a:rPr>
              <a:t>implican </a:t>
            </a:r>
            <a:r>
              <a:rPr sz="1800" spc="-10" dirty="0">
                <a:solidFill>
                  <a:srgbClr val="232852"/>
                </a:solidFill>
                <a:latin typeface="Verdana"/>
                <a:cs typeface="Verdana"/>
              </a:rPr>
              <a:t>casi </a:t>
            </a:r>
            <a:r>
              <a:rPr sz="1800" spc="-55" dirty="0">
                <a:solidFill>
                  <a:srgbClr val="232852"/>
                </a:solidFill>
                <a:latin typeface="Verdana"/>
                <a:cs typeface="Verdana"/>
              </a:rPr>
              <a:t>siempre </a:t>
            </a:r>
            <a:r>
              <a:rPr sz="1800" spc="-60" dirty="0">
                <a:solidFill>
                  <a:srgbClr val="232852"/>
                </a:solidFill>
                <a:latin typeface="Verdana"/>
                <a:cs typeface="Verdana"/>
              </a:rPr>
              <a:t>unos </a:t>
            </a:r>
            <a:r>
              <a:rPr sz="1800" spc="-30" dirty="0">
                <a:solidFill>
                  <a:srgbClr val="232852"/>
                </a:solidFill>
                <a:latin typeface="Verdana"/>
                <a:cs typeface="Verdana"/>
              </a:rPr>
              <a:t>costes </a:t>
            </a:r>
            <a:r>
              <a:rPr sz="1800" spc="10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800" spc="-25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18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800" spc="105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800" spc="8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-13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800" spc="6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-24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800" spc="7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800" spc="-70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800" spc="-15" dirty="0">
                <a:solidFill>
                  <a:srgbClr val="232852"/>
                </a:solidFill>
                <a:latin typeface="Verdana"/>
                <a:cs typeface="Verdana"/>
              </a:rPr>
              <a:t>w</a:t>
            </a:r>
            <a:r>
              <a:rPr sz="1800" spc="14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800" spc="-229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800" spc="9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800" spc="10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-55" dirty="0">
                <a:solidFill>
                  <a:srgbClr val="232852"/>
                </a:solidFill>
                <a:latin typeface="Verdana"/>
                <a:cs typeface="Verdana"/>
              </a:rPr>
              <a:t>mu</a:t>
            </a:r>
            <a:r>
              <a:rPr sz="1800" spc="-10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8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800" spc="14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800" spc="-13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800" spc="-114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800" spc="8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800" spc="-24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800" spc="-160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0957" y="2306828"/>
            <a:ext cx="6553200" cy="32264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87020" marR="5080" indent="-274955" algn="just">
              <a:lnSpc>
                <a:spcPct val="80000"/>
              </a:lnSpc>
              <a:spcBef>
                <a:spcPts val="459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spc="-175" dirty="0">
                <a:solidFill>
                  <a:srgbClr val="232852"/>
                </a:solidFill>
                <a:latin typeface="Verdana"/>
                <a:cs typeface="Verdana"/>
              </a:rPr>
              <a:t>Es</a:t>
            </a:r>
            <a:r>
              <a:rPr sz="1500" spc="-1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muy 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habitual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sistemas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están siendo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sometidos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sean </a:t>
            </a:r>
            <a:r>
              <a:rPr sz="1500" spc="125" dirty="0">
                <a:solidFill>
                  <a:srgbClr val="232852"/>
                </a:solidFill>
                <a:latin typeface="Verdana"/>
                <a:cs typeface="Verdana"/>
              </a:rPr>
              <a:t>cada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vez 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más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difíciles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cambiar </a:t>
            </a:r>
            <a:r>
              <a:rPr sz="1500" spc="-70" dirty="0">
                <a:solidFill>
                  <a:srgbClr val="232852"/>
                </a:solidFill>
                <a:latin typeface="Verdana"/>
                <a:cs typeface="Verdana"/>
              </a:rPr>
              <a:t>(lo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cual,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70" dirty="0">
                <a:solidFill>
                  <a:srgbClr val="232852"/>
                </a:solidFill>
                <a:latin typeface="Verdana"/>
                <a:cs typeface="Verdana"/>
              </a:rPr>
              <a:t>como</a:t>
            </a:r>
            <a:r>
              <a:rPr sz="1500" spc="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confirman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Griswold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Notkin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35" dirty="0">
                <a:solidFill>
                  <a:srgbClr val="232852"/>
                </a:solidFill>
                <a:latin typeface="Verdana"/>
                <a:cs typeface="Verdana"/>
              </a:rPr>
              <a:t>[1993],</a:t>
            </a:r>
            <a:r>
              <a:rPr sz="1500" spc="-1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5" dirty="0">
                <a:solidFill>
                  <a:srgbClr val="232852"/>
                </a:solidFill>
                <a:latin typeface="Verdana"/>
                <a:cs typeface="Verdana"/>
              </a:rPr>
              <a:t>provoca</a:t>
            </a:r>
            <a:r>
              <a:rPr sz="1500" spc="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5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sea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25" dirty="0">
                <a:solidFill>
                  <a:srgbClr val="232852"/>
                </a:solidFill>
                <a:latin typeface="Verdana"/>
                <a:cs typeface="Verdana"/>
              </a:rPr>
              <a:t>cada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vez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más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costoso).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90" dirty="0">
                <a:solidFill>
                  <a:srgbClr val="232852"/>
                </a:solidFill>
                <a:latin typeface="Verdana"/>
                <a:cs typeface="Verdana"/>
              </a:rPr>
              <a:t>Esto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debe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al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5" dirty="0">
                <a:solidFill>
                  <a:srgbClr val="232852"/>
                </a:solidFill>
                <a:latin typeface="Verdana"/>
                <a:cs typeface="Verdana"/>
              </a:rPr>
              <a:t>hecho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500" spc="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5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0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5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cambios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</a:t>
            </a:r>
            <a:r>
              <a:rPr sz="1500" spc="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un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programa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por</a:t>
            </a:r>
            <a:r>
              <a:rPr sz="15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actividades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spc="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 dificultan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500" spc="5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posterior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comprensión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500" spc="7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funcionalidad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programa. </a:t>
            </a:r>
            <a:r>
              <a:rPr sz="1500" spc="-70" dirty="0">
                <a:solidFill>
                  <a:srgbClr val="232852"/>
                </a:solidFill>
                <a:latin typeface="Verdana"/>
                <a:cs typeface="Verdana"/>
              </a:rPr>
              <a:t>Sommerville </a:t>
            </a:r>
            <a:r>
              <a:rPr sz="1500" spc="-140" dirty="0">
                <a:solidFill>
                  <a:srgbClr val="232852"/>
                </a:solidFill>
                <a:latin typeface="Verdana"/>
                <a:cs typeface="Verdana"/>
              </a:rPr>
              <a:t>[1992] </a:t>
            </a:r>
            <a:r>
              <a:rPr sz="1500" dirty="0">
                <a:solidFill>
                  <a:srgbClr val="232852"/>
                </a:solidFill>
                <a:latin typeface="Verdana"/>
                <a:cs typeface="Verdana"/>
              </a:rPr>
              <a:t>también </a:t>
            </a:r>
            <a:r>
              <a:rPr sz="1500" spc="25" dirty="0">
                <a:solidFill>
                  <a:srgbClr val="232852"/>
                </a:solidFill>
                <a:latin typeface="Verdana"/>
                <a:cs typeface="Verdana"/>
              </a:rPr>
              <a:t>apunta </a:t>
            </a:r>
            <a:r>
              <a:rPr sz="15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“cualquier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232852"/>
                </a:solidFill>
                <a:latin typeface="Verdana"/>
                <a:cs typeface="Verdana"/>
              </a:rPr>
              <a:t>cambio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conlleva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corrupción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la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estructura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software </a:t>
            </a:r>
            <a:r>
              <a:rPr sz="1500" spc="-110" dirty="0">
                <a:solidFill>
                  <a:srgbClr val="232852"/>
                </a:solidFill>
                <a:latin typeface="Verdana"/>
                <a:cs typeface="Verdana"/>
              </a:rPr>
              <a:t>y,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mayor 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corrupción,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estructura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programa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5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torna</a:t>
            </a:r>
            <a:r>
              <a:rPr sz="15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menos</a:t>
            </a:r>
            <a:r>
              <a:rPr sz="15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comprensible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más</a:t>
            </a:r>
            <a:r>
              <a:rPr sz="15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difícil</a:t>
            </a:r>
            <a:r>
              <a:rPr sz="1500" spc="-1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500" spc="-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modificar”.</a:t>
            </a:r>
            <a:endParaRPr sz="1500">
              <a:latin typeface="Verdana"/>
              <a:cs typeface="Verdana"/>
            </a:endParaRPr>
          </a:p>
          <a:p>
            <a:pPr marL="287020" marR="5080" indent="-274955" algn="just">
              <a:lnSpc>
                <a:spcPts val="1440"/>
              </a:lnSpc>
              <a:spcBef>
                <a:spcPts val="350"/>
              </a:spcBef>
            </a:pPr>
            <a:r>
              <a:rPr sz="1150" spc="-13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150" spc="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Por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ejemplo,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programa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original </a:t>
            </a:r>
            <a:r>
              <a:rPr sz="1500" spc="55" dirty="0">
                <a:solidFill>
                  <a:srgbClr val="232852"/>
                </a:solidFill>
                <a:latin typeface="Verdana"/>
                <a:cs typeface="Verdana"/>
              </a:rPr>
              <a:t>puede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basarse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spc="-15" dirty="0">
                <a:solidFill>
                  <a:srgbClr val="232852"/>
                </a:solidFill>
                <a:latin typeface="Verdana"/>
                <a:cs typeface="Verdana"/>
              </a:rPr>
              <a:t>decisiones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programación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no </a:t>
            </a:r>
            <a:r>
              <a:rPr sz="1500" spc="25" dirty="0">
                <a:solidFill>
                  <a:srgbClr val="232852"/>
                </a:solidFill>
                <a:latin typeface="Verdana"/>
                <a:cs typeface="Verdana"/>
              </a:rPr>
              <a:t>documentadas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no </a:t>
            </a:r>
            <a:r>
              <a:rPr sz="1500" spc="55" dirty="0">
                <a:solidFill>
                  <a:srgbClr val="232852"/>
                </a:solidFill>
                <a:latin typeface="Verdana"/>
                <a:cs typeface="Verdana"/>
              </a:rPr>
              <a:t>puede </a:t>
            </a:r>
            <a:r>
              <a:rPr sz="1500" spc="80" dirty="0">
                <a:solidFill>
                  <a:srgbClr val="232852"/>
                </a:solidFill>
                <a:latin typeface="Verdana"/>
                <a:cs typeface="Verdana"/>
              </a:rPr>
              <a:t>acceder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personal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mantenimiento. </a:t>
            </a:r>
            <a:r>
              <a:rPr sz="1500" spc="-9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500" spc="-60" dirty="0">
                <a:solidFill>
                  <a:srgbClr val="232852"/>
                </a:solidFill>
                <a:latin typeface="Verdana"/>
                <a:cs typeface="Verdana"/>
              </a:rPr>
              <a:t>estas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situaciones, </a:t>
            </a:r>
            <a:r>
              <a:rPr sz="1500" spc="-65" dirty="0">
                <a:solidFill>
                  <a:srgbClr val="232852"/>
                </a:solidFill>
                <a:latin typeface="Verdana"/>
                <a:cs typeface="Verdana"/>
              </a:rPr>
              <a:t>es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normal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software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no </a:t>
            </a:r>
            <a:r>
              <a:rPr sz="1500" spc="65" dirty="0">
                <a:solidFill>
                  <a:srgbClr val="232852"/>
                </a:solidFill>
                <a:latin typeface="Verdana"/>
                <a:cs typeface="Verdana"/>
              </a:rPr>
              <a:t>pueda </a:t>
            </a:r>
            <a:r>
              <a:rPr sz="1500" spc="-105" dirty="0">
                <a:solidFill>
                  <a:srgbClr val="232852"/>
                </a:solidFill>
                <a:latin typeface="Verdana"/>
                <a:cs typeface="Verdana"/>
              </a:rPr>
              <a:t>ser </a:t>
            </a:r>
            <a:r>
              <a:rPr sz="1500" spc="60" dirty="0">
                <a:solidFill>
                  <a:srgbClr val="232852"/>
                </a:solidFill>
                <a:latin typeface="Verdana"/>
                <a:cs typeface="Verdana"/>
              </a:rPr>
              <a:t>cambiado </a:t>
            </a:r>
            <a:r>
              <a:rPr sz="1500" spc="-114" dirty="0">
                <a:solidFill>
                  <a:srgbClr val="232852"/>
                </a:solidFill>
                <a:latin typeface="Verdana"/>
                <a:cs typeface="Verdana"/>
              </a:rPr>
              <a:t>sin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correr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50" dirty="0">
                <a:solidFill>
                  <a:srgbClr val="232852"/>
                </a:solidFill>
                <a:latin typeface="Verdana"/>
                <a:cs typeface="Verdana"/>
              </a:rPr>
              <a:t>riesgo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spc="-45" dirty="0">
                <a:solidFill>
                  <a:srgbClr val="232852"/>
                </a:solidFill>
                <a:latin typeface="Verdana"/>
                <a:cs typeface="Verdana"/>
              </a:rPr>
              <a:t>introducir </a:t>
            </a:r>
            <a:r>
              <a:rPr sz="15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efectos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laterales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no deseados </a:t>
            </a:r>
            <a:r>
              <a:rPr sz="1500" spc="10" dirty="0">
                <a:solidFill>
                  <a:srgbClr val="232852"/>
                </a:solidFill>
                <a:latin typeface="Verdana"/>
                <a:cs typeface="Verdana"/>
              </a:rPr>
              <a:t>debidos </a:t>
            </a:r>
            <a:r>
              <a:rPr sz="1500" spc="120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500" spc="5" dirty="0">
                <a:solidFill>
                  <a:srgbClr val="232852"/>
                </a:solidFill>
                <a:latin typeface="Verdana"/>
                <a:cs typeface="Verdana"/>
              </a:rPr>
              <a:t>interdependencias </a:t>
            </a:r>
            <a:r>
              <a:rPr sz="1500" spc="-35" dirty="0">
                <a:solidFill>
                  <a:srgbClr val="232852"/>
                </a:solidFill>
                <a:latin typeface="Verdana"/>
                <a:cs typeface="Verdana"/>
              </a:rPr>
              <a:t>entre </a:t>
            </a:r>
            <a:r>
              <a:rPr sz="1500" spc="-5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32852"/>
                </a:solidFill>
                <a:latin typeface="Verdana"/>
                <a:cs typeface="Verdana"/>
              </a:rPr>
              <a:t>variables </a:t>
            </a:r>
            <a:r>
              <a:rPr sz="1500" spc="-85" dirty="0">
                <a:solidFill>
                  <a:srgbClr val="232852"/>
                </a:solidFill>
                <a:latin typeface="Verdana"/>
                <a:cs typeface="Verdana"/>
              </a:rPr>
              <a:t>y </a:t>
            </a:r>
            <a:r>
              <a:rPr sz="1500" spc="-10" dirty="0">
                <a:solidFill>
                  <a:srgbClr val="232852"/>
                </a:solidFill>
                <a:latin typeface="Verdana"/>
                <a:cs typeface="Verdana"/>
              </a:rPr>
              <a:t>procedimientos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500" spc="-25" dirty="0">
                <a:solidFill>
                  <a:srgbClr val="232852"/>
                </a:solidFill>
                <a:latin typeface="Verdana"/>
                <a:cs typeface="Verdana"/>
              </a:rPr>
              <a:t>personal </a:t>
            </a:r>
            <a:r>
              <a:rPr sz="1500" spc="85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500" spc="-20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1500" spc="15" dirty="0">
                <a:solidFill>
                  <a:srgbClr val="232852"/>
                </a:solidFill>
                <a:latin typeface="Verdana"/>
                <a:cs typeface="Verdana"/>
              </a:rPr>
              <a:t>no </a:t>
            </a:r>
            <a:r>
              <a:rPr sz="15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ha</a:t>
            </a:r>
            <a:r>
              <a:rPr sz="1500" spc="-114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232852"/>
                </a:solidFill>
                <a:latin typeface="Verdana"/>
                <a:cs typeface="Verdana"/>
              </a:rPr>
              <a:t>detectado.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0957" y="2352548"/>
            <a:ext cx="6553200" cy="4123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5"/>
              </a:spcBef>
            </a:pPr>
            <a:r>
              <a:rPr sz="1050" spc="-10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050" spc="-9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400" dirty="0">
                <a:solidFill>
                  <a:srgbClr val="232852"/>
                </a:solidFill>
                <a:latin typeface="Verdana"/>
                <a:cs typeface="Verdana"/>
              </a:rPr>
              <a:t>falta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400" spc="15" dirty="0">
                <a:solidFill>
                  <a:srgbClr val="232852"/>
                </a:solidFill>
                <a:latin typeface="Verdana"/>
                <a:cs typeface="Verdana"/>
              </a:rPr>
              <a:t>una metodología </a:t>
            </a:r>
            <a:r>
              <a:rPr sz="1400" spc="90" dirty="0">
                <a:solidFill>
                  <a:srgbClr val="232852"/>
                </a:solidFill>
                <a:latin typeface="Verdana"/>
                <a:cs typeface="Verdana"/>
              </a:rPr>
              <a:t>adecuada 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suele </a:t>
            </a:r>
            <a:r>
              <a:rPr sz="1400" spc="15" dirty="0">
                <a:solidFill>
                  <a:srgbClr val="232852"/>
                </a:solidFill>
                <a:latin typeface="Verdana"/>
                <a:cs typeface="Verdana"/>
              </a:rPr>
              <a:t>conducir </a:t>
            </a:r>
            <a:r>
              <a:rPr sz="1400" spc="114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400" spc="4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1400" spc="-7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4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400" spc="-19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400" spc="11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400" spc="-19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400" spc="-10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400" spc="6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400" spc="-18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400" spc="3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400" spc="11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400" spc="-1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400" spc="-100" dirty="0">
                <a:solidFill>
                  <a:srgbClr val="232852"/>
                </a:solidFill>
                <a:latin typeface="Verdana"/>
                <a:cs typeface="Verdana"/>
              </a:rPr>
              <a:t>ti</a:t>
            </a:r>
            <a:r>
              <a:rPr sz="1400" spc="16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400" spc="-10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400" spc="7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400" spc="6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40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9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232852"/>
                </a:solidFill>
                <a:latin typeface="Verdana"/>
                <a:cs typeface="Verdana"/>
              </a:rPr>
              <a:t>p</a:t>
            </a:r>
            <a:r>
              <a:rPr sz="1400" spc="5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400" spc="165" dirty="0">
                <a:solidFill>
                  <a:srgbClr val="232852"/>
                </a:solidFill>
                <a:latin typeface="Verdana"/>
                <a:cs typeface="Verdana"/>
              </a:rPr>
              <a:t>c</a:t>
            </a:r>
            <a:r>
              <a:rPr sz="1400" spc="6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400" spc="5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400" spc="-18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400" spc="11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400" spc="-9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4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6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-10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400" spc="6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4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-19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400" spc="11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400" spc="-180" dirty="0">
                <a:solidFill>
                  <a:srgbClr val="232852"/>
                </a:solidFill>
                <a:latin typeface="Verdana"/>
                <a:cs typeface="Verdana"/>
              </a:rPr>
              <a:t>rr</a:t>
            </a:r>
            <a:r>
              <a:rPr sz="1400" spc="5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400" spc="-11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400" spc="-100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400" spc="6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400" spc="3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400" spc="6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-10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4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-204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400" spc="-11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400" spc="-19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400" spc="-9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4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35" dirty="0">
                <a:solidFill>
                  <a:srgbClr val="232852"/>
                </a:solidFill>
                <a:latin typeface="Verdana"/>
                <a:cs typeface="Verdana"/>
              </a:rPr>
              <a:t>ma</a:t>
            </a:r>
            <a:r>
              <a:rPr sz="14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-19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400" spc="5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400" spc="-60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400" spc="-75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400" spc="25" dirty="0">
                <a:solidFill>
                  <a:srgbClr val="232852"/>
                </a:solidFill>
                <a:latin typeface="Verdana"/>
                <a:cs typeface="Verdana"/>
              </a:rPr>
              <a:t>w</a:t>
            </a:r>
            <a:r>
              <a:rPr sz="1400" spc="11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400" spc="-1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400" spc="7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-12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r>
              <a:rPr sz="1400" spc="2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-14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-190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400" spc="-9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400" spc="55" dirty="0">
                <a:solidFill>
                  <a:srgbClr val="232852"/>
                </a:solidFill>
                <a:latin typeface="Verdana"/>
                <a:cs typeface="Verdana"/>
              </a:rPr>
              <a:t>o </a:t>
            </a:r>
            <a:r>
              <a:rPr sz="1400" spc="2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tiene </a:t>
            </a:r>
            <a:r>
              <a:rPr sz="1400" spc="60" dirty="0">
                <a:solidFill>
                  <a:srgbClr val="232852"/>
                </a:solidFill>
                <a:latin typeface="Verdana"/>
                <a:cs typeface="Verdana"/>
              </a:rPr>
              <a:t>como </a:t>
            </a:r>
            <a:r>
              <a:rPr sz="1400" spc="35" dirty="0">
                <a:solidFill>
                  <a:srgbClr val="232852"/>
                </a:solidFill>
                <a:latin typeface="Verdana"/>
                <a:cs typeface="Verdana"/>
              </a:rPr>
              <a:t>consecuencia </a:t>
            </a:r>
            <a:r>
              <a:rPr sz="1400" dirty="0">
                <a:solidFill>
                  <a:srgbClr val="232852"/>
                </a:solidFill>
                <a:latin typeface="Verdana"/>
                <a:cs typeface="Verdana"/>
              </a:rPr>
              <a:t>que, </a:t>
            </a:r>
            <a:r>
              <a:rPr sz="1400" spc="60" dirty="0">
                <a:solidFill>
                  <a:srgbClr val="232852"/>
                </a:solidFill>
                <a:latin typeface="Verdana"/>
                <a:cs typeface="Verdana"/>
              </a:rPr>
              <a:t>cuando </a:t>
            </a:r>
            <a:r>
              <a:rPr sz="14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400" spc="15" dirty="0">
                <a:solidFill>
                  <a:srgbClr val="232852"/>
                </a:solidFill>
                <a:latin typeface="Verdana"/>
                <a:cs typeface="Verdana"/>
              </a:rPr>
              <a:t>producto </a:t>
            </a:r>
            <a:r>
              <a:rPr sz="1400" spc="-6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400" spc="5" dirty="0">
                <a:solidFill>
                  <a:srgbClr val="232852"/>
                </a:solidFill>
                <a:latin typeface="Verdana"/>
                <a:cs typeface="Verdana"/>
              </a:rPr>
              <a:t>entrega </a:t>
            </a:r>
            <a:r>
              <a:rPr sz="1400" spc="114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400" spc="-7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14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232852"/>
                </a:solidFill>
                <a:latin typeface="Verdana"/>
                <a:cs typeface="Verdana"/>
              </a:rPr>
              <a:t>usuarios,</a:t>
            </a:r>
            <a:r>
              <a:rPr sz="14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15" dirty="0">
                <a:solidFill>
                  <a:srgbClr val="232852"/>
                </a:solidFill>
                <a:latin typeface="Verdana"/>
                <a:cs typeface="Verdana"/>
              </a:rPr>
              <a:t>no</a:t>
            </a:r>
            <a:r>
              <a:rPr sz="14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232852"/>
                </a:solidFill>
                <a:latin typeface="Verdana"/>
                <a:cs typeface="Verdana"/>
              </a:rPr>
              <a:t>satisface</a:t>
            </a:r>
            <a:r>
              <a:rPr sz="14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40" dirty="0">
                <a:solidFill>
                  <a:srgbClr val="232852"/>
                </a:solidFill>
                <a:latin typeface="Verdana"/>
                <a:cs typeface="Verdana"/>
              </a:rPr>
              <a:t>sus</a:t>
            </a:r>
            <a:r>
              <a:rPr sz="1400" spc="-10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15" dirty="0">
                <a:solidFill>
                  <a:srgbClr val="232852"/>
                </a:solidFill>
                <a:latin typeface="Verdana"/>
                <a:cs typeface="Verdana"/>
              </a:rPr>
              <a:t>necesidades</a:t>
            </a:r>
            <a:r>
              <a:rPr sz="14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4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14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tienen</a:t>
            </a:r>
            <a:r>
              <a:rPr sz="14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35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4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producir</a:t>
            </a:r>
            <a:r>
              <a:rPr sz="14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232852"/>
                </a:solidFill>
                <a:latin typeface="Verdana"/>
                <a:cs typeface="Verdana"/>
              </a:rPr>
              <a:t>esfuerzos </a:t>
            </a:r>
            <a:r>
              <a:rPr sz="1400" spc="-4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</a:t>
            </a:r>
            <a:r>
              <a:rPr sz="14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4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400" spc="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400" spc="-9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4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-4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400" spc="-9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400" spc="-5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400" spc="-100" dirty="0">
                <a:solidFill>
                  <a:srgbClr val="232852"/>
                </a:solidFill>
                <a:latin typeface="Verdana"/>
                <a:cs typeface="Verdana"/>
              </a:rPr>
              <a:t>i</a:t>
            </a:r>
            <a:r>
              <a:rPr sz="14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-5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400" spc="-9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400" spc="6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400" spc="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45" dirty="0">
                <a:solidFill>
                  <a:srgbClr val="232852"/>
                </a:solidFill>
                <a:latin typeface="Verdana"/>
                <a:cs typeface="Verdana"/>
              </a:rPr>
              <a:t>m</a:t>
            </a:r>
            <a:r>
              <a:rPr sz="1400" spc="20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400" spc="-75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400" spc="65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400" spc="-180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4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-185" dirty="0">
                <a:solidFill>
                  <a:srgbClr val="232852"/>
                </a:solidFill>
                <a:latin typeface="Verdana"/>
                <a:cs typeface="Verdana"/>
              </a:rPr>
              <a:t>s</a:t>
            </a:r>
            <a:r>
              <a:rPr sz="1400" spc="1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n</a:t>
            </a:r>
            <a:r>
              <a:rPr sz="1400" spc="25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70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-105" dirty="0">
                <a:solidFill>
                  <a:srgbClr val="232852"/>
                </a:solidFill>
                <a:latin typeface="Verdana"/>
                <a:cs typeface="Verdana"/>
              </a:rPr>
              <a:t>l</a:t>
            </a:r>
            <a:r>
              <a:rPr sz="1400" spc="40" dirty="0">
                <a:solidFill>
                  <a:srgbClr val="232852"/>
                </a:solidFill>
                <a:latin typeface="Times New Roman"/>
                <a:cs typeface="Times New Roman"/>
              </a:rPr>
              <a:t> </a:t>
            </a:r>
            <a:r>
              <a:rPr sz="1400" spc="-55" dirty="0">
                <a:solidFill>
                  <a:srgbClr val="232852"/>
                </a:solidFill>
                <a:latin typeface="Verdana"/>
                <a:cs typeface="Verdana"/>
              </a:rPr>
              <a:t>f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400" spc="-90" dirty="0">
                <a:solidFill>
                  <a:srgbClr val="232852"/>
                </a:solidFill>
                <a:latin typeface="Verdana"/>
                <a:cs typeface="Verdana"/>
              </a:rPr>
              <a:t>t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u</a:t>
            </a:r>
            <a:r>
              <a:rPr sz="1400" spc="-185" dirty="0">
                <a:solidFill>
                  <a:srgbClr val="232852"/>
                </a:solidFill>
                <a:latin typeface="Verdana"/>
                <a:cs typeface="Verdana"/>
              </a:rPr>
              <a:t>r</a:t>
            </a:r>
            <a:r>
              <a:rPr sz="1400" spc="70" dirty="0">
                <a:solidFill>
                  <a:srgbClr val="232852"/>
                </a:solidFill>
                <a:latin typeface="Verdana"/>
                <a:cs typeface="Verdana"/>
              </a:rPr>
              <a:t>o</a:t>
            </a:r>
            <a:r>
              <a:rPr sz="1400" spc="-125" dirty="0">
                <a:solidFill>
                  <a:srgbClr val="232852"/>
                </a:solidFill>
                <a:latin typeface="Verdana"/>
                <a:cs typeface="Verdana"/>
              </a:rPr>
              <a:t>.</a:t>
            </a:r>
            <a:endParaRPr sz="1400">
              <a:latin typeface="Verdana"/>
              <a:cs typeface="Verdana"/>
            </a:endParaRPr>
          </a:p>
          <a:p>
            <a:pPr marL="287020" marR="5080" indent="-274955" algn="just">
              <a:lnSpc>
                <a:spcPct val="100000"/>
              </a:lnSpc>
              <a:spcBef>
                <a:spcPts val="335"/>
              </a:spcBef>
            </a:pPr>
            <a:r>
              <a:rPr sz="1050" spc="-100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050" spc="-95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1400" spc="20" dirty="0">
                <a:solidFill>
                  <a:srgbClr val="232852"/>
                </a:solidFill>
                <a:latin typeface="Verdana"/>
                <a:cs typeface="Verdana"/>
              </a:rPr>
              <a:t>Además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400" spc="-75" dirty="0">
                <a:solidFill>
                  <a:srgbClr val="232852"/>
                </a:solidFill>
                <a:latin typeface="Verdana"/>
                <a:cs typeface="Verdana"/>
              </a:rPr>
              <a:t>los</a:t>
            </a:r>
            <a:r>
              <a:rPr sz="14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problemas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400" spc="25" dirty="0">
                <a:solidFill>
                  <a:srgbClr val="232852"/>
                </a:solidFill>
                <a:latin typeface="Verdana"/>
                <a:cs typeface="Verdana"/>
              </a:rPr>
              <a:t>carácter </a:t>
            </a:r>
            <a:r>
              <a:rPr sz="1400" spc="35" dirty="0">
                <a:solidFill>
                  <a:srgbClr val="232852"/>
                </a:solidFill>
                <a:latin typeface="Verdana"/>
                <a:cs typeface="Verdana"/>
              </a:rPr>
              <a:t>técnico </a:t>
            </a:r>
            <a:r>
              <a:rPr sz="1400" spc="-50" dirty="0">
                <a:solidFill>
                  <a:srgbClr val="232852"/>
                </a:solidFill>
                <a:latin typeface="Verdana"/>
                <a:cs typeface="Verdana"/>
              </a:rPr>
              <a:t>anteriores, </a:t>
            </a:r>
            <a:r>
              <a:rPr sz="1400" spc="-5" dirty="0">
                <a:solidFill>
                  <a:srgbClr val="232852"/>
                </a:solidFill>
                <a:latin typeface="Verdana"/>
                <a:cs typeface="Verdana"/>
              </a:rPr>
              <a:t>también </a:t>
            </a:r>
            <a:r>
              <a:rPr sz="14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40" dirty="0">
                <a:solidFill>
                  <a:srgbClr val="232852"/>
                </a:solidFill>
                <a:latin typeface="Verdana"/>
                <a:cs typeface="Verdana"/>
              </a:rPr>
              <a:t>pueden</a:t>
            </a:r>
            <a:r>
              <a:rPr sz="14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05" dirty="0">
                <a:solidFill>
                  <a:srgbClr val="232852"/>
                </a:solidFill>
                <a:latin typeface="Verdana"/>
                <a:cs typeface="Verdana"/>
              </a:rPr>
              <a:t>existir</a:t>
            </a:r>
            <a:r>
              <a:rPr sz="14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problemas</a:t>
            </a:r>
            <a:r>
              <a:rPr sz="14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75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232852"/>
                </a:solidFill>
                <a:latin typeface="Verdana"/>
                <a:cs typeface="Verdana"/>
              </a:rPr>
              <a:t>gestión.</a:t>
            </a:r>
            <a:r>
              <a:rPr sz="1400" spc="-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15" dirty="0">
                <a:solidFill>
                  <a:srgbClr val="232852"/>
                </a:solidFill>
                <a:latin typeface="Verdana"/>
                <a:cs typeface="Verdana"/>
              </a:rPr>
              <a:t>Muchos</a:t>
            </a:r>
            <a:r>
              <a:rPr sz="1400" spc="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32852"/>
                </a:solidFill>
                <a:latin typeface="Verdana"/>
                <a:cs typeface="Verdana"/>
              </a:rPr>
              <a:t>programadores </a:t>
            </a:r>
            <a:r>
              <a:rPr sz="1400" spc="-5" dirty="0">
                <a:solidFill>
                  <a:srgbClr val="232852"/>
                </a:solidFill>
                <a:latin typeface="Verdana"/>
                <a:cs typeface="Verdana"/>
              </a:rPr>
              <a:t> consideran </a:t>
            </a:r>
            <a:r>
              <a:rPr sz="14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trabajo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400" spc="-20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1400" spc="60" dirty="0">
                <a:solidFill>
                  <a:srgbClr val="232852"/>
                </a:solidFill>
                <a:latin typeface="Verdana"/>
                <a:cs typeface="Verdana"/>
              </a:rPr>
              <a:t>como </a:t>
            </a:r>
            <a:r>
              <a:rPr sz="1400" spc="10" dirty="0">
                <a:solidFill>
                  <a:srgbClr val="232852"/>
                </a:solidFill>
                <a:latin typeface="Verdana"/>
                <a:cs typeface="Verdana"/>
              </a:rPr>
              <a:t>una </a:t>
            </a:r>
            <a:r>
              <a:rPr sz="1400" spc="25" dirty="0">
                <a:solidFill>
                  <a:srgbClr val="232852"/>
                </a:solidFill>
                <a:latin typeface="Verdana"/>
                <a:cs typeface="Verdana"/>
              </a:rPr>
              <a:t>actividad </a:t>
            </a:r>
            <a:r>
              <a:rPr sz="1400" spc="-65" dirty="0">
                <a:solidFill>
                  <a:srgbClr val="232852"/>
                </a:solidFill>
                <a:latin typeface="Verdana"/>
                <a:cs typeface="Verdana"/>
              </a:rPr>
              <a:t>inferior </a:t>
            </a:r>
            <a:r>
              <a:rPr sz="14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menos</a:t>
            </a:r>
            <a:r>
              <a:rPr sz="1400" spc="-1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32852"/>
                </a:solidFill>
                <a:latin typeface="Verdana"/>
                <a:cs typeface="Verdana"/>
              </a:rPr>
              <a:t>creativa-</a:t>
            </a:r>
            <a:r>
              <a:rPr sz="14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4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4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232852"/>
                </a:solidFill>
                <a:latin typeface="Verdana"/>
                <a:cs typeface="Verdana"/>
              </a:rPr>
              <a:t>les</a:t>
            </a:r>
            <a:r>
              <a:rPr sz="14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232852"/>
                </a:solidFill>
                <a:latin typeface="Verdana"/>
                <a:cs typeface="Verdana"/>
              </a:rPr>
              <a:t>distrae</a:t>
            </a:r>
            <a:r>
              <a:rPr sz="14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20" dirty="0">
                <a:solidFill>
                  <a:srgbClr val="232852"/>
                </a:solidFill>
                <a:latin typeface="Verdana"/>
                <a:cs typeface="Verdana"/>
              </a:rPr>
              <a:t>del</a:t>
            </a:r>
            <a:r>
              <a:rPr sz="14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trabajo</a:t>
            </a:r>
            <a:r>
              <a:rPr sz="14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-mucho</a:t>
            </a:r>
            <a:r>
              <a:rPr sz="1400" spc="-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232852"/>
                </a:solidFill>
                <a:latin typeface="Verdana"/>
                <a:cs typeface="Verdana"/>
              </a:rPr>
              <a:t>más</a:t>
            </a:r>
            <a:r>
              <a:rPr sz="14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45" dirty="0">
                <a:solidFill>
                  <a:srgbClr val="232852"/>
                </a:solidFill>
                <a:latin typeface="Verdana"/>
                <a:cs typeface="Verdana"/>
              </a:rPr>
              <a:t>interesante-</a:t>
            </a:r>
            <a:r>
              <a:rPr sz="14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1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1400" spc="-4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desarrollo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400" spc="-40" dirty="0">
                <a:solidFill>
                  <a:srgbClr val="232852"/>
                </a:solidFill>
                <a:latin typeface="Verdana"/>
                <a:cs typeface="Verdana"/>
              </a:rPr>
              <a:t>software.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232852"/>
                </a:solidFill>
                <a:latin typeface="Verdana"/>
                <a:cs typeface="Verdana"/>
              </a:rPr>
              <a:t>Esta</a:t>
            </a:r>
            <a:r>
              <a:rPr sz="1400" spc="-70" dirty="0">
                <a:solidFill>
                  <a:srgbClr val="232852"/>
                </a:solidFill>
                <a:latin typeface="Verdana"/>
                <a:cs typeface="Verdana"/>
              </a:rPr>
              <a:t> visión</a:t>
            </a:r>
            <a:r>
              <a:rPr sz="14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55" dirty="0">
                <a:solidFill>
                  <a:srgbClr val="232852"/>
                </a:solidFill>
                <a:latin typeface="Verdana"/>
                <a:cs typeface="Verdana"/>
              </a:rPr>
              <a:t>puede </a:t>
            </a:r>
            <a:r>
              <a:rPr sz="1400" spc="-55" dirty="0">
                <a:solidFill>
                  <a:srgbClr val="232852"/>
                </a:solidFill>
                <a:latin typeface="Verdana"/>
                <a:cs typeface="Verdana"/>
              </a:rPr>
              <a:t>verse</a:t>
            </a:r>
            <a:r>
              <a:rPr sz="14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32852"/>
                </a:solidFill>
                <a:latin typeface="Verdana"/>
                <a:cs typeface="Verdana"/>
              </a:rPr>
              <a:t>reforzada</a:t>
            </a:r>
            <a:r>
              <a:rPr sz="14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32852"/>
                </a:solidFill>
                <a:latin typeface="Verdana"/>
                <a:cs typeface="Verdana"/>
              </a:rPr>
              <a:t>por</a:t>
            </a:r>
            <a:r>
              <a:rPr sz="14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14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10" dirty="0">
                <a:solidFill>
                  <a:srgbClr val="232852"/>
                </a:solidFill>
                <a:latin typeface="Verdana"/>
                <a:cs typeface="Verdana"/>
              </a:rPr>
              <a:t>condiciones 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laborales </a:t>
            </a:r>
            <a:r>
              <a:rPr sz="1400" spc="-8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4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232852"/>
                </a:solidFill>
                <a:latin typeface="Verdana"/>
                <a:cs typeface="Verdana"/>
              </a:rPr>
              <a:t>salariales</a:t>
            </a:r>
            <a:r>
              <a:rPr sz="14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400" spc="-7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50" dirty="0">
                <a:solidFill>
                  <a:srgbClr val="232852"/>
                </a:solidFill>
                <a:latin typeface="Verdana"/>
                <a:cs typeface="Verdana"/>
              </a:rPr>
              <a:t>crea </a:t>
            </a:r>
            <a:r>
              <a:rPr sz="1400" spc="15" dirty="0">
                <a:solidFill>
                  <a:srgbClr val="232852"/>
                </a:solidFill>
                <a:latin typeface="Verdana"/>
                <a:cs typeface="Verdana"/>
              </a:rPr>
              <a:t>una </a:t>
            </a:r>
            <a:r>
              <a:rPr sz="1400" spc="30" dirty="0">
                <a:solidFill>
                  <a:srgbClr val="232852"/>
                </a:solidFill>
                <a:latin typeface="Verdana"/>
                <a:cs typeface="Verdana"/>
              </a:rPr>
              <a:t>baja 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moral</a:t>
            </a:r>
            <a:r>
              <a:rPr sz="1400" spc="-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entre </a:t>
            </a:r>
            <a:r>
              <a:rPr sz="1400" spc="-60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14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personas </a:t>
            </a:r>
            <a:r>
              <a:rPr sz="1400" spc="45" dirty="0">
                <a:solidFill>
                  <a:srgbClr val="232852"/>
                </a:solidFill>
                <a:latin typeface="Verdana"/>
                <a:cs typeface="Verdana"/>
              </a:rPr>
              <a:t>dedicadas </a:t>
            </a:r>
            <a:r>
              <a:rPr sz="1400" dirty="0">
                <a:solidFill>
                  <a:srgbClr val="232852"/>
                </a:solidFill>
                <a:latin typeface="Verdana"/>
                <a:cs typeface="Verdana"/>
              </a:rPr>
              <a:t>al 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mantenimiento. </a:t>
            </a:r>
            <a:r>
              <a:rPr sz="1400" spc="60" dirty="0">
                <a:solidFill>
                  <a:srgbClr val="232852"/>
                </a:solidFill>
                <a:latin typeface="Verdana"/>
                <a:cs typeface="Verdana"/>
              </a:rPr>
              <a:t>Como 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resultado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lo </a:t>
            </a:r>
            <a:r>
              <a:rPr sz="1400" spc="-50" dirty="0">
                <a:solidFill>
                  <a:srgbClr val="232852"/>
                </a:solidFill>
                <a:latin typeface="Verdana"/>
                <a:cs typeface="Verdana"/>
              </a:rPr>
              <a:t>anterior, </a:t>
            </a:r>
            <a:r>
              <a:rPr sz="1400" spc="-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60" dirty="0">
                <a:solidFill>
                  <a:srgbClr val="232852"/>
                </a:solidFill>
                <a:latin typeface="Verdana"/>
                <a:cs typeface="Verdana"/>
              </a:rPr>
              <a:t>cuando </a:t>
            </a:r>
            <a:r>
              <a:rPr sz="1400" spc="-60" dirty="0">
                <a:solidFill>
                  <a:srgbClr val="232852"/>
                </a:solidFill>
                <a:latin typeface="Verdana"/>
                <a:cs typeface="Verdana"/>
              </a:rPr>
              <a:t>se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hace </a:t>
            </a:r>
            <a:r>
              <a:rPr sz="1400" dirty="0">
                <a:solidFill>
                  <a:srgbClr val="232852"/>
                </a:solidFill>
                <a:latin typeface="Verdana"/>
                <a:cs typeface="Verdana"/>
              </a:rPr>
              <a:t>necesario </a:t>
            </a:r>
            <a:r>
              <a:rPr sz="1400" spc="-50" dirty="0">
                <a:solidFill>
                  <a:srgbClr val="232852"/>
                </a:solidFill>
                <a:latin typeface="Verdana"/>
                <a:cs typeface="Verdana"/>
              </a:rPr>
              <a:t>realizar 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mantenimiento, </a:t>
            </a:r>
            <a:r>
              <a:rPr sz="1400" spc="20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vez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400" spc="-5" dirty="0">
                <a:solidFill>
                  <a:srgbClr val="232852"/>
                </a:solidFill>
                <a:latin typeface="Verdana"/>
                <a:cs typeface="Verdana"/>
              </a:rPr>
              <a:t>emplear </a:t>
            </a:r>
            <a:r>
              <a:rPr sz="1400" spc="-4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15" dirty="0">
                <a:solidFill>
                  <a:srgbClr val="232852"/>
                </a:solidFill>
                <a:latin typeface="Verdana"/>
                <a:cs typeface="Verdana"/>
              </a:rPr>
              <a:t>una </a:t>
            </a:r>
            <a:r>
              <a:rPr sz="1400" spc="-20" dirty="0">
                <a:solidFill>
                  <a:srgbClr val="232852"/>
                </a:solidFill>
                <a:latin typeface="Verdana"/>
                <a:cs typeface="Verdana"/>
              </a:rPr>
              <a:t>estrategia </a:t>
            </a:r>
            <a:r>
              <a:rPr sz="1400" spc="-40" dirty="0">
                <a:solidFill>
                  <a:srgbClr val="232852"/>
                </a:solidFill>
                <a:latin typeface="Verdana"/>
                <a:cs typeface="Verdana"/>
              </a:rPr>
              <a:t>sistemática, </a:t>
            </a:r>
            <a:r>
              <a:rPr sz="1400" spc="-55" dirty="0">
                <a:solidFill>
                  <a:srgbClr val="232852"/>
                </a:solidFill>
                <a:latin typeface="Verdana"/>
                <a:cs typeface="Verdana"/>
              </a:rPr>
              <a:t>las </a:t>
            </a:r>
            <a:r>
              <a:rPr sz="1400" spc="10" dirty="0">
                <a:solidFill>
                  <a:srgbClr val="232852"/>
                </a:solidFill>
                <a:latin typeface="Verdana"/>
                <a:cs typeface="Verdana"/>
              </a:rPr>
              <a:t>correcciones </a:t>
            </a:r>
            <a:r>
              <a:rPr sz="1400" spc="-5" dirty="0">
                <a:solidFill>
                  <a:srgbClr val="232852"/>
                </a:solidFill>
                <a:latin typeface="Verdana"/>
                <a:cs typeface="Verdana"/>
              </a:rPr>
              <a:t>tienden </a:t>
            </a:r>
            <a:r>
              <a:rPr sz="1400" spc="114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400" spc="-100" dirty="0">
                <a:solidFill>
                  <a:srgbClr val="232852"/>
                </a:solidFill>
                <a:latin typeface="Verdana"/>
                <a:cs typeface="Verdana"/>
              </a:rPr>
              <a:t>ser</a:t>
            </a:r>
            <a:r>
              <a:rPr sz="1400" spc="-9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232852"/>
                </a:solidFill>
                <a:latin typeface="Verdana"/>
                <a:cs typeface="Verdana"/>
              </a:rPr>
              <a:t>realizadas </a:t>
            </a:r>
            <a:r>
              <a:rPr sz="14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65" dirty="0">
                <a:solidFill>
                  <a:srgbClr val="232852"/>
                </a:solidFill>
                <a:latin typeface="Verdana"/>
                <a:cs typeface="Verdana"/>
              </a:rPr>
              <a:t>con </a:t>
            </a:r>
            <a:r>
              <a:rPr sz="1400" dirty="0">
                <a:solidFill>
                  <a:srgbClr val="232852"/>
                </a:solidFill>
                <a:latin typeface="Verdana"/>
                <a:cs typeface="Verdana"/>
              </a:rPr>
              <a:t>precipitación, </a:t>
            </a:r>
            <a:r>
              <a:rPr sz="1400" spc="-110" dirty="0">
                <a:solidFill>
                  <a:srgbClr val="232852"/>
                </a:solidFill>
                <a:latin typeface="Verdana"/>
                <a:cs typeface="Verdana"/>
              </a:rPr>
              <a:t>sin 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pensarse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1400" spc="-20" dirty="0">
                <a:solidFill>
                  <a:srgbClr val="232852"/>
                </a:solidFill>
                <a:latin typeface="Verdana"/>
                <a:cs typeface="Verdana"/>
              </a:rPr>
              <a:t>forma </a:t>
            </a:r>
            <a:r>
              <a:rPr sz="1400" spc="-40" dirty="0">
                <a:solidFill>
                  <a:srgbClr val="232852"/>
                </a:solidFill>
                <a:latin typeface="Verdana"/>
                <a:cs typeface="Verdana"/>
              </a:rPr>
              <a:t>suficiente, </a:t>
            </a:r>
            <a:r>
              <a:rPr sz="1400" spc="15" dirty="0">
                <a:solidFill>
                  <a:srgbClr val="232852"/>
                </a:solidFill>
                <a:latin typeface="Verdana"/>
                <a:cs typeface="Verdana"/>
              </a:rPr>
              <a:t>no </a:t>
            </a:r>
            <a:r>
              <a:rPr sz="1400" spc="25" dirty="0">
                <a:solidFill>
                  <a:srgbClr val="232852"/>
                </a:solidFill>
                <a:latin typeface="Verdana"/>
                <a:cs typeface="Verdana"/>
              </a:rPr>
              <a:t>documentadas </a:t>
            </a:r>
            <a:r>
              <a:rPr sz="1400" spc="-4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55" dirty="0">
                <a:solidFill>
                  <a:srgbClr val="232852"/>
                </a:solidFill>
                <a:latin typeface="Verdana"/>
                <a:cs typeface="Verdana"/>
              </a:rPr>
              <a:t>adecuadamente</a:t>
            </a:r>
            <a:r>
              <a:rPr sz="14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80" dirty="0">
                <a:solidFill>
                  <a:srgbClr val="232852"/>
                </a:solidFill>
                <a:latin typeface="Verdana"/>
                <a:cs typeface="Verdana"/>
              </a:rPr>
              <a:t>y</a:t>
            </a:r>
            <a:r>
              <a:rPr sz="14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10" dirty="0">
                <a:solidFill>
                  <a:srgbClr val="232852"/>
                </a:solidFill>
                <a:latin typeface="Verdana"/>
                <a:cs typeface="Verdana"/>
              </a:rPr>
              <a:t>pobremente</a:t>
            </a:r>
            <a:r>
              <a:rPr sz="14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integradas</a:t>
            </a:r>
            <a:r>
              <a:rPr sz="14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70" dirty="0">
                <a:solidFill>
                  <a:srgbClr val="232852"/>
                </a:solidFill>
                <a:latin typeface="Verdana"/>
                <a:cs typeface="Verdana"/>
              </a:rPr>
              <a:t>con</a:t>
            </a:r>
            <a:r>
              <a:rPr sz="1400" spc="-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4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55" dirty="0">
                <a:solidFill>
                  <a:srgbClr val="232852"/>
                </a:solidFill>
                <a:latin typeface="Verdana"/>
                <a:cs typeface="Verdana"/>
              </a:rPr>
              <a:t>código</a:t>
            </a:r>
            <a:r>
              <a:rPr sz="14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232852"/>
                </a:solidFill>
                <a:latin typeface="Verdana"/>
                <a:cs typeface="Verdana"/>
              </a:rPr>
              <a:t>existente.</a:t>
            </a:r>
            <a:r>
              <a:rPr sz="1400" spc="-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25" dirty="0">
                <a:solidFill>
                  <a:srgbClr val="232852"/>
                </a:solidFill>
                <a:latin typeface="Verdana"/>
                <a:cs typeface="Verdana"/>
              </a:rPr>
              <a:t>No </a:t>
            </a:r>
            <a:r>
              <a:rPr sz="1400" spc="-4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60" dirty="0">
                <a:solidFill>
                  <a:srgbClr val="232852"/>
                </a:solidFill>
                <a:latin typeface="Verdana"/>
                <a:cs typeface="Verdana"/>
              </a:rPr>
              <a:t>es</a:t>
            </a:r>
            <a:r>
              <a:rPr sz="1400" spc="-5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232852"/>
                </a:solidFill>
                <a:latin typeface="Verdana"/>
                <a:cs typeface="Verdana"/>
              </a:rPr>
              <a:t>extraño,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 pues,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4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400" spc="4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232852"/>
                </a:solidFill>
                <a:latin typeface="Verdana"/>
                <a:cs typeface="Verdana"/>
              </a:rPr>
              <a:t>el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232852"/>
                </a:solidFill>
                <a:latin typeface="Verdana"/>
                <a:cs typeface="Verdana"/>
              </a:rPr>
              <a:t>propio</a:t>
            </a:r>
            <a:r>
              <a:rPr sz="14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45" dirty="0">
                <a:solidFill>
                  <a:srgbClr val="232852"/>
                </a:solidFill>
                <a:latin typeface="Verdana"/>
                <a:cs typeface="Verdana"/>
              </a:rPr>
              <a:t>conduzca</a:t>
            </a:r>
            <a:r>
              <a:rPr sz="1400" spc="5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114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1400" spc="10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14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5" dirty="0">
                <a:solidFill>
                  <a:srgbClr val="232852"/>
                </a:solidFill>
                <a:latin typeface="Verdana"/>
                <a:cs typeface="Verdana"/>
              </a:rPr>
              <a:t>introducción</a:t>
            </a:r>
            <a:r>
              <a:rPr sz="14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nuevos</a:t>
            </a:r>
            <a:r>
              <a:rPr sz="14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70" dirty="0">
                <a:solidFill>
                  <a:srgbClr val="232852"/>
                </a:solidFill>
                <a:latin typeface="Verdana"/>
                <a:cs typeface="Verdana"/>
              </a:rPr>
              <a:t>errores</a:t>
            </a:r>
            <a:r>
              <a:rPr sz="14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75" dirty="0">
                <a:solidFill>
                  <a:srgbClr val="232852"/>
                </a:solidFill>
                <a:latin typeface="Verdana"/>
                <a:cs typeface="Verdana"/>
              </a:rPr>
              <a:t>e</a:t>
            </a:r>
            <a:r>
              <a:rPr sz="14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232852"/>
                </a:solidFill>
                <a:latin typeface="Verdana"/>
                <a:cs typeface="Verdana"/>
              </a:rPr>
              <a:t>ineficiencias </a:t>
            </a:r>
            <a:r>
              <a:rPr sz="1400" spc="40" dirty="0">
                <a:solidFill>
                  <a:srgbClr val="232852"/>
                </a:solidFill>
                <a:latin typeface="Verdana"/>
                <a:cs typeface="Verdana"/>
              </a:rPr>
              <a:t>que</a:t>
            </a:r>
            <a:r>
              <a:rPr sz="14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55" dirty="0">
                <a:solidFill>
                  <a:srgbClr val="232852"/>
                </a:solidFill>
                <a:latin typeface="Verdana"/>
                <a:cs typeface="Verdana"/>
              </a:rPr>
              <a:t>conducen</a:t>
            </a:r>
            <a:r>
              <a:rPr sz="14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114" dirty="0">
                <a:solidFill>
                  <a:srgbClr val="232852"/>
                </a:solidFill>
                <a:latin typeface="Verdana"/>
                <a:cs typeface="Verdana"/>
              </a:rPr>
              <a:t>a</a:t>
            </a:r>
            <a:r>
              <a:rPr sz="140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232852"/>
                </a:solidFill>
                <a:latin typeface="Verdana"/>
                <a:cs typeface="Verdana"/>
              </a:rPr>
              <a:t>nuevos </a:t>
            </a:r>
            <a:r>
              <a:rPr sz="1400" spc="-4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65" dirty="0">
                <a:solidFill>
                  <a:srgbClr val="232852"/>
                </a:solidFill>
                <a:latin typeface="Verdana"/>
                <a:cs typeface="Verdana"/>
              </a:rPr>
              <a:t>esfuerzos</a:t>
            </a:r>
            <a:r>
              <a:rPr sz="1400" spc="-1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80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1400" spc="-1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232852"/>
                </a:solidFill>
                <a:latin typeface="Verdana"/>
                <a:cs typeface="Verdana"/>
              </a:rPr>
              <a:t>mantenimiento</a:t>
            </a:r>
            <a:r>
              <a:rPr sz="1400" spc="-13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70" dirty="0">
                <a:solidFill>
                  <a:srgbClr val="232852"/>
                </a:solidFill>
                <a:latin typeface="Verdana"/>
                <a:cs typeface="Verdana"/>
              </a:rPr>
              <a:t>con</a:t>
            </a:r>
            <a:r>
              <a:rPr sz="1400" spc="-1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1400" spc="-30" dirty="0">
                <a:solidFill>
                  <a:srgbClr val="232852"/>
                </a:solidFill>
                <a:latin typeface="Verdana"/>
                <a:cs typeface="Verdana"/>
              </a:rPr>
              <a:t>posterioridad.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0957" y="2351024"/>
            <a:ext cx="655256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7020" marR="5080" indent="-274955" algn="just">
              <a:lnSpc>
                <a:spcPct val="100000"/>
              </a:lnSpc>
              <a:spcBef>
                <a:spcPts val="105"/>
              </a:spcBef>
            </a:pPr>
            <a:r>
              <a:rPr sz="1500" spc="-145" dirty="0">
                <a:solidFill>
                  <a:srgbClr val="619CD1"/>
                </a:solidFill>
                <a:latin typeface="Microsoft Sans Serif"/>
                <a:cs typeface="Microsoft Sans Serif"/>
              </a:rPr>
              <a:t></a:t>
            </a:r>
            <a:r>
              <a:rPr sz="1500" spc="-140" dirty="0">
                <a:solidFill>
                  <a:srgbClr val="619CD1"/>
                </a:solidFill>
                <a:latin typeface="Microsoft Sans Serif"/>
                <a:cs typeface="Microsoft Sans Serif"/>
              </a:rPr>
              <a:t> </a:t>
            </a:r>
            <a:r>
              <a:rPr sz="2000" spc="-70" dirty="0">
                <a:solidFill>
                  <a:srgbClr val="232852"/>
                </a:solidFill>
                <a:latin typeface="Verdana"/>
                <a:cs typeface="Verdana"/>
              </a:rPr>
              <a:t>Todos</a:t>
            </a:r>
            <a:r>
              <a:rPr sz="2000" spc="-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32852"/>
                </a:solidFill>
                <a:latin typeface="Verdana"/>
                <a:cs typeface="Verdana"/>
              </a:rPr>
              <a:t>estos</a:t>
            </a:r>
            <a:r>
              <a:rPr sz="2000" spc="5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problemas</a:t>
            </a:r>
            <a:r>
              <a:rPr sz="20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85" dirty="0">
                <a:solidFill>
                  <a:srgbClr val="232852"/>
                </a:solidFill>
                <a:latin typeface="Verdana"/>
                <a:cs typeface="Verdana"/>
              </a:rPr>
              <a:t>se</a:t>
            </a:r>
            <a:r>
              <a:rPr sz="2000" spc="-8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232852"/>
                </a:solidFill>
                <a:latin typeface="Verdana"/>
                <a:cs typeface="Verdana"/>
              </a:rPr>
              <a:t>pueden</a:t>
            </a:r>
            <a:r>
              <a:rPr sz="2000" spc="6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32852"/>
                </a:solidFill>
                <a:latin typeface="Verdana"/>
                <a:cs typeface="Verdana"/>
              </a:rPr>
              <a:t>atribuir</a:t>
            </a:r>
            <a:r>
              <a:rPr sz="2000" spc="52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270" dirty="0">
                <a:solidFill>
                  <a:srgbClr val="232852"/>
                </a:solidFill>
                <a:latin typeface="Verdana"/>
                <a:cs typeface="Verdana"/>
              </a:rPr>
              <a:t>– </a:t>
            </a:r>
            <a:r>
              <a:rPr sz="2000" spc="-26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32852"/>
                </a:solidFill>
                <a:latin typeface="Verdana"/>
                <a:cs typeface="Verdana"/>
              </a:rPr>
              <a:t>parcialmente</a:t>
            </a:r>
            <a:r>
              <a:rPr sz="2000" spc="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32852"/>
                </a:solidFill>
                <a:latin typeface="Verdana"/>
                <a:cs typeface="Verdana"/>
              </a:rPr>
              <a:t>al</a:t>
            </a:r>
            <a:r>
              <a:rPr sz="2000" spc="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32852"/>
                </a:solidFill>
                <a:latin typeface="Verdana"/>
                <a:cs typeface="Verdana"/>
              </a:rPr>
              <a:t>gran</a:t>
            </a:r>
            <a:r>
              <a:rPr sz="2000" spc="-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35" dirty="0">
                <a:solidFill>
                  <a:srgbClr val="232852"/>
                </a:solidFill>
                <a:latin typeface="Verdana"/>
                <a:cs typeface="Verdana"/>
              </a:rPr>
              <a:t>número</a:t>
            </a:r>
            <a:r>
              <a:rPr sz="2000" spc="-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de</a:t>
            </a:r>
            <a:r>
              <a:rPr sz="2000" spc="1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32852"/>
                </a:solidFill>
                <a:latin typeface="Verdana"/>
                <a:cs typeface="Verdana"/>
              </a:rPr>
              <a:t>programas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90" dirty="0">
                <a:solidFill>
                  <a:srgbClr val="232852"/>
                </a:solidFill>
                <a:latin typeface="Verdana"/>
                <a:cs typeface="Verdana"/>
              </a:rPr>
              <a:t>existentes </a:t>
            </a:r>
            <a:r>
              <a:rPr sz="2000" spc="50" dirty="0">
                <a:solidFill>
                  <a:srgbClr val="232852"/>
                </a:solidFill>
                <a:latin typeface="Verdana"/>
                <a:cs typeface="Verdana"/>
              </a:rPr>
              <a:t>que </a:t>
            </a:r>
            <a:r>
              <a:rPr sz="2000" spc="25" dirty="0">
                <a:solidFill>
                  <a:srgbClr val="232852"/>
                </a:solidFill>
                <a:latin typeface="Verdana"/>
                <a:cs typeface="Verdana"/>
              </a:rPr>
              <a:t>han </a:t>
            </a:r>
            <a:r>
              <a:rPr sz="2000" spc="-55" dirty="0">
                <a:solidFill>
                  <a:srgbClr val="232852"/>
                </a:solidFill>
                <a:latin typeface="Verdana"/>
                <a:cs typeface="Verdana"/>
              </a:rPr>
              <a:t>sido </a:t>
            </a:r>
            <a:r>
              <a:rPr sz="2000" spc="-40" dirty="0">
                <a:solidFill>
                  <a:srgbClr val="232852"/>
                </a:solidFill>
                <a:latin typeface="Verdana"/>
                <a:cs typeface="Verdana"/>
              </a:rPr>
              <a:t>desarrollados </a:t>
            </a:r>
            <a:r>
              <a:rPr sz="2000" spc="-160" dirty="0">
                <a:solidFill>
                  <a:srgbClr val="232852"/>
                </a:solidFill>
                <a:latin typeface="Verdana"/>
                <a:cs typeface="Verdana"/>
              </a:rPr>
              <a:t>sin </a:t>
            </a:r>
            <a:r>
              <a:rPr sz="2000" spc="-35" dirty="0">
                <a:solidFill>
                  <a:srgbClr val="232852"/>
                </a:solidFill>
                <a:latin typeface="Verdana"/>
                <a:cs typeface="Verdana"/>
              </a:rPr>
              <a:t>tener </a:t>
            </a:r>
            <a:r>
              <a:rPr sz="2000" spc="35" dirty="0">
                <a:solidFill>
                  <a:srgbClr val="232852"/>
                </a:solidFill>
                <a:latin typeface="Verdana"/>
                <a:cs typeface="Verdana"/>
              </a:rPr>
              <a:t>en </a:t>
            </a:r>
            <a:r>
              <a:rPr sz="2000" spc="4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232852"/>
                </a:solidFill>
                <a:latin typeface="Verdana"/>
                <a:cs typeface="Verdana"/>
              </a:rPr>
              <a:t>cuenta </a:t>
            </a:r>
            <a:r>
              <a:rPr sz="2000" spc="5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2000" spc="-35" dirty="0">
                <a:solidFill>
                  <a:srgbClr val="232852"/>
                </a:solidFill>
                <a:latin typeface="Verdana"/>
                <a:cs typeface="Verdana"/>
              </a:rPr>
              <a:t>ingeniería </a:t>
            </a:r>
            <a:r>
              <a:rPr sz="2000" spc="20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2000" spc="-60" dirty="0">
                <a:solidFill>
                  <a:srgbClr val="232852"/>
                </a:solidFill>
                <a:latin typeface="Verdana"/>
                <a:cs typeface="Verdana"/>
              </a:rPr>
              <a:t>software. </a:t>
            </a:r>
            <a:r>
              <a:rPr sz="2000" spc="-105" dirty="0">
                <a:solidFill>
                  <a:srgbClr val="232852"/>
                </a:solidFill>
                <a:latin typeface="Verdana"/>
                <a:cs typeface="Verdana"/>
              </a:rPr>
              <a:t>Esta </a:t>
            </a:r>
            <a:r>
              <a:rPr sz="2000" spc="40" dirty="0">
                <a:solidFill>
                  <a:srgbClr val="232852"/>
                </a:solidFill>
                <a:latin typeface="Verdana"/>
                <a:cs typeface="Verdana"/>
              </a:rPr>
              <a:t>área </a:t>
            </a:r>
            <a:r>
              <a:rPr sz="2000" spc="114" dirty="0">
                <a:solidFill>
                  <a:srgbClr val="232852"/>
                </a:solidFill>
                <a:latin typeface="Verdana"/>
                <a:cs typeface="Verdana"/>
              </a:rPr>
              <a:t>de </a:t>
            </a:r>
            <a:r>
              <a:rPr sz="2000" spc="5" dirty="0">
                <a:solidFill>
                  <a:srgbClr val="232852"/>
                </a:solidFill>
                <a:latin typeface="Verdana"/>
                <a:cs typeface="Verdana"/>
              </a:rPr>
              <a:t>la </a:t>
            </a:r>
            <a:r>
              <a:rPr sz="2000" spc="-69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informática</a:t>
            </a:r>
            <a:r>
              <a:rPr sz="2000" spc="-1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232852"/>
                </a:solidFill>
                <a:latin typeface="Verdana"/>
                <a:cs typeface="Verdana"/>
              </a:rPr>
              <a:t>no </a:t>
            </a:r>
            <a:r>
              <a:rPr sz="2000" spc="-75" dirty="0">
                <a:solidFill>
                  <a:srgbClr val="232852"/>
                </a:solidFill>
                <a:latin typeface="Verdana"/>
                <a:cs typeface="Verdana"/>
              </a:rPr>
              <a:t>es</a:t>
            </a:r>
            <a:r>
              <a:rPr sz="2000" spc="-7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25" dirty="0">
                <a:solidFill>
                  <a:srgbClr val="232852"/>
                </a:solidFill>
                <a:latin typeface="Verdana"/>
                <a:cs typeface="Verdana"/>
              </a:rPr>
              <a:t>una </a:t>
            </a:r>
            <a:r>
              <a:rPr sz="2000" spc="90" dirty="0">
                <a:solidFill>
                  <a:srgbClr val="232852"/>
                </a:solidFill>
                <a:latin typeface="Verdana"/>
                <a:cs typeface="Verdana"/>
              </a:rPr>
              <a:t>panacea,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pero,</a:t>
            </a:r>
            <a:r>
              <a:rPr sz="2000" spc="-15" dirty="0">
                <a:solidFill>
                  <a:srgbClr val="232852"/>
                </a:solidFill>
                <a:latin typeface="Verdana"/>
                <a:cs typeface="Verdana"/>
              </a:rPr>
              <a:t> por</a:t>
            </a:r>
            <a:r>
              <a:rPr sz="2000" spc="-1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32852"/>
                </a:solidFill>
                <a:latin typeface="Verdana"/>
                <a:cs typeface="Verdana"/>
              </a:rPr>
              <a:t>lo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60" dirty="0">
                <a:solidFill>
                  <a:srgbClr val="232852"/>
                </a:solidFill>
                <a:latin typeface="Verdana"/>
                <a:cs typeface="Verdana"/>
              </a:rPr>
              <a:t>menos, </a:t>
            </a:r>
            <a:r>
              <a:rPr sz="2000" spc="25" dirty="0">
                <a:solidFill>
                  <a:srgbClr val="232852"/>
                </a:solidFill>
                <a:latin typeface="Verdana"/>
                <a:cs typeface="Verdana"/>
              </a:rPr>
              <a:t>aporta </a:t>
            </a:r>
            <a:r>
              <a:rPr sz="2000" spc="-40" dirty="0">
                <a:solidFill>
                  <a:srgbClr val="232852"/>
                </a:solidFill>
                <a:latin typeface="Verdana"/>
                <a:cs typeface="Verdana"/>
              </a:rPr>
              <a:t>soluciones </a:t>
            </a:r>
            <a:r>
              <a:rPr sz="2000" spc="-5" dirty="0">
                <a:solidFill>
                  <a:srgbClr val="232852"/>
                </a:solidFill>
                <a:latin typeface="Verdana"/>
                <a:cs typeface="Verdana"/>
              </a:rPr>
              <a:t>parciales </a:t>
            </a:r>
            <a:r>
              <a:rPr sz="2000" spc="165" dirty="0">
                <a:solidFill>
                  <a:srgbClr val="232852"/>
                </a:solidFill>
                <a:latin typeface="Verdana"/>
                <a:cs typeface="Verdana"/>
              </a:rPr>
              <a:t>a </a:t>
            </a:r>
            <a:r>
              <a:rPr sz="2000" spc="-105" dirty="0">
                <a:solidFill>
                  <a:srgbClr val="232852"/>
                </a:solidFill>
                <a:latin typeface="Verdana"/>
                <a:cs typeface="Verdana"/>
              </a:rPr>
              <a:t>los </a:t>
            </a:r>
            <a:r>
              <a:rPr sz="2000" spc="-90" dirty="0">
                <a:solidFill>
                  <a:srgbClr val="232852"/>
                </a:solidFill>
                <a:latin typeface="Verdana"/>
                <a:cs typeface="Verdana"/>
              </a:rPr>
              <a:t>diversos </a:t>
            </a:r>
            <a:r>
              <a:rPr sz="2000" spc="-85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problemas </a:t>
            </a:r>
            <a:r>
              <a:rPr sz="2000" spc="15" dirty="0">
                <a:solidFill>
                  <a:srgbClr val="232852"/>
                </a:solidFill>
                <a:latin typeface="Verdana"/>
                <a:cs typeface="Verdana"/>
              </a:rPr>
              <a:t>planteados </a:t>
            </a:r>
            <a:r>
              <a:rPr sz="2000" spc="100" dirty="0">
                <a:solidFill>
                  <a:srgbClr val="232852"/>
                </a:solidFill>
                <a:latin typeface="Verdana"/>
                <a:cs typeface="Verdana"/>
              </a:rPr>
              <a:t>con </a:t>
            </a:r>
            <a:r>
              <a:rPr sz="2000" spc="-20" dirty="0">
                <a:solidFill>
                  <a:srgbClr val="232852"/>
                </a:solidFill>
                <a:latin typeface="Verdana"/>
                <a:cs typeface="Verdana"/>
              </a:rPr>
              <a:t>el </a:t>
            </a:r>
            <a:r>
              <a:rPr sz="2000" spc="-25" dirty="0">
                <a:solidFill>
                  <a:srgbClr val="232852"/>
                </a:solidFill>
                <a:latin typeface="Verdana"/>
                <a:cs typeface="Verdana"/>
              </a:rPr>
              <a:t>mantenimiento </a:t>
            </a:r>
            <a:r>
              <a:rPr sz="2000" spc="25" dirty="0">
                <a:solidFill>
                  <a:srgbClr val="232852"/>
                </a:solidFill>
                <a:latin typeface="Verdana"/>
                <a:cs typeface="Verdana"/>
              </a:rPr>
              <a:t>del </a:t>
            </a:r>
            <a:r>
              <a:rPr sz="2000" spc="30" dirty="0">
                <a:solidFill>
                  <a:srgbClr val="232852"/>
                </a:solidFill>
                <a:latin typeface="Verdana"/>
                <a:cs typeface="Verdana"/>
              </a:rPr>
              <a:t> </a:t>
            </a:r>
            <a:r>
              <a:rPr sz="2000" spc="-55" dirty="0">
                <a:solidFill>
                  <a:srgbClr val="232852"/>
                </a:solidFill>
                <a:latin typeface="Verdana"/>
                <a:cs typeface="Verdana"/>
              </a:rPr>
              <a:t>software.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</TotalTime>
  <Words>2876</Words>
  <Application>Microsoft Office PowerPoint</Application>
  <PresentationFormat>Presentación en pantalla (4:3)</PresentationFormat>
  <Paragraphs>112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8" baseType="lpstr">
      <vt:lpstr>Arial</vt:lpstr>
      <vt:lpstr>Century Gothic</vt:lpstr>
      <vt:lpstr>Microsoft Sans Serif</vt:lpstr>
      <vt:lpstr>Times New Roman</vt:lpstr>
      <vt:lpstr>Verdana</vt:lpstr>
      <vt:lpstr>Wingdings 3</vt:lpstr>
      <vt:lpstr>Espiral</vt:lpstr>
      <vt:lpstr>Presentación de PowerPoint</vt:lpstr>
      <vt:lpstr>Definición de Mantenimiento</vt:lpstr>
      <vt:lpstr>Definición de Mantenimiento</vt:lpstr>
      <vt:lpstr>Definición de Mantenimiento</vt:lpstr>
      <vt:lpstr>Presentación de PowerPoint</vt:lpstr>
      <vt:lpstr>Presentación de PowerPoint</vt:lpstr>
      <vt:lpstr>Mantenimiento Correctivo</vt:lpstr>
      <vt:lpstr>Origen de los defectos del software</vt:lpstr>
      <vt:lpstr>Mantenimiento Adaptativo</vt:lpstr>
      <vt:lpstr>Mantenimiento Adaptativo</vt:lpstr>
      <vt:lpstr>Mantenimiento Perfectivo</vt:lpstr>
      <vt:lpstr>Mantenimiento Perfectivo</vt:lpstr>
      <vt:lpstr>Mantenimiento Preventivo</vt:lpstr>
      <vt:lpstr>Mantenimiento Preventivo</vt:lpstr>
      <vt:lpstr>ACTIVIDADES DE</vt:lpstr>
      <vt:lpstr>Introducción</vt:lpstr>
      <vt:lpstr>Presentación de PowerPoint</vt:lpstr>
      <vt:lpstr>Tipos de Actividades</vt:lpstr>
      <vt:lpstr>Presentación de PowerPoint</vt:lpstr>
      <vt:lpstr>  Otros resultados interesantes de este mismo estudio</vt:lpstr>
      <vt:lpstr>Distribución del esfuerzo en</vt:lpstr>
      <vt:lpstr>Dificultades del Mantenimiento</vt:lpstr>
      <vt:lpstr>Código Heredado</vt:lpstr>
      <vt:lpstr> Los problemas específicos del mantenimiento de código</vt:lpstr>
      <vt:lpstr>Presentación de PowerPoint</vt:lpstr>
      <vt:lpstr>Presentación de PowerPoint</vt:lpstr>
      <vt:lpstr>Problemas de Mantenimiento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()</dc:title>
  <dc:creator>()</dc:creator>
  <cp:keywords>()</cp:keywords>
  <cp:lastModifiedBy>Angel Marcelo Rea Guamán</cp:lastModifiedBy>
  <cp:revision>1</cp:revision>
  <dcterms:created xsi:type="dcterms:W3CDTF">2024-08-06T03:18:27Z</dcterms:created>
  <dcterms:modified xsi:type="dcterms:W3CDTF">2024-08-06T03:21:07Z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2015-02-22T00:00:00Z</vt:filetime>
  </property>
  <property fmtid="{D5CDD505-2E9C-101B-9397-08002B2CF9AE}" pid="3" name="Creator">
    <vt:lpwstr>()</vt:lpwstr>
  </property>
  <property fmtid="{D5CDD505-2E9C-101B-9397-08002B2CF9AE}" pid="4" name="LastSaved">
    <vt:filetime>2024-08-06T00:00:00Z</vt:filetime>
  </property>
</Properties>
</file>