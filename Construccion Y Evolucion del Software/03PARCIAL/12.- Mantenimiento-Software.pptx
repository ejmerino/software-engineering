
<file path=[Content_Types].xml><?xml version="1.0" encoding="utf-8"?>
<Types xmlns="http://schemas.openxmlformats.org/package/2006/content-types">
  <Default Extension="emf" ContentType="image/x-em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8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0693400" cy="7556500"/>
  <p:notesSz cx="10693400" cy="7556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1548" y="2770719"/>
            <a:ext cx="7718861" cy="2493249"/>
          </a:xfrm>
        </p:spPr>
        <p:txBody>
          <a:bodyPr anchor="b">
            <a:normAutofit/>
          </a:bodyPr>
          <a:lstStyle>
            <a:lvl1pPr>
              <a:defRPr sz="595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71548" y="5263966"/>
            <a:ext cx="7718861" cy="1240997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037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5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3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1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8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2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65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0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8"/>
          <p:cNvSpPr/>
          <p:nvPr/>
        </p:nvSpPr>
        <p:spPr bwMode="auto">
          <a:xfrm>
            <a:off x="-37093" y="4761276"/>
            <a:ext cx="1631928" cy="861407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95066" y="4990884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0641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805" y="687677"/>
            <a:ext cx="7705702" cy="141135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1547" y="2350911"/>
            <a:ext cx="7708960" cy="416238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27725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1547" y="2285860"/>
            <a:ext cx="7708960" cy="1618400"/>
          </a:xfrm>
        </p:spPr>
        <p:txBody>
          <a:bodyPr anchor="b"/>
          <a:lstStyle>
            <a:lvl1pPr algn="l">
              <a:defRPr sz="4408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1547" y="3946172"/>
            <a:ext cx="7708960" cy="948033"/>
          </a:xfrm>
        </p:spPr>
        <p:txBody>
          <a:bodyPr anchor="t"/>
          <a:lstStyle>
            <a:lvl1pPr marL="0" indent="0" algn="l">
              <a:buNone/>
              <a:defRPr sz="2204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68" y="3489044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7853" y="3574562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22533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71548" y="2354334"/>
            <a:ext cx="3739335" cy="415111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1684" y="2354334"/>
            <a:ext cx="3738823" cy="415111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7853" y="868021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003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9203" y="2453412"/>
            <a:ext cx="3361680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71546" y="3088368"/>
            <a:ext cx="3739336" cy="342202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14559" y="2449855"/>
            <a:ext cx="3360093" cy="634955"/>
          </a:xfrm>
        </p:spPr>
        <p:txBody>
          <a:bodyPr anchor="b">
            <a:noAutofit/>
          </a:bodyPr>
          <a:lstStyle>
            <a:lvl1pPr marL="0" indent="0">
              <a:buNone/>
              <a:defRPr sz="2645" b="0"/>
            </a:lvl1pPr>
            <a:lvl2pPr marL="503789" indent="0">
              <a:buNone/>
              <a:defRPr sz="2204" b="1"/>
            </a:lvl2pPr>
            <a:lvl3pPr marL="1007577" indent="0">
              <a:buNone/>
              <a:defRPr sz="1983" b="1"/>
            </a:lvl3pPr>
            <a:lvl4pPr marL="1511366" indent="0">
              <a:buNone/>
              <a:defRPr sz="1763" b="1"/>
            </a:lvl4pPr>
            <a:lvl5pPr marL="2015155" indent="0">
              <a:buNone/>
              <a:defRPr sz="1763" b="1"/>
            </a:lvl5pPr>
            <a:lvl6pPr marL="2518943" indent="0">
              <a:buNone/>
              <a:defRPr sz="1763" b="1"/>
            </a:lvl6pPr>
            <a:lvl7pPr marL="3022732" indent="0">
              <a:buNone/>
              <a:defRPr sz="1763" b="1"/>
            </a:lvl7pPr>
            <a:lvl8pPr marL="3526521" indent="0">
              <a:buNone/>
              <a:defRPr sz="1763" b="1"/>
            </a:lvl8pPr>
            <a:lvl9pPr marL="4030309" indent="0">
              <a:buNone/>
              <a:defRPr sz="176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37483" y="3084811"/>
            <a:ext cx="3737170" cy="3422025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7853" y="868021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8762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4804" y="687677"/>
            <a:ext cx="7705703" cy="1411351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73534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0293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1547" y="491523"/>
            <a:ext cx="3075152" cy="1075751"/>
          </a:xfrm>
        </p:spPr>
        <p:txBody>
          <a:bodyPr anchor="b"/>
          <a:lstStyle>
            <a:lvl1pPr algn="l">
              <a:defRPr sz="2204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7253" y="491525"/>
            <a:ext cx="4433254" cy="5966487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1547" y="1761435"/>
            <a:ext cx="3075152" cy="4696573"/>
          </a:xfrm>
        </p:spPr>
        <p:txBody>
          <a:bodyPr/>
          <a:lstStyle>
            <a:lvl1pPr marL="0" indent="0">
              <a:buNone/>
              <a:defRPr sz="1543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84916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1547" y="5289550"/>
            <a:ext cx="7708960" cy="624461"/>
          </a:xfrm>
        </p:spPr>
        <p:txBody>
          <a:bodyPr anchor="b">
            <a:normAutofit/>
          </a:bodyPr>
          <a:lstStyle>
            <a:lvl1pPr algn="l">
              <a:defRPr sz="2645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71547" y="699637"/>
            <a:ext cx="7708960" cy="4247606"/>
          </a:xfrm>
        </p:spPr>
        <p:txBody>
          <a:bodyPr anchor="t">
            <a:normAutofit/>
          </a:bodyPr>
          <a:lstStyle>
            <a:lvl1pPr marL="0" indent="0" algn="ctr">
              <a:buNone/>
              <a:defRPr sz="1763"/>
            </a:lvl1pPr>
            <a:lvl2pPr marL="503789" indent="0">
              <a:buNone/>
              <a:defRPr sz="1763"/>
            </a:lvl2pPr>
            <a:lvl3pPr marL="1007577" indent="0">
              <a:buNone/>
              <a:defRPr sz="1763"/>
            </a:lvl3pPr>
            <a:lvl4pPr marL="1511366" indent="0">
              <a:buNone/>
              <a:defRPr sz="1763"/>
            </a:lvl4pPr>
            <a:lvl5pPr marL="2015155" indent="0">
              <a:buNone/>
              <a:defRPr sz="1763"/>
            </a:lvl5pPr>
            <a:lvl6pPr marL="2518943" indent="0">
              <a:buNone/>
              <a:defRPr sz="1763"/>
            </a:lvl6pPr>
            <a:lvl7pPr marL="3022732" indent="0">
              <a:buNone/>
              <a:defRPr sz="1763"/>
            </a:lvl7pPr>
            <a:lvl8pPr marL="3526521" indent="0">
              <a:buNone/>
              <a:defRPr sz="1763"/>
            </a:lvl8pPr>
            <a:lvl9pPr marL="4030309" indent="0">
              <a:buNone/>
              <a:defRPr sz="176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1547" y="5914012"/>
            <a:ext cx="7708960" cy="543997"/>
          </a:xfrm>
        </p:spPr>
        <p:txBody>
          <a:bodyPr>
            <a:normAutofit/>
          </a:bodyPr>
          <a:lstStyle>
            <a:lvl1pPr marL="0" indent="0">
              <a:buNone/>
              <a:defRPr sz="1322"/>
            </a:lvl1pPr>
            <a:lvl2pPr marL="503789" indent="0">
              <a:buNone/>
              <a:defRPr sz="1322"/>
            </a:lvl2pPr>
            <a:lvl3pPr marL="1007577" indent="0">
              <a:buNone/>
              <a:defRPr sz="1102"/>
            </a:lvl3pPr>
            <a:lvl4pPr marL="1511366" indent="0">
              <a:buNone/>
              <a:defRPr sz="992"/>
            </a:lvl4pPr>
            <a:lvl5pPr marL="2015155" indent="0">
              <a:buNone/>
              <a:defRPr sz="992"/>
            </a:lvl5pPr>
            <a:lvl6pPr marL="2518943" indent="0">
              <a:buNone/>
              <a:defRPr sz="992"/>
            </a:lvl6pPr>
            <a:lvl7pPr marL="3022732" indent="0">
              <a:buNone/>
              <a:defRPr sz="992"/>
            </a:lvl7pPr>
            <a:lvl8pPr marL="3526521" indent="0">
              <a:buNone/>
              <a:defRPr sz="992"/>
            </a:lvl8pPr>
            <a:lvl9pPr marL="4030309" indent="0">
              <a:buNone/>
              <a:defRPr sz="992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8" y="5410820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7853" y="5490625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10511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1547" y="671689"/>
            <a:ext cx="7708960" cy="3434516"/>
          </a:xfrm>
        </p:spPr>
        <p:txBody>
          <a:bodyPr anchor="ctr">
            <a:normAutofit/>
          </a:bodyPr>
          <a:lstStyle>
            <a:lvl1pPr algn="l">
              <a:defRPr sz="5289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1547" y="4797513"/>
            <a:ext cx="7708960" cy="1714332"/>
          </a:xfrm>
        </p:spPr>
        <p:txBody>
          <a:bodyPr anchor="ctr">
            <a:normAutofit/>
          </a:bodyPr>
          <a:lstStyle>
            <a:lvl1pPr marL="0" indent="0" algn="l">
              <a:buNone/>
              <a:defRPr sz="198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8" y="3489044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7853" y="3574562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91768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8889" y="671689"/>
            <a:ext cx="7144823" cy="3190522"/>
          </a:xfrm>
        </p:spPr>
        <p:txBody>
          <a:bodyPr anchor="ctr">
            <a:normAutofit/>
          </a:bodyPr>
          <a:lstStyle>
            <a:lvl1pPr algn="l">
              <a:defRPr sz="5289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825345" y="3862211"/>
            <a:ext cx="6611908" cy="419806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76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1547" y="4797513"/>
            <a:ext cx="7708960" cy="1714332"/>
          </a:xfrm>
        </p:spPr>
        <p:txBody>
          <a:bodyPr anchor="ctr">
            <a:normAutofit/>
          </a:bodyPr>
          <a:lstStyle>
            <a:lvl1pPr marL="0" indent="0" algn="l">
              <a:buNone/>
              <a:defRPr sz="1983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03789" indent="0">
              <a:buNone/>
              <a:defRPr sz="1983">
                <a:solidFill>
                  <a:schemeClr val="tx1">
                    <a:tint val="75000"/>
                  </a:schemeClr>
                </a:solidFill>
              </a:defRPr>
            </a:lvl2pPr>
            <a:lvl3pPr marL="1007577" indent="0">
              <a:buNone/>
              <a:defRPr sz="1763">
                <a:solidFill>
                  <a:schemeClr val="tx1">
                    <a:tint val="75000"/>
                  </a:schemeClr>
                </a:solidFill>
              </a:defRPr>
            </a:lvl3pPr>
            <a:lvl4pPr marL="1511366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4pPr>
            <a:lvl5pPr marL="2015155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5pPr>
            <a:lvl6pPr marL="2518943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6pPr>
            <a:lvl7pPr marL="3022732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7pPr>
            <a:lvl8pPr marL="3526521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8pPr>
            <a:lvl9pPr marL="4030309" indent="0">
              <a:buNone/>
              <a:defRPr sz="154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68" y="3489044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97853" y="3574562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4" name="TextBox 13"/>
          <p:cNvSpPr txBox="1"/>
          <p:nvPr/>
        </p:nvSpPr>
        <p:spPr>
          <a:xfrm>
            <a:off x="2114726" y="71400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53816" y="3201217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201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1547" y="2686757"/>
            <a:ext cx="7708960" cy="3002376"/>
          </a:xfrm>
        </p:spPr>
        <p:txBody>
          <a:bodyPr anchor="b">
            <a:normAutofit/>
          </a:bodyPr>
          <a:lstStyle>
            <a:lvl1pPr algn="l">
              <a:defRPr sz="5289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1547" y="5709356"/>
            <a:ext cx="7708960" cy="8039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68" y="5410820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7853" y="5490625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43432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558889" y="671689"/>
            <a:ext cx="7144823" cy="3190522"/>
          </a:xfrm>
        </p:spPr>
        <p:txBody>
          <a:bodyPr anchor="ctr">
            <a:normAutofit/>
          </a:bodyPr>
          <a:lstStyle>
            <a:lvl1pPr algn="l">
              <a:defRPr sz="5289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71546" y="4785783"/>
            <a:ext cx="7821586" cy="9235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1546" y="5709356"/>
            <a:ext cx="7821586" cy="8039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68" y="5410820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7853" y="5490625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  <p:sp>
        <p:nvSpPr>
          <p:cNvPr id="11" name="TextBox 10"/>
          <p:cNvSpPr txBox="1"/>
          <p:nvPr/>
        </p:nvSpPr>
        <p:spPr>
          <a:xfrm>
            <a:off x="2114726" y="714005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3816" y="3201217"/>
            <a:ext cx="534809" cy="644337"/>
          </a:xfrm>
          <a:prstGeom prst="rect">
            <a:avLst/>
          </a:prstGeom>
        </p:spPr>
        <p:txBody>
          <a:bodyPr vert="horz" lIns="100753" tIns="50377" rIns="100753" bIns="50377" rtlCol="0" anchor="ctr">
            <a:noAutofit/>
          </a:bodyPr>
          <a:lstStyle/>
          <a:p>
            <a:pPr lvl="0"/>
            <a:r>
              <a:rPr lang="en-US" sz="8815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96655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1548" y="691310"/>
            <a:ext cx="7708959" cy="3173355"/>
          </a:xfrm>
        </p:spPr>
        <p:txBody>
          <a:bodyPr anchor="ctr">
            <a:normAutofit/>
          </a:bodyPr>
          <a:lstStyle>
            <a:lvl1pPr algn="l">
              <a:defRPr sz="5289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271547" y="4785783"/>
            <a:ext cx="7708960" cy="923572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645">
                <a:solidFill>
                  <a:schemeClr val="accent1"/>
                </a:solidFill>
              </a:defRPr>
            </a:lvl1pPr>
            <a:lvl2pPr marL="503789" indent="0">
              <a:buFontTx/>
              <a:buNone/>
              <a:defRPr/>
            </a:lvl2pPr>
            <a:lvl3pPr marL="1007577" indent="0">
              <a:buFontTx/>
              <a:buNone/>
              <a:defRPr/>
            </a:lvl3pPr>
            <a:lvl4pPr marL="1511366" indent="0">
              <a:buFontTx/>
              <a:buNone/>
              <a:defRPr/>
            </a:lvl4pPr>
            <a:lvl5pPr marL="2015155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71547" y="5709356"/>
            <a:ext cx="7708960" cy="80393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8" y="5410820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97853" y="5490625"/>
            <a:ext cx="684099" cy="402314"/>
          </a:xfrm>
        </p:spPr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535155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19230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44065" y="691309"/>
            <a:ext cx="1936754" cy="5821984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71548" y="691309"/>
            <a:ext cx="5515507" cy="582198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68" y="783631"/>
            <a:ext cx="1588522" cy="559746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1405946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33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92934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58518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09023" y="565035"/>
            <a:ext cx="8075353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92934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73226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D2533C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523756" y="1534884"/>
            <a:ext cx="4026535" cy="4813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rgbClr val="29293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8/5/2024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292934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‹Nº›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0891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51883"/>
            <a:ext cx="2316903" cy="7314785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3881" y="314"/>
            <a:ext cx="2283074" cy="7550955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213868" cy="7556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74804" y="687677"/>
            <a:ext cx="7705703" cy="141135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71547" y="2350911"/>
            <a:ext cx="7708960" cy="4282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89390" y="6759960"/>
            <a:ext cx="896239" cy="4078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546" y="6760753"/>
            <a:ext cx="6685115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97853" y="868021"/>
            <a:ext cx="684099" cy="4023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4">
                <a:solidFill>
                  <a:srgbClr val="FEFFFF"/>
                </a:solidFill>
              </a:defRPr>
            </a:lvl1pPr>
          </a:lstStyle>
          <a:p>
            <a:pPr marL="38100">
              <a:lnSpc>
                <a:spcPts val="1645"/>
              </a:lnSpc>
            </a:pPr>
            <a:fld id="{81D60167-4931-47E6-BA6A-407CBD079E47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79782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</p:sldLayoutIdLst>
  <p:txStyles>
    <p:titleStyle>
      <a:lvl1pPr algn="l" defTabSz="503789" rtl="0" eaLnBrk="1" latinLnBrk="0" hangingPunct="1">
        <a:spcBef>
          <a:spcPct val="0"/>
        </a:spcBef>
        <a:buNone/>
        <a:defRPr sz="3967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77842" indent="-377842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98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18657" indent="-314868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76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259472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543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763260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267049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770838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274626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778415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282204" indent="-251894" algn="l" defTabSz="503789" rtl="0" eaLnBrk="1" latinLnBrk="0" hangingPunct="1">
        <a:spcBef>
          <a:spcPts val="1102"/>
        </a:spcBef>
        <a:spcAft>
          <a:spcPts val="0"/>
        </a:spcAft>
        <a:buClr>
          <a:schemeClr val="accent1"/>
        </a:buClr>
        <a:buFont typeface="Wingdings 3" charset="2"/>
        <a:buChar char=""/>
        <a:defRPr sz="1322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1pPr>
      <a:lvl2pPr marL="50378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2pPr>
      <a:lvl3pPr marL="1007577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3pPr>
      <a:lvl4pPr marL="1511366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4pPr>
      <a:lvl5pPr marL="2015155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5pPr>
      <a:lvl6pPr marL="2518943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6pPr>
      <a:lvl7pPr marL="3022732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7pPr>
      <a:lvl8pPr marL="3526521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8pPr>
      <a:lvl9pPr marL="4030309" algn="l" defTabSz="503789" rtl="0" eaLnBrk="1" latinLnBrk="0" hangingPunct="1">
        <a:defRPr sz="198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lostechies.com/seanchambers/2009/08/10/refactoring-day-10-" TargetMode="External"/><Relationship Id="rId2" Type="http://schemas.openxmlformats.org/officeDocument/2006/relationships/hyperlink" Target="http://sourcemaking.com/refactoring/extract-method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hyperlink" Target="http://www.sig.eu/wp-content/uploads/2017/02/Building_Maintainable_Software_C_Sharp_SIG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65300" y="690129"/>
            <a:ext cx="6636384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50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12186" y="1820077"/>
            <a:ext cx="6925309" cy="166116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659889" marR="5080" indent="-1647825" algn="ctr">
              <a:lnSpc>
                <a:spcPts val="6400"/>
              </a:lnSpc>
              <a:spcBef>
                <a:spcPts val="280"/>
              </a:spcBef>
            </a:pPr>
            <a:r>
              <a:rPr sz="5400" b="1" spc="-5" dirty="0" err="1">
                <a:latin typeface="Calibri"/>
                <a:cs typeface="Calibri"/>
              </a:rPr>
              <a:t>Mantenimiento</a:t>
            </a:r>
            <a:r>
              <a:rPr sz="5400" b="1" spc="-5" dirty="0">
                <a:latin typeface="Calibri"/>
                <a:cs typeface="Calibri"/>
              </a:rPr>
              <a:t> </a:t>
            </a:r>
            <a:r>
              <a:rPr sz="5400" b="1" spc="-1210" dirty="0">
                <a:latin typeface="Calibri"/>
                <a:cs typeface="Calibri"/>
              </a:rPr>
              <a:t> </a:t>
            </a:r>
            <a:r>
              <a:rPr sz="5400" b="1" dirty="0">
                <a:latin typeface="Calibri"/>
                <a:cs typeface="Calibri"/>
              </a:rPr>
              <a:t>del</a:t>
            </a:r>
            <a:r>
              <a:rPr sz="5400" b="1" spc="-10" dirty="0">
                <a:latin typeface="Calibri"/>
                <a:cs typeface="Calibri"/>
              </a:rPr>
              <a:t> </a:t>
            </a:r>
            <a:r>
              <a:rPr sz="5400" b="1" spc="-25" dirty="0">
                <a:latin typeface="Calibri"/>
                <a:cs typeface="Calibri"/>
              </a:rPr>
              <a:t>Software</a:t>
            </a:r>
            <a:endParaRPr sz="5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66861" y="751678"/>
            <a:ext cx="26660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Indice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09023" y="1503936"/>
            <a:ext cx="6689725" cy="2645410"/>
          </a:xfrm>
          <a:prstGeom prst="rect">
            <a:avLst/>
          </a:prstGeom>
        </p:spPr>
        <p:txBody>
          <a:bodyPr vert="horz" wrap="square" lIns="0" tIns="120015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945"/>
              </a:spcBef>
              <a:buClr>
                <a:srgbClr val="93A299"/>
              </a:buClr>
              <a:buSzPct val="84722"/>
              <a:buChar char="•"/>
              <a:tabLst>
                <a:tab pos="195580" algn="l"/>
              </a:tabLst>
            </a:pPr>
            <a:r>
              <a:rPr sz="3600" spc="-5" dirty="0">
                <a:solidFill>
                  <a:srgbClr val="292934"/>
                </a:solidFill>
                <a:latin typeface="Arial MT"/>
                <a:cs typeface="Arial MT"/>
              </a:rPr>
              <a:t>Introducción</a:t>
            </a:r>
            <a:endParaRPr sz="36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840"/>
              </a:spcBef>
              <a:buClr>
                <a:srgbClr val="93A299"/>
              </a:buClr>
              <a:buSzPct val="84722"/>
              <a:buChar char="•"/>
              <a:tabLst>
                <a:tab pos="195580" algn="l"/>
              </a:tabLst>
            </a:pPr>
            <a:r>
              <a:rPr sz="3600" dirty="0">
                <a:solidFill>
                  <a:srgbClr val="292934"/>
                </a:solidFill>
                <a:latin typeface="Arial MT"/>
                <a:cs typeface="Arial MT"/>
              </a:rPr>
              <a:t>Ciclo</a:t>
            </a:r>
            <a:r>
              <a:rPr sz="36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92934"/>
                </a:solidFill>
                <a:latin typeface="Arial MT"/>
                <a:cs typeface="Arial MT"/>
              </a:rPr>
              <a:t>vida</a:t>
            </a:r>
            <a:r>
              <a:rPr sz="36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92934"/>
                </a:solidFill>
                <a:latin typeface="Arial MT"/>
                <a:cs typeface="Arial MT"/>
              </a:rPr>
              <a:t>del</a:t>
            </a:r>
            <a:r>
              <a:rPr sz="36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292934"/>
                </a:solidFill>
                <a:latin typeface="Arial MT"/>
                <a:cs typeface="Arial MT"/>
              </a:rPr>
              <a:t>mantenimiento</a:t>
            </a:r>
            <a:endParaRPr sz="36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880"/>
              </a:spcBef>
              <a:buClr>
                <a:srgbClr val="93A299"/>
              </a:buClr>
              <a:buSzPct val="84722"/>
              <a:buChar char="•"/>
              <a:tabLst>
                <a:tab pos="195580" algn="l"/>
              </a:tabLst>
            </a:pPr>
            <a:r>
              <a:rPr sz="3600" spc="-30" dirty="0">
                <a:solidFill>
                  <a:srgbClr val="292934"/>
                </a:solidFill>
                <a:latin typeface="Arial MT"/>
                <a:cs typeface="Arial MT"/>
              </a:rPr>
              <a:t>Tipos</a:t>
            </a:r>
            <a:r>
              <a:rPr sz="36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36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600" spc="-5" dirty="0">
                <a:solidFill>
                  <a:srgbClr val="292934"/>
                </a:solidFill>
                <a:latin typeface="Arial MT"/>
                <a:cs typeface="Arial MT"/>
              </a:rPr>
              <a:t>mantenimiento</a:t>
            </a:r>
            <a:endParaRPr sz="36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780"/>
              </a:spcBef>
              <a:buClr>
                <a:srgbClr val="93A299"/>
              </a:buClr>
              <a:buSzPct val="84722"/>
              <a:buChar char="•"/>
              <a:tabLst>
                <a:tab pos="195580" algn="l"/>
              </a:tabLst>
            </a:pPr>
            <a:r>
              <a:rPr sz="3600" spc="-5" dirty="0">
                <a:solidFill>
                  <a:srgbClr val="292934"/>
                </a:solidFill>
                <a:latin typeface="Arial MT"/>
                <a:cs typeface="Arial MT"/>
              </a:rPr>
              <a:t>Refactorización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Mantenimient</a:t>
            </a:r>
            <a:r>
              <a:rPr dirty="0"/>
              <a:t>o</a:t>
            </a:r>
            <a:r>
              <a:rPr spc="-200" dirty="0"/>
              <a:t> </a:t>
            </a:r>
            <a:r>
              <a:rPr spc="-105" dirty="0"/>
              <a:t>de</a:t>
            </a:r>
            <a:r>
              <a:rPr dirty="0"/>
              <a:t>l</a:t>
            </a:r>
            <a:r>
              <a:rPr spc="-204" dirty="0"/>
              <a:t> </a:t>
            </a:r>
            <a:r>
              <a:rPr spc="-105" dirty="0"/>
              <a:t>software.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84300" y="1720850"/>
            <a:ext cx="7757159" cy="2806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solidFill>
                  <a:srgbClr val="D2533C"/>
                </a:solidFill>
                <a:latin typeface="Arial MT"/>
                <a:cs typeface="Arial MT"/>
              </a:rPr>
              <a:t>Definición</a:t>
            </a:r>
            <a:endParaRPr sz="2400" dirty="0">
              <a:latin typeface="Arial MT"/>
              <a:cs typeface="Arial MT"/>
            </a:endParaRPr>
          </a:p>
          <a:p>
            <a:pPr marL="12700" marR="5080" algn="just">
              <a:lnSpc>
                <a:spcPct val="99700"/>
              </a:lnSpc>
              <a:spcBef>
                <a:spcPts val="2265"/>
              </a:spcBef>
            </a:pP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Modificación</a:t>
            </a:r>
            <a:r>
              <a:rPr sz="28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8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800" spc="6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producto</a:t>
            </a:r>
            <a:r>
              <a:rPr sz="28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8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después </a:t>
            </a:r>
            <a:r>
              <a:rPr sz="2800" spc="-7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su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entrega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al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cliente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o usuario para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corregir </a:t>
            </a:r>
            <a:r>
              <a:rPr sz="28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defectos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para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mejorar </a:t>
            </a:r>
            <a:r>
              <a:rPr sz="2800" b="1" dirty="0">
                <a:solidFill>
                  <a:srgbClr val="292934"/>
                </a:solidFill>
                <a:latin typeface="Arial"/>
                <a:cs typeface="Arial"/>
              </a:rPr>
              <a:t>el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rendimiento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u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otras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propiedades deseables, o para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adaptarlo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a un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cambio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entorno. [1]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9964" y="6431308"/>
            <a:ext cx="8836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[1]</a:t>
            </a:r>
            <a:r>
              <a:rPr sz="16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IEEE.</a:t>
            </a:r>
            <a:r>
              <a:rPr sz="16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Standard</a:t>
            </a:r>
            <a:r>
              <a:rPr sz="16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for</a:t>
            </a:r>
            <a:r>
              <a:rPr sz="16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16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Maintenance.</a:t>
            </a:r>
            <a:r>
              <a:rPr sz="16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1998.</a:t>
            </a:r>
            <a:r>
              <a:rPr sz="1600" spc="3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 MT"/>
                <a:cs typeface="Arial MT"/>
              </a:rPr>
              <a:t>https://ieeexplore.ieee.org/document/720567/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Mantenimient</a:t>
            </a:r>
            <a:r>
              <a:rPr dirty="0"/>
              <a:t>o</a:t>
            </a:r>
            <a:r>
              <a:rPr spc="-200" dirty="0"/>
              <a:t> </a:t>
            </a:r>
            <a:r>
              <a:rPr spc="-105" dirty="0"/>
              <a:t>de</a:t>
            </a:r>
            <a:r>
              <a:rPr dirty="0"/>
              <a:t>l</a:t>
            </a:r>
            <a:r>
              <a:rPr spc="-204" dirty="0"/>
              <a:t> </a:t>
            </a:r>
            <a:r>
              <a:rPr spc="-105" dirty="0"/>
              <a:t>software.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4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67802" y="1323222"/>
            <a:ext cx="7757795" cy="221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0" dirty="0">
                <a:solidFill>
                  <a:srgbClr val="D2533C"/>
                </a:solidFill>
                <a:latin typeface="Arial MT"/>
                <a:cs typeface="Arial MT"/>
              </a:rPr>
              <a:t>E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l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mantenimient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o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e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n</a:t>
            </a:r>
            <a:r>
              <a:rPr sz="2400" spc="-204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e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l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cicl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o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d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e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vid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a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software</a:t>
            </a:r>
            <a:endParaRPr sz="2400" dirty="0">
              <a:latin typeface="Arial MT"/>
              <a:cs typeface="Arial MT"/>
            </a:endParaRPr>
          </a:p>
          <a:p>
            <a:pPr marL="190500" marR="5715" indent="-177800">
              <a:lnSpc>
                <a:spcPts val="2800"/>
              </a:lnSpc>
              <a:spcBef>
                <a:spcPts val="2415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2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mantenimiento</a:t>
            </a:r>
            <a:r>
              <a:rPr sz="2400" spc="2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spc="2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software,</a:t>
            </a:r>
            <a:r>
              <a:rPr sz="2400" spc="2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es</a:t>
            </a:r>
            <a:r>
              <a:rPr sz="2400" spc="2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una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las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spc="-5" dirty="0">
                <a:latin typeface="Arial MT"/>
                <a:cs typeface="Arial MT"/>
              </a:rPr>
              <a:t>fases</a:t>
            </a:r>
            <a:r>
              <a:rPr sz="2400" spc="2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en </a:t>
            </a:r>
            <a:r>
              <a:rPr sz="2400" spc="-6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el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Ciclo de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5" dirty="0">
                <a:latin typeface="Arial MT"/>
                <a:cs typeface="Arial MT"/>
              </a:rPr>
              <a:t>Vida</a:t>
            </a:r>
            <a:r>
              <a:rPr sz="2400" dirty="0">
                <a:latin typeface="Arial MT"/>
                <a:cs typeface="Arial MT"/>
              </a:rPr>
              <a:t> de Desarrollo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de </a:t>
            </a:r>
            <a:r>
              <a:rPr sz="2400" spc="-5" dirty="0">
                <a:latin typeface="Arial MT"/>
                <a:cs typeface="Arial MT"/>
              </a:rPr>
              <a:t>Software.</a:t>
            </a:r>
            <a:endParaRPr sz="2400" dirty="0">
              <a:latin typeface="Arial MT"/>
              <a:cs typeface="Arial MT"/>
            </a:endParaRPr>
          </a:p>
          <a:p>
            <a:pPr marL="190500" marR="5080" indent="-177800">
              <a:lnSpc>
                <a:spcPct val="101499"/>
              </a:lnSpc>
              <a:spcBef>
                <a:spcPts val="475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fase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2400" spc="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consume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más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tiempo</a:t>
            </a:r>
            <a:r>
              <a:rPr sz="2400" spc="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dentro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del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ciclo</a:t>
            </a:r>
            <a:r>
              <a:rPr sz="2400" spc="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vida.</a:t>
            </a:r>
            <a:endParaRPr sz="24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9700" y="3778250"/>
            <a:ext cx="5844469" cy="3460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023" y="412636"/>
            <a:ext cx="6325870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pc="-105" dirty="0"/>
              <a:t>Mantenimient</a:t>
            </a:r>
            <a:r>
              <a:rPr dirty="0"/>
              <a:t>o</a:t>
            </a:r>
            <a:r>
              <a:rPr spc="-200" dirty="0"/>
              <a:t> </a:t>
            </a:r>
            <a:r>
              <a:rPr spc="-105" dirty="0"/>
              <a:t>de</a:t>
            </a:r>
            <a:r>
              <a:rPr dirty="0"/>
              <a:t>l</a:t>
            </a:r>
            <a:r>
              <a:rPr spc="-204" dirty="0"/>
              <a:t> </a:t>
            </a:r>
            <a:r>
              <a:rPr spc="-105" dirty="0"/>
              <a:t>software.</a:t>
            </a:r>
          </a:p>
          <a:p>
            <a:pPr marL="12700">
              <a:lnSpc>
                <a:spcPts val="2870"/>
              </a:lnSpc>
            </a:pPr>
            <a:r>
              <a:rPr sz="2400" spc="-190" dirty="0"/>
              <a:t>T</a:t>
            </a:r>
            <a:r>
              <a:rPr sz="2400" spc="-105" dirty="0"/>
              <a:t>iemp</a:t>
            </a:r>
            <a:r>
              <a:rPr sz="2400" dirty="0"/>
              <a:t>o</a:t>
            </a:r>
            <a:r>
              <a:rPr sz="2400" spc="-200" dirty="0"/>
              <a:t> </a:t>
            </a:r>
            <a:r>
              <a:rPr sz="2400" spc="-100" dirty="0"/>
              <a:t>emplead</a:t>
            </a:r>
            <a:r>
              <a:rPr sz="2400" dirty="0"/>
              <a:t>o</a:t>
            </a:r>
            <a:r>
              <a:rPr sz="2400" spc="-204" dirty="0"/>
              <a:t> </a:t>
            </a:r>
            <a:r>
              <a:rPr sz="2400" spc="-105" dirty="0"/>
              <a:t>e</a:t>
            </a:r>
            <a:r>
              <a:rPr sz="2400" dirty="0"/>
              <a:t>n</a:t>
            </a:r>
            <a:r>
              <a:rPr sz="2400" spc="-200" dirty="0"/>
              <a:t> </a:t>
            </a:r>
            <a:r>
              <a:rPr sz="2400" spc="-105" dirty="0"/>
              <a:t>cad</a:t>
            </a:r>
            <a:r>
              <a:rPr sz="2400" dirty="0"/>
              <a:t>a</a:t>
            </a:r>
            <a:r>
              <a:rPr sz="2400" spc="-200" dirty="0"/>
              <a:t> </a:t>
            </a:r>
            <a:r>
              <a:rPr sz="2400" spc="-100" dirty="0"/>
              <a:t>tare</a:t>
            </a:r>
            <a:r>
              <a:rPr sz="2400" dirty="0"/>
              <a:t>a</a:t>
            </a:r>
            <a:r>
              <a:rPr sz="2400" spc="-204" dirty="0"/>
              <a:t> </a:t>
            </a:r>
            <a:r>
              <a:rPr sz="2400" spc="-105" dirty="0"/>
              <a:t>d</a:t>
            </a:r>
            <a:r>
              <a:rPr sz="2400" dirty="0"/>
              <a:t>e</a:t>
            </a:r>
            <a:r>
              <a:rPr sz="2400" spc="-200" dirty="0"/>
              <a:t> </a:t>
            </a:r>
            <a:r>
              <a:rPr sz="2400" spc="-105" dirty="0"/>
              <a:t>mantenimiento</a:t>
            </a:r>
            <a:endParaRPr sz="2400"/>
          </a:p>
        </p:txBody>
      </p:sp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5C9776B-21F0-E382-10C8-C5A9FA8C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849" y="1720850"/>
            <a:ext cx="8330190" cy="465205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023" y="2631696"/>
            <a:ext cx="3162935" cy="1054735"/>
          </a:xfrm>
          <a:prstGeom prst="rect">
            <a:avLst/>
          </a:prstGeom>
        </p:spPr>
        <p:txBody>
          <a:bodyPr vert="horz" wrap="square" lIns="0" tIns="46355" rIns="0" bIns="0" rtlCol="0">
            <a:spAutoFit/>
          </a:bodyPr>
          <a:lstStyle/>
          <a:p>
            <a:pPr marL="190500" marR="5080" indent="-177800" algn="just">
              <a:lnSpc>
                <a:spcPct val="90700"/>
              </a:lnSpc>
              <a:spcBef>
                <a:spcPts val="365"/>
              </a:spcBef>
              <a:buClr>
                <a:srgbClr val="93A299"/>
              </a:buClr>
              <a:buSzPct val="83333"/>
              <a:buChar char="•"/>
              <a:tabLst>
                <a:tab pos="201295" algn="l"/>
              </a:tabLst>
            </a:pPr>
            <a:r>
              <a:rPr sz="2400" spc="40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24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70" dirty="0">
                <a:solidFill>
                  <a:srgbClr val="292934"/>
                </a:solidFill>
                <a:latin typeface="Arial MT"/>
                <a:cs typeface="Arial MT"/>
              </a:rPr>
              <a:t>complejidad</a:t>
            </a:r>
            <a:r>
              <a:rPr sz="2400" spc="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8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400" spc="85" dirty="0">
                <a:solidFill>
                  <a:srgbClr val="292934"/>
                </a:solidFill>
                <a:latin typeface="Arial MT"/>
                <a:cs typeface="Arial MT"/>
              </a:rPr>
              <a:t> paulatinamente</a:t>
            </a:r>
            <a:r>
              <a:rPr sz="2400" spc="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60" dirty="0">
                <a:solidFill>
                  <a:srgbClr val="292934"/>
                </a:solidFill>
                <a:latin typeface="Arial MT"/>
                <a:cs typeface="Arial MT"/>
              </a:rPr>
              <a:t>por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modificaciones.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389845" y="264759"/>
            <a:ext cx="7705702" cy="1411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Mantenimient</a:t>
            </a:r>
            <a:r>
              <a:rPr dirty="0"/>
              <a:t>o</a:t>
            </a:r>
            <a:r>
              <a:rPr spc="-200" dirty="0"/>
              <a:t> </a:t>
            </a:r>
            <a:r>
              <a:rPr spc="-105" dirty="0"/>
              <a:t>de</a:t>
            </a:r>
            <a:r>
              <a:rPr dirty="0"/>
              <a:t>l</a:t>
            </a:r>
            <a:r>
              <a:rPr spc="-204" dirty="0"/>
              <a:t> </a:t>
            </a:r>
            <a:r>
              <a:rPr spc="-105" dirty="0"/>
              <a:t>software.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671154" y="2631696"/>
            <a:ext cx="4400550" cy="7245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6830" marR="5080" indent="-24765">
              <a:lnSpc>
                <a:spcPts val="2620"/>
              </a:lnSpc>
              <a:spcBef>
                <a:spcPts val="405"/>
              </a:spcBef>
              <a:tabLst>
                <a:tab pos="535940" algn="l"/>
                <a:tab pos="670560" algn="l"/>
                <a:tab pos="2194560" algn="l"/>
                <a:tab pos="2365375" algn="l"/>
                <a:tab pos="2774950" algn="l"/>
                <a:tab pos="2966085" algn="l"/>
              </a:tabLst>
            </a:pPr>
            <a:r>
              <a:rPr sz="2400" spc="80" dirty="0">
                <a:solidFill>
                  <a:srgbClr val="292934"/>
                </a:solidFill>
                <a:latin typeface="Arial MT"/>
                <a:cs typeface="Arial MT"/>
              </a:rPr>
              <a:t>lo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		</a:t>
            </a:r>
            <a:r>
              <a:rPr sz="2400" spc="80" dirty="0">
                <a:solidFill>
                  <a:srgbClr val="292934"/>
                </a:solidFill>
                <a:latin typeface="Arial MT"/>
                <a:cs typeface="Arial MT"/>
              </a:rPr>
              <a:t>sistema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	</a:t>
            </a:r>
            <a:r>
              <a:rPr sz="2400" spc="80" dirty="0">
                <a:solidFill>
                  <a:srgbClr val="292934"/>
                </a:solidFill>
                <a:latin typeface="Arial MT"/>
                <a:cs typeface="Arial MT"/>
              </a:rPr>
              <a:t>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	</a:t>
            </a:r>
            <a:r>
              <a:rPr sz="2400" spc="80" dirty="0">
                <a:solidFill>
                  <a:srgbClr val="292934"/>
                </a:solidFill>
                <a:latin typeface="Arial MT"/>
                <a:cs typeface="Arial MT"/>
              </a:rPr>
              <a:t>incrementa  </a:t>
            </a:r>
            <a:r>
              <a:rPr sz="2400" spc="45" dirty="0">
                <a:solidFill>
                  <a:srgbClr val="292934"/>
                </a:solidFill>
                <a:latin typeface="Arial MT"/>
                <a:cs typeface="Arial MT"/>
              </a:rPr>
              <a:t>la	</a:t>
            </a:r>
            <a:r>
              <a:rPr sz="2400" spc="85" dirty="0">
                <a:solidFill>
                  <a:srgbClr val="292934"/>
                </a:solidFill>
                <a:latin typeface="Arial MT"/>
                <a:cs typeface="Arial MT"/>
              </a:rPr>
              <a:t>realización		</a:t>
            </a:r>
            <a:r>
              <a:rPr sz="2400" spc="45" dirty="0">
                <a:solidFill>
                  <a:srgbClr val="292934"/>
                </a:solidFill>
                <a:latin typeface="Arial MT"/>
                <a:cs typeface="Arial MT"/>
              </a:rPr>
              <a:t>de		</a:t>
            </a:r>
            <a:r>
              <a:rPr sz="2400" spc="80" dirty="0">
                <a:solidFill>
                  <a:srgbClr val="292934"/>
                </a:solidFill>
                <a:latin typeface="Arial MT"/>
                <a:cs typeface="Arial MT"/>
              </a:rPr>
              <a:t>continuas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9023" y="3698495"/>
            <a:ext cx="7751445" cy="25882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90500" marR="5080" indent="-177800">
              <a:lnSpc>
                <a:spcPts val="2520"/>
              </a:lnSpc>
              <a:spcBef>
                <a:spcPts val="480"/>
              </a:spcBef>
              <a:buClr>
                <a:srgbClr val="93A299"/>
              </a:buClr>
              <a:buSzPct val="83333"/>
              <a:buChar char="•"/>
              <a:tabLst>
                <a:tab pos="199390" algn="l"/>
                <a:tab pos="789940" algn="l"/>
                <a:tab pos="3188970" algn="l"/>
                <a:tab pos="3854450" algn="l"/>
                <a:tab pos="5193665" algn="l"/>
                <a:tab pos="5767070" algn="l"/>
                <a:tab pos="7568565" algn="l"/>
              </a:tabLst>
            </a:pP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L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	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documentació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	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	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sistem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	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	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defectuos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	o 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inexistente.</a:t>
            </a:r>
            <a:endParaRPr sz="2400" dirty="0">
              <a:latin typeface="Arial MT"/>
              <a:cs typeface="Arial MT"/>
            </a:endParaRPr>
          </a:p>
          <a:p>
            <a:pPr marL="190500" marR="5080" indent="-177800">
              <a:lnSpc>
                <a:spcPts val="2620"/>
              </a:lnSpc>
              <a:spcBef>
                <a:spcPts val="585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  <a:tab pos="760730" algn="l"/>
                <a:tab pos="2274570" algn="l"/>
                <a:tab pos="2704465" algn="l"/>
                <a:tab pos="4895850" algn="l"/>
                <a:tab pos="5833745" algn="l"/>
                <a:tab pos="6534784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Se	considera	el	man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enimien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	como	una	ac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ividad  poco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creativa,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diferencia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del desarrollo.</a:t>
            </a:r>
            <a:endParaRPr sz="2400" dirty="0">
              <a:latin typeface="Arial MT"/>
              <a:cs typeface="Arial MT"/>
            </a:endParaRPr>
          </a:p>
          <a:p>
            <a:pPr marL="190500" marR="5080" indent="-177800">
              <a:lnSpc>
                <a:spcPts val="2620"/>
              </a:lnSpc>
              <a:spcBef>
                <a:spcPts val="560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  <a:tab pos="836930" algn="l"/>
                <a:tab pos="2511425" algn="l"/>
                <a:tab pos="3068320" algn="l"/>
                <a:tab pos="5217795" algn="l"/>
                <a:tab pos="5689600" algn="l"/>
                <a:tab pos="6737984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Las	ac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ividades	del	man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enimien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	se	suelen	realizar  bajo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presión de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tiempo.</a:t>
            </a:r>
            <a:endParaRPr sz="2400" dirty="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254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Escasa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formación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de los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profesionales.</a:t>
            </a:r>
            <a:endParaRPr sz="24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09023" y="958735"/>
            <a:ext cx="7771765" cy="166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Problemátic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a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D2533C"/>
                </a:solidFill>
                <a:latin typeface="Arial MT"/>
                <a:cs typeface="Arial MT"/>
              </a:rPr>
              <a:t>asociad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a</a:t>
            </a:r>
            <a:r>
              <a:rPr sz="2400" spc="-204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a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l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mantenimiento</a:t>
            </a:r>
            <a:endParaRPr sz="2400" dirty="0">
              <a:latin typeface="Arial MT"/>
              <a:cs typeface="Arial MT"/>
            </a:endParaRPr>
          </a:p>
          <a:p>
            <a:pPr marL="190500" marR="5080" indent="-177800" algn="just">
              <a:lnSpc>
                <a:spcPct val="88500"/>
              </a:lnSpc>
              <a:spcBef>
                <a:spcPts val="2345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Inexistencia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métodos, técnicas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y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herramientas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que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170" dirty="0">
                <a:solidFill>
                  <a:srgbClr val="292934"/>
                </a:solidFill>
                <a:latin typeface="Arial MT"/>
                <a:cs typeface="Arial MT"/>
              </a:rPr>
              <a:t>puedan</a:t>
            </a:r>
            <a:r>
              <a:rPr sz="2400" spc="1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185" dirty="0">
                <a:solidFill>
                  <a:srgbClr val="292934"/>
                </a:solidFill>
                <a:latin typeface="Arial MT"/>
                <a:cs typeface="Arial MT"/>
              </a:rPr>
              <a:t>proporcionar</a:t>
            </a:r>
            <a:r>
              <a:rPr sz="2400" spc="19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135" dirty="0">
                <a:solidFill>
                  <a:srgbClr val="292934"/>
                </a:solidFill>
                <a:latin typeface="Arial MT"/>
                <a:cs typeface="Arial MT"/>
              </a:rPr>
              <a:t>una</a:t>
            </a:r>
            <a:r>
              <a:rPr sz="2400" spc="1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175" dirty="0">
                <a:solidFill>
                  <a:srgbClr val="292934"/>
                </a:solidFill>
                <a:latin typeface="Arial MT"/>
                <a:cs typeface="Arial MT"/>
              </a:rPr>
              <a:t>solución</a:t>
            </a:r>
            <a:r>
              <a:rPr sz="2400" spc="18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170" dirty="0">
                <a:solidFill>
                  <a:srgbClr val="292934"/>
                </a:solidFill>
                <a:latin typeface="Arial MT"/>
                <a:cs typeface="Arial MT"/>
              </a:rPr>
              <a:t>global</a:t>
            </a:r>
            <a:r>
              <a:rPr sz="2400" spc="1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204" dirty="0">
                <a:solidFill>
                  <a:srgbClr val="292934"/>
                </a:solidFill>
                <a:latin typeface="Arial MT"/>
                <a:cs typeface="Arial MT"/>
              </a:rPr>
              <a:t>al </a:t>
            </a:r>
            <a:r>
              <a:rPr sz="2400" spc="2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mantenimiento.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210" y="465439"/>
            <a:ext cx="864148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Cicl</a:t>
            </a:r>
            <a:r>
              <a:rPr sz="4000" dirty="0"/>
              <a:t>o</a:t>
            </a:r>
            <a:r>
              <a:rPr sz="4000" spc="-200" dirty="0"/>
              <a:t> </a:t>
            </a:r>
            <a:r>
              <a:rPr sz="4000" spc="-105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0" dirty="0"/>
              <a:t>vid</a:t>
            </a:r>
            <a:r>
              <a:rPr sz="4000" dirty="0"/>
              <a:t>a</a:t>
            </a:r>
            <a:r>
              <a:rPr sz="4000" spc="-200" dirty="0"/>
              <a:t> </a:t>
            </a:r>
            <a:r>
              <a:rPr sz="4000" spc="-105" dirty="0"/>
              <a:t>e</a:t>
            </a:r>
            <a:r>
              <a:rPr sz="4000" dirty="0"/>
              <a:t>n</a:t>
            </a:r>
            <a:r>
              <a:rPr sz="4000" spc="-200" dirty="0"/>
              <a:t> </a:t>
            </a:r>
            <a:r>
              <a:rPr sz="4000" spc="-105" dirty="0"/>
              <a:t>e</a:t>
            </a:r>
            <a:r>
              <a:rPr sz="4000" dirty="0"/>
              <a:t>l</a:t>
            </a:r>
            <a:r>
              <a:rPr sz="4000" spc="-200" dirty="0"/>
              <a:t> </a:t>
            </a:r>
            <a:r>
              <a:rPr sz="4000" spc="-100" dirty="0"/>
              <a:t>mantenimiento</a:t>
            </a:r>
            <a:endParaRPr sz="4000" dirty="0"/>
          </a:p>
        </p:txBody>
      </p:sp>
      <p:sp>
        <p:nvSpPr>
          <p:cNvPr id="42" name="object 4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7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4864896" y="2585525"/>
            <a:ext cx="1482725" cy="680720"/>
            <a:chOff x="4864896" y="2585525"/>
            <a:chExt cx="1482725" cy="680720"/>
          </a:xfrm>
        </p:grpSpPr>
        <p:sp>
          <p:nvSpPr>
            <p:cNvPr id="4" name="object 4"/>
            <p:cNvSpPr/>
            <p:nvPr/>
          </p:nvSpPr>
          <p:spPr>
            <a:xfrm>
              <a:off x="4869658" y="2590288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1473100" y="0"/>
                  </a:moveTo>
                  <a:lnTo>
                    <a:pt x="0" y="0"/>
                  </a:lnTo>
                  <a:lnTo>
                    <a:pt x="0" y="670768"/>
                  </a:lnTo>
                  <a:lnTo>
                    <a:pt x="1473100" y="670768"/>
                  </a:lnTo>
                  <a:lnTo>
                    <a:pt x="1473100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869658" y="2590288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0" y="0"/>
                  </a:moveTo>
                  <a:lnTo>
                    <a:pt x="1473101" y="0"/>
                  </a:lnTo>
                  <a:lnTo>
                    <a:pt x="1473101" y="670767"/>
                  </a:lnTo>
                  <a:lnTo>
                    <a:pt x="0" y="67076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895584" y="4910853"/>
            <a:ext cx="1482725" cy="680720"/>
            <a:chOff x="4895584" y="4910853"/>
            <a:chExt cx="1482725" cy="680720"/>
          </a:xfrm>
        </p:grpSpPr>
        <p:sp>
          <p:nvSpPr>
            <p:cNvPr id="7" name="object 7"/>
            <p:cNvSpPr/>
            <p:nvPr/>
          </p:nvSpPr>
          <p:spPr>
            <a:xfrm>
              <a:off x="4900347" y="4915616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1473100" y="0"/>
                  </a:moveTo>
                  <a:lnTo>
                    <a:pt x="0" y="0"/>
                  </a:lnTo>
                  <a:lnTo>
                    <a:pt x="0" y="670768"/>
                  </a:lnTo>
                  <a:lnTo>
                    <a:pt x="1473100" y="670768"/>
                  </a:lnTo>
                  <a:lnTo>
                    <a:pt x="1473100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900347" y="4915616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0" y="0"/>
                  </a:moveTo>
                  <a:lnTo>
                    <a:pt x="1473101" y="0"/>
                  </a:lnTo>
                  <a:lnTo>
                    <a:pt x="1473101" y="670767"/>
                  </a:lnTo>
                  <a:lnTo>
                    <a:pt x="0" y="67076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7074548" y="3658754"/>
            <a:ext cx="1482725" cy="680720"/>
            <a:chOff x="7074548" y="3658754"/>
            <a:chExt cx="1482725" cy="680720"/>
          </a:xfrm>
        </p:grpSpPr>
        <p:sp>
          <p:nvSpPr>
            <p:cNvPr id="10" name="object 10"/>
            <p:cNvSpPr/>
            <p:nvPr/>
          </p:nvSpPr>
          <p:spPr>
            <a:xfrm>
              <a:off x="7079311" y="3663516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1473102" y="0"/>
                  </a:moveTo>
                  <a:lnTo>
                    <a:pt x="0" y="0"/>
                  </a:lnTo>
                  <a:lnTo>
                    <a:pt x="0" y="670768"/>
                  </a:lnTo>
                  <a:lnTo>
                    <a:pt x="1473102" y="670768"/>
                  </a:lnTo>
                  <a:lnTo>
                    <a:pt x="1473102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79311" y="3663517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0" y="0"/>
                  </a:moveTo>
                  <a:lnTo>
                    <a:pt x="1473101" y="0"/>
                  </a:lnTo>
                  <a:lnTo>
                    <a:pt x="1473101" y="670767"/>
                  </a:lnTo>
                  <a:lnTo>
                    <a:pt x="0" y="67076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2532483" y="3718378"/>
            <a:ext cx="1482725" cy="680720"/>
            <a:chOff x="2532483" y="3718378"/>
            <a:chExt cx="1482725" cy="680720"/>
          </a:xfrm>
        </p:grpSpPr>
        <p:sp>
          <p:nvSpPr>
            <p:cNvPr id="13" name="object 13"/>
            <p:cNvSpPr/>
            <p:nvPr/>
          </p:nvSpPr>
          <p:spPr>
            <a:xfrm>
              <a:off x="2537246" y="3723140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1473102" y="0"/>
                  </a:moveTo>
                  <a:lnTo>
                    <a:pt x="0" y="0"/>
                  </a:lnTo>
                  <a:lnTo>
                    <a:pt x="0" y="670768"/>
                  </a:lnTo>
                  <a:lnTo>
                    <a:pt x="1473102" y="670768"/>
                  </a:lnTo>
                  <a:lnTo>
                    <a:pt x="1473102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537246" y="3723140"/>
              <a:ext cx="1473200" cy="671195"/>
            </a:xfrm>
            <a:custGeom>
              <a:avLst/>
              <a:gdLst/>
              <a:ahLst/>
              <a:cxnLst/>
              <a:rect l="l" t="t" r="r" b="b"/>
              <a:pathLst>
                <a:path w="1473200" h="671195">
                  <a:moveTo>
                    <a:pt x="0" y="0"/>
                  </a:moveTo>
                  <a:lnTo>
                    <a:pt x="1473101" y="0"/>
                  </a:lnTo>
                  <a:lnTo>
                    <a:pt x="1473101" y="670767"/>
                  </a:lnTo>
                  <a:lnTo>
                    <a:pt x="0" y="670767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673195" y="1705808"/>
            <a:ext cx="2818130" cy="1754505"/>
            <a:chOff x="1673195" y="1705808"/>
            <a:chExt cx="2818130" cy="1754505"/>
          </a:xfrm>
        </p:grpSpPr>
        <p:sp>
          <p:nvSpPr>
            <p:cNvPr id="16" name="object 16"/>
            <p:cNvSpPr/>
            <p:nvPr/>
          </p:nvSpPr>
          <p:spPr>
            <a:xfrm>
              <a:off x="3181320" y="2753558"/>
              <a:ext cx="1304925" cy="701675"/>
            </a:xfrm>
            <a:custGeom>
              <a:avLst/>
              <a:gdLst/>
              <a:ahLst/>
              <a:cxnLst/>
              <a:rect l="l" t="t" r="r" b="b"/>
              <a:pathLst>
                <a:path w="1304925" h="701675">
                  <a:moveTo>
                    <a:pt x="1129506" y="0"/>
                  </a:moveTo>
                  <a:lnTo>
                    <a:pt x="1129506" y="87708"/>
                  </a:lnTo>
                  <a:lnTo>
                    <a:pt x="306983" y="87708"/>
                  </a:lnTo>
                  <a:lnTo>
                    <a:pt x="261619" y="91037"/>
                  </a:lnTo>
                  <a:lnTo>
                    <a:pt x="218322" y="100706"/>
                  </a:lnTo>
                  <a:lnTo>
                    <a:pt x="177567" y="116240"/>
                  </a:lnTo>
                  <a:lnTo>
                    <a:pt x="139828" y="137165"/>
                  </a:lnTo>
                  <a:lnTo>
                    <a:pt x="105580" y="163006"/>
                  </a:lnTo>
                  <a:lnTo>
                    <a:pt x="75298" y="193288"/>
                  </a:lnTo>
                  <a:lnTo>
                    <a:pt x="49457" y="227536"/>
                  </a:lnTo>
                  <a:lnTo>
                    <a:pt x="28531" y="265275"/>
                  </a:lnTo>
                  <a:lnTo>
                    <a:pt x="12997" y="306030"/>
                  </a:lnTo>
                  <a:lnTo>
                    <a:pt x="3328" y="349328"/>
                  </a:lnTo>
                  <a:lnTo>
                    <a:pt x="0" y="394691"/>
                  </a:lnTo>
                  <a:lnTo>
                    <a:pt x="0" y="701675"/>
                  </a:lnTo>
                  <a:lnTo>
                    <a:pt x="175420" y="701675"/>
                  </a:lnTo>
                  <a:lnTo>
                    <a:pt x="175420" y="394691"/>
                  </a:lnTo>
                  <a:lnTo>
                    <a:pt x="182127" y="353107"/>
                  </a:lnTo>
                  <a:lnTo>
                    <a:pt x="200804" y="316991"/>
                  </a:lnTo>
                  <a:lnTo>
                    <a:pt x="229283" y="288511"/>
                  </a:lnTo>
                  <a:lnTo>
                    <a:pt x="265398" y="269834"/>
                  </a:lnTo>
                  <a:lnTo>
                    <a:pt x="306983" y="263127"/>
                  </a:lnTo>
                  <a:lnTo>
                    <a:pt x="1129506" y="263127"/>
                  </a:lnTo>
                  <a:lnTo>
                    <a:pt x="1129506" y="350837"/>
                  </a:lnTo>
                  <a:lnTo>
                    <a:pt x="1304925" y="175418"/>
                  </a:lnTo>
                  <a:lnTo>
                    <a:pt x="1129506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81320" y="2753558"/>
              <a:ext cx="1304925" cy="701675"/>
            </a:xfrm>
            <a:custGeom>
              <a:avLst/>
              <a:gdLst/>
              <a:ahLst/>
              <a:cxnLst/>
              <a:rect l="l" t="t" r="r" b="b"/>
              <a:pathLst>
                <a:path w="1304925" h="701675">
                  <a:moveTo>
                    <a:pt x="0" y="701674"/>
                  </a:moveTo>
                  <a:lnTo>
                    <a:pt x="0" y="394691"/>
                  </a:lnTo>
                  <a:lnTo>
                    <a:pt x="3328" y="349328"/>
                  </a:lnTo>
                  <a:lnTo>
                    <a:pt x="12997" y="306031"/>
                  </a:lnTo>
                  <a:lnTo>
                    <a:pt x="28531" y="265275"/>
                  </a:lnTo>
                  <a:lnTo>
                    <a:pt x="49456" y="227536"/>
                  </a:lnTo>
                  <a:lnTo>
                    <a:pt x="75297" y="193288"/>
                  </a:lnTo>
                  <a:lnTo>
                    <a:pt x="105579" y="163006"/>
                  </a:lnTo>
                  <a:lnTo>
                    <a:pt x="139827" y="137165"/>
                  </a:lnTo>
                  <a:lnTo>
                    <a:pt x="177566" y="116240"/>
                  </a:lnTo>
                  <a:lnTo>
                    <a:pt x="218322" y="100706"/>
                  </a:lnTo>
                  <a:lnTo>
                    <a:pt x="261619" y="91037"/>
                  </a:lnTo>
                  <a:lnTo>
                    <a:pt x="306982" y="87708"/>
                  </a:lnTo>
                  <a:lnTo>
                    <a:pt x="1129505" y="87708"/>
                  </a:lnTo>
                  <a:lnTo>
                    <a:pt x="1129505" y="0"/>
                  </a:lnTo>
                  <a:lnTo>
                    <a:pt x="1304924" y="175419"/>
                  </a:lnTo>
                  <a:lnTo>
                    <a:pt x="1129505" y="350837"/>
                  </a:lnTo>
                  <a:lnTo>
                    <a:pt x="1129505" y="263128"/>
                  </a:lnTo>
                  <a:lnTo>
                    <a:pt x="306982" y="263128"/>
                  </a:lnTo>
                  <a:lnTo>
                    <a:pt x="265398" y="269835"/>
                  </a:lnTo>
                  <a:lnTo>
                    <a:pt x="229282" y="288512"/>
                  </a:lnTo>
                  <a:lnTo>
                    <a:pt x="200803" y="316991"/>
                  </a:lnTo>
                  <a:lnTo>
                    <a:pt x="182126" y="353107"/>
                  </a:lnTo>
                  <a:lnTo>
                    <a:pt x="175419" y="394691"/>
                  </a:lnTo>
                  <a:lnTo>
                    <a:pt x="175419" y="701674"/>
                  </a:lnTo>
                  <a:lnTo>
                    <a:pt x="0" y="701674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77958" y="1710570"/>
              <a:ext cx="2526665" cy="1059180"/>
            </a:xfrm>
            <a:custGeom>
              <a:avLst/>
              <a:gdLst/>
              <a:ahLst/>
              <a:cxnLst/>
              <a:rect l="l" t="t" r="r" b="b"/>
              <a:pathLst>
                <a:path w="2526665" h="1059180">
                  <a:moveTo>
                    <a:pt x="1263032" y="0"/>
                  </a:moveTo>
                  <a:lnTo>
                    <a:pt x="1198037" y="688"/>
                  </a:lnTo>
                  <a:lnTo>
                    <a:pt x="1133894" y="2733"/>
                  </a:lnTo>
                  <a:lnTo>
                    <a:pt x="1070685" y="6100"/>
                  </a:lnTo>
                  <a:lnTo>
                    <a:pt x="1008487" y="10756"/>
                  </a:lnTo>
                  <a:lnTo>
                    <a:pt x="947381" y="16667"/>
                  </a:lnTo>
                  <a:lnTo>
                    <a:pt x="887445" y="23802"/>
                  </a:lnTo>
                  <a:lnTo>
                    <a:pt x="828759" y="32125"/>
                  </a:lnTo>
                  <a:lnTo>
                    <a:pt x="771403" y="41605"/>
                  </a:lnTo>
                  <a:lnTo>
                    <a:pt x="715455" y="52207"/>
                  </a:lnTo>
                  <a:lnTo>
                    <a:pt x="660996" y="63899"/>
                  </a:lnTo>
                  <a:lnTo>
                    <a:pt x="608104" y="76647"/>
                  </a:lnTo>
                  <a:lnTo>
                    <a:pt x="556859" y="90418"/>
                  </a:lnTo>
                  <a:lnTo>
                    <a:pt x="507340" y="105179"/>
                  </a:lnTo>
                  <a:lnTo>
                    <a:pt x="459626" y="120896"/>
                  </a:lnTo>
                  <a:lnTo>
                    <a:pt x="413798" y="137536"/>
                  </a:lnTo>
                  <a:lnTo>
                    <a:pt x="369933" y="155066"/>
                  </a:lnTo>
                  <a:lnTo>
                    <a:pt x="328112" y="173453"/>
                  </a:lnTo>
                  <a:lnTo>
                    <a:pt x="288415" y="192663"/>
                  </a:lnTo>
                  <a:lnTo>
                    <a:pt x="250919" y="212663"/>
                  </a:lnTo>
                  <a:lnTo>
                    <a:pt x="215706" y="233421"/>
                  </a:lnTo>
                  <a:lnTo>
                    <a:pt x="182853" y="254901"/>
                  </a:lnTo>
                  <a:lnTo>
                    <a:pt x="124548" y="299900"/>
                  </a:lnTo>
                  <a:lnTo>
                    <a:pt x="76640" y="347394"/>
                  </a:lnTo>
                  <a:lnTo>
                    <a:pt x="39763" y="397118"/>
                  </a:lnTo>
                  <a:lnTo>
                    <a:pt x="14552" y="448804"/>
                  </a:lnTo>
                  <a:lnTo>
                    <a:pt x="1643" y="502186"/>
                  </a:lnTo>
                  <a:lnTo>
                    <a:pt x="0" y="529431"/>
                  </a:lnTo>
                  <a:lnTo>
                    <a:pt x="1643" y="556675"/>
                  </a:lnTo>
                  <a:lnTo>
                    <a:pt x="14552" y="610058"/>
                  </a:lnTo>
                  <a:lnTo>
                    <a:pt x="39763" y="661744"/>
                  </a:lnTo>
                  <a:lnTo>
                    <a:pt x="76640" y="711467"/>
                  </a:lnTo>
                  <a:lnTo>
                    <a:pt x="124548" y="758961"/>
                  </a:lnTo>
                  <a:lnTo>
                    <a:pt x="182853" y="803960"/>
                  </a:lnTo>
                  <a:lnTo>
                    <a:pt x="215706" y="825441"/>
                  </a:lnTo>
                  <a:lnTo>
                    <a:pt x="250919" y="846198"/>
                  </a:lnTo>
                  <a:lnTo>
                    <a:pt x="288415" y="866198"/>
                  </a:lnTo>
                  <a:lnTo>
                    <a:pt x="328112" y="885409"/>
                  </a:lnTo>
                  <a:lnTo>
                    <a:pt x="369933" y="903795"/>
                  </a:lnTo>
                  <a:lnTo>
                    <a:pt x="413798" y="921325"/>
                  </a:lnTo>
                  <a:lnTo>
                    <a:pt x="459626" y="937966"/>
                  </a:lnTo>
                  <a:lnTo>
                    <a:pt x="507340" y="953683"/>
                  </a:lnTo>
                  <a:lnTo>
                    <a:pt x="556859" y="968444"/>
                  </a:lnTo>
                  <a:lnTo>
                    <a:pt x="608104" y="982215"/>
                  </a:lnTo>
                  <a:lnTo>
                    <a:pt x="660996" y="994963"/>
                  </a:lnTo>
                  <a:lnTo>
                    <a:pt x="715455" y="1006654"/>
                  </a:lnTo>
                  <a:lnTo>
                    <a:pt x="771403" y="1017257"/>
                  </a:lnTo>
                  <a:lnTo>
                    <a:pt x="828759" y="1026736"/>
                  </a:lnTo>
                  <a:lnTo>
                    <a:pt x="887445" y="1035060"/>
                  </a:lnTo>
                  <a:lnTo>
                    <a:pt x="947381" y="1042194"/>
                  </a:lnTo>
                  <a:lnTo>
                    <a:pt x="1008487" y="1048106"/>
                  </a:lnTo>
                  <a:lnTo>
                    <a:pt x="1070685" y="1052762"/>
                  </a:lnTo>
                  <a:lnTo>
                    <a:pt x="1133894" y="1056129"/>
                  </a:lnTo>
                  <a:lnTo>
                    <a:pt x="1198037" y="1058173"/>
                  </a:lnTo>
                  <a:lnTo>
                    <a:pt x="1263032" y="1058862"/>
                  </a:lnTo>
                  <a:lnTo>
                    <a:pt x="1328028" y="1058173"/>
                  </a:lnTo>
                  <a:lnTo>
                    <a:pt x="1392170" y="1056129"/>
                  </a:lnTo>
                  <a:lnTo>
                    <a:pt x="1455380" y="1052762"/>
                  </a:lnTo>
                  <a:lnTo>
                    <a:pt x="1517577" y="1048106"/>
                  </a:lnTo>
                  <a:lnTo>
                    <a:pt x="1578684" y="1042194"/>
                  </a:lnTo>
                  <a:lnTo>
                    <a:pt x="1638620" y="1035060"/>
                  </a:lnTo>
                  <a:lnTo>
                    <a:pt x="1697305" y="1026736"/>
                  </a:lnTo>
                  <a:lnTo>
                    <a:pt x="1754662" y="1017257"/>
                  </a:lnTo>
                  <a:lnTo>
                    <a:pt x="1810609" y="1006654"/>
                  </a:lnTo>
                  <a:lnTo>
                    <a:pt x="1865069" y="994963"/>
                  </a:lnTo>
                  <a:lnTo>
                    <a:pt x="1917961" y="982215"/>
                  </a:lnTo>
                  <a:lnTo>
                    <a:pt x="1969206" y="968444"/>
                  </a:lnTo>
                  <a:lnTo>
                    <a:pt x="2018725" y="953683"/>
                  </a:lnTo>
                  <a:lnTo>
                    <a:pt x="2066438" y="937966"/>
                  </a:lnTo>
                  <a:lnTo>
                    <a:pt x="2112267" y="921325"/>
                  </a:lnTo>
                  <a:lnTo>
                    <a:pt x="2156131" y="903795"/>
                  </a:lnTo>
                  <a:lnTo>
                    <a:pt x="2197952" y="885409"/>
                  </a:lnTo>
                  <a:lnTo>
                    <a:pt x="2237650" y="866198"/>
                  </a:lnTo>
                  <a:lnTo>
                    <a:pt x="2275145" y="846198"/>
                  </a:lnTo>
                  <a:lnTo>
                    <a:pt x="2310359" y="825441"/>
                  </a:lnTo>
                  <a:lnTo>
                    <a:pt x="2343212" y="803960"/>
                  </a:lnTo>
                  <a:lnTo>
                    <a:pt x="2401516" y="758961"/>
                  </a:lnTo>
                  <a:lnTo>
                    <a:pt x="2449425" y="711467"/>
                  </a:lnTo>
                  <a:lnTo>
                    <a:pt x="2486301" y="661744"/>
                  </a:lnTo>
                  <a:lnTo>
                    <a:pt x="2511512" y="610058"/>
                  </a:lnTo>
                  <a:lnTo>
                    <a:pt x="2524422" y="556675"/>
                  </a:lnTo>
                  <a:lnTo>
                    <a:pt x="2526065" y="529431"/>
                  </a:lnTo>
                  <a:lnTo>
                    <a:pt x="2524422" y="502186"/>
                  </a:lnTo>
                  <a:lnTo>
                    <a:pt x="2511512" y="448804"/>
                  </a:lnTo>
                  <a:lnTo>
                    <a:pt x="2486301" y="397118"/>
                  </a:lnTo>
                  <a:lnTo>
                    <a:pt x="2449425" y="347394"/>
                  </a:lnTo>
                  <a:lnTo>
                    <a:pt x="2401516" y="299900"/>
                  </a:lnTo>
                  <a:lnTo>
                    <a:pt x="2343212" y="254901"/>
                  </a:lnTo>
                  <a:lnTo>
                    <a:pt x="2310359" y="233421"/>
                  </a:lnTo>
                  <a:lnTo>
                    <a:pt x="2275145" y="212663"/>
                  </a:lnTo>
                  <a:lnTo>
                    <a:pt x="2237650" y="192663"/>
                  </a:lnTo>
                  <a:lnTo>
                    <a:pt x="2197952" y="173453"/>
                  </a:lnTo>
                  <a:lnTo>
                    <a:pt x="2156131" y="155066"/>
                  </a:lnTo>
                  <a:lnTo>
                    <a:pt x="2112267" y="137536"/>
                  </a:lnTo>
                  <a:lnTo>
                    <a:pt x="2066438" y="120896"/>
                  </a:lnTo>
                  <a:lnTo>
                    <a:pt x="2018725" y="105179"/>
                  </a:lnTo>
                  <a:lnTo>
                    <a:pt x="1969206" y="90418"/>
                  </a:lnTo>
                  <a:lnTo>
                    <a:pt x="1917961" y="76647"/>
                  </a:lnTo>
                  <a:lnTo>
                    <a:pt x="1865069" y="63899"/>
                  </a:lnTo>
                  <a:lnTo>
                    <a:pt x="1810609" y="52207"/>
                  </a:lnTo>
                  <a:lnTo>
                    <a:pt x="1754662" y="41605"/>
                  </a:lnTo>
                  <a:lnTo>
                    <a:pt x="1697305" y="32125"/>
                  </a:lnTo>
                  <a:lnTo>
                    <a:pt x="1638620" y="23802"/>
                  </a:lnTo>
                  <a:lnTo>
                    <a:pt x="1578684" y="16667"/>
                  </a:lnTo>
                  <a:lnTo>
                    <a:pt x="1517577" y="10756"/>
                  </a:lnTo>
                  <a:lnTo>
                    <a:pt x="1455380" y="6100"/>
                  </a:lnTo>
                  <a:lnTo>
                    <a:pt x="1392170" y="2733"/>
                  </a:lnTo>
                  <a:lnTo>
                    <a:pt x="1328028" y="688"/>
                  </a:lnTo>
                  <a:lnTo>
                    <a:pt x="1263032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77958" y="1710570"/>
              <a:ext cx="2526665" cy="1059180"/>
            </a:xfrm>
            <a:custGeom>
              <a:avLst/>
              <a:gdLst/>
              <a:ahLst/>
              <a:cxnLst/>
              <a:rect l="l" t="t" r="r" b="b"/>
              <a:pathLst>
                <a:path w="2526665" h="1059180">
                  <a:moveTo>
                    <a:pt x="0" y="529431"/>
                  </a:moveTo>
                  <a:lnTo>
                    <a:pt x="6520" y="475300"/>
                  </a:lnTo>
                  <a:lnTo>
                    <a:pt x="25660" y="422732"/>
                  </a:lnTo>
                  <a:lnTo>
                    <a:pt x="56783" y="371995"/>
                  </a:lnTo>
                  <a:lnTo>
                    <a:pt x="99255" y="323353"/>
                  </a:lnTo>
                  <a:lnTo>
                    <a:pt x="152441" y="277073"/>
                  </a:lnTo>
                  <a:lnTo>
                    <a:pt x="215706" y="233421"/>
                  </a:lnTo>
                  <a:lnTo>
                    <a:pt x="250919" y="212664"/>
                  </a:lnTo>
                  <a:lnTo>
                    <a:pt x="288415" y="192664"/>
                  </a:lnTo>
                  <a:lnTo>
                    <a:pt x="328113" y="173453"/>
                  </a:lnTo>
                  <a:lnTo>
                    <a:pt x="369933" y="155067"/>
                  </a:lnTo>
                  <a:lnTo>
                    <a:pt x="413798" y="137536"/>
                  </a:lnTo>
                  <a:lnTo>
                    <a:pt x="459626" y="120896"/>
                  </a:lnTo>
                  <a:lnTo>
                    <a:pt x="507340" y="105179"/>
                  </a:lnTo>
                  <a:lnTo>
                    <a:pt x="556859" y="90418"/>
                  </a:lnTo>
                  <a:lnTo>
                    <a:pt x="608104" y="76647"/>
                  </a:lnTo>
                  <a:lnTo>
                    <a:pt x="660996" y="63899"/>
                  </a:lnTo>
                  <a:lnTo>
                    <a:pt x="715455" y="52207"/>
                  </a:lnTo>
                  <a:lnTo>
                    <a:pt x="771403" y="41605"/>
                  </a:lnTo>
                  <a:lnTo>
                    <a:pt x="828759" y="32125"/>
                  </a:lnTo>
                  <a:lnTo>
                    <a:pt x="887445" y="23802"/>
                  </a:lnTo>
                  <a:lnTo>
                    <a:pt x="947381" y="16667"/>
                  </a:lnTo>
                  <a:lnTo>
                    <a:pt x="1008487" y="10756"/>
                  </a:lnTo>
                  <a:lnTo>
                    <a:pt x="1070685" y="6100"/>
                  </a:lnTo>
                  <a:lnTo>
                    <a:pt x="1133894" y="2733"/>
                  </a:lnTo>
                  <a:lnTo>
                    <a:pt x="1198037" y="688"/>
                  </a:lnTo>
                  <a:lnTo>
                    <a:pt x="1263032" y="0"/>
                  </a:lnTo>
                  <a:lnTo>
                    <a:pt x="1328028" y="688"/>
                  </a:lnTo>
                  <a:lnTo>
                    <a:pt x="1392170" y="2733"/>
                  </a:lnTo>
                  <a:lnTo>
                    <a:pt x="1455380" y="6100"/>
                  </a:lnTo>
                  <a:lnTo>
                    <a:pt x="1517577" y="10756"/>
                  </a:lnTo>
                  <a:lnTo>
                    <a:pt x="1578684" y="16667"/>
                  </a:lnTo>
                  <a:lnTo>
                    <a:pt x="1638620" y="23802"/>
                  </a:lnTo>
                  <a:lnTo>
                    <a:pt x="1697305" y="32125"/>
                  </a:lnTo>
                  <a:lnTo>
                    <a:pt x="1754662" y="41605"/>
                  </a:lnTo>
                  <a:lnTo>
                    <a:pt x="1810609" y="52207"/>
                  </a:lnTo>
                  <a:lnTo>
                    <a:pt x="1865069" y="63899"/>
                  </a:lnTo>
                  <a:lnTo>
                    <a:pt x="1917961" y="76647"/>
                  </a:lnTo>
                  <a:lnTo>
                    <a:pt x="1969206" y="90418"/>
                  </a:lnTo>
                  <a:lnTo>
                    <a:pt x="2018725" y="105179"/>
                  </a:lnTo>
                  <a:lnTo>
                    <a:pt x="2066438" y="120896"/>
                  </a:lnTo>
                  <a:lnTo>
                    <a:pt x="2112267" y="137536"/>
                  </a:lnTo>
                  <a:lnTo>
                    <a:pt x="2156131" y="155067"/>
                  </a:lnTo>
                  <a:lnTo>
                    <a:pt x="2197952" y="173453"/>
                  </a:lnTo>
                  <a:lnTo>
                    <a:pt x="2237650" y="192664"/>
                  </a:lnTo>
                  <a:lnTo>
                    <a:pt x="2275145" y="212664"/>
                  </a:lnTo>
                  <a:lnTo>
                    <a:pt x="2310359" y="233421"/>
                  </a:lnTo>
                  <a:lnTo>
                    <a:pt x="2343211" y="254902"/>
                  </a:lnTo>
                  <a:lnTo>
                    <a:pt x="2401516" y="299901"/>
                  </a:lnTo>
                  <a:lnTo>
                    <a:pt x="2449424" y="347395"/>
                  </a:lnTo>
                  <a:lnTo>
                    <a:pt x="2486301" y="397118"/>
                  </a:lnTo>
                  <a:lnTo>
                    <a:pt x="2511512" y="448804"/>
                  </a:lnTo>
                  <a:lnTo>
                    <a:pt x="2524421" y="502187"/>
                  </a:lnTo>
                  <a:lnTo>
                    <a:pt x="2526065" y="529431"/>
                  </a:lnTo>
                  <a:lnTo>
                    <a:pt x="2524421" y="556676"/>
                  </a:lnTo>
                  <a:lnTo>
                    <a:pt x="2511512" y="610059"/>
                  </a:lnTo>
                  <a:lnTo>
                    <a:pt x="2486301" y="661745"/>
                  </a:lnTo>
                  <a:lnTo>
                    <a:pt x="2449424" y="711468"/>
                  </a:lnTo>
                  <a:lnTo>
                    <a:pt x="2401516" y="758962"/>
                  </a:lnTo>
                  <a:lnTo>
                    <a:pt x="2343211" y="803961"/>
                  </a:lnTo>
                  <a:lnTo>
                    <a:pt x="2310359" y="825442"/>
                  </a:lnTo>
                  <a:lnTo>
                    <a:pt x="2275145" y="846199"/>
                  </a:lnTo>
                  <a:lnTo>
                    <a:pt x="2237650" y="866199"/>
                  </a:lnTo>
                  <a:lnTo>
                    <a:pt x="2197952" y="885409"/>
                  </a:lnTo>
                  <a:lnTo>
                    <a:pt x="2156131" y="903796"/>
                  </a:lnTo>
                  <a:lnTo>
                    <a:pt x="2112267" y="921326"/>
                  </a:lnTo>
                  <a:lnTo>
                    <a:pt x="2066438" y="937967"/>
                  </a:lnTo>
                  <a:lnTo>
                    <a:pt x="2018725" y="953684"/>
                  </a:lnTo>
                  <a:lnTo>
                    <a:pt x="1969206" y="968445"/>
                  </a:lnTo>
                  <a:lnTo>
                    <a:pt x="1917961" y="982216"/>
                  </a:lnTo>
                  <a:lnTo>
                    <a:pt x="1865069" y="994964"/>
                  </a:lnTo>
                  <a:lnTo>
                    <a:pt x="1810609" y="1006655"/>
                  </a:lnTo>
                  <a:lnTo>
                    <a:pt x="1754662" y="1017258"/>
                  </a:lnTo>
                  <a:lnTo>
                    <a:pt x="1697305" y="1026737"/>
                  </a:lnTo>
                  <a:lnTo>
                    <a:pt x="1638620" y="1035061"/>
                  </a:lnTo>
                  <a:lnTo>
                    <a:pt x="1578684" y="1042195"/>
                  </a:lnTo>
                  <a:lnTo>
                    <a:pt x="1517577" y="1048107"/>
                  </a:lnTo>
                  <a:lnTo>
                    <a:pt x="1455380" y="1052763"/>
                  </a:lnTo>
                  <a:lnTo>
                    <a:pt x="1392170" y="1056130"/>
                  </a:lnTo>
                  <a:lnTo>
                    <a:pt x="1328028" y="1058174"/>
                  </a:lnTo>
                  <a:lnTo>
                    <a:pt x="1263032" y="1058863"/>
                  </a:lnTo>
                  <a:lnTo>
                    <a:pt x="1198037" y="1058174"/>
                  </a:lnTo>
                  <a:lnTo>
                    <a:pt x="1133894" y="1056130"/>
                  </a:lnTo>
                  <a:lnTo>
                    <a:pt x="1070685" y="1052763"/>
                  </a:lnTo>
                  <a:lnTo>
                    <a:pt x="1008487" y="1048107"/>
                  </a:lnTo>
                  <a:lnTo>
                    <a:pt x="947381" y="1042195"/>
                  </a:lnTo>
                  <a:lnTo>
                    <a:pt x="887445" y="1035061"/>
                  </a:lnTo>
                  <a:lnTo>
                    <a:pt x="828759" y="1026737"/>
                  </a:lnTo>
                  <a:lnTo>
                    <a:pt x="771403" y="1017258"/>
                  </a:lnTo>
                  <a:lnTo>
                    <a:pt x="715455" y="1006655"/>
                  </a:lnTo>
                  <a:lnTo>
                    <a:pt x="660996" y="994964"/>
                  </a:lnTo>
                  <a:lnTo>
                    <a:pt x="608104" y="982216"/>
                  </a:lnTo>
                  <a:lnTo>
                    <a:pt x="556859" y="968445"/>
                  </a:lnTo>
                  <a:lnTo>
                    <a:pt x="507340" y="953684"/>
                  </a:lnTo>
                  <a:lnTo>
                    <a:pt x="459626" y="937967"/>
                  </a:lnTo>
                  <a:lnTo>
                    <a:pt x="413798" y="921326"/>
                  </a:lnTo>
                  <a:lnTo>
                    <a:pt x="369933" y="903796"/>
                  </a:lnTo>
                  <a:lnTo>
                    <a:pt x="328113" y="885409"/>
                  </a:lnTo>
                  <a:lnTo>
                    <a:pt x="288415" y="866199"/>
                  </a:lnTo>
                  <a:lnTo>
                    <a:pt x="250919" y="846199"/>
                  </a:lnTo>
                  <a:lnTo>
                    <a:pt x="215706" y="825442"/>
                  </a:lnTo>
                  <a:lnTo>
                    <a:pt x="182853" y="803961"/>
                  </a:lnTo>
                  <a:lnTo>
                    <a:pt x="124548" y="758962"/>
                  </a:lnTo>
                  <a:lnTo>
                    <a:pt x="76640" y="711468"/>
                  </a:lnTo>
                  <a:lnTo>
                    <a:pt x="39763" y="661745"/>
                  </a:lnTo>
                  <a:lnTo>
                    <a:pt x="14552" y="610059"/>
                  </a:lnTo>
                  <a:lnTo>
                    <a:pt x="1643" y="556676"/>
                  </a:lnTo>
                  <a:lnTo>
                    <a:pt x="0" y="529431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6705569" y="4656970"/>
            <a:ext cx="1314450" cy="711200"/>
            <a:chOff x="6705569" y="4656970"/>
            <a:chExt cx="1314450" cy="711200"/>
          </a:xfrm>
        </p:grpSpPr>
        <p:sp>
          <p:nvSpPr>
            <p:cNvPr id="21" name="object 21"/>
            <p:cNvSpPr/>
            <p:nvPr/>
          </p:nvSpPr>
          <p:spPr>
            <a:xfrm>
              <a:off x="6710331" y="4661732"/>
              <a:ext cx="1304925" cy="701675"/>
            </a:xfrm>
            <a:custGeom>
              <a:avLst/>
              <a:gdLst/>
              <a:ahLst/>
              <a:cxnLst/>
              <a:rect l="l" t="t" r="r" b="b"/>
              <a:pathLst>
                <a:path w="1304925" h="701675">
                  <a:moveTo>
                    <a:pt x="1304925" y="0"/>
                  </a:moveTo>
                  <a:lnTo>
                    <a:pt x="1129506" y="0"/>
                  </a:lnTo>
                  <a:lnTo>
                    <a:pt x="1129506" y="306983"/>
                  </a:lnTo>
                  <a:lnTo>
                    <a:pt x="1122799" y="348567"/>
                  </a:lnTo>
                  <a:lnTo>
                    <a:pt x="1104122" y="384682"/>
                  </a:lnTo>
                  <a:lnTo>
                    <a:pt x="1075642" y="413162"/>
                  </a:lnTo>
                  <a:lnTo>
                    <a:pt x="1039526" y="431839"/>
                  </a:lnTo>
                  <a:lnTo>
                    <a:pt x="997941" y="438546"/>
                  </a:lnTo>
                  <a:lnTo>
                    <a:pt x="175420" y="438546"/>
                  </a:lnTo>
                  <a:lnTo>
                    <a:pt x="175420" y="350837"/>
                  </a:lnTo>
                  <a:lnTo>
                    <a:pt x="0" y="526256"/>
                  </a:lnTo>
                  <a:lnTo>
                    <a:pt x="175420" y="701674"/>
                  </a:lnTo>
                  <a:lnTo>
                    <a:pt x="175420" y="613966"/>
                  </a:lnTo>
                  <a:lnTo>
                    <a:pt x="997941" y="613966"/>
                  </a:lnTo>
                  <a:lnTo>
                    <a:pt x="1043305" y="610637"/>
                  </a:lnTo>
                  <a:lnTo>
                    <a:pt x="1086602" y="600968"/>
                  </a:lnTo>
                  <a:lnTo>
                    <a:pt x="1127358" y="585434"/>
                  </a:lnTo>
                  <a:lnTo>
                    <a:pt x="1165097" y="564509"/>
                  </a:lnTo>
                  <a:lnTo>
                    <a:pt x="1199345" y="538668"/>
                  </a:lnTo>
                  <a:lnTo>
                    <a:pt x="1229627" y="508386"/>
                  </a:lnTo>
                  <a:lnTo>
                    <a:pt x="1255468" y="474138"/>
                  </a:lnTo>
                  <a:lnTo>
                    <a:pt x="1276393" y="436399"/>
                  </a:lnTo>
                  <a:lnTo>
                    <a:pt x="1291927" y="395643"/>
                  </a:lnTo>
                  <a:lnTo>
                    <a:pt x="1301596" y="352346"/>
                  </a:lnTo>
                  <a:lnTo>
                    <a:pt x="1304925" y="306983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710332" y="4661733"/>
              <a:ext cx="1304925" cy="701675"/>
            </a:xfrm>
            <a:custGeom>
              <a:avLst/>
              <a:gdLst/>
              <a:ahLst/>
              <a:cxnLst/>
              <a:rect l="l" t="t" r="r" b="b"/>
              <a:pathLst>
                <a:path w="1304925" h="701675">
                  <a:moveTo>
                    <a:pt x="1304924" y="0"/>
                  </a:moveTo>
                  <a:lnTo>
                    <a:pt x="1304924" y="306982"/>
                  </a:lnTo>
                  <a:lnTo>
                    <a:pt x="1301596" y="352346"/>
                  </a:lnTo>
                  <a:lnTo>
                    <a:pt x="1291927" y="395643"/>
                  </a:lnTo>
                  <a:lnTo>
                    <a:pt x="1276392" y="436399"/>
                  </a:lnTo>
                  <a:lnTo>
                    <a:pt x="1255467" y="474138"/>
                  </a:lnTo>
                  <a:lnTo>
                    <a:pt x="1229626" y="508386"/>
                  </a:lnTo>
                  <a:lnTo>
                    <a:pt x="1199345" y="538668"/>
                  </a:lnTo>
                  <a:lnTo>
                    <a:pt x="1165097" y="564508"/>
                  </a:lnTo>
                  <a:lnTo>
                    <a:pt x="1127357" y="585434"/>
                  </a:lnTo>
                  <a:lnTo>
                    <a:pt x="1086602" y="600968"/>
                  </a:lnTo>
                  <a:lnTo>
                    <a:pt x="1043305" y="610637"/>
                  </a:lnTo>
                  <a:lnTo>
                    <a:pt x="997941" y="613965"/>
                  </a:lnTo>
                  <a:lnTo>
                    <a:pt x="175418" y="613965"/>
                  </a:lnTo>
                  <a:lnTo>
                    <a:pt x="175418" y="701674"/>
                  </a:lnTo>
                  <a:lnTo>
                    <a:pt x="0" y="526255"/>
                  </a:lnTo>
                  <a:lnTo>
                    <a:pt x="175418" y="350836"/>
                  </a:lnTo>
                  <a:lnTo>
                    <a:pt x="175418" y="438546"/>
                  </a:lnTo>
                  <a:lnTo>
                    <a:pt x="997941" y="438546"/>
                  </a:lnTo>
                  <a:lnTo>
                    <a:pt x="1039526" y="431839"/>
                  </a:lnTo>
                  <a:lnTo>
                    <a:pt x="1075641" y="413162"/>
                  </a:lnTo>
                  <a:lnTo>
                    <a:pt x="1104121" y="384682"/>
                  </a:lnTo>
                  <a:lnTo>
                    <a:pt x="1122798" y="348567"/>
                  </a:lnTo>
                  <a:lnTo>
                    <a:pt x="1129505" y="306982"/>
                  </a:lnTo>
                  <a:lnTo>
                    <a:pt x="1129505" y="0"/>
                  </a:lnTo>
                  <a:lnTo>
                    <a:pt x="1304924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084483" y="4628395"/>
            <a:ext cx="1406525" cy="723900"/>
            <a:chOff x="3084483" y="4628395"/>
            <a:chExt cx="1406525" cy="723900"/>
          </a:xfrm>
        </p:grpSpPr>
        <p:sp>
          <p:nvSpPr>
            <p:cNvPr id="24" name="object 24"/>
            <p:cNvSpPr/>
            <p:nvPr/>
          </p:nvSpPr>
          <p:spPr>
            <a:xfrm>
              <a:off x="3089245" y="4633158"/>
              <a:ext cx="1397000" cy="714375"/>
            </a:xfrm>
            <a:custGeom>
              <a:avLst/>
              <a:gdLst/>
              <a:ahLst/>
              <a:cxnLst/>
              <a:rect l="l" t="t" r="r" b="b"/>
              <a:pathLst>
                <a:path w="1397000" h="714375">
                  <a:moveTo>
                    <a:pt x="178593" y="0"/>
                  </a:moveTo>
                  <a:lnTo>
                    <a:pt x="0" y="178593"/>
                  </a:lnTo>
                  <a:lnTo>
                    <a:pt x="89297" y="178593"/>
                  </a:lnTo>
                  <a:lnTo>
                    <a:pt x="89297" y="401836"/>
                  </a:lnTo>
                  <a:lnTo>
                    <a:pt x="92686" y="448021"/>
                  </a:lnTo>
                  <a:lnTo>
                    <a:pt x="102530" y="492101"/>
                  </a:lnTo>
                  <a:lnTo>
                    <a:pt x="118345" y="533594"/>
                  </a:lnTo>
                  <a:lnTo>
                    <a:pt x="139649" y="572016"/>
                  </a:lnTo>
                  <a:lnTo>
                    <a:pt x="165958" y="606884"/>
                  </a:lnTo>
                  <a:lnTo>
                    <a:pt x="196787" y="637714"/>
                  </a:lnTo>
                  <a:lnTo>
                    <a:pt x="231655" y="664023"/>
                  </a:lnTo>
                  <a:lnTo>
                    <a:pt x="270077" y="685326"/>
                  </a:lnTo>
                  <a:lnTo>
                    <a:pt x="311570" y="701142"/>
                  </a:lnTo>
                  <a:lnTo>
                    <a:pt x="355651" y="710986"/>
                  </a:lnTo>
                  <a:lnTo>
                    <a:pt x="401835" y="714374"/>
                  </a:lnTo>
                  <a:lnTo>
                    <a:pt x="1397000" y="714374"/>
                  </a:lnTo>
                  <a:lnTo>
                    <a:pt x="1397000" y="535781"/>
                  </a:lnTo>
                  <a:lnTo>
                    <a:pt x="401835" y="535781"/>
                  </a:lnTo>
                  <a:lnTo>
                    <a:pt x="359499" y="528952"/>
                  </a:lnTo>
                  <a:lnTo>
                    <a:pt x="322730" y="509937"/>
                  </a:lnTo>
                  <a:lnTo>
                    <a:pt x="293734" y="480942"/>
                  </a:lnTo>
                  <a:lnTo>
                    <a:pt x="274719" y="444173"/>
                  </a:lnTo>
                  <a:lnTo>
                    <a:pt x="267891" y="401836"/>
                  </a:lnTo>
                  <a:lnTo>
                    <a:pt x="267891" y="178593"/>
                  </a:lnTo>
                  <a:lnTo>
                    <a:pt x="357187" y="178593"/>
                  </a:lnTo>
                  <a:lnTo>
                    <a:pt x="178593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089245" y="4633158"/>
              <a:ext cx="1397000" cy="714375"/>
            </a:xfrm>
            <a:custGeom>
              <a:avLst/>
              <a:gdLst/>
              <a:ahLst/>
              <a:cxnLst/>
              <a:rect l="l" t="t" r="r" b="b"/>
              <a:pathLst>
                <a:path w="1397000" h="714375">
                  <a:moveTo>
                    <a:pt x="1396999" y="714374"/>
                  </a:moveTo>
                  <a:lnTo>
                    <a:pt x="401835" y="714374"/>
                  </a:lnTo>
                  <a:lnTo>
                    <a:pt x="355651" y="710986"/>
                  </a:lnTo>
                  <a:lnTo>
                    <a:pt x="311570" y="701142"/>
                  </a:lnTo>
                  <a:lnTo>
                    <a:pt x="270077" y="685326"/>
                  </a:lnTo>
                  <a:lnTo>
                    <a:pt x="231655" y="664022"/>
                  </a:lnTo>
                  <a:lnTo>
                    <a:pt x="196787" y="637714"/>
                  </a:lnTo>
                  <a:lnTo>
                    <a:pt x="165957" y="606884"/>
                  </a:lnTo>
                  <a:lnTo>
                    <a:pt x="139649" y="572016"/>
                  </a:lnTo>
                  <a:lnTo>
                    <a:pt x="118345" y="533594"/>
                  </a:lnTo>
                  <a:lnTo>
                    <a:pt x="102529" y="492101"/>
                  </a:lnTo>
                  <a:lnTo>
                    <a:pt x="92685" y="448020"/>
                  </a:lnTo>
                  <a:lnTo>
                    <a:pt x="89297" y="401835"/>
                  </a:lnTo>
                  <a:lnTo>
                    <a:pt x="89297" y="178593"/>
                  </a:lnTo>
                  <a:lnTo>
                    <a:pt x="0" y="178593"/>
                  </a:lnTo>
                  <a:lnTo>
                    <a:pt x="178594" y="0"/>
                  </a:lnTo>
                  <a:lnTo>
                    <a:pt x="357187" y="178593"/>
                  </a:lnTo>
                  <a:lnTo>
                    <a:pt x="267891" y="178593"/>
                  </a:lnTo>
                  <a:lnTo>
                    <a:pt x="267891" y="401835"/>
                  </a:lnTo>
                  <a:lnTo>
                    <a:pt x="274719" y="444172"/>
                  </a:lnTo>
                  <a:lnTo>
                    <a:pt x="293734" y="480942"/>
                  </a:lnTo>
                  <a:lnTo>
                    <a:pt x="322729" y="509937"/>
                  </a:lnTo>
                  <a:lnTo>
                    <a:pt x="359498" y="528952"/>
                  </a:lnTo>
                  <a:lnTo>
                    <a:pt x="401835" y="535780"/>
                  </a:lnTo>
                  <a:lnTo>
                    <a:pt x="1396999" y="535780"/>
                  </a:lnTo>
                  <a:lnTo>
                    <a:pt x="1396999" y="714374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6629369" y="2778958"/>
            <a:ext cx="1406525" cy="725805"/>
            <a:chOff x="6629369" y="2778958"/>
            <a:chExt cx="1406525" cy="725805"/>
          </a:xfrm>
        </p:grpSpPr>
        <p:sp>
          <p:nvSpPr>
            <p:cNvPr id="27" name="object 27"/>
            <p:cNvSpPr/>
            <p:nvPr/>
          </p:nvSpPr>
          <p:spPr>
            <a:xfrm>
              <a:off x="6634131" y="2783720"/>
              <a:ext cx="1397000" cy="716280"/>
            </a:xfrm>
            <a:custGeom>
              <a:avLst/>
              <a:gdLst/>
              <a:ahLst/>
              <a:cxnLst/>
              <a:rect l="l" t="t" r="r" b="b"/>
              <a:pathLst>
                <a:path w="1397000" h="716279">
                  <a:moveTo>
                    <a:pt x="994271" y="0"/>
                  </a:moveTo>
                  <a:lnTo>
                    <a:pt x="0" y="0"/>
                  </a:lnTo>
                  <a:lnTo>
                    <a:pt x="0" y="178991"/>
                  </a:lnTo>
                  <a:lnTo>
                    <a:pt x="994271" y="178991"/>
                  </a:lnTo>
                  <a:lnTo>
                    <a:pt x="1036702" y="185834"/>
                  </a:lnTo>
                  <a:lnTo>
                    <a:pt x="1073553" y="204892"/>
                  </a:lnTo>
                  <a:lnTo>
                    <a:pt x="1102613" y="233951"/>
                  </a:lnTo>
                  <a:lnTo>
                    <a:pt x="1121670" y="270802"/>
                  </a:lnTo>
                  <a:lnTo>
                    <a:pt x="1128514" y="313234"/>
                  </a:lnTo>
                  <a:lnTo>
                    <a:pt x="1128514" y="536971"/>
                  </a:lnTo>
                  <a:lnTo>
                    <a:pt x="1039018" y="536971"/>
                  </a:lnTo>
                  <a:lnTo>
                    <a:pt x="1218010" y="715962"/>
                  </a:lnTo>
                  <a:lnTo>
                    <a:pt x="1397000" y="536971"/>
                  </a:lnTo>
                  <a:lnTo>
                    <a:pt x="1307504" y="536971"/>
                  </a:lnTo>
                  <a:lnTo>
                    <a:pt x="1307504" y="313234"/>
                  </a:lnTo>
                  <a:lnTo>
                    <a:pt x="1304108" y="266946"/>
                  </a:lnTo>
                  <a:lnTo>
                    <a:pt x="1294242" y="222767"/>
                  </a:lnTo>
                  <a:lnTo>
                    <a:pt x="1278391" y="181182"/>
                  </a:lnTo>
                  <a:lnTo>
                    <a:pt x="1257040" y="142674"/>
                  </a:lnTo>
                  <a:lnTo>
                    <a:pt x="1230673" y="107729"/>
                  </a:lnTo>
                  <a:lnTo>
                    <a:pt x="1199775" y="76831"/>
                  </a:lnTo>
                  <a:lnTo>
                    <a:pt x="1164830" y="50463"/>
                  </a:lnTo>
                  <a:lnTo>
                    <a:pt x="1126322" y="29112"/>
                  </a:lnTo>
                  <a:lnTo>
                    <a:pt x="1084737" y="13262"/>
                  </a:lnTo>
                  <a:lnTo>
                    <a:pt x="1040558" y="3396"/>
                  </a:lnTo>
                  <a:lnTo>
                    <a:pt x="994271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34132" y="2783720"/>
              <a:ext cx="1397000" cy="716280"/>
            </a:xfrm>
            <a:custGeom>
              <a:avLst/>
              <a:gdLst/>
              <a:ahLst/>
              <a:cxnLst/>
              <a:rect l="l" t="t" r="r" b="b"/>
              <a:pathLst>
                <a:path w="1397000" h="716279">
                  <a:moveTo>
                    <a:pt x="0" y="0"/>
                  </a:moveTo>
                  <a:lnTo>
                    <a:pt x="994270" y="0"/>
                  </a:lnTo>
                  <a:lnTo>
                    <a:pt x="1040558" y="3396"/>
                  </a:lnTo>
                  <a:lnTo>
                    <a:pt x="1084736" y="13262"/>
                  </a:lnTo>
                  <a:lnTo>
                    <a:pt x="1126322" y="29112"/>
                  </a:lnTo>
                  <a:lnTo>
                    <a:pt x="1164829" y="50463"/>
                  </a:lnTo>
                  <a:lnTo>
                    <a:pt x="1199774" y="76830"/>
                  </a:lnTo>
                  <a:lnTo>
                    <a:pt x="1230673" y="107729"/>
                  </a:lnTo>
                  <a:lnTo>
                    <a:pt x="1257040" y="142674"/>
                  </a:lnTo>
                  <a:lnTo>
                    <a:pt x="1278391" y="181182"/>
                  </a:lnTo>
                  <a:lnTo>
                    <a:pt x="1294242" y="222767"/>
                  </a:lnTo>
                  <a:lnTo>
                    <a:pt x="1304108" y="266946"/>
                  </a:lnTo>
                  <a:lnTo>
                    <a:pt x="1307504" y="313233"/>
                  </a:lnTo>
                  <a:lnTo>
                    <a:pt x="1307504" y="536971"/>
                  </a:lnTo>
                  <a:lnTo>
                    <a:pt x="1396999" y="536971"/>
                  </a:lnTo>
                  <a:lnTo>
                    <a:pt x="1218009" y="715962"/>
                  </a:lnTo>
                  <a:lnTo>
                    <a:pt x="1039017" y="536971"/>
                  </a:lnTo>
                  <a:lnTo>
                    <a:pt x="1128513" y="536971"/>
                  </a:lnTo>
                  <a:lnTo>
                    <a:pt x="1128513" y="313233"/>
                  </a:lnTo>
                  <a:lnTo>
                    <a:pt x="1121669" y="270802"/>
                  </a:lnTo>
                  <a:lnTo>
                    <a:pt x="1102612" y="233951"/>
                  </a:lnTo>
                  <a:lnTo>
                    <a:pt x="1073552" y="204892"/>
                  </a:lnTo>
                  <a:lnTo>
                    <a:pt x="1036701" y="185834"/>
                  </a:lnTo>
                  <a:lnTo>
                    <a:pt x="994270" y="178990"/>
                  </a:lnTo>
                  <a:lnTo>
                    <a:pt x="0" y="178990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6629368" y="5461831"/>
            <a:ext cx="2615565" cy="1068705"/>
            <a:chOff x="6629368" y="5461831"/>
            <a:chExt cx="2615565" cy="1068705"/>
          </a:xfrm>
        </p:grpSpPr>
        <p:sp>
          <p:nvSpPr>
            <p:cNvPr id="30" name="object 30"/>
            <p:cNvSpPr/>
            <p:nvPr/>
          </p:nvSpPr>
          <p:spPr>
            <a:xfrm>
              <a:off x="6634130" y="5466594"/>
              <a:ext cx="2606040" cy="1059180"/>
            </a:xfrm>
            <a:custGeom>
              <a:avLst/>
              <a:gdLst/>
              <a:ahLst/>
              <a:cxnLst/>
              <a:rect l="l" t="t" r="r" b="b"/>
              <a:pathLst>
                <a:path w="2606040" h="1059179">
                  <a:moveTo>
                    <a:pt x="1302994" y="0"/>
                  </a:moveTo>
                  <a:lnTo>
                    <a:pt x="1235942" y="688"/>
                  </a:lnTo>
                  <a:lnTo>
                    <a:pt x="1169770" y="2733"/>
                  </a:lnTo>
                  <a:lnTo>
                    <a:pt x="1104561" y="6100"/>
                  </a:lnTo>
                  <a:lnTo>
                    <a:pt x="1040395" y="10756"/>
                  </a:lnTo>
                  <a:lnTo>
                    <a:pt x="977355" y="16667"/>
                  </a:lnTo>
                  <a:lnTo>
                    <a:pt x="915523" y="23802"/>
                  </a:lnTo>
                  <a:lnTo>
                    <a:pt x="854981" y="32125"/>
                  </a:lnTo>
                  <a:lnTo>
                    <a:pt x="795810" y="41605"/>
                  </a:lnTo>
                  <a:lnTo>
                    <a:pt x="738092" y="52207"/>
                  </a:lnTo>
                  <a:lnTo>
                    <a:pt x="681910" y="63899"/>
                  </a:lnTo>
                  <a:lnTo>
                    <a:pt x="627344" y="76647"/>
                  </a:lnTo>
                  <a:lnTo>
                    <a:pt x="574477" y="90418"/>
                  </a:lnTo>
                  <a:lnTo>
                    <a:pt x="523392" y="105179"/>
                  </a:lnTo>
                  <a:lnTo>
                    <a:pt x="474169" y="120896"/>
                  </a:lnTo>
                  <a:lnTo>
                    <a:pt x="426890" y="137537"/>
                  </a:lnTo>
                  <a:lnTo>
                    <a:pt x="381638" y="155067"/>
                  </a:lnTo>
                  <a:lnTo>
                    <a:pt x="338494" y="173454"/>
                  </a:lnTo>
                  <a:lnTo>
                    <a:pt x="297540" y="192664"/>
                  </a:lnTo>
                  <a:lnTo>
                    <a:pt x="258858" y="212664"/>
                  </a:lnTo>
                  <a:lnTo>
                    <a:pt x="222531" y="233421"/>
                  </a:lnTo>
                  <a:lnTo>
                    <a:pt x="188638" y="254902"/>
                  </a:lnTo>
                  <a:lnTo>
                    <a:pt x="157264" y="277073"/>
                  </a:lnTo>
                  <a:lnTo>
                    <a:pt x="102395" y="323353"/>
                  </a:lnTo>
                  <a:lnTo>
                    <a:pt x="58580" y="371995"/>
                  </a:lnTo>
                  <a:lnTo>
                    <a:pt x="26472" y="422733"/>
                  </a:lnTo>
                  <a:lnTo>
                    <a:pt x="6727" y="475301"/>
                  </a:lnTo>
                  <a:lnTo>
                    <a:pt x="0" y="529432"/>
                  </a:lnTo>
                  <a:lnTo>
                    <a:pt x="1695" y="556676"/>
                  </a:lnTo>
                  <a:lnTo>
                    <a:pt x="15013" y="610059"/>
                  </a:lnTo>
                  <a:lnTo>
                    <a:pt x="41021" y="661745"/>
                  </a:lnTo>
                  <a:lnTo>
                    <a:pt x="79065" y="711468"/>
                  </a:lnTo>
                  <a:lnTo>
                    <a:pt x="128489" y="758962"/>
                  </a:lnTo>
                  <a:lnTo>
                    <a:pt x="188638" y="803961"/>
                  </a:lnTo>
                  <a:lnTo>
                    <a:pt x="222531" y="825442"/>
                  </a:lnTo>
                  <a:lnTo>
                    <a:pt x="258858" y="846199"/>
                  </a:lnTo>
                  <a:lnTo>
                    <a:pt x="297540" y="866199"/>
                  </a:lnTo>
                  <a:lnTo>
                    <a:pt x="338494" y="885410"/>
                  </a:lnTo>
                  <a:lnTo>
                    <a:pt x="381638" y="903796"/>
                  </a:lnTo>
                  <a:lnTo>
                    <a:pt x="426890" y="921327"/>
                  </a:lnTo>
                  <a:lnTo>
                    <a:pt x="474169" y="937967"/>
                  </a:lnTo>
                  <a:lnTo>
                    <a:pt x="523392" y="953684"/>
                  </a:lnTo>
                  <a:lnTo>
                    <a:pt x="574477" y="968445"/>
                  </a:lnTo>
                  <a:lnTo>
                    <a:pt x="627344" y="982216"/>
                  </a:lnTo>
                  <a:lnTo>
                    <a:pt x="681910" y="994964"/>
                  </a:lnTo>
                  <a:lnTo>
                    <a:pt x="738092" y="1006656"/>
                  </a:lnTo>
                  <a:lnTo>
                    <a:pt x="795810" y="1017258"/>
                  </a:lnTo>
                  <a:lnTo>
                    <a:pt x="854981" y="1026738"/>
                  </a:lnTo>
                  <a:lnTo>
                    <a:pt x="915523" y="1035061"/>
                  </a:lnTo>
                  <a:lnTo>
                    <a:pt x="977355" y="1042195"/>
                  </a:lnTo>
                  <a:lnTo>
                    <a:pt x="1040395" y="1048107"/>
                  </a:lnTo>
                  <a:lnTo>
                    <a:pt x="1104561" y="1052763"/>
                  </a:lnTo>
                  <a:lnTo>
                    <a:pt x="1169770" y="1056130"/>
                  </a:lnTo>
                  <a:lnTo>
                    <a:pt x="1235942" y="1058175"/>
                  </a:lnTo>
                  <a:lnTo>
                    <a:pt x="1302994" y="1058863"/>
                  </a:lnTo>
                  <a:lnTo>
                    <a:pt x="1370046" y="1058175"/>
                  </a:lnTo>
                  <a:lnTo>
                    <a:pt x="1436217" y="1056130"/>
                  </a:lnTo>
                  <a:lnTo>
                    <a:pt x="1501427" y="1052763"/>
                  </a:lnTo>
                  <a:lnTo>
                    <a:pt x="1565593" y="1048107"/>
                  </a:lnTo>
                  <a:lnTo>
                    <a:pt x="1628632" y="1042195"/>
                  </a:lnTo>
                  <a:lnTo>
                    <a:pt x="1690464" y="1035061"/>
                  </a:lnTo>
                  <a:lnTo>
                    <a:pt x="1751007" y="1026738"/>
                  </a:lnTo>
                  <a:lnTo>
                    <a:pt x="1810178" y="1017258"/>
                  </a:lnTo>
                  <a:lnTo>
                    <a:pt x="1867895" y="1006656"/>
                  </a:lnTo>
                  <a:lnTo>
                    <a:pt x="1924078" y="994964"/>
                  </a:lnTo>
                  <a:lnTo>
                    <a:pt x="1978643" y="982216"/>
                  </a:lnTo>
                  <a:lnTo>
                    <a:pt x="2031510" y="968445"/>
                  </a:lnTo>
                  <a:lnTo>
                    <a:pt x="2082595" y="953684"/>
                  </a:lnTo>
                  <a:lnTo>
                    <a:pt x="2131819" y="937967"/>
                  </a:lnTo>
                  <a:lnTo>
                    <a:pt x="2179097" y="921327"/>
                  </a:lnTo>
                  <a:lnTo>
                    <a:pt x="2224349" y="903796"/>
                  </a:lnTo>
                  <a:lnTo>
                    <a:pt x="2267493" y="885410"/>
                  </a:lnTo>
                  <a:lnTo>
                    <a:pt x="2308447" y="866199"/>
                  </a:lnTo>
                  <a:lnTo>
                    <a:pt x="2347129" y="846199"/>
                  </a:lnTo>
                  <a:lnTo>
                    <a:pt x="2383456" y="825442"/>
                  </a:lnTo>
                  <a:lnTo>
                    <a:pt x="2417349" y="803961"/>
                  </a:lnTo>
                  <a:lnTo>
                    <a:pt x="2448723" y="781790"/>
                  </a:lnTo>
                  <a:lnTo>
                    <a:pt x="2503592" y="735511"/>
                  </a:lnTo>
                  <a:lnTo>
                    <a:pt x="2547407" y="686869"/>
                  </a:lnTo>
                  <a:lnTo>
                    <a:pt x="2579515" y="636131"/>
                  </a:lnTo>
                  <a:lnTo>
                    <a:pt x="2599260" y="583563"/>
                  </a:lnTo>
                  <a:lnTo>
                    <a:pt x="2605987" y="529432"/>
                  </a:lnTo>
                  <a:lnTo>
                    <a:pt x="2604292" y="502188"/>
                  </a:lnTo>
                  <a:lnTo>
                    <a:pt x="2590974" y="448805"/>
                  </a:lnTo>
                  <a:lnTo>
                    <a:pt x="2564966" y="397119"/>
                  </a:lnTo>
                  <a:lnTo>
                    <a:pt x="2526922" y="347395"/>
                  </a:lnTo>
                  <a:lnTo>
                    <a:pt x="2477498" y="299901"/>
                  </a:lnTo>
                  <a:lnTo>
                    <a:pt x="2417349" y="254902"/>
                  </a:lnTo>
                  <a:lnTo>
                    <a:pt x="2383456" y="233421"/>
                  </a:lnTo>
                  <a:lnTo>
                    <a:pt x="2347129" y="212664"/>
                  </a:lnTo>
                  <a:lnTo>
                    <a:pt x="2308447" y="192664"/>
                  </a:lnTo>
                  <a:lnTo>
                    <a:pt x="2267493" y="173454"/>
                  </a:lnTo>
                  <a:lnTo>
                    <a:pt x="2224349" y="155067"/>
                  </a:lnTo>
                  <a:lnTo>
                    <a:pt x="2179097" y="137537"/>
                  </a:lnTo>
                  <a:lnTo>
                    <a:pt x="2131819" y="120896"/>
                  </a:lnTo>
                  <a:lnTo>
                    <a:pt x="2082595" y="105179"/>
                  </a:lnTo>
                  <a:lnTo>
                    <a:pt x="2031510" y="90418"/>
                  </a:lnTo>
                  <a:lnTo>
                    <a:pt x="1978643" y="76647"/>
                  </a:lnTo>
                  <a:lnTo>
                    <a:pt x="1924078" y="63899"/>
                  </a:lnTo>
                  <a:lnTo>
                    <a:pt x="1867895" y="52207"/>
                  </a:lnTo>
                  <a:lnTo>
                    <a:pt x="1810178" y="41605"/>
                  </a:lnTo>
                  <a:lnTo>
                    <a:pt x="1751007" y="32125"/>
                  </a:lnTo>
                  <a:lnTo>
                    <a:pt x="1690464" y="23802"/>
                  </a:lnTo>
                  <a:lnTo>
                    <a:pt x="1628632" y="16667"/>
                  </a:lnTo>
                  <a:lnTo>
                    <a:pt x="1565593" y="10756"/>
                  </a:lnTo>
                  <a:lnTo>
                    <a:pt x="1501427" y="6100"/>
                  </a:lnTo>
                  <a:lnTo>
                    <a:pt x="1436217" y="2733"/>
                  </a:lnTo>
                  <a:lnTo>
                    <a:pt x="1370046" y="688"/>
                  </a:lnTo>
                  <a:lnTo>
                    <a:pt x="1302994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634130" y="5466594"/>
              <a:ext cx="2606040" cy="1059180"/>
            </a:xfrm>
            <a:custGeom>
              <a:avLst/>
              <a:gdLst/>
              <a:ahLst/>
              <a:cxnLst/>
              <a:rect l="l" t="t" r="r" b="b"/>
              <a:pathLst>
                <a:path w="2606040" h="1059179">
                  <a:moveTo>
                    <a:pt x="0" y="529431"/>
                  </a:moveTo>
                  <a:lnTo>
                    <a:pt x="6727" y="475300"/>
                  </a:lnTo>
                  <a:lnTo>
                    <a:pt x="26472" y="422732"/>
                  </a:lnTo>
                  <a:lnTo>
                    <a:pt x="58580" y="371995"/>
                  </a:lnTo>
                  <a:lnTo>
                    <a:pt x="102395" y="323353"/>
                  </a:lnTo>
                  <a:lnTo>
                    <a:pt x="157264" y="277073"/>
                  </a:lnTo>
                  <a:lnTo>
                    <a:pt x="188638" y="254902"/>
                  </a:lnTo>
                  <a:lnTo>
                    <a:pt x="222530" y="233421"/>
                  </a:lnTo>
                  <a:lnTo>
                    <a:pt x="258858" y="212664"/>
                  </a:lnTo>
                  <a:lnTo>
                    <a:pt x="297540" y="192664"/>
                  </a:lnTo>
                  <a:lnTo>
                    <a:pt x="338494" y="173453"/>
                  </a:lnTo>
                  <a:lnTo>
                    <a:pt x="381638" y="155067"/>
                  </a:lnTo>
                  <a:lnTo>
                    <a:pt x="426890" y="137536"/>
                  </a:lnTo>
                  <a:lnTo>
                    <a:pt x="474168" y="120896"/>
                  </a:lnTo>
                  <a:lnTo>
                    <a:pt x="523391" y="105179"/>
                  </a:lnTo>
                  <a:lnTo>
                    <a:pt x="574477" y="90418"/>
                  </a:lnTo>
                  <a:lnTo>
                    <a:pt x="627344" y="76647"/>
                  </a:lnTo>
                  <a:lnTo>
                    <a:pt x="681909" y="63899"/>
                  </a:lnTo>
                  <a:lnTo>
                    <a:pt x="738092" y="52207"/>
                  </a:lnTo>
                  <a:lnTo>
                    <a:pt x="795809" y="41605"/>
                  </a:lnTo>
                  <a:lnTo>
                    <a:pt x="854981" y="32125"/>
                  </a:lnTo>
                  <a:lnTo>
                    <a:pt x="915523" y="23802"/>
                  </a:lnTo>
                  <a:lnTo>
                    <a:pt x="977355" y="16667"/>
                  </a:lnTo>
                  <a:lnTo>
                    <a:pt x="1040395" y="10756"/>
                  </a:lnTo>
                  <a:lnTo>
                    <a:pt x="1104560" y="6100"/>
                  </a:lnTo>
                  <a:lnTo>
                    <a:pt x="1169770" y="2733"/>
                  </a:lnTo>
                  <a:lnTo>
                    <a:pt x="1235942" y="688"/>
                  </a:lnTo>
                  <a:lnTo>
                    <a:pt x="1302993" y="0"/>
                  </a:lnTo>
                  <a:lnTo>
                    <a:pt x="1370045" y="688"/>
                  </a:lnTo>
                  <a:lnTo>
                    <a:pt x="1436217" y="2733"/>
                  </a:lnTo>
                  <a:lnTo>
                    <a:pt x="1501427" y="6100"/>
                  </a:lnTo>
                  <a:lnTo>
                    <a:pt x="1565592" y="10756"/>
                  </a:lnTo>
                  <a:lnTo>
                    <a:pt x="1628632" y="16667"/>
                  </a:lnTo>
                  <a:lnTo>
                    <a:pt x="1690464" y="23802"/>
                  </a:lnTo>
                  <a:lnTo>
                    <a:pt x="1751006" y="32125"/>
                  </a:lnTo>
                  <a:lnTo>
                    <a:pt x="1810177" y="41605"/>
                  </a:lnTo>
                  <a:lnTo>
                    <a:pt x="1867895" y="52207"/>
                  </a:lnTo>
                  <a:lnTo>
                    <a:pt x="1924078" y="63899"/>
                  </a:lnTo>
                  <a:lnTo>
                    <a:pt x="1978643" y="76647"/>
                  </a:lnTo>
                  <a:lnTo>
                    <a:pt x="2031510" y="90418"/>
                  </a:lnTo>
                  <a:lnTo>
                    <a:pt x="2082595" y="105179"/>
                  </a:lnTo>
                  <a:lnTo>
                    <a:pt x="2131819" y="120896"/>
                  </a:lnTo>
                  <a:lnTo>
                    <a:pt x="2179097" y="137536"/>
                  </a:lnTo>
                  <a:lnTo>
                    <a:pt x="2224349" y="155067"/>
                  </a:lnTo>
                  <a:lnTo>
                    <a:pt x="2267493" y="173453"/>
                  </a:lnTo>
                  <a:lnTo>
                    <a:pt x="2308447" y="192664"/>
                  </a:lnTo>
                  <a:lnTo>
                    <a:pt x="2347128" y="212664"/>
                  </a:lnTo>
                  <a:lnTo>
                    <a:pt x="2383456" y="233421"/>
                  </a:lnTo>
                  <a:lnTo>
                    <a:pt x="2417348" y="254902"/>
                  </a:lnTo>
                  <a:lnTo>
                    <a:pt x="2448723" y="277073"/>
                  </a:lnTo>
                  <a:lnTo>
                    <a:pt x="2503591" y="323353"/>
                  </a:lnTo>
                  <a:lnTo>
                    <a:pt x="2547407" y="371995"/>
                  </a:lnTo>
                  <a:lnTo>
                    <a:pt x="2579515" y="422732"/>
                  </a:lnTo>
                  <a:lnTo>
                    <a:pt x="2599260" y="475300"/>
                  </a:lnTo>
                  <a:lnTo>
                    <a:pt x="2605987" y="529431"/>
                  </a:lnTo>
                  <a:lnTo>
                    <a:pt x="2604292" y="556676"/>
                  </a:lnTo>
                  <a:lnTo>
                    <a:pt x="2590974" y="610059"/>
                  </a:lnTo>
                  <a:lnTo>
                    <a:pt x="2564965" y="661745"/>
                  </a:lnTo>
                  <a:lnTo>
                    <a:pt x="2526922" y="711468"/>
                  </a:lnTo>
                  <a:lnTo>
                    <a:pt x="2477498" y="758962"/>
                  </a:lnTo>
                  <a:lnTo>
                    <a:pt x="2417348" y="803961"/>
                  </a:lnTo>
                  <a:lnTo>
                    <a:pt x="2383456" y="825442"/>
                  </a:lnTo>
                  <a:lnTo>
                    <a:pt x="2347128" y="846199"/>
                  </a:lnTo>
                  <a:lnTo>
                    <a:pt x="2308447" y="866199"/>
                  </a:lnTo>
                  <a:lnTo>
                    <a:pt x="2267493" y="885409"/>
                  </a:lnTo>
                  <a:lnTo>
                    <a:pt x="2224349" y="903796"/>
                  </a:lnTo>
                  <a:lnTo>
                    <a:pt x="2179097" y="921326"/>
                  </a:lnTo>
                  <a:lnTo>
                    <a:pt x="2131819" y="937967"/>
                  </a:lnTo>
                  <a:lnTo>
                    <a:pt x="2082595" y="953684"/>
                  </a:lnTo>
                  <a:lnTo>
                    <a:pt x="2031510" y="968445"/>
                  </a:lnTo>
                  <a:lnTo>
                    <a:pt x="1978643" y="982216"/>
                  </a:lnTo>
                  <a:lnTo>
                    <a:pt x="1924078" y="994964"/>
                  </a:lnTo>
                  <a:lnTo>
                    <a:pt x="1867895" y="1006656"/>
                  </a:lnTo>
                  <a:lnTo>
                    <a:pt x="1810177" y="1017258"/>
                  </a:lnTo>
                  <a:lnTo>
                    <a:pt x="1751006" y="1026737"/>
                  </a:lnTo>
                  <a:lnTo>
                    <a:pt x="1690464" y="1035061"/>
                  </a:lnTo>
                  <a:lnTo>
                    <a:pt x="1628632" y="1042195"/>
                  </a:lnTo>
                  <a:lnTo>
                    <a:pt x="1565592" y="1048107"/>
                  </a:lnTo>
                  <a:lnTo>
                    <a:pt x="1501427" y="1052763"/>
                  </a:lnTo>
                  <a:lnTo>
                    <a:pt x="1436217" y="1056130"/>
                  </a:lnTo>
                  <a:lnTo>
                    <a:pt x="1370045" y="1058174"/>
                  </a:lnTo>
                  <a:lnTo>
                    <a:pt x="1302993" y="1058863"/>
                  </a:lnTo>
                  <a:lnTo>
                    <a:pt x="1235942" y="1058174"/>
                  </a:lnTo>
                  <a:lnTo>
                    <a:pt x="1169770" y="1056130"/>
                  </a:lnTo>
                  <a:lnTo>
                    <a:pt x="1104560" y="1052763"/>
                  </a:lnTo>
                  <a:lnTo>
                    <a:pt x="1040395" y="1048107"/>
                  </a:lnTo>
                  <a:lnTo>
                    <a:pt x="977355" y="1042195"/>
                  </a:lnTo>
                  <a:lnTo>
                    <a:pt x="915523" y="1035061"/>
                  </a:lnTo>
                  <a:lnTo>
                    <a:pt x="854981" y="1026737"/>
                  </a:lnTo>
                  <a:lnTo>
                    <a:pt x="795809" y="1017258"/>
                  </a:lnTo>
                  <a:lnTo>
                    <a:pt x="738092" y="1006656"/>
                  </a:lnTo>
                  <a:lnTo>
                    <a:pt x="681909" y="994964"/>
                  </a:lnTo>
                  <a:lnTo>
                    <a:pt x="627344" y="982216"/>
                  </a:lnTo>
                  <a:lnTo>
                    <a:pt x="574477" y="968445"/>
                  </a:lnTo>
                  <a:lnTo>
                    <a:pt x="523391" y="953684"/>
                  </a:lnTo>
                  <a:lnTo>
                    <a:pt x="474168" y="937967"/>
                  </a:lnTo>
                  <a:lnTo>
                    <a:pt x="426890" y="921326"/>
                  </a:lnTo>
                  <a:lnTo>
                    <a:pt x="381638" y="903796"/>
                  </a:lnTo>
                  <a:lnTo>
                    <a:pt x="338494" y="885409"/>
                  </a:lnTo>
                  <a:lnTo>
                    <a:pt x="297540" y="866199"/>
                  </a:lnTo>
                  <a:lnTo>
                    <a:pt x="258858" y="846199"/>
                  </a:lnTo>
                  <a:lnTo>
                    <a:pt x="222530" y="825442"/>
                  </a:lnTo>
                  <a:lnTo>
                    <a:pt x="188638" y="803961"/>
                  </a:lnTo>
                  <a:lnTo>
                    <a:pt x="157264" y="781790"/>
                  </a:lnTo>
                  <a:lnTo>
                    <a:pt x="102395" y="735510"/>
                  </a:lnTo>
                  <a:lnTo>
                    <a:pt x="58580" y="686868"/>
                  </a:lnTo>
                  <a:lnTo>
                    <a:pt x="26472" y="636130"/>
                  </a:lnTo>
                  <a:lnTo>
                    <a:pt x="6727" y="583563"/>
                  </a:lnTo>
                  <a:lnTo>
                    <a:pt x="0" y="529431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094508" y="5654681"/>
            <a:ext cx="147891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marR="5080" indent="-35306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N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o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t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i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f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i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cac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ió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n  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fallos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673195" y="5447545"/>
            <a:ext cx="2633980" cy="1068705"/>
            <a:chOff x="1673195" y="5447545"/>
            <a:chExt cx="2633980" cy="1068705"/>
          </a:xfrm>
        </p:grpSpPr>
        <p:sp>
          <p:nvSpPr>
            <p:cNvPr id="34" name="object 34"/>
            <p:cNvSpPr/>
            <p:nvPr/>
          </p:nvSpPr>
          <p:spPr>
            <a:xfrm>
              <a:off x="1677958" y="5452307"/>
              <a:ext cx="2624455" cy="1059180"/>
            </a:xfrm>
            <a:custGeom>
              <a:avLst/>
              <a:gdLst/>
              <a:ahLst/>
              <a:cxnLst/>
              <a:rect l="l" t="t" r="r" b="b"/>
              <a:pathLst>
                <a:path w="2624454" h="1059179">
                  <a:moveTo>
                    <a:pt x="1312068" y="0"/>
                  </a:moveTo>
                  <a:lnTo>
                    <a:pt x="1244549" y="688"/>
                  </a:lnTo>
                  <a:lnTo>
                    <a:pt x="1177917" y="2733"/>
                  </a:lnTo>
                  <a:lnTo>
                    <a:pt x="1112253" y="6100"/>
                  </a:lnTo>
                  <a:lnTo>
                    <a:pt x="1047641" y="10756"/>
                  </a:lnTo>
                  <a:lnTo>
                    <a:pt x="984162" y="16667"/>
                  </a:lnTo>
                  <a:lnTo>
                    <a:pt x="921899" y="23802"/>
                  </a:lnTo>
                  <a:lnTo>
                    <a:pt x="860935" y="32125"/>
                  </a:lnTo>
                  <a:lnTo>
                    <a:pt x="801352" y="41605"/>
                  </a:lnTo>
                  <a:lnTo>
                    <a:pt x="743232" y="52207"/>
                  </a:lnTo>
                  <a:lnTo>
                    <a:pt x="686658" y="63899"/>
                  </a:lnTo>
                  <a:lnTo>
                    <a:pt x="631713" y="76647"/>
                  </a:lnTo>
                  <a:lnTo>
                    <a:pt x="578478" y="90418"/>
                  </a:lnTo>
                  <a:lnTo>
                    <a:pt x="527037" y="105179"/>
                  </a:lnTo>
                  <a:lnTo>
                    <a:pt x="477471" y="120896"/>
                  </a:lnTo>
                  <a:lnTo>
                    <a:pt x="429863" y="137536"/>
                  </a:lnTo>
                  <a:lnTo>
                    <a:pt x="384296" y="155066"/>
                  </a:lnTo>
                  <a:lnTo>
                    <a:pt x="340851" y="173453"/>
                  </a:lnTo>
                  <a:lnTo>
                    <a:pt x="299612" y="192663"/>
                  </a:lnTo>
                  <a:lnTo>
                    <a:pt x="260661" y="212663"/>
                  </a:lnTo>
                  <a:lnTo>
                    <a:pt x="224080" y="233420"/>
                  </a:lnTo>
                  <a:lnTo>
                    <a:pt x="189952" y="254901"/>
                  </a:lnTo>
                  <a:lnTo>
                    <a:pt x="158359" y="277072"/>
                  </a:lnTo>
                  <a:lnTo>
                    <a:pt x="103108" y="323352"/>
                  </a:lnTo>
                  <a:lnTo>
                    <a:pt x="58988" y="371993"/>
                  </a:lnTo>
                  <a:lnTo>
                    <a:pt x="26656" y="422731"/>
                  </a:lnTo>
                  <a:lnTo>
                    <a:pt x="6774" y="475298"/>
                  </a:lnTo>
                  <a:lnTo>
                    <a:pt x="0" y="529429"/>
                  </a:lnTo>
                  <a:lnTo>
                    <a:pt x="1707" y="556674"/>
                  </a:lnTo>
                  <a:lnTo>
                    <a:pt x="15117" y="610057"/>
                  </a:lnTo>
                  <a:lnTo>
                    <a:pt x="41307" y="661743"/>
                  </a:lnTo>
                  <a:lnTo>
                    <a:pt x="79616" y="711466"/>
                  </a:lnTo>
                  <a:lnTo>
                    <a:pt x="129384" y="758960"/>
                  </a:lnTo>
                  <a:lnTo>
                    <a:pt x="189952" y="803959"/>
                  </a:lnTo>
                  <a:lnTo>
                    <a:pt x="224080" y="825440"/>
                  </a:lnTo>
                  <a:lnTo>
                    <a:pt x="260661" y="846197"/>
                  </a:lnTo>
                  <a:lnTo>
                    <a:pt x="299612" y="866197"/>
                  </a:lnTo>
                  <a:lnTo>
                    <a:pt x="340851" y="885407"/>
                  </a:lnTo>
                  <a:lnTo>
                    <a:pt x="384296" y="903794"/>
                  </a:lnTo>
                  <a:lnTo>
                    <a:pt x="429863" y="921324"/>
                  </a:lnTo>
                  <a:lnTo>
                    <a:pt x="477471" y="937964"/>
                  </a:lnTo>
                  <a:lnTo>
                    <a:pt x="527037" y="953682"/>
                  </a:lnTo>
                  <a:lnTo>
                    <a:pt x="578478" y="968442"/>
                  </a:lnTo>
                  <a:lnTo>
                    <a:pt x="631713" y="982213"/>
                  </a:lnTo>
                  <a:lnTo>
                    <a:pt x="686658" y="994961"/>
                  </a:lnTo>
                  <a:lnTo>
                    <a:pt x="743232" y="1006653"/>
                  </a:lnTo>
                  <a:lnTo>
                    <a:pt x="801352" y="1017255"/>
                  </a:lnTo>
                  <a:lnTo>
                    <a:pt x="860935" y="1026735"/>
                  </a:lnTo>
                  <a:lnTo>
                    <a:pt x="921899" y="1035059"/>
                  </a:lnTo>
                  <a:lnTo>
                    <a:pt x="984162" y="1042193"/>
                  </a:lnTo>
                  <a:lnTo>
                    <a:pt x="1047641" y="1048105"/>
                  </a:lnTo>
                  <a:lnTo>
                    <a:pt x="1112253" y="1052761"/>
                  </a:lnTo>
                  <a:lnTo>
                    <a:pt x="1177917" y="1056127"/>
                  </a:lnTo>
                  <a:lnTo>
                    <a:pt x="1244549" y="1058172"/>
                  </a:lnTo>
                  <a:lnTo>
                    <a:pt x="1312068" y="1058861"/>
                  </a:lnTo>
                  <a:lnTo>
                    <a:pt x="1379587" y="1058172"/>
                  </a:lnTo>
                  <a:lnTo>
                    <a:pt x="1446220" y="1056127"/>
                  </a:lnTo>
                  <a:lnTo>
                    <a:pt x="1511883" y="1052761"/>
                  </a:lnTo>
                  <a:lnTo>
                    <a:pt x="1576496" y="1048105"/>
                  </a:lnTo>
                  <a:lnTo>
                    <a:pt x="1639975" y="1042193"/>
                  </a:lnTo>
                  <a:lnTo>
                    <a:pt x="1702237" y="1035059"/>
                  </a:lnTo>
                  <a:lnTo>
                    <a:pt x="1763201" y="1026735"/>
                  </a:lnTo>
                  <a:lnTo>
                    <a:pt x="1822785" y="1017255"/>
                  </a:lnTo>
                  <a:lnTo>
                    <a:pt x="1880904" y="1006653"/>
                  </a:lnTo>
                  <a:lnTo>
                    <a:pt x="1937478" y="994961"/>
                  </a:lnTo>
                  <a:lnTo>
                    <a:pt x="1992424" y="982213"/>
                  </a:lnTo>
                  <a:lnTo>
                    <a:pt x="2045658" y="968442"/>
                  </a:lnTo>
                  <a:lnTo>
                    <a:pt x="2097100" y="953682"/>
                  </a:lnTo>
                  <a:lnTo>
                    <a:pt x="2146666" y="937964"/>
                  </a:lnTo>
                  <a:lnTo>
                    <a:pt x="2194274" y="921324"/>
                  </a:lnTo>
                  <a:lnTo>
                    <a:pt x="2239841" y="903794"/>
                  </a:lnTo>
                  <a:lnTo>
                    <a:pt x="2283285" y="885407"/>
                  </a:lnTo>
                  <a:lnTo>
                    <a:pt x="2324524" y="866197"/>
                  </a:lnTo>
                  <a:lnTo>
                    <a:pt x="2363475" y="846197"/>
                  </a:lnTo>
                  <a:lnTo>
                    <a:pt x="2400056" y="825440"/>
                  </a:lnTo>
                  <a:lnTo>
                    <a:pt x="2434184" y="803959"/>
                  </a:lnTo>
                  <a:lnTo>
                    <a:pt x="2465777" y="781788"/>
                  </a:lnTo>
                  <a:lnTo>
                    <a:pt x="2521028" y="735508"/>
                  </a:lnTo>
                  <a:lnTo>
                    <a:pt x="2565149" y="686866"/>
                  </a:lnTo>
                  <a:lnTo>
                    <a:pt x="2597480" y="636128"/>
                  </a:lnTo>
                  <a:lnTo>
                    <a:pt x="2617363" y="583561"/>
                  </a:lnTo>
                  <a:lnTo>
                    <a:pt x="2624137" y="529429"/>
                  </a:lnTo>
                  <a:lnTo>
                    <a:pt x="2622430" y="502185"/>
                  </a:lnTo>
                  <a:lnTo>
                    <a:pt x="2609019" y="448803"/>
                  </a:lnTo>
                  <a:lnTo>
                    <a:pt x="2582830" y="397117"/>
                  </a:lnTo>
                  <a:lnTo>
                    <a:pt x="2544521" y="347394"/>
                  </a:lnTo>
                  <a:lnTo>
                    <a:pt x="2494753" y="299900"/>
                  </a:lnTo>
                  <a:lnTo>
                    <a:pt x="2434184" y="254901"/>
                  </a:lnTo>
                  <a:lnTo>
                    <a:pt x="2400056" y="233420"/>
                  </a:lnTo>
                  <a:lnTo>
                    <a:pt x="2363475" y="212663"/>
                  </a:lnTo>
                  <a:lnTo>
                    <a:pt x="2324524" y="192663"/>
                  </a:lnTo>
                  <a:lnTo>
                    <a:pt x="2283285" y="173453"/>
                  </a:lnTo>
                  <a:lnTo>
                    <a:pt x="2239841" y="155066"/>
                  </a:lnTo>
                  <a:lnTo>
                    <a:pt x="2194274" y="137536"/>
                  </a:lnTo>
                  <a:lnTo>
                    <a:pt x="2146666" y="120896"/>
                  </a:lnTo>
                  <a:lnTo>
                    <a:pt x="2097100" y="105179"/>
                  </a:lnTo>
                  <a:lnTo>
                    <a:pt x="2045658" y="90418"/>
                  </a:lnTo>
                  <a:lnTo>
                    <a:pt x="1992424" y="76647"/>
                  </a:lnTo>
                  <a:lnTo>
                    <a:pt x="1937478" y="63899"/>
                  </a:lnTo>
                  <a:lnTo>
                    <a:pt x="1880904" y="52207"/>
                  </a:lnTo>
                  <a:lnTo>
                    <a:pt x="1822785" y="41605"/>
                  </a:lnTo>
                  <a:lnTo>
                    <a:pt x="1763201" y="32125"/>
                  </a:lnTo>
                  <a:lnTo>
                    <a:pt x="1702237" y="23802"/>
                  </a:lnTo>
                  <a:lnTo>
                    <a:pt x="1639975" y="16667"/>
                  </a:lnTo>
                  <a:lnTo>
                    <a:pt x="1576496" y="10756"/>
                  </a:lnTo>
                  <a:lnTo>
                    <a:pt x="1511883" y="6100"/>
                  </a:lnTo>
                  <a:lnTo>
                    <a:pt x="1446220" y="2733"/>
                  </a:lnTo>
                  <a:lnTo>
                    <a:pt x="1379587" y="688"/>
                  </a:lnTo>
                  <a:lnTo>
                    <a:pt x="1312068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677958" y="5452307"/>
              <a:ext cx="2624455" cy="1059180"/>
            </a:xfrm>
            <a:custGeom>
              <a:avLst/>
              <a:gdLst/>
              <a:ahLst/>
              <a:cxnLst/>
              <a:rect l="l" t="t" r="r" b="b"/>
              <a:pathLst>
                <a:path w="2624454" h="1059179">
                  <a:moveTo>
                    <a:pt x="0" y="529430"/>
                  </a:moveTo>
                  <a:lnTo>
                    <a:pt x="6774" y="475299"/>
                  </a:lnTo>
                  <a:lnTo>
                    <a:pt x="26656" y="422732"/>
                  </a:lnTo>
                  <a:lnTo>
                    <a:pt x="58988" y="371994"/>
                  </a:lnTo>
                  <a:lnTo>
                    <a:pt x="103108" y="323352"/>
                  </a:lnTo>
                  <a:lnTo>
                    <a:pt x="158359" y="277072"/>
                  </a:lnTo>
                  <a:lnTo>
                    <a:pt x="189952" y="254901"/>
                  </a:lnTo>
                  <a:lnTo>
                    <a:pt x="224080" y="233421"/>
                  </a:lnTo>
                  <a:lnTo>
                    <a:pt x="260661" y="212663"/>
                  </a:lnTo>
                  <a:lnTo>
                    <a:pt x="299612" y="192663"/>
                  </a:lnTo>
                  <a:lnTo>
                    <a:pt x="340851" y="173453"/>
                  </a:lnTo>
                  <a:lnTo>
                    <a:pt x="384296" y="155066"/>
                  </a:lnTo>
                  <a:lnTo>
                    <a:pt x="429863" y="137536"/>
                  </a:lnTo>
                  <a:lnTo>
                    <a:pt x="477471" y="120896"/>
                  </a:lnTo>
                  <a:lnTo>
                    <a:pt x="527037" y="105179"/>
                  </a:lnTo>
                  <a:lnTo>
                    <a:pt x="578478" y="90418"/>
                  </a:lnTo>
                  <a:lnTo>
                    <a:pt x="631713" y="76647"/>
                  </a:lnTo>
                  <a:lnTo>
                    <a:pt x="686658" y="63899"/>
                  </a:lnTo>
                  <a:lnTo>
                    <a:pt x="743232" y="52207"/>
                  </a:lnTo>
                  <a:lnTo>
                    <a:pt x="801352" y="41605"/>
                  </a:lnTo>
                  <a:lnTo>
                    <a:pt x="860935" y="32125"/>
                  </a:lnTo>
                  <a:lnTo>
                    <a:pt x="921899" y="23802"/>
                  </a:lnTo>
                  <a:lnTo>
                    <a:pt x="984162" y="16667"/>
                  </a:lnTo>
                  <a:lnTo>
                    <a:pt x="1047641" y="10756"/>
                  </a:lnTo>
                  <a:lnTo>
                    <a:pt x="1112253" y="6100"/>
                  </a:lnTo>
                  <a:lnTo>
                    <a:pt x="1177917" y="2733"/>
                  </a:lnTo>
                  <a:lnTo>
                    <a:pt x="1244549" y="688"/>
                  </a:lnTo>
                  <a:lnTo>
                    <a:pt x="1312068" y="0"/>
                  </a:lnTo>
                  <a:lnTo>
                    <a:pt x="1379587" y="688"/>
                  </a:lnTo>
                  <a:lnTo>
                    <a:pt x="1446220" y="2733"/>
                  </a:lnTo>
                  <a:lnTo>
                    <a:pt x="1511883" y="6100"/>
                  </a:lnTo>
                  <a:lnTo>
                    <a:pt x="1576496" y="10756"/>
                  </a:lnTo>
                  <a:lnTo>
                    <a:pt x="1639975" y="16667"/>
                  </a:lnTo>
                  <a:lnTo>
                    <a:pt x="1702237" y="23802"/>
                  </a:lnTo>
                  <a:lnTo>
                    <a:pt x="1763202" y="32125"/>
                  </a:lnTo>
                  <a:lnTo>
                    <a:pt x="1822785" y="41605"/>
                  </a:lnTo>
                  <a:lnTo>
                    <a:pt x="1880904" y="52207"/>
                  </a:lnTo>
                  <a:lnTo>
                    <a:pt x="1937478" y="63899"/>
                  </a:lnTo>
                  <a:lnTo>
                    <a:pt x="1992424" y="76647"/>
                  </a:lnTo>
                  <a:lnTo>
                    <a:pt x="2045658" y="90418"/>
                  </a:lnTo>
                  <a:lnTo>
                    <a:pt x="2097100" y="105179"/>
                  </a:lnTo>
                  <a:lnTo>
                    <a:pt x="2146666" y="120896"/>
                  </a:lnTo>
                  <a:lnTo>
                    <a:pt x="2194274" y="137536"/>
                  </a:lnTo>
                  <a:lnTo>
                    <a:pt x="2239841" y="155066"/>
                  </a:lnTo>
                  <a:lnTo>
                    <a:pt x="2283285" y="173453"/>
                  </a:lnTo>
                  <a:lnTo>
                    <a:pt x="2324524" y="192663"/>
                  </a:lnTo>
                  <a:lnTo>
                    <a:pt x="2363475" y="212663"/>
                  </a:lnTo>
                  <a:lnTo>
                    <a:pt x="2400056" y="233421"/>
                  </a:lnTo>
                  <a:lnTo>
                    <a:pt x="2434184" y="254901"/>
                  </a:lnTo>
                  <a:lnTo>
                    <a:pt x="2465777" y="277072"/>
                  </a:lnTo>
                  <a:lnTo>
                    <a:pt x="2521028" y="323352"/>
                  </a:lnTo>
                  <a:lnTo>
                    <a:pt x="2565149" y="371994"/>
                  </a:lnTo>
                  <a:lnTo>
                    <a:pt x="2597480" y="422732"/>
                  </a:lnTo>
                  <a:lnTo>
                    <a:pt x="2617363" y="475299"/>
                  </a:lnTo>
                  <a:lnTo>
                    <a:pt x="2624137" y="529430"/>
                  </a:lnTo>
                  <a:lnTo>
                    <a:pt x="2622430" y="556675"/>
                  </a:lnTo>
                  <a:lnTo>
                    <a:pt x="2609019" y="610057"/>
                  </a:lnTo>
                  <a:lnTo>
                    <a:pt x="2582829" y="661743"/>
                  </a:lnTo>
                  <a:lnTo>
                    <a:pt x="2544521" y="711466"/>
                  </a:lnTo>
                  <a:lnTo>
                    <a:pt x="2494753" y="758961"/>
                  </a:lnTo>
                  <a:lnTo>
                    <a:pt x="2434184" y="803960"/>
                  </a:lnTo>
                  <a:lnTo>
                    <a:pt x="2400056" y="825440"/>
                  </a:lnTo>
                  <a:lnTo>
                    <a:pt x="2363475" y="846197"/>
                  </a:lnTo>
                  <a:lnTo>
                    <a:pt x="2324524" y="866198"/>
                  </a:lnTo>
                  <a:lnTo>
                    <a:pt x="2283285" y="885408"/>
                  </a:lnTo>
                  <a:lnTo>
                    <a:pt x="2239841" y="903795"/>
                  </a:lnTo>
                  <a:lnTo>
                    <a:pt x="2194274" y="921325"/>
                  </a:lnTo>
                  <a:lnTo>
                    <a:pt x="2146666" y="937965"/>
                  </a:lnTo>
                  <a:lnTo>
                    <a:pt x="2097100" y="953682"/>
                  </a:lnTo>
                  <a:lnTo>
                    <a:pt x="2045658" y="968443"/>
                  </a:lnTo>
                  <a:lnTo>
                    <a:pt x="1992424" y="982214"/>
                  </a:lnTo>
                  <a:lnTo>
                    <a:pt x="1937478" y="994962"/>
                  </a:lnTo>
                  <a:lnTo>
                    <a:pt x="1880904" y="1006654"/>
                  </a:lnTo>
                  <a:lnTo>
                    <a:pt x="1822785" y="1017256"/>
                  </a:lnTo>
                  <a:lnTo>
                    <a:pt x="1763202" y="1026736"/>
                  </a:lnTo>
                  <a:lnTo>
                    <a:pt x="1702237" y="1035059"/>
                  </a:lnTo>
                  <a:lnTo>
                    <a:pt x="1639975" y="1042193"/>
                  </a:lnTo>
                  <a:lnTo>
                    <a:pt x="1576496" y="1048105"/>
                  </a:lnTo>
                  <a:lnTo>
                    <a:pt x="1511883" y="1052761"/>
                  </a:lnTo>
                  <a:lnTo>
                    <a:pt x="1446220" y="1056128"/>
                  </a:lnTo>
                  <a:lnTo>
                    <a:pt x="1379587" y="1058172"/>
                  </a:lnTo>
                  <a:lnTo>
                    <a:pt x="1312068" y="1058861"/>
                  </a:lnTo>
                  <a:lnTo>
                    <a:pt x="1244549" y="1058172"/>
                  </a:lnTo>
                  <a:lnTo>
                    <a:pt x="1177917" y="1056128"/>
                  </a:lnTo>
                  <a:lnTo>
                    <a:pt x="1112253" y="1052761"/>
                  </a:lnTo>
                  <a:lnTo>
                    <a:pt x="1047641" y="1048105"/>
                  </a:lnTo>
                  <a:lnTo>
                    <a:pt x="984162" y="1042193"/>
                  </a:lnTo>
                  <a:lnTo>
                    <a:pt x="921899" y="1035059"/>
                  </a:lnTo>
                  <a:lnTo>
                    <a:pt x="860935" y="1026736"/>
                  </a:lnTo>
                  <a:lnTo>
                    <a:pt x="801352" y="1017256"/>
                  </a:lnTo>
                  <a:lnTo>
                    <a:pt x="743232" y="1006654"/>
                  </a:lnTo>
                  <a:lnTo>
                    <a:pt x="686658" y="994962"/>
                  </a:lnTo>
                  <a:lnTo>
                    <a:pt x="631713" y="982214"/>
                  </a:lnTo>
                  <a:lnTo>
                    <a:pt x="578478" y="968443"/>
                  </a:lnTo>
                  <a:lnTo>
                    <a:pt x="527037" y="953682"/>
                  </a:lnTo>
                  <a:lnTo>
                    <a:pt x="477471" y="937965"/>
                  </a:lnTo>
                  <a:lnTo>
                    <a:pt x="429863" y="921325"/>
                  </a:lnTo>
                  <a:lnTo>
                    <a:pt x="384296" y="903795"/>
                  </a:lnTo>
                  <a:lnTo>
                    <a:pt x="340851" y="885408"/>
                  </a:lnTo>
                  <a:lnTo>
                    <a:pt x="299612" y="866198"/>
                  </a:lnTo>
                  <a:lnTo>
                    <a:pt x="260661" y="846197"/>
                  </a:lnTo>
                  <a:lnTo>
                    <a:pt x="224080" y="825440"/>
                  </a:lnTo>
                  <a:lnTo>
                    <a:pt x="189952" y="803960"/>
                  </a:lnTo>
                  <a:lnTo>
                    <a:pt x="158359" y="781789"/>
                  </a:lnTo>
                  <a:lnTo>
                    <a:pt x="103108" y="735509"/>
                  </a:lnTo>
                  <a:lnTo>
                    <a:pt x="58988" y="686867"/>
                  </a:lnTo>
                  <a:lnTo>
                    <a:pt x="26656" y="636129"/>
                  </a:lnTo>
                  <a:lnTo>
                    <a:pt x="6774" y="583562"/>
                  </a:lnTo>
                  <a:lnTo>
                    <a:pt x="0" y="52943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413815" y="5640393"/>
            <a:ext cx="126746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79" marR="5080" indent="-22161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no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tac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ió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n  </a:t>
            </a: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fallos</a:t>
            </a:r>
            <a:endParaRPr sz="20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126632" y="1898656"/>
            <a:ext cx="14084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4154" marR="5080" indent="-21209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Reparación  defectos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813520" y="1661358"/>
            <a:ext cx="2633980" cy="1068705"/>
            <a:chOff x="6813520" y="1661358"/>
            <a:chExt cx="2633980" cy="1068705"/>
          </a:xfrm>
        </p:grpSpPr>
        <p:sp>
          <p:nvSpPr>
            <p:cNvPr id="39" name="object 39"/>
            <p:cNvSpPr/>
            <p:nvPr/>
          </p:nvSpPr>
          <p:spPr>
            <a:xfrm>
              <a:off x="6818282" y="1666120"/>
              <a:ext cx="2624455" cy="1059180"/>
            </a:xfrm>
            <a:custGeom>
              <a:avLst/>
              <a:gdLst/>
              <a:ahLst/>
              <a:cxnLst/>
              <a:rect l="l" t="t" r="r" b="b"/>
              <a:pathLst>
                <a:path w="2624454" h="1059180">
                  <a:moveTo>
                    <a:pt x="1312068" y="0"/>
                  </a:moveTo>
                  <a:lnTo>
                    <a:pt x="1244549" y="688"/>
                  </a:lnTo>
                  <a:lnTo>
                    <a:pt x="1177917" y="2733"/>
                  </a:lnTo>
                  <a:lnTo>
                    <a:pt x="1112253" y="6100"/>
                  </a:lnTo>
                  <a:lnTo>
                    <a:pt x="1047641" y="10756"/>
                  </a:lnTo>
                  <a:lnTo>
                    <a:pt x="984162" y="16667"/>
                  </a:lnTo>
                  <a:lnTo>
                    <a:pt x="921899" y="23802"/>
                  </a:lnTo>
                  <a:lnTo>
                    <a:pt x="860935" y="32125"/>
                  </a:lnTo>
                  <a:lnTo>
                    <a:pt x="801352" y="41605"/>
                  </a:lnTo>
                  <a:lnTo>
                    <a:pt x="743232" y="52207"/>
                  </a:lnTo>
                  <a:lnTo>
                    <a:pt x="686658" y="63899"/>
                  </a:lnTo>
                  <a:lnTo>
                    <a:pt x="631713" y="76647"/>
                  </a:lnTo>
                  <a:lnTo>
                    <a:pt x="578478" y="90418"/>
                  </a:lnTo>
                  <a:lnTo>
                    <a:pt x="527037" y="105179"/>
                  </a:lnTo>
                  <a:lnTo>
                    <a:pt x="477471" y="120896"/>
                  </a:lnTo>
                  <a:lnTo>
                    <a:pt x="429863" y="137536"/>
                  </a:lnTo>
                  <a:lnTo>
                    <a:pt x="384296" y="155066"/>
                  </a:lnTo>
                  <a:lnTo>
                    <a:pt x="340851" y="173453"/>
                  </a:lnTo>
                  <a:lnTo>
                    <a:pt x="299612" y="192663"/>
                  </a:lnTo>
                  <a:lnTo>
                    <a:pt x="260661" y="212663"/>
                  </a:lnTo>
                  <a:lnTo>
                    <a:pt x="224080" y="233421"/>
                  </a:lnTo>
                  <a:lnTo>
                    <a:pt x="189952" y="254901"/>
                  </a:lnTo>
                  <a:lnTo>
                    <a:pt x="158359" y="277072"/>
                  </a:lnTo>
                  <a:lnTo>
                    <a:pt x="103108" y="323352"/>
                  </a:lnTo>
                  <a:lnTo>
                    <a:pt x="58988" y="371994"/>
                  </a:lnTo>
                  <a:lnTo>
                    <a:pt x="26656" y="422732"/>
                  </a:lnTo>
                  <a:lnTo>
                    <a:pt x="6774" y="475299"/>
                  </a:lnTo>
                  <a:lnTo>
                    <a:pt x="0" y="529431"/>
                  </a:lnTo>
                  <a:lnTo>
                    <a:pt x="1707" y="556675"/>
                  </a:lnTo>
                  <a:lnTo>
                    <a:pt x="15117" y="610058"/>
                  </a:lnTo>
                  <a:lnTo>
                    <a:pt x="41307" y="661744"/>
                  </a:lnTo>
                  <a:lnTo>
                    <a:pt x="79616" y="711467"/>
                  </a:lnTo>
                  <a:lnTo>
                    <a:pt x="129384" y="758961"/>
                  </a:lnTo>
                  <a:lnTo>
                    <a:pt x="189952" y="803960"/>
                  </a:lnTo>
                  <a:lnTo>
                    <a:pt x="224080" y="825441"/>
                  </a:lnTo>
                  <a:lnTo>
                    <a:pt x="260661" y="846198"/>
                  </a:lnTo>
                  <a:lnTo>
                    <a:pt x="299612" y="866198"/>
                  </a:lnTo>
                  <a:lnTo>
                    <a:pt x="340851" y="885409"/>
                  </a:lnTo>
                  <a:lnTo>
                    <a:pt x="384296" y="903795"/>
                  </a:lnTo>
                  <a:lnTo>
                    <a:pt x="429863" y="921325"/>
                  </a:lnTo>
                  <a:lnTo>
                    <a:pt x="477471" y="937966"/>
                  </a:lnTo>
                  <a:lnTo>
                    <a:pt x="527037" y="953683"/>
                  </a:lnTo>
                  <a:lnTo>
                    <a:pt x="578478" y="968444"/>
                  </a:lnTo>
                  <a:lnTo>
                    <a:pt x="631713" y="982215"/>
                  </a:lnTo>
                  <a:lnTo>
                    <a:pt x="686658" y="994963"/>
                  </a:lnTo>
                  <a:lnTo>
                    <a:pt x="743232" y="1006654"/>
                  </a:lnTo>
                  <a:lnTo>
                    <a:pt x="801352" y="1017257"/>
                  </a:lnTo>
                  <a:lnTo>
                    <a:pt x="860935" y="1026736"/>
                  </a:lnTo>
                  <a:lnTo>
                    <a:pt x="921899" y="1035060"/>
                  </a:lnTo>
                  <a:lnTo>
                    <a:pt x="984162" y="1042194"/>
                  </a:lnTo>
                  <a:lnTo>
                    <a:pt x="1047641" y="1048106"/>
                  </a:lnTo>
                  <a:lnTo>
                    <a:pt x="1112253" y="1052762"/>
                  </a:lnTo>
                  <a:lnTo>
                    <a:pt x="1177917" y="1056129"/>
                  </a:lnTo>
                  <a:lnTo>
                    <a:pt x="1244549" y="1058173"/>
                  </a:lnTo>
                  <a:lnTo>
                    <a:pt x="1312068" y="1058862"/>
                  </a:lnTo>
                  <a:lnTo>
                    <a:pt x="1379587" y="1058173"/>
                  </a:lnTo>
                  <a:lnTo>
                    <a:pt x="1446220" y="1056129"/>
                  </a:lnTo>
                  <a:lnTo>
                    <a:pt x="1511883" y="1052762"/>
                  </a:lnTo>
                  <a:lnTo>
                    <a:pt x="1576496" y="1048106"/>
                  </a:lnTo>
                  <a:lnTo>
                    <a:pt x="1639975" y="1042194"/>
                  </a:lnTo>
                  <a:lnTo>
                    <a:pt x="1702237" y="1035060"/>
                  </a:lnTo>
                  <a:lnTo>
                    <a:pt x="1763201" y="1026736"/>
                  </a:lnTo>
                  <a:lnTo>
                    <a:pt x="1822785" y="1017257"/>
                  </a:lnTo>
                  <a:lnTo>
                    <a:pt x="1880904" y="1006654"/>
                  </a:lnTo>
                  <a:lnTo>
                    <a:pt x="1937478" y="994963"/>
                  </a:lnTo>
                  <a:lnTo>
                    <a:pt x="1992424" y="982215"/>
                  </a:lnTo>
                  <a:lnTo>
                    <a:pt x="2045658" y="968444"/>
                  </a:lnTo>
                  <a:lnTo>
                    <a:pt x="2097100" y="953683"/>
                  </a:lnTo>
                  <a:lnTo>
                    <a:pt x="2146666" y="937966"/>
                  </a:lnTo>
                  <a:lnTo>
                    <a:pt x="2194274" y="921325"/>
                  </a:lnTo>
                  <a:lnTo>
                    <a:pt x="2239841" y="903795"/>
                  </a:lnTo>
                  <a:lnTo>
                    <a:pt x="2283285" y="885409"/>
                  </a:lnTo>
                  <a:lnTo>
                    <a:pt x="2324524" y="866198"/>
                  </a:lnTo>
                  <a:lnTo>
                    <a:pt x="2363475" y="846198"/>
                  </a:lnTo>
                  <a:lnTo>
                    <a:pt x="2400056" y="825441"/>
                  </a:lnTo>
                  <a:lnTo>
                    <a:pt x="2434184" y="803960"/>
                  </a:lnTo>
                  <a:lnTo>
                    <a:pt x="2465777" y="781789"/>
                  </a:lnTo>
                  <a:lnTo>
                    <a:pt x="2521028" y="735509"/>
                  </a:lnTo>
                  <a:lnTo>
                    <a:pt x="2565149" y="686868"/>
                  </a:lnTo>
                  <a:lnTo>
                    <a:pt x="2597480" y="636130"/>
                  </a:lnTo>
                  <a:lnTo>
                    <a:pt x="2617363" y="583562"/>
                  </a:lnTo>
                  <a:lnTo>
                    <a:pt x="2624137" y="529431"/>
                  </a:lnTo>
                  <a:lnTo>
                    <a:pt x="2622430" y="502186"/>
                  </a:lnTo>
                  <a:lnTo>
                    <a:pt x="2609019" y="448804"/>
                  </a:lnTo>
                  <a:lnTo>
                    <a:pt x="2582830" y="397118"/>
                  </a:lnTo>
                  <a:lnTo>
                    <a:pt x="2544521" y="347394"/>
                  </a:lnTo>
                  <a:lnTo>
                    <a:pt x="2494753" y="299900"/>
                  </a:lnTo>
                  <a:lnTo>
                    <a:pt x="2434184" y="254901"/>
                  </a:lnTo>
                  <a:lnTo>
                    <a:pt x="2400056" y="233421"/>
                  </a:lnTo>
                  <a:lnTo>
                    <a:pt x="2363475" y="212663"/>
                  </a:lnTo>
                  <a:lnTo>
                    <a:pt x="2324524" y="192663"/>
                  </a:lnTo>
                  <a:lnTo>
                    <a:pt x="2283285" y="173453"/>
                  </a:lnTo>
                  <a:lnTo>
                    <a:pt x="2239841" y="155066"/>
                  </a:lnTo>
                  <a:lnTo>
                    <a:pt x="2194274" y="137536"/>
                  </a:lnTo>
                  <a:lnTo>
                    <a:pt x="2146666" y="120896"/>
                  </a:lnTo>
                  <a:lnTo>
                    <a:pt x="2097100" y="105179"/>
                  </a:lnTo>
                  <a:lnTo>
                    <a:pt x="2045658" y="90418"/>
                  </a:lnTo>
                  <a:lnTo>
                    <a:pt x="1992424" y="76647"/>
                  </a:lnTo>
                  <a:lnTo>
                    <a:pt x="1937478" y="63899"/>
                  </a:lnTo>
                  <a:lnTo>
                    <a:pt x="1880904" y="52207"/>
                  </a:lnTo>
                  <a:lnTo>
                    <a:pt x="1822785" y="41605"/>
                  </a:lnTo>
                  <a:lnTo>
                    <a:pt x="1763201" y="32125"/>
                  </a:lnTo>
                  <a:lnTo>
                    <a:pt x="1702237" y="23802"/>
                  </a:lnTo>
                  <a:lnTo>
                    <a:pt x="1639975" y="16667"/>
                  </a:lnTo>
                  <a:lnTo>
                    <a:pt x="1576496" y="10756"/>
                  </a:lnTo>
                  <a:lnTo>
                    <a:pt x="1511883" y="6100"/>
                  </a:lnTo>
                  <a:lnTo>
                    <a:pt x="1446220" y="2733"/>
                  </a:lnTo>
                  <a:lnTo>
                    <a:pt x="1379587" y="688"/>
                  </a:lnTo>
                  <a:lnTo>
                    <a:pt x="1312068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818283" y="1666120"/>
              <a:ext cx="2624455" cy="1059180"/>
            </a:xfrm>
            <a:custGeom>
              <a:avLst/>
              <a:gdLst/>
              <a:ahLst/>
              <a:cxnLst/>
              <a:rect l="l" t="t" r="r" b="b"/>
              <a:pathLst>
                <a:path w="2624454" h="1059180">
                  <a:moveTo>
                    <a:pt x="0" y="529431"/>
                  </a:moveTo>
                  <a:lnTo>
                    <a:pt x="6774" y="475300"/>
                  </a:lnTo>
                  <a:lnTo>
                    <a:pt x="26656" y="422732"/>
                  </a:lnTo>
                  <a:lnTo>
                    <a:pt x="58988" y="371995"/>
                  </a:lnTo>
                  <a:lnTo>
                    <a:pt x="103108" y="323353"/>
                  </a:lnTo>
                  <a:lnTo>
                    <a:pt x="158359" y="277073"/>
                  </a:lnTo>
                  <a:lnTo>
                    <a:pt x="189952" y="254902"/>
                  </a:lnTo>
                  <a:lnTo>
                    <a:pt x="224080" y="233421"/>
                  </a:lnTo>
                  <a:lnTo>
                    <a:pt x="260661" y="212664"/>
                  </a:lnTo>
                  <a:lnTo>
                    <a:pt x="299612" y="192664"/>
                  </a:lnTo>
                  <a:lnTo>
                    <a:pt x="340851" y="173453"/>
                  </a:lnTo>
                  <a:lnTo>
                    <a:pt x="384295" y="155067"/>
                  </a:lnTo>
                  <a:lnTo>
                    <a:pt x="429863" y="137536"/>
                  </a:lnTo>
                  <a:lnTo>
                    <a:pt x="477471" y="120896"/>
                  </a:lnTo>
                  <a:lnTo>
                    <a:pt x="527036" y="105179"/>
                  </a:lnTo>
                  <a:lnTo>
                    <a:pt x="578478" y="90418"/>
                  </a:lnTo>
                  <a:lnTo>
                    <a:pt x="631713" y="76647"/>
                  </a:lnTo>
                  <a:lnTo>
                    <a:pt x="686658" y="63899"/>
                  </a:lnTo>
                  <a:lnTo>
                    <a:pt x="743232" y="52207"/>
                  </a:lnTo>
                  <a:lnTo>
                    <a:pt x="801352" y="41605"/>
                  </a:lnTo>
                  <a:lnTo>
                    <a:pt x="860935" y="32125"/>
                  </a:lnTo>
                  <a:lnTo>
                    <a:pt x="921899" y="23802"/>
                  </a:lnTo>
                  <a:lnTo>
                    <a:pt x="984162" y="16667"/>
                  </a:lnTo>
                  <a:lnTo>
                    <a:pt x="1047640" y="10756"/>
                  </a:lnTo>
                  <a:lnTo>
                    <a:pt x="1112253" y="6100"/>
                  </a:lnTo>
                  <a:lnTo>
                    <a:pt x="1177917" y="2733"/>
                  </a:lnTo>
                  <a:lnTo>
                    <a:pt x="1244549" y="688"/>
                  </a:lnTo>
                  <a:lnTo>
                    <a:pt x="1312068" y="0"/>
                  </a:lnTo>
                  <a:lnTo>
                    <a:pt x="1379587" y="688"/>
                  </a:lnTo>
                  <a:lnTo>
                    <a:pt x="1446220" y="2733"/>
                  </a:lnTo>
                  <a:lnTo>
                    <a:pt x="1511883" y="6100"/>
                  </a:lnTo>
                  <a:lnTo>
                    <a:pt x="1576496" y="10756"/>
                  </a:lnTo>
                  <a:lnTo>
                    <a:pt x="1639975" y="16667"/>
                  </a:lnTo>
                  <a:lnTo>
                    <a:pt x="1702237" y="23802"/>
                  </a:lnTo>
                  <a:lnTo>
                    <a:pt x="1763201" y="32125"/>
                  </a:lnTo>
                  <a:lnTo>
                    <a:pt x="1822785" y="41605"/>
                  </a:lnTo>
                  <a:lnTo>
                    <a:pt x="1880904" y="52207"/>
                  </a:lnTo>
                  <a:lnTo>
                    <a:pt x="1937478" y="63899"/>
                  </a:lnTo>
                  <a:lnTo>
                    <a:pt x="1992424" y="76647"/>
                  </a:lnTo>
                  <a:lnTo>
                    <a:pt x="2045658" y="90418"/>
                  </a:lnTo>
                  <a:lnTo>
                    <a:pt x="2097100" y="105179"/>
                  </a:lnTo>
                  <a:lnTo>
                    <a:pt x="2146666" y="120896"/>
                  </a:lnTo>
                  <a:lnTo>
                    <a:pt x="2194274" y="137536"/>
                  </a:lnTo>
                  <a:lnTo>
                    <a:pt x="2239841" y="155067"/>
                  </a:lnTo>
                  <a:lnTo>
                    <a:pt x="2283285" y="173453"/>
                  </a:lnTo>
                  <a:lnTo>
                    <a:pt x="2324524" y="192664"/>
                  </a:lnTo>
                  <a:lnTo>
                    <a:pt x="2363475" y="212664"/>
                  </a:lnTo>
                  <a:lnTo>
                    <a:pt x="2400056" y="233421"/>
                  </a:lnTo>
                  <a:lnTo>
                    <a:pt x="2434184" y="254902"/>
                  </a:lnTo>
                  <a:lnTo>
                    <a:pt x="2465777" y="277073"/>
                  </a:lnTo>
                  <a:lnTo>
                    <a:pt x="2521028" y="323353"/>
                  </a:lnTo>
                  <a:lnTo>
                    <a:pt x="2565149" y="371995"/>
                  </a:lnTo>
                  <a:lnTo>
                    <a:pt x="2597480" y="422732"/>
                  </a:lnTo>
                  <a:lnTo>
                    <a:pt x="2617363" y="475300"/>
                  </a:lnTo>
                  <a:lnTo>
                    <a:pt x="2624137" y="529431"/>
                  </a:lnTo>
                  <a:lnTo>
                    <a:pt x="2622429" y="556676"/>
                  </a:lnTo>
                  <a:lnTo>
                    <a:pt x="2609019" y="610059"/>
                  </a:lnTo>
                  <a:lnTo>
                    <a:pt x="2582829" y="661745"/>
                  </a:lnTo>
                  <a:lnTo>
                    <a:pt x="2544521" y="711468"/>
                  </a:lnTo>
                  <a:lnTo>
                    <a:pt x="2494753" y="758962"/>
                  </a:lnTo>
                  <a:lnTo>
                    <a:pt x="2434184" y="803961"/>
                  </a:lnTo>
                  <a:lnTo>
                    <a:pt x="2400056" y="825442"/>
                  </a:lnTo>
                  <a:lnTo>
                    <a:pt x="2363475" y="846199"/>
                  </a:lnTo>
                  <a:lnTo>
                    <a:pt x="2324524" y="866199"/>
                  </a:lnTo>
                  <a:lnTo>
                    <a:pt x="2283285" y="885409"/>
                  </a:lnTo>
                  <a:lnTo>
                    <a:pt x="2239841" y="903796"/>
                  </a:lnTo>
                  <a:lnTo>
                    <a:pt x="2194274" y="921326"/>
                  </a:lnTo>
                  <a:lnTo>
                    <a:pt x="2146666" y="937967"/>
                  </a:lnTo>
                  <a:lnTo>
                    <a:pt x="2097100" y="953684"/>
                  </a:lnTo>
                  <a:lnTo>
                    <a:pt x="2045658" y="968445"/>
                  </a:lnTo>
                  <a:lnTo>
                    <a:pt x="1992424" y="982216"/>
                  </a:lnTo>
                  <a:lnTo>
                    <a:pt x="1937478" y="994964"/>
                  </a:lnTo>
                  <a:lnTo>
                    <a:pt x="1880904" y="1006655"/>
                  </a:lnTo>
                  <a:lnTo>
                    <a:pt x="1822785" y="1017258"/>
                  </a:lnTo>
                  <a:lnTo>
                    <a:pt x="1763201" y="1026737"/>
                  </a:lnTo>
                  <a:lnTo>
                    <a:pt x="1702237" y="1035061"/>
                  </a:lnTo>
                  <a:lnTo>
                    <a:pt x="1639975" y="1042195"/>
                  </a:lnTo>
                  <a:lnTo>
                    <a:pt x="1576496" y="1048107"/>
                  </a:lnTo>
                  <a:lnTo>
                    <a:pt x="1511883" y="1052763"/>
                  </a:lnTo>
                  <a:lnTo>
                    <a:pt x="1446220" y="1056130"/>
                  </a:lnTo>
                  <a:lnTo>
                    <a:pt x="1379587" y="1058174"/>
                  </a:lnTo>
                  <a:lnTo>
                    <a:pt x="1312068" y="1058863"/>
                  </a:lnTo>
                  <a:lnTo>
                    <a:pt x="1244549" y="1058174"/>
                  </a:lnTo>
                  <a:lnTo>
                    <a:pt x="1177917" y="1056130"/>
                  </a:lnTo>
                  <a:lnTo>
                    <a:pt x="1112253" y="1052763"/>
                  </a:lnTo>
                  <a:lnTo>
                    <a:pt x="1047640" y="1048107"/>
                  </a:lnTo>
                  <a:lnTo>
                    <a:pt x="984162" y="1042195"/>
                  </a:lnTo>
                  <a:lnTo>
                    <a:pt x="921899" y="1035061"/>
                  </a:lnTo>
                  <a:lnTo>
                    <a:pt x="860935" y="1026737"/>
                  </a:lnTo>
                  <a:lnTo>
                    <a:pt x="801352" y="1017258"/>
                  </a:lnTo>
                  <a:lnTo>
                    <a:pt x="743232" y="1006655"/>
                  </a:lnTo>
                  <a:lnTo>
                    <a:pt x="686658" y="994964"/>
                  </a:lnTo>
                  <a:lnTo>
                    <a:pt x="631713" y="982216"/>
                  </a:lnTo>
                  <a:lnTo>
                    <a:pt x="578478" y="968445"/>
                  </a:lnTo>
                  <a:lnTo>
                    <a:pt x="527036" y="953684"/>
                  </a:lnTo>
                  <a:lnTo>
                    <a:pt x="477471" y="937967"/>
                  </a:lnTo>
                  <a:lnTo>
                    <a:pt x="429863" y="921326"/>
                  </a:lnTo>
                  <a:lnTo>
                    <a:pt x="384295" y="903796"/>
                  </a:lnTo>
                  <a:lnTo>
                    <a:pt x="340851" y="885409"/>
                  </a:lnTo>
                  <a:lnTo>
                    <a:pt x="299612" y="866199"/>
                  </a:lnTo>
                  <a:lnTo>
                    <a:pt x="260661" y="846199"/>
                  </a:lnTo>
                  <a:lnTo>
                    <a:pt x="224080" y="825442"/>
                  </a:lnTo>
                  <a:lnTo>
                    <a:pt x="189952" y="803961"/>
                  </a:lnTo>
                  <a:lnTo>
                    <a:pt x="158359" y="781790"/>
                  </a:lnTo>
                  <a:lnTo>
                    <a:pt x="103108" y="735510"/>
                  </a:lnTo>
                  <a:lnTo>
                    <a:pt x="58988" y="686868"/>
                  </a:lnTo>
                  <a:lnTo>
                    <a:pt x="26656" y="636130"/>
                  </a:lnTo>
                  <a:lnTo>
                    <a:pt x="6774" y="583563"/>
                  </a:lnTo>
                  <a:lnTo>
                    <a:pt x="0" y="529431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7493002" y="1854206"/>
            <a:ext cx="140906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Puesta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en </a:t>
            </a:r>
            <a:r>
              <a:rPr sz="2000" b="1" spc="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92934"/>
                </a:solidFill>
                <a:latin typeface="Arial"/>
                <a:cs typeface="Arial"/>
              </a:rPr>
              <a:t>producción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90787" y="1770355"/>
            <a:ext cx="7681595" cy="4810760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90500" marR="12700" indent="-177800" algn="just">
              <a:lnSpc>
                <a:spcPct val="88500"/>
              </a:lnSpc>
              <a:spcBef>
                <a:spcPts val="430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(como muchos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otros productos)</a:t>
            </a:r>
            <a:r>
              <a:rPr sz="2400" spc="13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se lanza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al mercado con un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conjunto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conocido de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defectos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y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deficiencias.</a:t>
            </a:r>
            <a:endParaRPr sz="2400">
              <a:latin typeface="Arial MT"/>
              <a:cs typeface="Arial MT"/>
            </a:endParaRPr>
          </a:p>
          <a:p>
            <a:pPr marL="190500" marR="12700" indent="-177800" algn="just">
              <a:lnSpc>
                <a:spcPct val="90600"/>
              </a:lnSpc>
              <a:spcBef>
                <a:spcPts val="565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se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lanza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con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esos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defectos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conocidos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porque la organización decide que la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utilidad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y el valor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del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en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determinado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nivel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calidad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compensa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impacto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 los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defectos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conocidos.</a:t>
            </a:r>
            <a:endParaRPr sz="2400">
              <a:latin typeface="Arial MT"/>
              <a:cs typeface="Arial MT"/>
            </a:endParaRPr>
          </a:p>
          <a:p>
            <a:pPr marL="190500" marR="5080" indent="-177800" algn="just">
              <a:lnSpc>
                <a:spcPct val="89800"/>
              </a:lnSpc>
              <a:spcBef>
                <a:spcPts val="590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Las</a:t>
            </a:r>
            <a:r>
              <a:rPr sz="2400" spc="3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defectos</a:t>
            </a:r>
            <a:r>
              <a:rPr sz="2400" spc="3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conocidos</a:t>
            </a:r>
            <a:r>
              <a:rPr sz="2400" spc="3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se</a:t>
            </a:r>
            <a:r>
              <a:rPr sz="2400" spc="3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documentan</a:t>
            </a:r>
            <a:r>
              <a:rPr sz="2400" spc="3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en</a:t>
            </a:r>
            <a:r>
              <a:rPr sz="2400" spc="3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una</a:t>
            </a:r>
            <a:r>
              <a:rPr sz="2400" spc="37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carta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292934"/>
                </a:solidFill>
                <a:latin typeface="Arial MT"/>
                <a:cs typeface="Arial MT"/>
              </a:rPr>
              <a:t>consideraciones</a:t>
            </a:r>
            <a:r>
              <a:rPr sz="2400" spc="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292934"/>
                </a:solidFill>
                <a:latin typeface="Arial MT"/>
                <a:cs typeface="Arial MT"/>
              </a:rPr>
              <a:t>operacionales</a:t>
            </a:r>
            <a:r>
              <a:rPr sz="2400" spc="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b="1" spc="80" dirty="0">
                <a:solidFill>
                  <a:srgbClr val="292934"/>
                </a:solidFill>
                <a:latin typeface="Arial"/>
                <a:cs typeface="Arial"/>
              </a:rPr>
              <a:t>notas</a:t>
            </a:r>
            <a:r>
              <a:rPr sz="2400" b="1" spc="8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105" dirty="0">
                <a:solidFill>
                  <a:srgbClr val="292934"/>
                </a:solidFill>
                <a:latin typeface="Arial"/>
                <a:cs typeface="Arial"/>
              </a:rPr>
              <a:t>de </a:t>
            </a:r>
            <a:r>
              <a:rPr sz="2400" b="1" spc="1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spc="55" dirty="0">
                <a:solidFill>
                  <a:srgbClr val="292934"/>
                </a:solidFill>
                <a:latin typeface="Arial"/>
                <a:cs typeface="Arial"/>
              </a:rPr>
              <a:t>lanzamiento</a:t>
            </a:r>
            <a:r>
              <a:rPr sz="2400" b="1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400" i="1" spc="55" dirty="0">
                <a:solidFill>
                  <a:srgbClr val="292934"/>
                </a:solidFill>
                <a:latin typeface="Arial"/>
                <a:cs typeface="Arial"/>
              </a:rPr>
              <a:t>release</a:t>
            </a:r>
            <a:r>
              <a:rPr sz="2400" i="1" spc="6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i="1" spc="55" dirty="0">
                <a:solidFill>
                  <a:srgbClr val="292934"/>
                </a:solidFill>
                <a:latin typeface="Arial"/>
                <a:cs typeface="Arial"/>
              </a:rPr>
              <a:t>notes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r>
              <a:rPr sz="2400" spc="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3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forma</a:t>
            </a:r>
            <a:r>
              <a:rPr sz="24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4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24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40" dirty="0">
                <a:solidFill>
                  <a:srgbClr val="292934"/>
                </a:solidFill>
                <a:latin typeface="Arial MT"/>
                <a:cs typeface="Arial MT"/>
              </a:rPr>
              <a:t>los </a:t>
            </a:r>
            <a:r>
              <a:rPr sz="24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usuarios del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puedan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trabajar evitando estos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defectos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y sabiendo cuándo el uso del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puede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ser</a:t>
            </a:r>
            <a:r>
              <a:rPr sz="24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inadecuado</a:t>
            </a:r>
            <a:r>
              <a:rPr sz="24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para</a:t>
            </a:r>
            <a:r>
              <a:rPr sz="2400" spc="6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algunas</a:t>
            </a:r>
            <a:r>
              <a:rPr sz="24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tareas</a:t>
            </a:r>
            <a:r>
              <a:rPr sz="2400" spc="6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específicas</a:t>
            </a:r>
            <a:r>
              <a:rPr sz="2400" spc="6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(es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decir,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fallos).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322354" y="784402"/>
            <a:ext cx="386715" cy="161290"/>
            <a:chOff x="8322354" y="784402"/>
            <a:chExt cx="386715" cy="161290"/>
          </a:xfrm>
        </p:grpSpPr>
        <p:sp>
          <p:nvSpPr>
            <p:cNvPr id="4" name="object 4"/>
            <p:cNvSpPr/>
            <p:nvPr/>
          </p:nvSpPr>
          <p:spPr>
            <a:xfrm>
              <a:off x="8327116" y="789165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1"/>
                  </a:lnTo>
                  <a:lnTo>
                    <a:pt x="377014" y="151201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327116" y="789165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330207" y="1308570"/>
            <a:ext cx="386715" cy="161290"/>
            <a:chOff x="8330207" y="1308570"/>
            <a:chExt cx="386715" cy="161290"/>
          </a:xfrm>
        </p:grpSpPr>
        <p:sp>
          <p:nvSpPr>
            <p:cNvPr id="7" name="object 7"/>
            <p:cNvSpPr/>
            <p:nvPr/>
          </p:nvSpPr>
          <p:spPr>
            <a:xfrm>
              <a:off x="8334970" y="1313332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6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6" y="151202"/>
                  </a:lnTo>
                  <a:lnTo>
                    <a:pt x="377016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34970" y="1313332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774314" y="576079"/>
            <a:ext cx="728345" cy="611505"/>
            <a:chOff x="8774314" y="576079"/>
            <a:chExt cx="728345" cy="611505"/>
          </a:xfrm>
        </p:grpSpPr>
        <p:sp>
          <p:nvSpPr>
            <p:cNvPr id="10" name="object 10"/>
            <p:cNvSpPr/>
            <p:nvPr/>
          </p:nvSpPr>
          <p:spPr>
            <a:xfrm>
              <a:off x="8892638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4" y="151202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892638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779076" y="832680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266299" y="0"/>
                  </a:moveTo>
                  <a:lnTo>
                    <a:pt x="0" y="0"/>
                  </a:lnTo>
                  <a:lnTo>
                    <a:pt x="0" y="40342"/>
                  </a:lnTo>
                  <a:lnTo>
                    <a:pt x="266299" y="40342"/>
                  </a:lnTo>
                  <a:lnTo>
                    <a:pt x="278077" y="42720"/>
                  </a:lnTo>
                  <a:lnTo>
                    <a:pt x="287695" y="49205"/>
                  </a:lnTo>
                  <a:lnTo>
                    <a:pt x="294179" y="58822"/>
                  </a:lnTo>
                  <a:lnTo>
                    <a:pt x="296557" y="70600"/>
                  </a:lnTo>
                  <a:lnTo>
                    <a:pt x="296557" y="121028"/>
                  </a:lnTo>
                  <a:lnTo>
                    <a:pt x="276386" y="121028"/>
                  </a:lnTo>
                  <a:lnTo>
                    <a:pt x="316729" y="161372"/>
                  </a:lnTo>
                  <a:lnTo>
                    <a:pt x="357071" y="121028"/>
                  </a:lnTo>
                  <a:lnTo>
                    <a:pt x="336900" y="121028"/>
                  </a:lnTo>
                  <a:lnTo>
                    <a:pt x="336900" y="70600"/>
                  </a:lnTo>
                  <a:lnTo>
                    <a:pt x="331352" y="43119"/>
                  </a:lnTo>
                  <a:lnTo>
                    <a:pt x="316222" y="20678"/>
                  </a:lnTo>
                  <a:lnTo>
                    <a:pt x="293780" y="5548"/>
                  </a:lnTo>
                  <a:lnTo>
                    <a:pt x="266299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9076" y="832680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0" y="0"/>
                  </a:moveTo>
                  <a:lnTo>
                    <a:pt x="266299" y="0"/>
                  </a:lnTo>
                  <a:lnTo>
                    <a:pt x="293780" y="5548"/>
                  </a:lnTo>
                  <a:lnTo>
                    <a:pt x="316221" y="20678"/>
                  </a:lnTo>
                  <a:lnTo>
                    <a:pt x="331352" y="43119"/>
                  </a:lnTo>
                  <a:lnTo>
                    <a:pt x="336900" y="70600"/>
                  </a:lnTo>
                  <a:lnTo>
                    <a:pt x="336900" y="121029"/>
                  </a:lnTo>
                  <a:lnTo>
                    <a:pt x="357071" y="121029"/>
                  </a:lnTo>
                  <a:lnTo>
                    <a:pt x="316728" y="161372"/>
                  </a:lnTo>
                  <a:lnTo>
                    <a:pt x="276386" y="121029"/>
                  </a:lnTo>
                  <a:lnTo>
                    <a:pt x="296557" y="121029"/>
                  </a:lnTo>
                  <a:lnTo>
                    <a:pt x="296557" y="70600"/>
                  </a:lnTo>
                  <a:lnTo>
                    <a:pt x="294179" y="58822"/>
                  </a:lnTo>
                  <a:lnTo>
                    <a:pt x="287694" y="49205"/>
                  </a:lnTo>
                  <a:lnTo>
                    <a:pt x="278077" y="42721"/>
                  </a:lnTo>
                  <a:lnTo>
                    <a:pt x="266299" y="40343"/>
                  </a:lnTo>
                  <a:lnTo>
                    <a:pt x="0" y="4034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25422" y="580842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5" y="0"/>
                  </a:moveTo>
                  <a:lnTo>
                    <a:pt x="268288" y="2421"/>
                  </a:lnTo>
                  <a:lnTo>
                    <a:pt x="205216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2"/>
                  </a:lnTo>
                  <a:lnTo>
                    <a:pt x="6826" y="95173"/>
                  </a:lnTo>
                  <a:lnTo>
                    <a:pt x="0" y="119195"/>
                  </a:lnTo>
                  <a:lnTo>
                    <a:pt x="6826" y="143218"/>
                  </a:lnTo>
                  <a:lnTo>
                    <a:pt x="57384" y="185839"/>
                  </a:lnTo>
                  <a:lnTo>
                    <a:pt x="98413" y="203480"/>
                  </a:lnTo>
                  <a:lnTo>
                    <a:pt x="148141" y="218035"/>
                  </a:lnTo>
                  <a:lnTo>
                    <a:pt x="205216" y="229024"/>
                  </a:lnTo>
                  <a:lnTo>
                    <a:pt x="268288" y="235970"/>
                  </a:lnTo>
                  <a:lnTo>
                    <a:pt x="336005" y="238391"/>
                  </a:lnTo>
                  <a:lnTo>
                    <a:pt x="403722" y="235970"/>
                  </a:lnTo>
                  <a:lnTo>
                    <a:pt x="466793" y="229024"/>
                  </a:lnTo>
                  <a:lnTo>
                    <a:pt x="523869" y="218035"/>
                  </a:lnTo>
                  <a:lnTo>
                    <a:pt x="573597" y="203480"/>
                  </a:lnTo>
                  <a:lnTo>
                    <a:pt x="614626" y="185839"/>
                  </a:lnTo>
                  <a:lnTo>
                    <a:pt x="665185" y="143218"/>
                  </a:lnTo>
                  <a:lnTo>
                    <a:pt x="672011" y="119195"/>
                  </a:lnTo>
                  <a:lnTo>
                    <a:pt x="665185" y="95173"/>
                  </a:lnTo>
                  <a:lnTo>
                    <a:pt x="614626" y="52552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25422" y="580842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7"/>
                  </a:lnTo>
                  <a:lnTo>
                    <a:pt x="614627" y="185839"/>
                  </a:lnTo>
                  <a:lnTo>
                    <a:pt x="573597" y="203479"/>
                  </a:lnTo>
                  <a:lnTo>
                    <a:pt x="523869" y="218034"/>
                  </a:lnTo>
                  <a:lnTo>
                    <a:pt x="466794" y="229024"/>
                  </a:lnTo>
                  <a:lnTo>
                    <a:pt x="403722" y="235970"/>
                  </a:lnTo>
                  <a:lnTo>
                    <a:pt x="336005" y="238391"/>
                  </a:lnTo>
                  <a:lnTo>
                    <a:pt x="268288" y="235970"/>
                  </a:lnTo>
                  <a:lnTo>
                    <a:pt x="205217" y="229024"/>
                  </a:lnTo>
                  <a:lnTo>
                    <a:pt x="148141" y="218034"/>
                  </a:lnTo>
                  <a:lnTo>
                    <a:pt x="98413" y="203479"/>
                  </a:lnTo>
                  <a:lnTo>
                    <a:pt x="57384" y="185839"/>
                  </a:lnTo>
                  <a:lnTo>
                    <a:pt x="6826" y="143217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7505077" y="1039765"/>
            <a:ext cx="728980" cy="638175"/>
            <a:chOff x="7505077" y="1039765"/>
            <a:chExt cx="728980" cy="638175"/>
          </a:xfrm>
        </p:grpSpPr>
        <p:sp>
          <p:nvSpPr>
            <p:cNvPr id="17" name="object 17"/>
            <p:cNvSpPr/>
            <p:nvPr/>
          </p:nvSpPr>
          <p:spPr>
            <a:xfrm>
              <a:off x="7730177" y="1044528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4" y="151202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7730177" y="1044528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871124" y="1249559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40344" y="0"/>
                  </a:moveTo>
                  <a:lnTo>
                    <a:pt x="0" y="40342"/>
                  </a:lnTo>
                  <a:lnTo>
                    <a:pt x="20171" y="40342"/>
                  </a:lnTo>
                  <a:lnTo>
                    <a:pt x="20171" y="90771"/>
                  </a:lnTo>
                  <a:lnTo>
                    <a:pt x="25719" y="118252"/>
                  </a:lnTo>
                  <a:lnTo>
                    <a:pt x="40849" y="140693"/>
                  </a:lnTo>
                  <a:lnTo>
                    <a:pt x="63291" y="155823"/>
                  </a:lnTo>
                  <a:lnTo>
                    <a:pt x="90771" y="161371"/>
                  </a:lnTo>
                  <a:lnTo>
                    <a:pt x="358126" y="161371"/>
                  </a:lnTo>
                  <a:lnTo>
                    <a:pt x="358126" y="121028"/>
                  </a:lnTo>
                  <a:lnTo>
                    <a:pt x="90771" y="121028"/>
                  </a:lnTo>
                  <a:lnTo>
                    <a:pt x="78994" y="118650"/>
                  </a:lnTo>
                  <a:lnTo>
                    <a:pt x="69377" y="112166"/>
                  </a:lnTo>
                  <a:lnTo>
                    <a:pt x="62893" y="102549"/>
                  </a:lnTo>
                  <a:lnTo>
                    <a:pt x="60515" y="90771"/>
                  </a:lnTo>
                  <a:lnTo>
                    <a:pt x="60515" y="40342"/>
                  </a:lnTo>
                  <a:lnTo>
                    <a:pt x="80685" y="40342"/>
                  </a:lnTo>
                  <a:lnTo>
                    <a:pt x="40344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71124" y="1249558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358126" y="161371"/>
                  </a:moveTo>
                  <a:lnTo>
                    <a:pt x="90771" y="161371"/>
                  </a:lnTo>
                  <a:lnTo>
                    <a:pt x="63291" y="155823"/>
                  </a:lnTo>
                  <a:lnTo>
                    <a:pt x="40850" y="140693"/>
                  </a:lnTo>
                  <a:lnTo>
                    <a:pt x="25719" y="118252"/>
                  </a:lnTo>
                  <a:lnTo>
                    <a:pt x="20171" y="90771"/>
                  </a:lnTo>
                  <a:lnTo>
                    <a:pt x="20171" y="40342"/>
                  </a:lnTo>
                  <a:lnTo>
                    <a:pt x="0" y="40342"/>
                  </a:lnTo>
                  <a:lnTo>
                    <a:pt x="40343" y="0"/>
                  </a:lnTo>
                  <a:lnTo>
                    <a:pt x="80685" y="40342"/>
                  </a:lnTo>
                  <a:lnTo>
                    <a:pt x="60514" y="40342"/>
                  </a:lnTo>
                  <a:lnTo>
                    <a:pt x="60514" y="90771"/>
                  </a:lnTo>
                  <a:lnTo>
                    <a:pt x="62892" y="102549"/>
                  </a:lnTo>
                  <a:lnTo>
                    <a:pt x="69376" y="112167"/>
                  </a:lnTo>
                  <a:lnTo>
                    <a:pt x="78994" y="118651"/>
                  </a:lnTo>
                  <a:lnTo>
                    <a:pt x="90771" y="121029"/>
                  </a:lnTo>
                  <a:lnTo>
                    <a:pt x="358126" y="121029"/>
                  </a:lnTo>
                  <a:lnTo>
                    <a:pt x="358126" y="161371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509840" y="143415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336005" y="0"/>
                  </a:moveTo>
                  <a:lnTo>
                    <a:pt x="268288" y="2421"/>
                  </a:lnTo>
                  <a:lnTo>
                    <a:pt x="205217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2"/>
                  </a:lnTo>
                  <a:lnTo>
                    <a:pt x="6826" y="95173"/>
                  </a:lnTo>
                  <a:lnTo>
                    <a:pt x="0" y="119195"/>
                  </a:lnTo>
                  <a:lnTo>
                    <a:pt x="6826" y="143218"/>
                  </a:lnTo>
                  <a:lnTo>
                    <a:pt x="57384" y="185839"/>
                  </a:lnTo>
                  <a:lnTo>
                    <a:pt x="98413" y="203480"/>
                  </a:lnTo>
                  <a:lnTo>
                    <a:pt x="148141" y="218035"/>
                  </a:lnTo>
                  <a:lnTo>
                    <a:pt x="205217" y="229024"/>
                  </a:lnTo>
                  <a:lnTo>
                    <a:pt x="268288" y="235970"/>
                  </a:lnTo>
                  <a:lnTo>
                    <a:pt x="336005" y="238391"/>
                  </a:lnTo>
                  <a:lnTo>
                    <a:pt x="403722" y="235970"/>
                  </a:lnTo>
                  <a:lnTo>
                    <a:pt x="466793" y="229024"/>
                  </a:lnTo>
                  <a:lnTo>
                    <a:pt x="523869" y="218035"/>
                  </a:lnTo>
                  <a:lnTo>
                    <a:pt x="573597" y="203480"/>
                  </a:lnTo>
                  <a:lnTo>
                    <a:pt x="614626" y="185839"/>
                  </a:lnTo>
                  <a:lnTo>
                    <a:pt x="665185" y="143218"/>
                  </a:lnTo>
                  <a:lnTo>
                    <a:pt x="672011" y="119195"/>
                  </a:lnTo>
                  <a:lnTo>
                    <a:pt x="665185" y="95173"/>
                  </a:lnTo>
                  <a:lnTo>
                    <a:pt x="614626" y="52552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09840" y="143415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7"/>
                  </a:lnTo>
                  <a:lnTo>
                    <a:pt x="614627" y="185839"/>
                  </a:lnTo>
                  <a:lnTo>
                    <a:pt x="573597" y="203480"/>
                  </a:lnTo>
                  <a:lnTo>
                    <a:pt x="523869" y="218035"/>
                  </a:lnTo>
                  <a:lnTo>
                    <a:pt x="466794" y="229024"/>
                  </a:lnTo>
                  <a:lnTo>
                    <a:pt x="403722" y="235970"/>
                  </a:lnTo>
                  <a:lnTo>
                    <a:pt x="336005" y="238392"/>
                  </a:lnTo>
                  <a:lnTo>
                    <a:pt x="268288" y="235970"/>
                  </a:lnTo>
                  <a:lnTo>
                    <a:pt x="205217" y="229024"/>
                  </a:lnTo>
                  <a:lnTo>
                    <a:pt x="148141" y="218035"/>
                  </a:lnTo>
                  <a:lnTo>
                    <a:pt x="98413" y="203480"/>
                  </a:lnTo>
                  <a:lnTo>
                    <a:pt x="57384" y="185839"/>
                  </a:lnTo>
                  <a:lnTo>
                    <a:pt x="6826" y="143217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7495596" y="589527"/>
            <a:ext cx="738505" cy="400050"/>
            <a:chOff x="7495596" y="589527"/>
            <a:chExt cx="738505" cy="400050"/>
          </a:xfrm>
        </p:grpSpPr>
        <p:sp>
          <p:nvSpPr>
            <p:cNvPr id="24" name="object 24"/>
            <p:cNvSpPr/>
            <p:nvPr/>
          </p:nvSpPr>
          <p:spPr>
            <a:xfrm>
              <a:off x="7895351" y="826568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294472" y="0"/>
                  </a:moveTo>
                  <a:lnTo>
                    <a:pt x="294472" y="19712"/>
                  </a:lnTo>
                  <a:lnTo>
                    <a:pt x="68995" y="19712"/>
                  </a:lnTo>
                  <a:lnTo>
                    <a:pt x="42139" y="25135"/>
                  </a:lnTo>
                  <a:lnTo>
                    <a:pt x="20208" y="39921"/>
                  </a:lnTo>
                  <a:lnTo>
                    <a:pt x="5421" y="61853"/>
                  </a:lnTo>
                  <a:lnTo>
                    <a:pt x="0" y="88709"/>
                  </a:lnTo>
                  <a:lnTo>
                    <a:pt x="0" y="157704"/>
                  </a:lnTo>
                  <a:lnTo>
                    <a:pt x="39425" y="157704"/>
                  </a:lnTo>
                  <a:lnTo>
                    <a:pt x="39425" y="88709"/>
                  </a:lnTo>
                  <a:lnTo>
                    <a:pt x="41749" y="77198"/>
                  </a:lnTo>
                  <a:lnTo>
                    <a:pt x="48086" y="67799"/>
                  </a:lnTo>
                  <a:lnTo>
                    <a:pt x="57485" y="61462"/>
                  </a:lnTo>
                  <a:lnTo>
                    <a:pt x="68995" y="59138"/>
                  </a:lnTo>
                  <a:lnTo>
                    <a:pt x="294472" y="59138"/>
                  </a:lnTo>
                  <a:lnTo>
                    <a:pt x="294472" y="78851"/>
                  </a:lnTo>
                  <a:lnTo>
                    <a:pt x="333898" y="39425"/>
                  </a:lnTo>
                  <a:lnTo>
                    <a:pt x="294472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895350" y="826568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0" y="157704"/>
                  </a:moveTo>
                  <a:lnTo>
                    <a:pt x="0" y="88709"/>
                  </a:lnTo>
                  <a:lnTo>
                    <a:pt x="5422" y="61852"/>
                  </a:lnTo>
                  <a:lnTo>
                    <a:pt x="20208" y="39921"/>
                  </a:lnTo>
                  <a:lnTo>
                    <a:pt x="42139" y="25134"/>
                  </a:lnTo>
                  <a:lnTo>
                    <a:pt x="68995" y="19712"/>
                  </a:lnTo>
                  <a:lnTo>
                    <a:pt x="294472" y="19712"/>
                  </a:lnTo>
                  <a:lnTo>
                    <a:pt x="294472" y="0"/>
                  </a:lnTo>
                  <a:lnTo>
                    <a:pt x="333898" y="39426"/>
                  </a:lnTo>
                  <a:lnTo>
                    <a:pt x="294472" y="78851"/>
                  </a:lnTo>
                  <a:lnTo>
                    <a:pt x="294472" y="59139"/>
                  </a:lnTo>
                  <a:lnTo>
                    <a:pt x="68995" y="59139"/>
                  </a:lnTo>
                  <a:lnTo>
                    <a:pt x="57485" y="61462"/>
                  </a:lnTo>
                  <a:lnTo>
                    <a:pt x="48086" y="67799"/>
                  </a:lnTo>
                  <a:lnTo>
                    <a:pt x="41749" y="77199"/>
                  </a:lnTo>
                  <a:lnTo>
                    <a:pt x="39426" y="88709"/>
                  </a:lnTo>
                  <a:lnTo>
                    <a:pt x="39426" y="157704"/>
                  </a:lnTo>
                  <a:lnTo>
                    <a:pt x="0" y="157704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500359" y="594290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6" y="0"/>
                  </a:moveTo>
                  <a:lnTo>
                    <a:pt x="268289" y="2421"/>
                  </a:lnTo>
                  <a:lnTo>
                    <a:pt x="205217" y="9366"/>
                  </a:lnTo>
                  <a:lnTo>
                    <a:pt x="148142" y="20356"/>
                  </a:lnTo>
                  <a:lnTo>
                    <a:pt x="98414" y="34911"/>
                  </a:lnTo>
                  <a:lnTo>
                    <a:pt x="57384" y="52551"/>
                  </a:lnTo>
                  <a:lnTo>
                    <a:pt x="6826" y="95172"/>
                  </a:lnTo>
                  <a:lnTo>
                    <a:pt x="0" y="119194"/>
                  </a:lnTo>
                  <a:lnTo>
                    <a:pt x="6826" y="143216"/>
                  </a:lnTo>
                  <a:lnTo>
                    <a:pt x="57384" y="185837"/>
                  </a:lnTo>
                  <a:lnTo>
                    <a:pt x="98414" y="203478"/>
                  </a:lnTo>
                  <a:lnTo>
                    <a:pt x="148142" y="218033"/>
                  </a:lnTo>
                  <a:lnTo>
                    <a:pt x="205217" y="229023"/>
                  </a:lnTo>
                  <a:lnTo>
                    <a:pt x="268289" y="235968"/>
                  </a:lnTo>
                  <a:lnTo>
                    <a:pt x="336006" y="238390"/>
                  </a:lnTo>
                  <a:lnTo>
                    <a:pt x="403723" y="235968"/>
                  </a:lnTo>
                  <a:lnTo>
                    <a:pt x="466795" y="229023"/>
                  </a:lnTo>
                  <a:lnTo>
                    <a:pt x="523870" y="218033"/>
                  </a:lnTo>
                  <a:lnTo>
                    <a:pt x="573598" y="203478"/>
                  </a:lnTo>
                  <a:lnTo>
                    <a:pt x="614627" y="185837"/>
                  </a:lnTo>
                  <a:lnTo>
                    <a:pt x="665185" y="143216"/>
                  </a:lnTo>
                  <a:lnTo>
                    <a:pt x="672011" y="119194"/>
                  </a:lnTo>
                  <a:lnTo>
                    <a:pt x="665185" y="95172"/>
                  </a:lnTo>
                  <a:lnTo>
                    <a:pt x="614627" y="52551"/>
                  </a:lnTo>
                  <a:lnTo>
                    <a:pt x="573598" y="34911"/>
                  </a:lnTo>
                  <a:lnTo>
                    <a:pt x="523870" y="20356"/>
                  </a:lnTo>
                  <a:lnTo>
                    <a:pt x="466795" y="9366"/>
                  </a:lnTo>
                  <a:lnTo>
                    <a:pt x="403723" y="2421"/>
                  </a:lnTo>
                  <a:lnTo>
                    <a:pt x="336006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00359" y="594290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6"/>
                  </a:lnTo>
                  <a:lnTo>
                    <a:pt x="614627" y="185837"/>
                  </a:lnTo>
                  <a:lnTo>
                    <a:pt x="573597" y="203478"/>
                  </a:lnTo>
                  <a:lnTo>
                    <a:pt x="523869" y="218033"/>
                  </a:lnTo>
                  <a:lnTo>
                    <a:pt x="466794" y="229023"/>
                  </a:lnTo>
                  <a:lnTo>
                    <a:pt x="403722" y="235968"/>
                  </a:lnTo>
                  <a:lnTo>
                    <a:pt x="336005" y="238390"/>
                  </a:lnTo>
                  <a:lnTo>
                    <a:pt x="268288" y="235968"/>
                  </a:lnTo>
                  <a:lnTo>
                    <a:pt x="205217" y="229023"/>
                  </a:lnTo>
                  <a:lnTo>
                    <a:pt x="148141" y="218033"/>
                  </a:lnTo>
                  <a:lnTo>
                    <a:pt x="98413" y="203478"/>
                  </a:lnTo>
                  <a:lnTo>
                    <a:pt x="57384" y="185837"/>
                  </a:lnTo>
                  <a:lnTo>
                    <a:pt x="6826" y="143216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8785900" y="1250909"/>
            <a:ext cx="716915" cy="430530"/>
            <a:chOff x="8785900" y="1250909"/>
            <a:chExt cx="716915" cy="430530"/>
          </a:xfrm>
        </p:grpSpPr>
        <p:sp>
          <p:nvSpPr>
            <p:cNvPr id="29" name="object 29"/>
            <p:cNvSpPr/>
            <p:nvPr/>
          </p:nvSpPr>
          <p:spPr>
            <a:xfrm>
              <a:off x="8798037" y="1255670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9" y="0"/>
                  </a:moveTo>
                  <a:lnTo>
                    <a:pt x="294168" y="0"/>
                  </a:lnTo>
                  <a:lnTo>
                    <a:pt x="294168" y="69531"/>
                  </a:lnTo>
                  <a:lnTo>
                    <a:pt x="291826" y="81129"/>
                  </a:lnTo>
                  <a:lnTo>
                    <a:pt x="285440" y="90601"/>
                  </a:lnTo>
                  <a:lnTo>
                    <a:pt x="275968" y="96987"/>
                  </a:lnTo>
                  <a:lnTo>
                    <a:pt x="264369" y="99329"/>
                  </a:lnTo>
                  <a:lnTo>
                    <a:pt x="39731" y="99329"/>
                  </a:lnTo>
                  <a:lnTo>
                    <a:pt x="39731" y="79463"/>
                  </a:lnTo>
                  <a:lnTo>
                    <a:pt x="0" y="119195"/>
                  </a:lnTo>
                  <a:lnTo>
                    <a:pt x="39731" y="158927"/>
                  </a:lnTo>
                  <a:lnTo>
                    <a:pt x="39731" y="139061"/>
                  </a:lnTo>
                  <a:lnTo>
                    <a:pt x="264369" y="139062"/>
                  </a:lnTo>
                  <a:lnTo>
                    <a:pt x="291434" y="133598"/>
                  </a:lnTo>
                  <a:lnTo>
                    <a:pt x="313534" y="118697"/>
                  </a:lnTo>
                  <a:lnTo>
                    <a:pt x="328435" y="96595"/>
                  </a:lnTo>
                  <a:lnTo>
                    <a:pt x="333899" y="69531"/>
                  </a:lnTo>
                  <a:lnTo>
                    <a:pt x="333899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798037" y="1255671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9" y="0"/>
                  </a:moveTo>
                  <a:lnTo>
                    <a:pt x="333899" y="69530"/>
                  </a:lnTo>
                  <a:lnTo>
                    <a:pt x="328435" y="96595"/>
                  </a:lnTo>
                  <a:lnTo>
                    <a:pt x="313534" y="118696"/>
                  </a:lnTo>
                  <a:lnTo>
                    <a:pt x="291433" y="133597"/>
                  </a:lnTo>
                  <a:lnTo>
                    <a:pt x="264369" y="139062"/>
                  </a:lnTo>
                  <a:lnTo>
                    <a:pt x="39731" y="139061"/>
                  </a:lnTo>
                  <a:lnTo>
                    <a:pt x="39731" y="158927"/>
                  </a:lnTo>
                  <a:lnTo>
                    <a:pt x="0" y="119194"/>
                  </a:lnTo>
                  <a:lnTo>
                    <a:pt x="39731" y="79462"/>
                  </a:lnTo>
                  <a:lnTo>
                    <a:pt x="39731" y="99329"/>
                  </a:lnTo>
                  <a:lnTo>
                    <a:pt x="264369" y="99329"/>
                  </a:lnTo>
                  <a:lnTo>
                    <a:pt x="275968" y="96987"/>
                  </a:lnTo>
                  <a:lnTo>
                    <a:pt x="285440" y="90601"/>
                  </a:lnTo>
                  <a:lnTo>
                    <a:pt x="291826" y="81129"/>
                  </a:lnTo>
                  <a:lnTo>
                    <a:pt x="294168" y="69530"/>
                  </a:lnTo>
                  <a:lnTo>
                    <a:pt x="294168" y="0"/>
                  </a:lnTo>
                  <a:lnTo>
                    <a:pt x="333899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90662" y="1437826"/>
              <a:ext cx="707390" cy="238760"/>
            </a:xfrm>
            <a:custGeom>
              <a:avLst/>
              <a:gdLst/>
              <a:ahLst/>
              <a:cxnLst/>
              <a:rect l="l" t="t" r="r" b="b"/>
              <a:pathLst>
                <a:path w="707390" h="238760">
                  <a:moveTo>
                    <a:pt x="353386" y="0"/>
                  </a:moveTo>
                  <a:lnTo>
                    <a:pt x="282166" y="2421"/>
                  </a:lnTo>
                  <a:lnTo>
                    <a:pt x="215832" y="9366"/>
                  </a:lnTo>
                  <a:lnTo>
                    <a:pt x="155804" y="20356"/>
                  </a:lnTo>
                  <a:lnTo>
                    <a:pt x="103504" y="34911"/>
                  </a:lnTo>
                  <a:lnTo>
                    <a:pt x="60352" y="52552"/>
                  </a:lnTo>
                  <a:lnTo>
                    <a:pt x="27770" y="72799"/>
                  </a:lnTo>
                  <a:lnTo>
                    <a:pt x="0" y="119195"/>
                  </a:lnTo>
                  <a:lnTo>
                    <a:pt x="7179" y="143217"/>
                  </a:lnTo>
                  <a:lnTo>
                    <a:pt x="60352" y="185838"/>
                  </a:lnTo>
                  <a:lnTo>
                    <a:pt x="103504" y="203479"/>
                  </a:lnTo>
                  <a:lnTo>
                    <a:pt x="155804" y="218033"/>
                  </a:lnTo>
                  <a:lnTo>
                    <a:pt x="215832" y="229023"/>
                  </a:lnTo>
                  <a:lnTo>
                    <a:pt x="282166" y="235968"/>
                  </a:lnTo>
                  <a:lnTo>
                    <a:pt x="353386" y="238390"/>
                  </a:lnTo>
                  <a:lnTo>
                    <a:pt x="424605" y="235968"/>
                  </a:lnTo>
                  <a:lnTo>
                    <a:pt x="490940" y="229023"/>
                  </a:lnTo>
                  <a:lnTo>
                    <a:pt x="550967" y="218033"/>
                  </a:lnTo>
                  <a:lnTo>
                    <a:pt x="603267" y="203479"/>
                  </a:lnTo>
                  <a:lnTo>
                    <a:pt x="646419" y="185838"/>
                  </a:lnTo>
                  <a:lnTo>
                    <a:pt x="679000" y="165591"/>
                  </a:lnTo>
                  <a:lnTo>
                    <a:pt x="706771" y="119195"/>
                  </a:lnTo>
                  <a:lnTo>
                    <a:pt x="699592" y="95173"/>
                  </a:lnTo>
                  <a:lnTo>
                    <a:pt x="646419" y="52552"/>
                  </a:lnTo>
                  <a:lnTo>
                    <a:pt x="603267" y="34911"/>
                  </a:lnTo>
                  <a:lnTo>
                    <a:pt x="550967" y="20356"/>
                  </a:lnTo>
                  <a:lnTo>
                    <a:pt x="490940" y="9366"/>
                  </a:lnTo>
                  <a:lnTo>
                    <a:pt x="424605" y="2421"/>
                  </a:lnTo>
                  <a:lnTo>
                    <a:pt x="353386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90662" y="1437826"/>
              <a:ext cx="707390" cy="238760"/>
            </a:xfrm>
            <a:custGeom>
              <a:avLst/>
              <a:gdLst/>
              <a:ahLst/>
              <a:cxnLst/>
              <a:rect l="l" t="t" r="r" b="b"/>
              <a:pathLst>
                <a:path w="707390" h="238760">
                  <a:moveTo>
                    <a:pt x="0" y="119195"/>
                  </a:moveTo>
                  <a:lnTo>
                    <a:pt x="27770" y="72798"/>
                  </a:lnTo>
                  <a:lnTo>
                    <a:pt x="60352" y="52551"/>
                  </a:lnTo>
                  <a:lnTo>
                    <a:pt x="103504" y="34911"/>
                  </a:lnTo>
                  <a:lnTo>
                    <a:pt x="155804" y="20356"/>
                  </a:lnTo>
                  <a:lnTo>
                    <a:pt x="215832" y="9366"/>
                  </a:lnTo>
                  <a:lnTo>
                    <a:pt x="282166" y="2421"/>
                  </a:lnTo>
                  <a:lnTo>
                    <a:pt x="353386" y="0"/>
                  </a:lnTo>
                  <a:lnTo>
                    <a:pt x="424605" y="2421"/>
                  </a:lnTo>
                  <a:lnTo>
                    <a:pt x="490939" y="9366"/>
                  </a:lnTo>
                  <a:lnTo>
                    <a:pt x="550967" y="20356"/>
                  </a:lnTo>
                  <a:lnTo>
                    <a:pt x="603267" y="34911"/>
                  </a:lnTo>
                  <a:lnTo>
                    <a:pt x="646418" y="52551"/>
                  </a:lnTo>
                  <a:lnTo>
                    <a:pt x="679000" y="72798"/>
                  </a:lnTo>
                  <a:lnTo>
                    <a:pt x="706771" y="119195"/>
                  </a:lnTo>
                  <a:lnTo>
                    <a:pt x="699592" y="143216"/>
                  </a:lnTo>
                  <a:lnTo>
                    <a:pt x="646418" y="185837"/>
                  </a:lnTo>
                  <a:lnTo>
                    <a:pt x="603267" y="203478"/>
                  </a:lnTo>
                  <a:lnTo>
                    <a:pt x="550967" y="218033"/>
                  </a:lnTo>
                  <a:lnTo>
                    <a:pt x="490939" y="229023"/>
                  </a:lnTo>
                  <a:lnTo>
                    <a:pt x="424605" y="235968"/>
                  </a:lnTo>
                  <a:lnTo>
                    <a:pt x="353386" y="238390"/>
                  </a:lnTo>
                  <a:lnTo>
                    <a:pt x="282166" y="235968"/>
                  </a:lnTo>
                  <a:lnTo>
                    <a:pt x="215832" y="229023"/>
                  </a:lnTo>
                  <a:lnTo>
                    <a:pt x="155804" y="218033"/>
                  </a:lnTo>
                  <a:lnTo>
                    <a:pt x="103504" y="203478"/>
                  </a:lnTo>
                  <a:lnTo>
                    <a:pt x="60352" y="185837"/>
                  </a:lnTo>
                  <a:lnTo>
                    <a:pt x="27770" y="165591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1309023" y="565035"/>
            <a:ext cx="468439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/>
              <a:t>Puest</a:t>
            </a:r>
            <a:r>
              <a:rPr sz="4000" dirty="0"/>
              <a:t>a</a:t>
            </a:r>
            <a:r>
              <a:rPr sz="4000" spc="-200" dirty="0"/>
              <a:t> </a:t>
            </a:r>
            <a:r>
              <a:rPr sz="4000" spc="-105" dirty="0"/>
              <a:t>e</a:t>
            </a:r>
            <a:r>
              <a:rPr sz="4000" dirty="0"/>
              <a:t>n</a:t>
            </a:r>
            <a:r>
              <a:rPr sz="4000" spc="-204" dirty="0"/>
              <a:t> </a:t>
            </a:r>
            <a:r>
              <a:rPr sz="4000" spc="-105" dirty="0"/>
              <a:t>producción</a:t>
            </a:r>
            <a:endParaRPr sz="400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8</a:t>
            </a:fld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023" y="565035"/>
            <a:ext cx="440563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Notificació</a:t>
            </a:r>
            <a:r>
              <a:rPr sz="4000" dirty="0"/>
              <a:t>n</a:t>
            </a:r>
            <a:r>
              <a:rPr sz="4000" spc="-200" dirty="0"/>
              <a:t> </a:t>
            </a:r>
            <a:r>
              <a:rPr sz="4000" spc="-105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0" dirty="0"/>
              <a:t>fallos</a:t>
            </a:r>
            <a:endParaRPr sz="4000"/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58223" y="2092848"/>
            <a:ext cx="7812405" cy="1595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algn="just">
              <a:lnSpc>
                <a:spcPts val="3000"/>
              </a:lnSpc>
              <a:spcBef>
                <a:spcPts val="500"/>
              </a:spcBef>
            </a:pPr>
            <a:r>
              <a:rPr sz="2800" spc="40" dirty="0">
                <a:solidFill>
                  <a:srgbClr val="292934"/>
                </a:solidFill>
                <a:latin typeface="Arial MT"/>
                <a:cs typeface="Arial MT"/>
              </a:rPr>
              <a:t>Con</a:t>
            </a:r>
            <a:r>
              <a:rPr sz="28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3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8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92934"/>
                </a:solidFill>
                <a:latin typeface="Arial MT"/>
                <a:cs typeface="Arial MT"/>
              </a:rPr>
              <a:t>lanzamiento</a:t>
            </a:r>
            <a:r>
              <a:rPr sz="28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40" dirty="0">
                <a:solidFill>
                  <a:srgbClr val="292934"/>
                </a:solidFill>
                <a:latin typeface="Arial MT"/>
                <a:cs typeface="Arial MT"/>
              </a:rPr>
              <a:t>del</a:t>
            </a:r>
            <a:r>
              <a:rPr sz="28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800" spc="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60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800" i="1" spc="60" dirty="0">
                <a:solidFill>
                  <a:srgbClr val="363744"/>
                </a:solidFill>
                <a:latin typeface="Arial"/>
                <a:cs typeface="Arial"/>
              </a:rPr>
              <a:t>software </a:t>
            </a:r>
            <a:r>
              <a:rPr sz="2800" i="1" spc="65" dirty="0">
                <a:solidFill>
                  <a:srgbClr val="363744"/>
                </a:solidFill>
                <a:latin typeface="Arial"/>
                <a:cs typeface="Arial"/>
              </a:rPr>
              <a:t> </a:t>
            </a:r>
            <a:r>
              <a:rPr sz="2800" i="1" spc="-5" dirty="0">
                <a:solidFill>
                  <a:srgbClr val="292934"/>
                </a:solidFill>
                <a:latin typeface="Arial"/>
                <a:cs typeface="Arial"/>
              </a:rPr>
              <a:t>release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),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los usuarios del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descubrirán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nuevos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fallos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no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documentados,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y los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notificarán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al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desarrollador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del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software.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22354" y="784401"/>
            <a:ext cx="386715" cy="161290"/>
            <a:chOff x="8322354" y="784401"/>
            <a:chExt cx="386715" cy="161290"/>
          </a:xfrm>
        </p:grpSpPr>
        <p:sp>
          <p:nvSpPr>
            <p:cNvPr id="5" name="object 5"/>
            <p:cNvSpPr/>
            <p:nvPr/>
          </p:nvSpPr>
          <p:spPr>
            <a:xfrm>
              <a:off x="8327116" y="789164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3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3" y="151202"/>
                  </a:lnTo>
                  <a:lnTo>
                    <a:pt x="377013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27116" y="789164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330207" y="1308568"/>
            <a:ext cx="386715" cy="161290"/>
            <a:chOff x="8330207" y="1308568"/>
            <a:chExt cx="386715" cy="161290"/>
          </a:xfrm>
        </p:grpSpPr>
        <p:sp>
          <p:nvSpPr>
            <p:cNvPr id="8" name="object 8"/>
            <p:cNvSpPr/>
            <p:nvPr/>
          </p:nvSpPr>
          <p:spPr>
            <a:xfrm>
              <a:off x="8334970" y="1313331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4" y="151202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34970" y="1313331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2"/>
                  </a:lnTo>
                  <a:lnTo>
                    <a:pt x="0" y="1512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774314" y="563566"/>
            <a:ext cx="740410" cy="623570"/>
            <a:chOff x="8774314" y="563566"/>
            <a:chExt cx="740410" cy="623570"/>
          </a:xfrm>
        </p:grpSpPr>
        <p:sp>
          <p:nvSpPr>
            <p:cNvPr id="11" name="object 11"/>
            <p:cNvSpPr/>
            <p:nvPr/>
          </p:nvSpPr>
          <p:spPr>
            <a:xfrm>
              <a:off x="8892636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4" y="151202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92635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2"/>
                  </a:lnTo>
                  <a:lnTo>
                    <a:pt x="0" y="1512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9076" y="832679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266299" y="0"/>
                  </a:moveTo>
                  <a:lnTo>
                    <a:pt x="0" y="0"/>
                  </a:lnTo>
                  <a:lnTo>
                    <a:pt x="0" y="40342"/>
                  </a:lnTo>
                  <a:lnTo>
                    <a:pt x="266299" y="40342"/>
                  </a:lnTo>
                  <a:lnTo>
                    <a:pt x="278077" y="42720"/>
                  </a:lnTo>
                  <a:lnTo>
                    <a:pt x="287695" y="49205"/>
                  </a:lnTo>
                  <a:lnTo>
                    <a:pt x="294179" y="58822"/>
                  </a:lnTo>
                  <a:lnTo>
                    <a:pt x="296557" y="70600"/>
                  </a:lnTo>
                  <a:lnTo>
                    <a:pt x="296557" y="121029"/>
                  </a:lnTo>
                  <a:lnTo>
                    <a:pt x="276386" y="121029"/>
                  </a:lnTo>
                  <a:lnTo>
                    <a:pt x="316729" y="161372"/>
                  </a:lnTo>
                  <a:lnTo>
                    <a:pt x="357071" y="121029"/>
                  </a:lnTo>
                  <a:lnTo>
                    <a:pt x="336900" y="121029"/>
                  </a:lnTo>
                  <a:lnTo>
                    <a:pt x="336900" y="70600"/>
                  </a:lnTo>
                  <a:lnTo>
                    <a:pt x="331352" y="43119"/>
                  </a:lnTo>
                  <a:lnTo>
                    <a:pt x="316222" y="20678"/>
                  </a:lnTo>
                  <a:lnTo>
                    <a:pt x="293780" y="5548"/>
                  </a:lnTo>
                  <a:lnTo>
                    <a:pt x="266299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79076" y="832679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0" y="0"/>
                  </a:moveTo>
                  <a:lnTo>
                    <a:pt x="266299" y="0"/>
                  </a:lnTo>
                  <a:lnTo>
                    <a:pt x="293780" y="5548"/>
                  </a:lnTo>
                  <a:lnTo>
                    <a:pt x="316221" y="20678"/>
                  </a:lnTo>
                  <a:lnTo>
                    <a:pt x="331352" y="43119"/>
                  </a:lnTo>
                  <a:lnTo>
                    <a:pt x="336900" y="70600"/>
                  </a:lnTo>
                  <a:lnTo>
                    <a:pt x="336900" y="121028"/>
                  </a:lnTo>
                  <a:lnTo>
                    <a:pt x="357071" y="121028"/>
                  </a:lnTo>
                  <a:lnTo>
                    <a:pt x="316728" y="161372"/>
                  </a:lnTo>
                  <a:lnTo>
                    <a:pt x="276386" y="121028"/>
                  </a:lnTo>
                  <a:lnTo>
                    <a:pt x="296557" y="121028"/>
                  </a:lnTo>
                  <a:lnTo>
                    <a:pt x="296557" y="70600"/>
                  </a:lnTo>
                  <a:lnTo>
                    <a:pt x="294179" y="58822"/>
                  </a:lnTo>
                  <a:lnTo>
                    <a:pt x="287694" y="49205"/>
                  </a:lnTo>
                  <a:lnTo>
                    <a:pt x="278077" y="42721"/>
                  </a:lnTo>
                  <a:lnTo>
                    <a:pt x="266299" y="40343"/>
                  </a:lnTo>
                  <a:lnTo>
                    <a:pt x="0" y="4034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37783" y="56832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5" y="0"/>
                  </a:moveTo>
                  <a:lnTo>
                    <a:pt x="268288" y="2421"/>
                  </a:lnTo>
                  <a:lnTo>
                    <a:pt x="205217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1"/>
                  </a:lnTo>
                  <a:lnTo>
                    <a:pt x="6826" y="95172"/>
                  </a:lnTo>
                  <a:lnTo>
                    <a:pt x="0" y="119194"/>
                  </a:lnTo>
                  <a:lnTo>
                    <a:pt x="6826" y="143216"/>
                  </a:lnTo>
                  <a:lnTo>
                    <a:pt x="57384" y="185838"/>
                  </a:lnTo>
                  <a:lnTo>
                    <a:pt x="98413" y="203478"/>
                  </a:lnTo>
                  <a:lnTo>
                    <a:pt x="148141" y="218033"/>
                  </a:lnTo>
                  <a:lnTo>
                    <a:pt x="205217" y="229023"/>
                  </a:lnTo>
                  <a:lnTo>
                    <a:pt x="268288" y="235968"/>
                  </a:lnTo>
                  <a:lnTo>
                    <a:pt x="336005" y="238390"/>
                  </a:lnTo>
                  <a:lnTo>
                    <a:pt x="403722" y="235968"/>
                  </a:lnTo>
                  <a:lnTo>
                    <a:pt x="466793" y="229023"/>
                  </a:lnTo>
                  <a:lnTo>
                    <a:pt x="523869" y="218033"/>
                  </a:lnTo>
                  <a:lnTo>
                    <a:pt x="573597" y="203478"/>
                  </a:lnTo>
                  <a:lnTo>
                    <a:pt x="614626" y="185838"/>
                  </a:lnTo>
                  <a:lnTo>
                    <a:pt x="665185" y="143216"/>
                  </a:lnTo>
                  <a:lnTo>
                    <a:pt x="672011" y="119194"/>
                  </a:lnTo>
                  <a:lnTo>
                    <a:pt x="665185" y="95172"/>
                  </a:lnTo>
                  <a:lnTo>
                    <a:pt x="614626" y="52551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37784" y="568329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6"/>
                  </a:lnTo>
                  <a:lnTo>
                    <a:pt x="614627" y="185837"/>
                  </a:lnTo>
                  <a:lnTo>
                    <a:pt x="573597" y="203478"/>
                  </a:lnTo>
                  <a:lnTo>
                    <a:pt x="523869" y="218033"/>
                  </a:lnTo>
                  <a:lnTo>
                    <a:pt x="466794" y="229023"/>
                  </a:lnTo>
                  <a:lnTo>
                    <a:pt x="403722" y="235968"/>
                  </a:lnTo>
                  <a:lnTo>
                    <a:pt x="336005" y="238390"/>
                  </a:lnTo>
                  <a:lnTo>
                    <a:pt x="268288" y="235968"/>
                  </a:lnTo>
                  <a:lnTo>
                    <a:pt x="205217" y="229023"/>
                  </a:lnTo>
                  <a:lnTo>
                    <a:pt x="148141" y="218033"/>
                  </a:lnTo>
                  <a:lnTo>
                    <a:pt x="98413" y="203478"/>
                  </a:lnTo>
                  <a:lnTo>
                    <a:pt x="57384" y="185837"/>
                  </a:lnTo>
                  <a:lnTo>
                    <a:pt x="6826" y="143216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505077" y="1039764"/>
            <a:ext cx="728980" cy="638175"/>
            <a:chOff x="7505077" y="1039764"/>
            <a:chExt cx="728980" cy="638175"/>
          </a:xfrm>
        </p:grpSpPr>
        <p:sp>
          <p:nvSpPr>
            <p:cNvPr id="18" name="object 18"/>
            <p:cNvSpPr/>
            <p:nvPr/>
          </p:nvSpPr>
          <p:spPr>
            <a:xfrm>
              <a:off x="7730177" y="1044526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3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3" y="151202"/>
                  </a:lnTo>
                  <a:lnTo>
                    <a:pt x="377013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30177" y="1044526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2"/>
                  </a:lnTo>
                  <a:lnTo>
                    <a:pt x="0" y="151202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71124" y="1249558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40342" y="0"/>
                  </a:moveTo>
                  <a:lnTo>
                    <a:pt x="0" y="40342"/>
                  </a:lnTo>
                  <a:lnTo>
                    <a:pt x="20171" y="40342"/>
                  </a:lnTo>
                  <a:lnTo>
                    <a:pt x="20171" y="90771"/>
                  </a:lnTo>
                  <a:lnTo>
                    <a:pt x="25719" y="118252"/>
                  </a:lnTo>
                  <a:lnTo>
                    <a:pt x="40849" y="140693"/>
                  </a:lnTo>
                  <a:lnTo>
                    <a:pt x="63291" y="155823"/>
                  </a:lnTo>
                  <a:lnTo>
                    <a:pt x="90771" y="161371"/>
                  </a:lnTo>
                  <a:lnTo>
                    <a:pt x="358124" y="161371"/>
                  </a:lnTo>
                  <a:lnTo>
                    <a:pt x="358124" y="121028"/>
                  </a:lnTo>
                  <a:lnTo>
                    <a:pt x="90771" y="121028"/>
                  </a:lnTo>
                  <a:lnTo>
                    <a:pt x="78994" y="118650"/>
                  </a:lnTo>
                  <a:lnTo>
                    <a:pt x="69376" y="112166"/>
                  </a:lnTo>
                  <a:lnTo>
                    <a:pt x="62892" y="102549"/>
                  </a:lnTo>
                  <a:lnTo>
                    <a:pt x="60514" y="90771"/>
                  </a:lnTo>
                  <a:lnTo>
                    <a:pt x="60514" y="40342"/>
                  </a:lnTo>
                  <a:lnTo>
                    <a:pt x="80685" y="40342"/>
                  </a:lnTo>
                  <a:lnTo>
                    <a:pt x="40342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71124" y="1249557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358124" y="161371"/>
                  </a:moveTo>
                  <a:lnTo>
                    <a:pt x="90771" y="161371"/>
                  </a:lnTo>
                  <a:lnTo>
                    <a:pt x="63291" y="155823"/>
                  </a:lnTo>
                  <a:lnTo>
                    <a:pt x="40850" y="140693"/>
                  </a:lnTo>
                  <a:lnTo>
                    <a:pt x="25719" y="118252"/>
                  </a:lnTo>
                  <a:lnTo>
                    <a:pt x="20171" y="90771"/>
                  </a:lnTo>
                  <a:lnTo>
                    <a:pt x="20171" y="40342"/>
                  </a:lnTo>
                  <a:lnTo>
                    <a:pt x="0" y="40342"/>
                  </a:lnTo>
                  <a:lnTo>
                    <a:pt x="40343" y="0"/>
                  </a:lnTo>
                  <a:lnTo>
                    <a:pt x="80685" y="40342"/>
                  </a:lnTo>
                  <a:lnTo>
                    <a:pt x="60514" y="40342"/>
                  </a:lnTo>
                  <a:lnTo>
                    <a:pt x="60514" y="90771"/>
                  </a:lnTo>
                  <a:lnTo>
                    <a:pt x="62892" y="102549"/>
                  </a:lnTo>
                  <a:lnTo>
                    <a:pt x="69376" y="112166"/>
                  </a:lnTo>
                  <a:lnTo>
                    <a:pt x="78994" y="118651"/>
                  </a:lnTo>
                  <a:lnTo>
                    <a:pt x="90771" y="121028"/>
                  </a:lnTo>
                  <a:lnTo>
                    <a:pt x="358124" y="121028"/>
                  </a:lnTo>
                  <a:lnTo>
                    <a:pt x="358124" y="161371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09840" y="1434157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336005" y="0"/>
                  </a:moveTo>
                  <a:lnTo>
                    <a:pt x="268288" y="2421"/>
                  </a:lnTo>
                  <a:lnTo>
                    <a:pt x="205217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1"/>
                  </a:lnTo>
                  <a:lnTo>
                    <a:pt x="6826" y="95172"/>
                  </a:lnTo>
                  <a:lnTo>
                    <a:pt x="0" y="119194"/>
                  </a:lnTo>
                  <a:lnTo>
                    <a:pt x="6826" y="143216"/>
                  </a:lnTo>
                  <a:lnTo>
                    <a:pt x="57384" y="185838"/>
                  </a:lnTo>
                  <a:lnTo>
                    <a:pt x="98413" y="203479"/>
                  </a:lnTo>
                  <a:lnTo>
                    <a:pt x="148141" y="218034"/>
                  </a:lnTo>
                  <a:lnTo>
                    <a:pt x="205217" y="229024"/>
                  </a:lnTo>
                  <a:lnTo>
                    <a:pt x="268288" y="235970"/>
                  </a:lnTo>
                  <a:lnTo>
                    <a:pt x="336005" y="238391"/>
                  </a:lnTo>
                  <a:lnTo>
                    <a:pt x="403722" y="235970"/>
                  </a:lnTo>
                  <a:lnTo>
                    <a:pt x="466793" y="229024"/>
                  </a:lnTo>
                  <a:lnTo>
                    <a:pt x="523869" y="218034"/>
                  </a:lnTo>
                  <a:lnTo>
                    <a:pt x="573597" y="203479"/>
                  </a:lnTo>
                  <a:lnTo>
                    <a:pt x="614626" y="185838"/>
                  </a:lnTo>
                  <a:lnTo>
                    <a:pt x="665185" y="143216"/>
                  </a:lnTo>
                  <a:lnTo>
                    <a:pt x="672011" y="119194"/>
                  </a:lnTo>
                  <a:lnTo>
                    <a:pt x="665185" y="95172"/>
                  </a:lnTo>
                  <a:lnTo>
                    <a:pt x="614626" y="52551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09840" y="1434157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7"/>
                  </a:lnTo>
                  <a:lnTo>
                    <a:pt x="614627" y="185839"/>
                  </a:lnTo>
                  <a:lnTo>
                    <a:pt x="573597" y="203480"/>
                  </a:lnTo>
                  <a:lnTo>
                    <a:pt x="523869" y="218035"/>
                  </a:lnTo>
                  <a:lnTo>
                    <a:pt x="466794" y="229024"/>
                  </a:lnTo>
                  <a:lnTo>
                    <a:pt x="403722" y="235970"/>
                  </a:lnTo>
                  <a:lnTo>
                    <a:pt x="336005" y="238392"/>
                  </a:lnTo>
                  <a:lnTo>
                    <a:pt x="268288" y="235970"/>
                  </a:lnTo>
                  <a:lnTo>
                    <a:pt x="205217" y="229024"/>
                  </a:lnTo>
                  <a:lnTo>
                    <a:pt x="148141" y="218035"/>
                  </a:lnTo>
                  <a:lnTo>
                    <a:pt x="98413" y="203480"/>
                  </a:lnTo>
                  <a:lnTo>
                    <a:pt x="57384" y="185839"/>
                  </a:lnTo>
                  <a:lnTo>
                    <a:pt x="6826" y="143217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495596" y="589526"/>
            <a:ext cx="738505" cy="400050"/>
            <a:chOff x="7495596" y="589526"/>
            <a:chExt cx="738505" cy="400050"/>
          </a:xfrm>
        </p:grpSpPr>
        <p:sp>
          <p:nvSpPr>
            <p:cNvPr id="25" name="object 25"/>
            <p:cNvSpPr/>
            <p:nvPr/>
          </p:nvSpPr>
          <p:spPr>
            <a:xfrm>
              <a:off x="7895351" y="826566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294472" y="0"/>
                  </a:moveTo>
                  <a:lnTo>
                    <a:pt x="294472" y="19712"/>
                  </a:lnTo>
                  <a:lnTo>
                    <a:pt x="68995" y="19712"/>
                  </a:lnTo>
                  <a:lnTo>
                    <a:pt x="42139" y="25135"/>
                  </a:lnTo>
                  <a:lnTo>
                    <a:pt x="20208" y="39921"/>
                  </a:lnTo>
                  <a:lnTo>
                    <a:pt x="5421" y="61853"/>
                  </a:lnTo>
                  <a:lnTo>
                    <a:pt x="0" y="88709"/>
                  </a:lnTo>
                  <a:lnTo>
                    <a:pt x="0" y="157704"/>
                  </a:lnTo>
                  <a:lnTo>
                    <a:pt x="39425" y="157704"/>
                  </a:lnTo>
                  <a:lnTo>
                    <a:pt x="39425" y="88709"/>
                  </a:lnTo>
                  <a:lnTo>
                    <a:pt x="41749" y="77199"/>
                  </a:lnTo>
                  <a:lnTo>
                    <a:pt x="48086" y="67800"/>
                  </a:lnTo>
                  <a:lnTo>
                    <a:pt x="57485" y="61463"/>
                  </a:lnTo>
                  <a:lnTo>
                    <a:pt x="68995" y="59140"/>
                  </a:lnTo>
                  <a:lnTo>
                    <a:pt x="294472" y="59140"/>
                  </a:lnTo>
                  <a:lnTo>
                    <a:pt x="294472" y="78851"/>
                  </a:lnTo>
                  <a:lnTo>
                    <a:pt x="333898" y="39427"/>
                  </a:lnTo>
                  <a:lnTo>
                    <a:pt x="294472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95350" y="826567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0" y="157704"/>
                  </a:moveTo>
                  <a:lnTo>
                    <a:pt x="0" y="88709"/>
                  </a:lnTo>
                  <a:lnTo>
                    <a:pt x="5422" y="61852"/>
                  </a:lnTo>
                  <a:lnTo>
                    <a:pt x="20208" y="39921"/>
                  </a:lnTo>
                  <a:lnTo>
                    <a:pt x="42139" y="25134"/>
                  </a:lnTo>
                  <a:lnTo>
                    <a:pt x="68995" y="19712"/>
                  </a:lnTo>
                  <a:lnTo>
                    <a:pt x="294472" y="19712"/>
                  </a:lnTo>
                  <a:lnTo>
                    <a:pt x="294472" y="0"/>
                  </a:lnTo>
                  <a:lnTo>
                    <a:pt x="333898" y="39426"/>
                  </a:lnTo>
                  <a:lnTo>
                    <a:pt x="294472" y="78851"/>
                  </a:lnTo>
                  <a:lnTo>
                    <a:pt x="294472" y="59139"/>
                  </a:lnTo>
                  <a:lnTo>
                    <a:pt x="68995" y="59139"/>
                  </a:lnTo>
                  <a:lnTo>
                    <a:pt x="57485" y="61462"/>
                  </a:lnTo>
                  <a:lnTo>
                    <a:pt x="48086" y="67799"/>
                  </a:lnTo>
                  <a:lnTo>
                    <a:pt x="41749" y="77199"/>
                  </a:lnTo>
                  <a:lnTo>
                    <a:pt x="39426" y="88709"/>
                  </a:lnTo>
                  <a:lnTo>
                    <a:pt x="39426" y="157704"/>
                  </a:lnTo>
                  <a:lnTo>
                    <a:pt x="0" y="157704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00359" y="59428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6" y="0"/>
                  </a:moveTo>
                  <a:lnTo>
                    <a:pt x="268289" y="2421"/>
                  </a:lnTo>
                  <a:lnTo>
                    <a:pt x="205217" y="9367"/>
                  </a:lnTo>
                  <a:lnTo>
                    <a:pt x="148142" y="20357"/>
                  </a:lnTo>
                  <a:lnTo>
                    <a:pt x="98414" y="34911"/>
                  </a:lnTo>
                  <a:lnTo>
                    <a:pt x="57384" y="52552"/>
                  </a:lnTo>
                  <a:lnTo>
                    <a:pt x="6826" y="95173"/>
                  </a:lnTo>
                  <a:lnTo>
                    <a:pt x="0" y="119195"/>
                  </a:lnTo>
                  <a:lnTo>
                    <a:pt x="6826" y="143217"/>
                  </a:lnTo>
                  <a:lnTo>
                    <a:pt x="57384" y="185838"/>
                  </a:lnTo>
                  <a:lnTo>
                    <a:pt x="98414" y="203479"/>
                  </a:lnTo>
                  <a:lnTo>
                    <a:pt x="148142" y="218033"/>
                  </a:lnTo>
                  <a:lnTo>
                    <a:pt x="205217" y="229023"/>
                  </a:lnTo>
                  <a:lnTo>
                    <a:pt x="268289" y="235968"/>
                  </a:lnTo>
                  <a:lnTo>
                    <a:pt x="336006" y="238390"/>
                  </a:lnTo>
                  <a:lnTo>
                    <a:pt x="403723" y="235968"/>
                  </a:lnTo>
                  <a:lnTo>
                    <a:pt x="466795" y="229023"/>
                  </a:lnTo>
                  <a:lnTo>
                    <a:pt x="523870" y="218033"/>
                  </a:lnTo>
                  <a:lnTo>
                    <a:pt x="573598" y="203479"/>
                  </a:lnTo>
                  <a:lnTo>
                    <a:pt x="614627" y="185838"/>
                  </a:lnTo>
                  <a:lnTo>
                    <a:pt x="665185" y="143217"/>
                  </a:lnTo>
                  <a:lnTo>
                    <a:pt x="672011" y="119195"/>
                  </a:lnTo>
                  <a:lnTo>
                    <a:pt x="665185" y="95173"/>
                  </a:lnTo>
                  <a:lnTo>
                    <a:pt x="614627" y="52552"/>
                  </a:lnTo>
                  <a:lnTo>
                    <a:pt x="573598" y="34911"/>
                  </a:lnTo>
                  <a:lnTo>
                    <a:pt x="523870" y="20357"/>
                  </a:lnTo>
                  <a:lnTo>
                    <a:pt x="466795" y="9367"/>
                  </a:lnTo>
                  <a:lnTo>
                    <a:pt x="403723" y="2421"/>
                  </a:lnTo>
                  <a:lnTo>
                    <a:pt x="336006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0359" y="594289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6"/>
                  </a:lnTo>
                  <a:lnTo>
                    <a:pt x="614627" y="185837"/>
                  </a:lnTo>
                  <a:lnTo>
                    <a:pt x="573597" y="203478"/>
                  </a:lnTo>
                  <a:lnTo>
                    <a:pt x="523869" y="218033"/>
                  </a:lnTo>
                  <a:lnTo>
                    <a:pt x="466794" y="229023"/>
                  </a:lnTo>
                  <a:lnTo>
                    <a:pt x="403722" y="235968"/>
                  </a:lnTo>
                  <a:lnTo>
                    <a:pt x="336005" y="238390"/>
                  </a:lnTo>
                  <a:lnTo>
                    <a:pt x="268288" y="235968"/>
                  </a:lnTo>
                  <a:lnTo>
                    <a:pt x="205217" y="229023"/>
                  </a:lnTo>
                  <a:lnTo>
                    <a:pt x="148141" y="218033"/>
                  </a:lnTo>
                  <a:lnTo>
                    <a:pt x="98413" y="203478"/>
                  </a:lnTo>
                  <a:lnTo>
                    <a:pt x="57384" y="185837"/>
                  </a:lnTo>
                  <a:lnTo>
                    <a:pt x="6826" y="143216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785900" y="1250907"/>
            <a:ext cx="716915" cy="430530"/>
            <a:chOff x="8785900" y="1250907"/>
            <a:chExt cx="716915" cy="430530"/>
          </a:xfrm>
        </p:grpSpPr>
        <p:sp>
          <p:nvSpPr>
            <p:cNvPr id="30" name="object 30"/>
            <p:cNvSpPr/>
            <p:nvPr/>
          </p:nvSpPr>
          <p:spPr>
            <a:xfrm>
              <a:off x="8798036" y="1255669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8" y="0"/>
                  </a:moveTo>
                  <a:lnTo>
                    <a:pt x="294167" y="0"/>
                  </a:lnTo>
                  <a:lnTo>
                    <a:pt x="294167" y="69531"/>
                  </a:lnTo>
                  <a:lnTo>
                    <a:pt x="291825" y="81129"/>
                  </a:lnTo>
                  <a:lnTo>
                    <a:pt x="285439" y="90601"/>
                  </a:lnTo>
                  <a:lnTo>
                    <a:pt x="275967" y="96987"/>
                  </a:lnTo>
                  <a:lnTo>
                    <a:pt x="264368" y="99329"/>
                  </a:lnTo>
                  <a:lnTo>
                    <a:pt x="39731" y="99329"/>
                  </a:lnTo>
                  <a:lnTo>
                    <a:pt x="39731" y="79463"/>
                  </a:lnTo>
                  <a:lnTo>
                    <a:pt x="0" y="119195"/>
                  </a:lnTo>
                  <a:lnTo>
                    <a:pt x="39731" y="158927"/>
                  </a:lnTo>
                  <a:lnTo>
                    <a:pt x="39731" y="139062"/>
                  </a:lnTo>
                  <a:lnTo>
                    <a:pt x="264368" y="139062"/>
                  </a:lnTo>
                  <a:lnTo>
                    <a:pt x="291432" y="133598"/>
                  </a:lnTo>
                  <a:lnTo>
                    <a:pt x="313533" y="118697"/>
                  </a:lnTo>
                  <a:lnTo>
                    <a:pt x="328434" y="96595"/>
                  </a:lnTo>
                  <a:lnTo>
                    <a:pt x="333898" y="69531"/>
                  </a:lnTo>
                  <a:lnTo>
                    <a:pt x="333898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98035" y="1255670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8" y="0"/>
                  </a:moveTo>
                  <a:lnTo>
                    <a:pt x="333898" y="69531"/>
                  </a:lnTo>
                  <a:lnTo>
                    <a:pt x="328434" y="96595"/>
                  </a:lnTo>
                  <a:lnTo>
                    <a:pt x="313533" y="118696"/>
                  </a:lnTo>
                  <a:lnTo>
                    <a:pt x="291432" y="133597"/>
                  </a:lnTo>
                  <a:lnTo>
                    <a:pt x="264368" y="139062"/>
                  </a:lnTo>
                  <a:lnTo>
                    <a:pt x="39731" y="139061"/>
                  </a:lnTo>
                  <a:lnTo>
                    <a:pt x="39731" y="158927"/>
                  </a:lnTo>
                  <a:lnTo>
                    <a:pt x="0" y="119195"/>
                  </a:lnTo>
                  <a:lnTo>
                    <a:pt x="39731" y="79462"/>
                  </a:lnTo>
                  <a:lnTo>
                    <a:pt x="39731" y="99329"/>
                  </a:lnTo>
                  <a:lnTo>
                    <a:pt x="264368" y="99329"/>
                  </a:lnTo>
                  <a:lnTo>
                    <a:pt x="275967" y="96987"/>
                  </a:lnTo>
                  <a:lnTo>
                    <a:pt x="285439" y="90601"/>
                  </a:lnTo>
                  <a:lnTo>
                    <a:pt x="291825" y="81129"/>
                  </a:lnTo>
                  <a:lnTo>
                    <a:pt x="294167" y="69530"/>
                  </a:lnTo>
                  <a:lnTo>
                    <a:pt x="294167" y="0"/>
                  </a:lnTo>
                  <a:lnTo>
                    <a:pt x="333898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790662" y="1437825"/>
              <a:ext cx="707390" cy="238760"/>
            </a:xfrm>
            <a:custGeom>
              <a:avLst/>
              <a:gdLst/>
              <a:ahLst/>
              <a:cxnLst/>
              <a:rect l="l" t="t" r="r" b="b"/>
              <a:pathLst>
                <a:path w="707390" h="238760">
                  <a:moveTo>
                    <a:pt x="353386" y="0"/>
                  </a:moveTo>
                  <a:lnTo>
                    <a:pt x="282166" y="2421"/>
                  </a:lnTo>
                  <a:lnTo>
                    <a:pt x="215832" y="9366"/>
                  </a:lnTo>
                  <a:lnTo>
                    <a:pt x="155804" y="20356"/>
                  </a:lnTo>
                  <a:lnTo>
                    <a:pt x="103504" y="34911"/>
                  </a:lnTo>
                  <a:lnTo>
                    <a:pt x="60352" y="52551"/>
                  </a:lnTo>
                  <a:lnTo>
                    <a:pt x="27770" y="72798"/>
                  </a:lnTo>
                  <a:lnTo>
                    <a:pt x="0" y="119194"/>
                  </a:lnTo>
                  <a:lnTo>
                    <a:pt x="7179" y="143216"/>
                  </a:lnTo>
                  <a:lnTo>
                    <a:pt x="60352" y="185837"/>
                  </a:lnTo>
                  <a:lnTo>
                    <a:pt x="103504" y="203477"/>
                  </a:lnTo>
                  <a:lnTo>
                    <a:pt x="155804" y="218032"/>
                  </a:lnTo>
                  <a:lnTo>
                    <a:pt x="215832" y="229022"/>
                  </a:lnTo>
                  <a:lnTo>
                    <a:pt x="282166" y="235967"/>
                  </a:lnTo>
                  <a:lnTo>
                    <a:pt x="353386" y="238389"/>
                  </a:lnTo>
                  <a:lnTo>
                    <a:pt x="424605" y="235967"/>
                  </a:lnTo>
                  <a:lnTo>
                    <a:pt x="490940" y="229022"/>
                  </a:lnTo>
                  <a:lnTo>
                    <a:pt x="550967" y="218032"/>
                  </a:lnTo>
                  <a:lnTo>
                    <a:pt x="603267" y="203477"/>
                  </a:lnTo>
                  <a:lnTo>
                    <a:pt x="646419" y="185837"/>
                  </a:lnTo>
                  <a:lnTo>
                    <a:pt x="679000" y="165590"/>
                  </a:lnTo>
                  <a:lnTo>
                    <a:pt x="706771" y="119194"/>
                  </a:lnTo>
                  <a:lnTo>
                    <a:pt x="699592" y="95172"/>
                  </a:lnTo>
                  <a:lnTo>
                    <a:pt x="646419" y="52551"/>
                  </a:lnTo>
                  <a:lnTo>
                    <a:pt x="603267" y="34911"/>
                  </a:lnTo>
                  <a:lnTo>
                    <a:pt x="550967" y="20356"/>
                  </a:lnTo>
                  <a:lnTo>
                    <a:pt x="490940" y="9366"/>
                  </a:lnTo>
                  <a:lnTo>
                    <a:pt x="424605" y="2421"/>
                  </a:lnTo>
                  <a:lnTo>
                    <a:pt x="353386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90662" y="1437825"/>
              <a:ext cx="707390" cy="238760"/>
            </a:xfrm>
            <a:custGeom>
              <a:avLst/>
              <a:gdLst/>
              <a:ahLst/>
              <a:cxnLst/>
              <a:rect l="l" t="t" r="r" b="b"/>
              <a:pathLst>
                <a:path w="707390" h="238760">
                  <a:moveTo>
                    <a:pt x="0" y="119195"/>
                  </a:moveTo>
                  <a:lnTo>
                    <a:pt x="27770" y="72798"/>
                  </a:lnTo>
                  <a:lnTo>
                    <a:pt x="60352" y="52551"/>
                  </a:lnTo>
                  <a:lnTo>
                    <a:pt x="103504" y="34911"/>
                  </a:lnTo>
                  <a:lnTo>
                    <a:pt x="155804" y="20356"/>
                  </a:lnTo>
                  <a:lnTo>
                    <a:pt x="215832" y="9366"/>
                  </a:lnTo>
                  <a:lnTo>
                    <a:pt x="282166" y="2421"/>
                  </a:lnTo>
                  <a:lnTo>
                    <a:pt x="353386" y="0"/>
                  </a:lnTo>
                  <a:lnTo>
                    <a:pt x="424605" y="2421"/>
                  </a:lnTo>
                  <a:lnTo>
                    <a:pt x="490939" y="9366"/>
                  </a:lnTo>
                  <a:lnTo>
                    <a:pt x="550967" y="20356"/>
                  </a:lnTo>
                  <a:lnTo>
                    <a:pt x="603267" y="34911"/>
                  </a:lnTo>
                  <a:lnTo>
                    <a:pt x="646418" y="52551"/>
                  </a:lnTo>
                  <a:lnTo>
                    <a:pt x="679000" y="72798"/>
                  </a:lnTo>
                  <a:lnTo>
                    <a:pt x="706771" y="119195"/>
                  </a:lnTo>
                  <a:lnTo>
                    <a:pt x="699592" y="143216"/>
                  </a:lnTo>
                  <a:lnTo>
                    <a:pt x="646418" y="185837"/>
                  </a:lnTo>
                  <a:lnTo>
                    <a:pt x="603267" y="203478"/>
                  </a:lnTo>
                  <a:lnTo>
                    <a:pt x="550967" y="218033"/>
                  </a:lnTo>
                  <a:lnTo>
                    <a:pt x="490939" y="229023"/>
                  </a:lnTo>
                  <a:lnTo>
                    <a:pt x="424605" y="235968"/>
                  </a:lnTo>
                  <a:lnTo>
                    <a:pt x="353386" y="238390"/>
                  </a:lnTo>
                  <a:lnTo>
                    <a:pt x="282166" y="235968"/>
                  </a:lnTo>
                  <a:lnTo>
                    <a:pt x="215832" y="229023"/>
                  </a:lnTo>
                  <a:lnTo>
                    <a:pt x="155804" y="218033"/>
                  </a:lnTo>
                  <a:lnTo>
                    <a:pt x="103504" y="203478"/>
                  </a:lnTo>
                  <a:lnTo>
                    <a:pt x="60352" y="185837"/>
                  </a:lnTo>
                  <a:lnTo>
                    <a:pt x="27770" y="165591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023" y="565035"/>
            <a:ext cx="407733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>
                <a:solidFill>
                  <a:srgbClr val="D2533C"/>
                </a:solidFill>
                <a:latin typeface="Arial MT"/>
                <a:cs typeface="Arial MT"/>
              </a:rPr>
              <a:t>Anotació</a:t>
            </a:r>
            <a:r>
              <a:rPr sz="4000" dirty="0">
                <a:solidFill>
                  <a:srgbClr val="D2533C"/>
                </a:solidFill>
                <a:latin typeface="Arial MT"/>
                <a:cs typeface="Arial MT"/>
              </a:rPr>
              <a:t>n</a:t>
            </a:r>
            <a:r>
              <a:rPr sz="40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4000" spc="-105" dirty="0">
                <a:solidFill>
                  <a:srgbClr val="D2533C"/>
                </a:solidFill>
                <a:latin typeface="Arial MT"/>
                <a:cs typeface="Arial MT"/>
              </a:rPr>
              <a:t>d</a:t>
            </a:r>
            <a:r>
              <a:rPr sz="4000" dirty="0">
                <a:solidFill>
                  <a:srgbClr val="D2533C"/>
                </a:solidFill>
                <a:latin typeface="Arial MT"/>
                <a:cs typeface="Arial MT"/>
              </a:rPr>
              <a:t>e</a:t>
            </a:r>
            <a:r>
              <a:rPr sz="4000" spc="-204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4000" spc="-100" dirty="0">
                <a:solidFill>
                  <a:srgbClr val="D2533C"/>
                </a:solidFill>
                <a:latin typeface="Arial MT"/>
                <a:cs typeface="Arial MT"/>
              </a:rPr>
              <a:t>fallos</a:t>
            </a:r>
            <a:endParaRPr sz="40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09023" y="1989658"/>
            <a:ext cx="7757159" cy="121412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 algn="just">
              <a:lnSpc>
                <a:spcPts val="3000"/>
              </a:lnSpc>
              <a:spcBef>
                <a:spcPts val="500"/>
              </a:spcBef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Cuando el desarrollador del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reciba la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5" dirty="0">
                <a:solidFill>
                  <a:srgbClr val="292934"/>
                </a:solidFill>
                <a:latin typeface="Arial MT"/>
                <a:cs typeface="Arial MT"/>
              </a:rPr>
              <a:t>notificación</a:t>
            </a:r>
            <a:r>
              <a:rPr sz="28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8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800" spc="15" dirty="0">
                <a:solidFill>
                  <a:srgbClr val="292934"/>
                </a:solidFill>
                <a:latin typeface="Arial MT"/>
                <a:cs typeface="Arial MT"/>
              </a:rPr>
              <a:t> fallo,</a:t>
            </a:r>
            <a:r>
              <a:rPr sz="28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lo</a:t>
            </a:r>
            <a:r>
              <a:rPr sz="2800" spc="15" dirty="0">
                <a:solidFill>
                  <a:srgbClr val="292934"/>
                </a:solidFill>
                <a:latin typeface="Arial MT"/>
                <a:cs typeface="Arial MT"/>
              </a:rPr>
              <a:t> guardará</a:t>
            </a:r>
            <a:r>
              <a:rPr sz="28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en</a:t>
            </a:r>
            <a:r>
              <a:rPr sz="28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20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28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sistema de</a:t>
            </a:r>
            <a:r>
              <a:rPr sz="2800" b="1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rastreo.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322354" y="784402"/>
            <a:ext cx="386715" cy="161290"/>
            <a:chOff x="8322354" y="784402"/>
            <a:chExt cx="386715" cy="161290"/>
          </a:xfrm>
        </p:grpSpPr>
        <p:sp>
          <p:nvSpPr>
            <p:cNvPr id="5" name="object 5"/>
            <p:cNvSpPr/>
            <p:nvPr/>
          </p:nvSpPr>
          <p:spPr>
            <a:xfrm>
              <a:off x="8327116" y="789165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3" y="0"/>
                  </a:moveTo>
                  <a:lnTo>
                    <a:pt x="0" y="0"/>
                  </a:lnTo>
                  <a:lnTo>
                    <a:pt x="0" y="151201"/>
                  </a:lnTo>
                  <a:lnTo>
                    <a:pt x="377013" y="151201"/>
                  </a:lnTo>
                  <a:lnTo>
                    <a:pt x="377013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327116" y="789165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8330207" y="1308570"/>
            <a:ext cx="386715" cy="161290"/>
            <a:chOff x="8330207" y="1308570"/>
            <a:chExt cx="386715" cy="161290"/>
          </a:xfrm>
        </p:grpSpPr>
        <p:sp>
          <p:nvSpPr>
            <p:cNvPr id="8" name="object 8"/>
            <p:cNvSpPr/>
            <p:nvPr/>
          </p:nvSpPr>
          <p:spPr>
            <a:xfrm>
              <a:off x="8334970" y="1313332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4" y="151202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8334970" y="1313332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8774314" y="563566"/>
            <a:ext cx="740410" cy="623570"/>
            <a:chOff x="8774314" y="563566"/>
            <a:chExt cx="740410" cy="623570"/>
          </a:xfrm>
        </p:grpSpPr>
        <p:sp>
          <p:nvSpPr>
            <p:cNvPr id="11" name="object 11"/>
            <p:cNvSpPr/>
            <p:nvPr/>
          </p:nvSpPr>
          <p:spPr>
            <a:xfrm>
              <a:off x="8892638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3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3" y="151202"/>
                  </a:lnTo>
                  <a:lnTo>
                    <a:pt x="377013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892638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779076" y="832680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266299" y="0"/>
                  </a:moveTo>
                  <a:lnTo>
                    <a:pt x="0" y="0"/>
                  </a:lnTo>
                  <a:lnTo>
                    <a:pt x="0" y="40342"/>
                  </a:lnTo>
                  <a:lnTo>
                    <a:pt x="266299" y="40342"/>
                  </a:lnTo>
                  <a:lnTo>
                    <a:pt x="278077" y="42720"/>
                  </a:lnTo>
                  <a:lnTo>
                    <a:pt x="287695" y="49205"/>
                  </a:lnTo>
                  <a:lnTo>
                    <a:pt x="294179" y="58822"/>
                  </a:lnTo>
                  <a:lnTo>
                    <a:pt x="296557" y="70600"/>
                  </a:lnTo>
                  <a:lnTo>
                    <a:pt x="296557" y="121028"/>
                  </a:lnTo>
                  <a:lnTo>
                    <a:pt x="276386" y="121028"/>
                  </a:lnTo>
                  <a:lnTo>
                    <a:pt x="316729" y="161372"/>
                  </a:lnTo>
                  <a:lnTo>
                    <a:pt x="357071" y="121028"/>
                  </a:lnTo>
                  <a:lnTo>
                    <a:pt x="336900" y="121028"/>
                  </a:lnTo>
                  <a:lnTo>
                    <a:pt x="336900" y="70600"/>
                  </a:lnTo>
                  <a:lnTo>
                    <a:pt x="331352" y="43119"/>
                  </a:lnTo>
                  <a:lnTo>
                    <a:pt x="316222" y="20678"/>
                  </a:lnTo>
                  <a:lnTo>
                    <a:pt x="293780" y="5548"/>
                  </a:lnTo>
                  <a:lnTo>
                    <a:pt x="266299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779076" y="832680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0" y="0"/>
                  </a:moveTo>
                  <a:lnTo>
                    <a:pt x="266299" y="0"/>
                  </a:lnTo>
                  <a:lnTo>
                    <a:pt x="293780" y="5548"/>
                  </a:lnTo>
                  <a:lnTo>
                    <a:pt x="316221" y="20678"/>
                  </a:lnTo>
                  <a:lnTo>
                    <a:pt x="331352" y="43119"/>
                  </a:lnTo>
                  <a:lnTo>
                    <a:pt x="336900" y="70600"/>
                  </a:lnTo>
                  <a:lnTo>
                    <a:pt x="336900" y="121029"/>
                  </a:lnTo>
                  <a:lnTo>
                    <a:pt x="357071" y="121029"/>
                  </a:lnTo>
                  <a:lnTo>
                    <a:pt x="316728" y="161372"/>
                  </a:lnTo>
                  <a:lnTo>
                    <a:pt x="276386" y="121029"/>
                  </a:lnTo>
                  <a:lnTo>
                    <a:pt x="296557" y="121029"/>
                  </a:lnTo>
                  <a:lnTo>
                    <a:pt x="296557" y="70600"/>
                  </a:lnTo>
                  <a:lnTo>
                    <a:pt x="294179" y="58822"/>
                  </a:lnTo>
                  <a:lnTo>
                    <a:pt x="287694" y="49205"/>
                  </a:lnTo>
                  <a:lnTo>
                    <a:pt x="278077" y="42721"/>
                  </a:lnTo>
                  <a:lnTo>
                    <a:pt x="266299" y="40343"/>
                  </a:lnTo>
                  <a:lnTo>
                    <a:pt x="0" y="4034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37783" y="56832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5" y="0"/>
                  </a:moveTo>
                  <a:lnTo>
                    <a:pt x="268288" y="2421"/>
                  </a:lnTo>
                  <a:lnTo>
                    <a:pt x="205217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1"/>
                  </a:lnTo>
                  <a:lnTo>
                    <a:pt x="6826" y="95172"/>
                  </a:lnTo>
                  <a:lnTo>
                    <a:pt x="0" y="119194"/>
                  </a:lnTo>
                  <a:lnTo>
                    <a:pt x="6826" y="143216"/>
                  </a:lnTo>
                  <a:lnTo>
                    <a:pt x="57384" y="185838"/>
                  </a:lnTo>
                  <a:lnTo>
                    <a:pt x="98413" y="203478"/>
                  </a:lnTo>
                  <a:lnTo>
                    <a:pt x="148141" y="218033"/>
                  </a:lnTo>
                  <a:lnTo>
                    <a:pt x="205217" y="229023"/>
                  </a:lnTo>
                  <a:lnTo>
                    <a:pt x="268288" y="235968"/>
                  </a:lnTo>
                  <a:lnTo>
                    <a:pt x="336005" y="238390"/>
                  </a:lnTo>
                  <a:lnTo>
                    <a:pt x="403722" y="235968"/>
                  </a:lnTo>
                  <a:lnTo>
                    <a:pt x="466793" y="229023"/>
                  </a:lnTo>
                  <a:lnTo>
                    <a:pt x="523869" y="218033"/>
                  </a:lnTo>
                  <a:lnTo>
                    <a:pt x="573597" y="203478"/>
                  </a:lnTo>
                  <a:lnTo>
                    <a:pt x="614626" y="185838"/>
                  </a:lnTo>
                  <a:lnTo>
                    <a:pt x="665185" y="143216"/>
                  </a:lnTo>
                  <a:lnTo>
                    <a:pt x="672011" y="119194"/>
                  </a:lnTo>
                  <a:lnTo>
                    <a:pt x="665185" y="95172"/>
                  </a:lnTo>
                  <a:lnTo>
                    <a:pt x="614626" y="52551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837784" y="568329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6"/>
                  </a:lnTo>
                  <a:lnTo>
                    <a:pt x="614627" y="185837"/>
                  </a:lnTo>
                  <a:lnTo>
                    <a:pt x="573597" y="203478"/>
                  </a:lnTo>
                  <a:lnTo>
                    <a:pt x="523869" y="218033"/>
                  </a:lnTo>
                  <a:lnTo>
                    <a:pt x="466794" y="229023"/>
                  </a:lnTo>
                  <a:lnTo>
                    <a:pt x="403722" y="235968"/>
                  </a:lnTo>
                  <a:lnTo>
                    <a:pt x="336005" y="238390"/>
                  </a:lnTo>
                  <a:lnTo>
                    <a:pt x="268288" y="235968"/>
                  </a:lnTo>
                  <a:lnTo>
                    <a:pt x="205217" y="229023"/>
                  </a:lnTo>
                  <a:lnTo>
                    <a:pt x="148141" y="218033"/>
                  </a:lnTo>
                  <a:lnTo>
                    <a:pt x="98413" y="203478"/>
                  </a:lnTo>
                  <a:lnTo>
                    <a:pt x="57384" y="185837"/>
                  </a:lnTo>
                  <a:lnTo>
                    <a:pt x="6826" y="143216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7505077" y="1039765"/>
            <a:ext cx="728980" cy="638175"/>
            <a:chOff x="7505077" y="1039765"/>
            <a:chExt cx="728980" cy="638175"/>
          </a:xfrm>
        </p:grpSpPr>
        <p:sp>
          <p:nvSpPr>
            <p:cNvPr id="18" name="object 18"/>
            <p:cNvSpPr/>
            <p:nvPr/>
          </p:nvSpPr>
          <p:spPr>
            <a:xfrm>
              <a:off x="7730177" y="1044528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3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3" y="151202"/>
                  </a:lnTo>
                  <a:lnTo>
                    <a:pt x="377013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730177" y="1044528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871124" y="1249558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40342" y="0"/>
                  </a:moveTo>
                  <a:lnTo>
                    <a:pt x="0" y="40342"/>
                  </a:lnTo>
                  <a:lnTo>
                    <a:pt x="20171" y="40342"/>
                  </a:lnTo>
                  <a:lnTo>
                    <a:pt x="20171" y="90771"/>
                  </a:lnTo>
                  <a:lnTo>
                    <a:pt x="25719" y="118252"/>
                  </a:lnTo>
                  <a:lnTo>
                    <a:pt x="40849" y="140694"/>
                  </a:lnTo>
                  <a:lnTo>
                    <a:pt x="63291" y="155824"/>
                  </a:lnTo>
                  <a:lnTo>
                    <a:pt x="90771" y="161372"/>
                  </a:lnTo>
                  <a:lnTo>
                    <a:pt x="358124" y="161372"/>
                  </a:lnTo>
                  <a:lnTo>
                    <a:pt x="358124" y="121029"/>
                  </a:lnTo>
                  <a:lnTo>
                    <a:pt x="90771" y="121029"/>
                  </a:lnTo>
                  <a:lnTo>
                    <a:pt x="78994" y="118651"/>
                  </a:lnTo>
                  <a:lnTo>
                    <a:pt x="69376" y="112167"/>
                  </a:lnTo>
                  <a:lnTo>
                    <a:pt x="62892" y="102549"/>
                  </a:lnTo>
                  <a:lnTo>
                    <a:pt x="60514" y="90771"/>
                  </a:lnTo>
                  <a:lnTo>
                    <a:pt x="60514" y="40342"/>
                  </a:lnTo>
                  <a:lnTo>
                    <a:pt x="80685" y="40342"/>
                  </a:lnTo>
                  <a:lnTo>
                    <a:pt x="40342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871124" y="1249558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358124" y="161371"/>
                  </a:moveTo>
                  <a:lnTo>
                    <a:pt x="90771" y="161371"/>
                  </a:lnTo>
                  <a:lnTo>
                    <a:pt x="63291" y="155823"/>
                  </a:lnTo>
                  <a:lnTo>
                    <a:pt x="40850" y="140693"/>
                  </a:lnTo>
                  <a:lnTo>
                    <a:pt x="25719" y="118252"/>
                  </a:lnTo>
                  <a:lnTo>
                    <a:pt x="20171" y="90772"/>
                  </a:lnTo>
                  <a:lnTo>
                    <a:pt x="20171" y="40342"/>
                  </a:lnTo>
                  <a:lnTo>
                    <a:pt x="0" y="40342"/>
                  </a:lnTo>
                  <a:lnTo>
                    <a:pt x="40343" y="0"/>
                  </a:lnTo>
                  <a:lnTo>
                    <a:pt x="80685" y="40342"/>
                  </a:lnTo>
                  <a:lnTo>
                    <a:pt x="60514" y="40342"/>
                  </a:lnTo>
                  <a:lnTo>
                    <a:pt x="60514" y="90772"/>
                  </a:lnTo>
                  <a:lnTo>
                    <a:pt x="62892" y="102549"/>
                  </a:lnTo>
                  <a:lnTo>
                    <a:pt x="69376" y="112167"/>
                  </a:lnTo>
                  <a:lnTo>
                    <a:pt x="78994" y="118651"/>
                  </a:lnTo>
                  <a:lnTo>
                    <a:pt x="90771" y="121029"/>
                  </a:lnTo>
                  <a:lnTo>
                    <a:pt x="358124" y="121029"/>
                  </a:lnTo>
                  <a:lnTo>
                    <a:pt x="358124" y="161371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509840" y="143415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336005" y="0"/>
                  </a:moveTo>
                  <a:lnTo>
                    <a:pt x="268288" y="2421"/>
                  </a:lnTo>
                  <a:lnTo>
                    <a:pt x="205217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2"/>
                  </a:lnTo>
                  <a:lnTo>
                    <a:pt x="6826" y="95173"/>
                  </a:lnTo>
                  <a:lnTo>
                    <a:pt x="0" y="119195"/>
                  </a:lnTo>
                  <a:lnTo>
                    <a:pt x="6826" y="143218"/>
                  </a:lnTo>
                  <a:lnTo>
                    <a:pt x="57384" y="185839"/>
                  </a:lnTo>
                  <a:lnTo>
                    <a:pt x="98413" y="203480"/>
                  </a:lnTo>
                  <a:lnTo>
                    <a:pt x="148141" y="218035"/>
                  </a:lnTo>
                  <a:lnTo>
                    <a:pt x="205217" y="229024"/>
                  </a:lnTo>
                  <a:lnTo>
                    <a:pt x="268288" y="235970"/>
                  </a:lnTo>
                  <a:lnTo>
                    <a:pt x="336005" y="238391"/>
                  </a:lnTo>
                  <a:lnTo>
                    <a:pt x="403722" y="235970"/>
                  </a:lnTo>
                  <a:lnTo>
                    <a:pt x="466793" y="229024"/>
                  </a:lnTo>
                  <a:lnTo>
                    <a:pt x="523869" y="218035"/>
                  </a:lnTo>
                  <a:lnTo>
                    <a:pt x="573597" y="203480"/>
                  </a:lnTo>
                  <a:lnTo>
                    <a:pt x="614626" y="185839"/>
                  </a:lnTo>
                  <a:lnTo>
                    <a:pt x="665185" y="143218"/>
                  </a:lnTo>
                  <a:lnTo>
                    <a:pt x="672011" y="119195"/>
                  </a:lnTo>
                  <a:lnTo>
                    <a:pt x="665185" y="95173"/>
                  </a:lnTo>
                  <a:lnTo>
                    <a:pt x="614626" y="52552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509840" y="143415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7"/>
                  </a:lnTo>
                  <a:lnTo>
                    <a:pt x="614627" y="185839"/>
                  </a:lnTo>
                  <a:lnTo>
                    <a:pt x="573597" y="203480"/>
                  </a:lnTo>
                  <a:lnTo>
                    <a:pt x="523869" y="218035"/>
                  </a:lnTo>
                  <a:lnTo>
                    <a:pt x="466794" y="229024"/>
                  </a:lnTo>
                  <a:lnTo>
                    <a:pt x="403722" y="235970"/>
                  </a:lnTo>
                  <a:lnTo>
                    <a:pt x="336005" y="238392"/>
                  </a:lnTo>
                  <a:lnTo>
                    <a:pt x="268288" y="235970"/>
                  </a:lnTo>
                  <a:lnTo>
                    <a:pt x="205217" y="229024"/>
                  </a:lnTo>
                  <a:lnTo>
                    <a:pt x="148141" y="218035"/>
                  </a:lnTo>
                  <a:lnTo>
                    <a:pt x="98413" y="203480"/>
                  </a:lnTo>
                  <a:lnTo>
                    <a:pt x="57384" y="185839"/>
                  </a:lnTo>
                  <a:lnTo>
                    <a:pt x="6826" y="143217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7495596" y="589527"/>
            <a:ext cx="738505" cy="400050"/>
            <a:chOff x="7495596" y="589527"/>
            <a:chExt cx="738505" cy="400050"/>
          </a:xfrm>
        </p:grpSpPr>
        <p:sp>
          <p:nvSpPr>
            <p:cNvPr id="25" name="object 25"/>
            <p:cNvSpPr/>
            <p:nvPr/>
          </p:nvSpPr>
          <p:spPr>
            <a:xfrm>
              <a:off x="7895351" y="826568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294472" y="0"/>
                  </a:moveTo>
                  <a:lnTo>
                    <a:pt x="294472" y="19712"/>
                  </a:lnTo>
                  <a:lnTo>
                    <a:pt x="68995" y="19712"/>
                  </a:lnTo>
                  <a:lnTo>
                    <a:pt x="42139" y="25135"/>
                  </a:lnTo>
                  <a:lnTo>
                    <a:pt x="20208" y="39921"/>
                  </a:lnTo>
                  <a:lnTo>
                    <a:pt x="5421" y="61853"/>
                  </a:lnTo>
                  <a:lnTo>
                    <a:pt x="0" y="88709"/>
                  </a:lnTo>
                  <a:lnTo>
                    <a:pt x="0" y="157704"/>
                  </a:lnTo>
                  <a:lnTo>
                    <a:pt x="39425" y="157704"/>
                  </a:lnTo>
                  <a:lnTo>
                    <a:pt x="39425" y="88709"/>
                  </a:lnTo>
                  <a:lnTo>
                    <a:pt x="41749" y="77198"/>
                  </a:lnTo>
                  <a:lnTo>
                    <a:pt x="48086" y="67799"/>
                  </a:lnTo>
                  <a:lnTo>
                    <a:pt x="57485" y="61462"/>
                  </a:lnTo>
                  <a:lnTo>
                    <a:pt x="68995" y="59138"/>
                  </a:lnTo>
                  <a:lnTo>
                    <a:pt x="294472" y="59138"/>
                  </a:lnTo>
                  <a:lnTo>
                    <a:pt x="294472" y="78851"/>
                  </a:lnTo>
                  <a:lnTo>
                    <a:pt x="333898" y="39425"/>
                  </a:lnTo>
                  <a:lnTo>
                    <a:pt x="294472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895350" y="826568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0" y="157704"/>
                  </a:moveTo>
                  <a:lnTo>
                    <a:pt x="0" y="88709"/>
                  </a:lnTo>
                  <a:lnTo>
                    <a:pt x="5422" y="61852"/>
                  </a:lnTo>
                  <a:lnTo>
                    <a:pt x="20208" y="39921"/>
                  </a:lnTo>
                  <a:lnTo>
                    <a:pt x="42139" y="25134"/>
                  </a:lnTo>
                  <a:lnTo>
                    <a:pt x="68995" y="19712"/>
                  </a:lnTo>
                  <a:lnTo>
                    <a:pt x="294472" y="19712"/>
                  </a:lnTo>
                  <a:lnTo>
                    <a:pt x="294472" y="0"/>
                  </a:lnTo>
                  <a:lnTo>
                    <a:pt x="333898" y="39426"/>
                  </a:lnTo>
                  <a:lnTo>
                    <a:pt x="294472" y="78851"/>
                  </a:lnTo>
                  <a:lnTo>
                    <a:pt x="294472" y="59139"/>
                  </a:lnTo>
                  <a:lnTo>
                    <a:pt x="68995" y="59139"/>
                  </a:lnTo>
                  <a:lnTo>
                    <a:pt x="57485" y="61462"/>
                  </a:lnTo>
                  <a:lnTo>
                    <a:pt x="48086" y="67799"/>
                  </a:lnTo>
                  <a:lnTo>
                    <a:pt x="41749" y="77199"/>
                  </a:lnTo>
                  <a:lnTo>
                    <a:pt x="39426" y="88709"/>
                  </a:lnTo>
                  <a:lnTo>
                    <a:pt x="39426" y="157704"/>
                  </a:lnTo>
                  <a:lnTo>
                    <a:pt x="0" y="157704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500359" y="594290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6" y="0"/>
                  </a:moveTo>
                  <a:lnTo>
                    <a:pt x="268289" y="2421"/>
                  </a:lnTo>
                  <a:lnTo>
                    <a:pt x="205217" y="9366"/>
                  </a:lnTo>
                  <a:lnTo>
                    <a:pt x="148142" y="20356"/>
                  </a:lnTo>
                  <a:lnTo>
                    <a:pt x="98414" y="34911"/>
                  </a:lnTo>
                  <a:lnTo>
                    <a:pt x="57384" y="52552"/>
                  </a:lnTo>
                  <a:lnTo>
                    <a:pt x="6826" y="95173"/>
                  </a:lnTo>
                  <a:lnTo>
                    <a:pt x="0" y="119195"/>
                  </a:lnTo>
                  <a:lnTo>
                    <a:pt x="6826" y="143218"/>
                  </a:lnTo>
                  <a:lnTo>
                    <a:pt x="57384" y="185839"/>
                  </a:lnTo>
                  <a:lnTo>
                    <a:pt x="98414" y="203480"/>
                  </a:lnTo>
                  <a:lnTo>
                    <a:pt x="148142" y="218035"/>
                  </a:lnTo>
                  <a:lnTo>
                    <a:pt x="205217" y="229024"/>
                  </a:lnTo>
                  <a:lnTo>
                    <a:pt x="268289" y="235970"/>
                  </a:lnTo>
                  <a:lnTo>
                    <a:pt x="336006" y="238391"/>
                  </a:lnTo>
                  <a:lnTo>
                    <a:pt x="403723" y="235970"/>
                  </a:lnTo>
                  <a:lnTo>
                    <a:pt x="466795" y="229024"/>
                  </a:lnTo>
                  <a:lnTo>
                    <a:pt x="523870" y="218035"/>
                  </a:lnTo>
                  <a:lnTo>
                    <a:pt x="573598" y="203480"/>
                  </a:lnTo>
                  <a:lnTo>
                    <a:pt x="614627" y="185839"/>
                  </a:lnTo>
                  <a:lnTo>
                    <a:pt x="665185" y="143218"/>
                  </a:lnTo>
                  <a:lnTo>
                    <a:pt x="672011" y="119195"/>
                  </a:lnTo>
                  <a:lnTo>
                    <a:pt x="665185" y="95173"/>
                  </a:lnTo>
                  <a:lnTo>
                    <a:pt x="614627" y="52552"/>
                  </a:lnTo>
                  <a:lnTo>
                    <a:pt x="573598" y="34911"/>
                  </a:lnTo>
                  <a:lnTo>
                    <a:pt x="523870" y="20356"/>
                  </a:lnTo>
                  <a:lnTo>
                    <a:pt x="466795" y="9366"/>
                  </a:lnTo>
                  <a:lnTo>
                    <a:pt x="403723" y="2421"/>
                  </a:lnTo>
                  <a:lnTo>
                    <a:pt x="336006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500359" y="594290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7"/>
                  </a:lnTo>
                  <a:lnTo>
                    <a:pt x="614627" y="185839"/>
                  </a:lnTo>
                  <a:lnTo>
                    <a:pt x="573597" y="203480"/>
                  </a:lnTo>
                  <a:lnTo>
                    <a:pt x="523869" y="218034"/>
                  </a:lnTo>
                  <a:lnTo>
                    <a:pt x="466794" y="229024"/>
                  </a:lnTo>
                  <a:lnTo>
                    <a:pt x="403722" y="235969"/>
                  </a:lnTo>
                  <a:lnTo>
                    <a:pt x="336005" y="238391"/>
                  </a:lnTo>
                  <a:lnTo>
                    <a:pt x="268288" y="235969"/>
                  </a:lnTo>
                  <a:lnTo>
                    <a:pt x="205217" y="229024"/>
                  </a:lnTo>
                  <a:lnTo>
                    <a:pt x="148141" y="218034"/>
                  </a:lnTo>
                  <a:lnTo>
                    <a:pt x="98413" y="203480"/>
                  </a:lnTo>
                  <a:lnTo>
                    <a:pt x="57384" y="185839"/>
                  </a:lnTo>
                  <a:lnTo>
                    <a:pt x="6826" y="143217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8793274" y="1250909"/>
            <a:ext cx="721360" cy="422275"/>
            <a:chOff x="8793274" y="1250909"/>
            <a:chExt cx="721360" cy="422275"/>
          </a:xfrm>
        </p:grpSpPr>
        <p:sp>
          <p:nvSpPr>
            <p:cNvPr id="30" name="object 30"/>
            <p:cNvSpPr/>
            <p:nvPr/>
          </p:nvSpPr>
          <p:spPr>
            <a:xfrm>
              <a:off x="8798037" y="1255670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9" y="0"/>
                  </a:moveTo>
                  <a:lnTo>
                    <a:pt x="294167" y="0"/>
                  </a:lnTo>
                  <a:lnTo>
                    <a:pt x="294167" y="69531"/>
                  </a:lnTo>
                  <a:lnTo>
                    <a:pt x="291825" y="81129"/>
                  </a:lnTo>
                  <a:lnTo>
                    <a:pt x="285439" y="90601"/>
                  </a:lnTo>
                  <a:lnTo>
                    <a:pt x="275968" y="96987"/>
                  </a:lnTo>
                  <a:lnTo>
                    <a:pt x="264369" y="99329"/>
                  </a:lnTo>
                  <a:lnTo>
                    <a:pt x="39731" y="99329"/>
                  </a:lnTo>
                  <a:lnTo>
                    <a:pt x="39731" y="79463"/>
                  </a:lnTo>
                  <a:lnTo>
                    <a:pt x="0" y="119195"/>
                  </a:lnTo>
                  <a:lnTo>
                    <a:pt x="39731" y="158927"/>
                  </a:lnTo>
                  <a:lnTo>
                    <a:pt x="39731" y="139061"/>
                  </a:lnTo>
                  <a:lnTo>
                    <a:pt x="264369" y="139062"/>
                  </a:lnTo>
                  <a:lnTo>
                    <a:pt x="291433" y="133598"/>
                  </a:lnTo>
                  <a:lnTo>
                    <a:pt x="313534" y="118697"/>
                  </a:lnTo>
                  <a:lnTo>
                    <a:pt x="328435" y="96595"/>
                  </a:lnTo>
                  <a:lnTo>
                    <a:pt x="333899" y="69531"/>
                  </a:lnTo>
                  <a:lnTo>
                    <a:pt x="333899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798036" y="1255671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9" y="0"/>
                  </a:moveTo>
                  <a:lnTo>
                    <a:pt x="333899" y="69530"/>
                  </a:lnTo>
                  <a:lnTo>
                    <a:pt x="328435" y="96595"/>
                  </a:lnTo>
                  <a:lnTo>
                    <a:pt x="313534" y="118696"/>
                  </a:lnTo>
                  <a:lnTo>
                    <a:pt x="291433" y="133597"/>
                  </a:lnTo>
                  <a:lnTo>
                    <a:pt x="264369" y="139062"/>
                  </a:lnTo>
                  <a:lnTo>
                    <a:pt x="39731" y="139061"/>
                  </a:lnTo>
                  <a:lnTo>
                    <a:pt x="39731" y="158927"/>
                  </a:lnTo>
                  <a:lnTo>
                    <a:pt x="0" y="119194"/>
                  </a:lnTo>
                  <a:lnTo>
                    <a:pt x="39731" y="79462"/>
                  </a:lnTo>
                  <a:lnTo>
                    <a:pt x="39731" y="99329"/>
                  </a:lnTo>
                  <a:lnTo>
                    <a:pt x="264369" y="99329"/>
                  </a:lnTo>
                  <a:lnTo>
                    <a:pt x="275968" y="96987"/>
                  </a:lnTo>
                  <a:lnTo>
                    <a:pt x="285439" y="90601"/>
                  </a:lnTo>
                  <a:lnTo>
                    <a:pt x="291826" y="81129"/>
                  </a:lnTo>
                  <a:lnTo>
                    <a:pt x="294168" y="69530"/>
                  </a:lnTo>
                  <a:lnTo>
                    <a:pt x="294168" y="0"/>
                  </a:lnTo>
                  <a:lnTo>
                    <a:pt x="333899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837784" y="142986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336005" y="0"/>
                  </a:moveTo>
                  <a:lnTo>
                    <a:pt x="268288" y="2421"/>
                  </a:lnTo>
                  <a:lnTo>
                    <a:pt x="205217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1"/>
                  </a:lnTo>
                  <a:lnTo>
                    <a:pt x="6826" y="95172"/>
                  </a:lnTo>
                  <a:lnTo>
                    <a:pt x="0" y="119194"/>
                  </a:lnTo>
                  <a:lnTo>
                    <a:pt x="6826" y="143216"/>
                  </a:lnTo>
                  <a:lnTo>
                    <a:pt x="57384" y="185838"/>
                  </a:lnTo>
                  <a:lnTo>
                    <a:pt x="98413" y="203478"/>
                  </a:lnTo>
                  <a:lnTo>
                    <a:pt x="148141" y="218033"/>
                  </a:lnTo>
                  <a:lnTo>
                    <a:pt x="205217" y="229023"/>
                  </a:lnTo>
                  <a:lnTo>
                    <a:pt x="268288" y="235968"/>
                  </a:lnTo>
                  <a:lnTo>
                    <a:pt x="336005" y="238390"/>
                  </a:lnTo>
                  <a:lnTo>
                    <a:pt x="403722" y="235968"/>
                  </a:lnTo>
                  <a:lnTo>
                    <a:pt x="466793" y="229023"/>
                  </a:lnTo>
                  <a:lnTo>
                    <a:pt x="523869" y="218033"/>
                  </a:lnTo>
                  <a:lnTo>
                    <a:pt x="573597" y="203478"/>
                  </a:lnTo>
                  <a:lnTo>
                    <a:pt x="614626" y="185838"/>
                  </a:lnTo>
                  <a:lnTo>
                    <a:pt x="665185" y="143216"/>
                  </a:lnTo>
                  <a:lnTo>
                    <a:pt x="672011" y="119194"/>
                  </a:lnTo>
                  <a:lnTo>
                    <a:pt x="665185" y="95172"/>
                  </a:lnTo>
                  <a:lnTo>
                    <a:pt x="614626" y="52551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837784" y="142986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0" y="119194"/>
                  </a:moveTo>
                  <a:lnTo>
                    <a:pt x="26405" y="72798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1"/>
                  </a:lnTo>
                  <a:lnTo>
                    <a:pt x="665185" y="95173"/>
                  </a:lnTo>
                  <a:lnTo>
                    <a:pt x="672011" y="119194"/>
                  </a:lnTo>
                  <a:lnTo>
                    <a:pt x="665185" y="143216"/>
                  </a:lnTo>
                  <a:lnTo>
                    <a:pt x="614627" y="185837"/>
                  </a:lnTo>
                  <a:lnTo>
                    <a:pt x="573597" y="203478"/>
                  </a:lnTo>
                  <a:lnTo>
                    <a:pt x="523869" y="218033"/>
                  </a:lnTo>
                  <a:lnTo>
                    <a:pt x="466794" y="229023"/>
                  </a:lnTo>
                  <a:lnTo>
                    <a:pt x="403722" y="235968"/>
                  </a:lnTo>
                  <a:lnTo>
                    <a:pt x="336005" y="238390"/>
                  </a:lnTo>
                  <a:lnTo>
                    <a:pt x="268288" y="235968"/>
                  </a:lnTo>
                  <a:lnTo>
                    <a:pt x="205217" y="229023"/>
                  </a:lnTo>
                  <a:lnTo>
                    <a:pt x="148141" y="218033"/>
                  </a:lnTo>
                  <a:lnTo>
                    <a:pt x="98413" y="203478"/>
                  </a:lnTo>
                  <a:lnTo>
                    <a:pt x="57384" y="185837"/>
                  </a:lnTo>
                  <a:lnTo>
                    <a:pt x="6826" y="143216"/>
                  </a:lnTo>
                  <a:lnTo>
                    <a:pt x="0" y="119194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10</a:t>
            </a:fld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2225" y="728548"/>
            <a:ext cx="6139632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Reparació</a:t>
            </a:r>
            <a:r>
              <a:rPr sz="4000" dirty="0"/>
              <a:t>n</a:t>
            </a:r>
            <a:r>
              <a:rPr sz="4000" spc="-200" dirty="0"/>
              <a:t> </a:t>
            </a:r>
            <a:r>
              <a:rPr sz="4000" spc="-105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5" dirty="0"/>
              <a:t>defectos</a:t>
            </a:r>
            <a:endParaRPr sz="4000"/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479453" y="1810904"/>
            <a:ext cx="7584440" cy="18516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just">
              <a:lnSpc>
                <a:spcPct val="99800"/>
              </a:lnSpc>
              <a:spcBef>
                <a:spcPts val="105"/>
              </a:spcBef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 desarrollador del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software, clasifica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los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fallos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en base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una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prioridad,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establece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plan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para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reparación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algunos de los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defectos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que han generado esos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fallos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y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preparará un nuevo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lanzamiento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software. Este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plan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consiste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en: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46153" y="3712348"/>
            <a:ext cx="4394200" cy="2251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200" marR="5080" indent="-190500">
              <a:lnSpc>
                <a:spcPct val="108500"/>
              </a:lnSpc>
              <a:spcBef>
                <a:spcPts val="100"/>
              </a:spcBef>
              <a:buClr>
                <a:srgbClr val="93A299"/>
              </a:buClr>
              <a:buSzPct val="83333"/>
              <a:buFont typeface="Arial MT"/>
              <a:buChar char="•"/>
              <a:tabLst>
                <a:tab pos="195580" algn="l"/>
                <a:tab pos="1614170" algn="l"/>
                <a:tab pos="2084705" algn="l"/>
                <a:tab pos="2877185" algn="l"/>
                <a:tab pos="3262629" algn="l"/>
              </a:tabLst>
            </a:pP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n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a</a:t>
            </a: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li</a:t>
            </a:r>
            <a:r>
              <a:rPr sz="2400" b="1" dirty="0">
                <a:solidFill>
                  <a:srgbClr val="292934"/>
                </a:solidFill>
                <a:latin typeface="Arial"/>
                <a:cs typeface="Arial"/>
              </a:rPr>
              <a:t>zar	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	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allo	y	localizar  ocasiona.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894"/>
              </a:spcBef>
              <a:buClr>
                <a:srgbClr val="93A299"/>
              </a:buClr>
              <a:buSzPct val="83333"/>
              <a:buFont typeface="Arial MT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Diseñar</a:t>
            </a:r>
            <a:r>
              <a:rPr sz="2400" b="1" spc="-3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24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solución.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819"/>
              </a:spcBef>
              <a:buClr>
                <a:srgbClr val="93A299"/>
              </a:buClr>
              <a:buSzPct val="83333"/>
              <a:buFont typeface="Arial MT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Modificar</a:t>
            </a:r>
            <a:r>
              <a:rPr sz="24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software.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919"/>
              </a:spcBef>
              <a:buClr>
                <a:srgbClr val="93A299"/>
              </a:buClr>
              <a:buSzPct val="83333"/>
              <a:buFont typeface="Arial MT"/>
              <a:buChar char="•"/>
              <a:tabLst>
                <a:tab pos="195580" algn="l"/>
              </a:tabLst>
            </a:pPr>
            <a:r>
              <a:rPr sz="2400" b="1" spc="-5" dirty="0">
                <a:solidFill>
                  <a:srgbClr val="292934"/>
                </a:solidFill>
                <a:latin typeface="Arial"/>
                <a:cs typeface="Arial"/>
              </a:rPr>
              <a:t>Probar</a:t>
            </a:r>
            <a:r>
              <a:rPr sz="2400" b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reparado.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347760" y="3743336"/>
            <a:ext cx="2708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2600" algn="l"/>
                <a:tab pos="1715770" algn="l"/>
                <a:tab pos="245745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	de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ec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	que	lo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8322354" y="784402"/>
            <a:ext cx="386715" cy="161290"/>
            <a:chOff x="8322354" y="784402"/>
            <a:chExt cx="386715" cy="161290"/>
          </a:xfrm>
        </p:grpSpPr>
        <p:sp>
          <p:nvSpPr>
            <p:cNvPr id="7" name="object 7"/>
            <p:cNvSpPr/>
            <p:nvPr/>
          </p:nvSpPr>
          <p:spPr>
            <a:xfrm>
              <a:off x="8327116" y="789165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1"/>
                  </a:lnTo>
                  <a:lnTo>
                    <a:pt x="377014" y="151201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327116" y="789165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8330207" y="1308570"/>
            <a:ext cx="386715" cy="161290"/>
            <a:chOff x="8330207" y="1308570"/>
            <a:chExt cx="386715" cy="161290"/>
          </a:xfrm>
        </p:grpSpPr>
        <p:sp>
          <p:nvSpPr>
            <p:cNvPr id="10" name="object 10"/>
            <p:cNvSpPr/>
            <p:nvPr/>
          </p:nvSpPr>
          <p:spPr>
            <a:xfrm>
              <a:off x="8334970" y="1313332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6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6" y="151202"/>
                  </a:lnTo>
                  <a:lnTo>
                    <a:pt x="377016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34970" y="1313332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2" name="object 12"/>
          <p:cNvGrpSpPr/>
          <p:nvPr/>
        </p:nvGrpSpPr>
        <p:grpSpPr>
          <a:xfrm>
            <a:off x="8774314" y="576051"/>
            <a:ext cx="728345" cy="611505"/>
            <a:chOff x="8774314" y="576051"/>
            <a:chExt cx="728345" cy="611505"/>
          </a:xfrm>
        </p:grpSpPr>
        <p:sp>
          <p:nvSpPr>
            <p:cNvPr id="13" name="object 13"/>
            <p:cNvSpPr/>
            <p:nvPr/>
          </p:nvSpPr>
          <p:spPr>
            <a:xfrm>
              <a:off x="8892638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4" y="151202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892638" y="1031087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779076" y="832680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266299" y="0"/>
                  </a:moveTo>
                  <a:lnTo>
                    <a:pt x="0" y="0"/>
                  </a:lnTo>
                  <a:lnTo>
                    <a:pt x="0" y="40342"/>
                  </a:lnTo>
                  <a:lnTo>
                    <a:pt x="266299" y="40342"/>
                  </a:lnTo>
                  <a:lnTo>
                    <a:pt x="278077" y="42720"/>
                  </a:lnTo>
                  <a:lnTo>
                    <a:pt x="287695" y="49205"/>
                  </a:lnTo>
                  <a:lnTo>
                    <a:pt x="294179" y="58822"/>
                  </a:lnTo>
                  <a:lnTo>
                    <a:pt x="296557" y="70600"/>
                  </a:lnTo>
                  <a:lnTo>
                    <a:pt x="296557" y="121028"/>
                  </a:lnTo>
                  <a:lnTo>
                    <a:pt x="276386" y="121028"/>
                  </a:lnTo>
                  <a:lnTo>
                    <a:pt x="316729" y="161372"/>
                  </a:lnTo>
                  <a:lnTo>
                    <a:pt x="357071" y="121028"/>
                  </a:lnTo>
                  <a:lnTo>
                    <a:pt x="336900" y="121028"/>
                  </a:lnTo>
                  <a:lnTo>
                    <a:pt x="336900" y="70600"/>
                  </a:lnTo>
                  <a:lnTo>
                    <a:pt x="331352" y="43119"/>
                  </a:lnTo>
                  <a:lnTo>
                    <a:pt x="316222" y="20678"/>
                  </a:lnTo>
                  <a:lnTo>
                    <a:pt x="293780" y="5548"/>
                  </a:lnTo>
                  <a:lnTo>
                    <a:pt x="266299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779076" y="832680"/>
              <a:ext cx="357505" cy="161925"/>
            </a:xfrm>
            <a:custGeom>
              <a:avLst/>
              <a:gdLst/>
              <a:ahLst/>
              <a:cxnLst/>
              <a:rect l="l" t="t" r="r" b="b"/>
              <a:pathLst>
                <a:path w="357504" h="161925">
                  <a:moveTo>
                    <a:pt x="0" y="0"/>
                  </a:moveTo>
                  <a:lnTo>
                    <a:pt x="266299" y="0"/>
                  </a:lnTo>
                  <a:lnTo>
                    <a:pt x="293780" y="5548"/>
                  </a:lnTo>
                  <a:lnTo>
                    <a:pt x="316221" y="20678"/>
                  </a:lnTo>
                  <a:lnTo>
                    <a:pt x="331352" y="43119"/>
                  </a:lnTo>
                  <a:lnTo>
                    <a:pt x="336900" y="70600"/>
                  </a:lnTo>
                  <a:lnTo>
                    <a:pt x="336900" y="121029"/>
                  </a:lnTo>
                  <a:lnTo>
                    <a:pt x="357071" y="121029"/>
                  </a:lnTo>
                  <a:lnTo>
                    <a:pt x="316728" y="161372"/>
                  </a:lnTo>
                  <a:lnTo>
                    <a:pt x="276386" y="121029"/>
                  </a:lnTo>
                  <a:lnTo>
                    <a:pt x="296557" y="121029"/>
                  </a:lnTo>
                  <a:lnTo>
                    <a:pt x="296557" y="70600"/>
                  </a:lnTo>
                  <a:lnTo>
                    <a:pt x="294179" y="58822"/>
                  </a:lnTo>
                  <a:lnTo>
                    <a:pt x="287694" y="49205"/>
                  </a:lnTo>
                  <a:lnTo>
                    <a:pt x="278077" y="42721"/>
                  </a:lnTo>
                  <a:lnTo>
                    <a:pt x="266299" y="40343"/>
                  </a:lnTo>
                  <a:lnTo>
                    <a:pt x="0" y="4034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825422" y="580814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5" y="0"/>
                  </a:moveTo>
                  <a:lnTo>
                    <a:pt x="268288" y="2421"/>
                  </a:lnTo>
                  <a:lnTo>
                    <a:pt x="205216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1"/>
                  </a:lnTo>
                  <a:lnTo>
                    <a:pt x="6826" y="95172"/>
                  </a:lnTo>
                  <a:lnTo>
                    <a:pt x="0" y="119194"/>
                  </a:lnTo>
                  <a:lnTo>
                    <a:pt x="6826" y="143216"/>
                  </a:lnTo>
                  <a:lnTo>
                    <a:pt x="57384" y="185837"/>
                  </a:lnTo>
                  <a:lnTo>
                    <a:pt x="98413" y="203478"/>
                  </a:lnTo>
                  <a:lnTo>
                    <a:pt x="148141" y="218033"/>
                  </a:lnTo>
                  <a:lnTo>
                    <a:pt x="205216" y="229023"/>
                  </a:lnTo>
                  <a:lnTo>
                    <a:pt x="268288" y="235968"/>
                  </a:lnTo>
                  <a:lnTo>
                    <a:pt x="336005" y="238390"/>
                  </a:lnTo>
                  <a:lnTo>
                    <a:pt x="403722" y="235968"/>
                  </a:lnTo>
                  <a:lnTo>
                    <a:pt x="466793" y="229023"/>
                  </a:lnTo>
                  <a:lnTo>
                    <a:pt x="523869" y="218033"/>
                  </a:lnTo>
                  <a:lnTo>
                    <a:pt x="573597" y="203478"/>
                  </a:lnTo>
                  <a:lnTo>
                    <a:pt x="614626" y="185837"/>
                  </a:lnTo>
                  <a:lnTo>
                    <a:pt x="665185" y="143216"/>
                  </a:lnTo>
                  <a:lnTo>
                    <a:pt x="672011" y="119194"/>
                  </a:lnTo>
                  <a:lnTo>
                    <a:pt x="665185" y="95172"/>
                  </a:lnTo>
                  <a:lnTo>
                    <a:pt x="614626" y="52551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825422" y="580814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6"/>
                  </a:lnTo>
                  <a:lnTo>
                    <a:pt x="614627" y="185837"/>
                  </a:lnTo>
                  <a:lnTo>
                    <a:pt x="573597" y="203478"/>
                  </a:lnTo>
                  <a:lnTo>
                    <a:pt x="523869" y="218033"/>
                  </a:lnTo>
                  <a:lnTo>
                    <a:pt x="466794" y="229023"/>
                  </a:lnTo>
                  <a:lnTo>
                    <a:pt x="403722" y="235968"/>
                  </a:lnTo>
                  <a:lnTo>
                    <a:pt x="336005" y="238390"/>
                  </a:lnTo>
                  <a:lnTo>
                    <a:pt x="268288" y="235968"/>
                  </a:lnTo>
                  <a:lnTo>
                    <a:pt x="205217" y="229023"/>
                  </a:lnTo>
                  <a:lnTo>
                    <a:pt x="148141" y="218033"/>
                  </a:lnTo>
                  <a:lnTo>
                    <a:pt x="98413" y="203478"/>
                  </a:lnTo>
                  <a:lnTo>
                    <a:pt x="57384" y="185837"/>
                  </a:lnTo>
                  <a:lnTo>
                    <a:pt x="6826" y="143216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7505077" y="1039765"/>
            <a:ext cx="728980" cy="638175"/>
            <a:chOff x="7505077" y="1039765"/>
            <a:chExt cx="728980" cy="638175"/>
          </a:xfrm>
        </p:grpSpPr>
        <p:sp>
          <p:nvSpPr>
            <p:cNvPr id="20" name="object 20"/>
            <p:cNvSpPr/>
            <p:nvPr/>
          </p:nvSpPr>
          <p:spPr>
            <a:xfrm>
              <a:off x="7730177" y="1044528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377014" y="0"/>
                  </a:moveTo>
                  <a:lnTo>
                    <a:pt x="0" y="0"/>
                  </a:lnTo>
                  <a:lnTo>
                    <a:pt x="0" y="151202"/>
                  </a:lnTo>
                  <a:lnTo>
                    <a:pt x="377014" y="151202"/>
                  </a:lnTo>
                  <a:lnTo>
                    <a:pt x="377014" y="0"/>
                  </a:lnTo>
                  <a:close/>
                </a:path>
              </a:pathLst>
            </a:custGeom>
            <a:solidFill>
              <a:srgbClr val="4180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730177" y="1044528"/>
              <a:ext cx="377190" cy="151765"/>
            </a:xfrm>
            <a:custGeom>
              <a:avLst/>
              <a:gdLst/>
              <a:ahLst/>
              <a:cxnLst/>
              <a:rect l="l" t="t" r="r" b="b"/>
              <a:pathLst>
                <a:path w="377190" h="151765">
                  <a:moveTo>
                    <a:pt x="0" y="0"/>
                  </a:moveTo>
                  <a:lnTo>
                    <a:pt x="377014" y="0"/>
                  </a:lnTo>
                  <a:lnTo>
                    <a:pt x="377014" y="151201"/>
                  </a:lnTo>
                  <a:lnTo>
                    <a:pt x="0" y="151201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871124" y="1249559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40344" y="0"/>
                  </a:moveTo>
                  <a:lnTo>
                    <a:pt x="0" y="40342"/>
                  </a:lnTo>
                  <a:lnTo>
                    <a:pt x="20171" y="40342"/>
                  </a:lnTo>
                  <a:lnTo>
                    <a:pt x="20171" y="90771"/>
                  </a:lnTo>
                  <a:lnTo>
                    <a:pt x="25719" y="118252"/>
                  </a:lnTo>
                  <a:lnTo>
                    <a:pt x="40849" y="140693"/>
                  </a:lnTo>
                  <a:lnTo>
                    <a:pt x="63291" y="155823"/>
                  </a:lnTo>
                  <a:lnTo>
                    <a:pt x="90771" y="161371"/>
                  </a:lnTo>
                  <a:lnTo>
                    <a:pt x="358126" y="161371"/>
                  </a:lnTo>
                  <a:lnTo>
                    <a:pt x="358126" y="121028"/>
                  </a:lnTo>
                  <a:lnTo>
                    <a:pt x="90771" y="121028"/>
                  </a:lnTo>
                  <a:lnTo>
                    <a:pt x="78994" y="118650"/>
                  </a:lnTo>
                  <a:lnTo>
                    <a:pt x="69377" y="112166"/>
                  </a:lnTo>
                  <a:lnTo>
                    <a:pt x="62893" y="102549"/>
                  </a:lnTo>
                  <a:lnTo>
                    <a:pt x="60515" y="90771"/>
                  </a:lnTo>
                  <a:lnTo>
                    <a:pt x="60515" y="40342"/>
                  </a:lnTo>
                  <a:lnTo>
                    <a:pt x="80685" y="40342"/>
                  </a:lnTo>
                  <a:lnTo>
                    <a:pt x="40344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871124" y="1249558"/>
              <a:ext cx="358140" cy="161925"/>
            </a:xfrm>
            <a:custGeom>
              <a:avLst/>
              <a:gdLst/>
              <a:ahLst/>
              <a:cxnLst/>
              <a:rect l="l" t="t" r="r" b="b"/>
              <a:pathLst>
                <a:path w="358140" h="161925">
                  <a:moveTo>
                    <a:pt x="358126" y="161371"/>
                  </a:moveTo>
                  <a:lnTo>
                    <a:pt x="90771" y="161371"/>
                  </a:lnTo>
                  <a:lnTo>
                    <a:pt x="63291" y="155823"/>
                  </a:lnTo>
                  <a:lnTo>
                    <a:pt x="40850" y="140693"/>
                  </a:lnTo>
                  <a:lnTo>
                    <a:pt x="25719" y="118252"/>
                  </a:lnTo>
                  <a:lnTo>
                    <a:pt x="20171" y="90771"/>
                  </a:lnTo>
                  <a:lnTo>
                    <a:pt x="20171" y="40342"/>
                  </a:lnTo>
                  <a:lnTo>
                    <a:pt x="0" y="40342"/>
                  </a:lnTo>
                  <a:lnTo>
                    <a:pt x="40343" y="0"/>
                  </a:lnTo>
                  <a:lnTo>
                    <a:pt x="80685" y="40342"/>
                  </a:lnTo>
                  <a:lnTo>
                    <a:pt x="60514" y="40342"/>
                  </a:lnTo>
                  <a:lnTo>
                    <a:pt x="60514" y="90771"/>
                  </a:lnTo>
                  <a:lnTo>
                    <a:pt x="62892" y="102549"/>
                  </a:lnTo>
                  <a:lnTo>
                    <a:pt x="69376" y="112167"/>
                  </a:lnTo>
                  <a:lnTo>
                    <a:pt x="78994" y="118651"/>
                  </a:lnTo>
                  <a:lnTo>
                    <a:pt x="90771" y="121029"/>
                  </a:lnTo>
                  <a:lnTo>
                    <a:pt x="358126" y="121029"/>
                  </a:lnTo>
                  <a:lnTo>
                    <a:pt x="358126" y="161371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509840" y="143415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336005" y="0"/>
                  </a:moveTo>
                  <a:lnTo>
                    <a:pt x="268288" y="2421"/>
                  </a:lnTo>
                  <a:lnTo>
                    <a:pt x="205217" y="9366"/>
                  </a:lnTo>
                  <a:lnTo>
                    <a:pt x="148141" y="20356"/>
                  </a:lnTo>
                  <a:lnTo>
                    <a:pt x="98413" y="34911"/>
                  </a:lnTo>
                  <a:lnTo>
                    <a:pt x="57384" y="52552"/>
                  </a:lnTo>
                  <a:lnTo>
                    <a:pt x="6826" y="95173"/>
                  </a:lnTo>
                  <a:lnTo>
                    <a:pt x="0" y="119195"/>
                  </a:lnTo>
                  <a:lnTo>
                    <a:pt x="6826" y="143218"/>
                  </a:lnTo>
                  <a:lnTo>
                    <a:pt x="57384" y="185839"/>
                  </a:lnTo>
                  <a:lnTo>
                    <a:pt x="98413" y="203480"/>
                  </a:lnTo>
                  <a:lnTo>
                    <a:pt x="148141" y="218035"/>
                  </a:lnTo>
                  <a:lnTo>
                    <a:pt x="205217" y="229024"/>
                  </a:lnTo>
                  <a:lnTo>
                    <a:pt x="268288" y="235970"/>
                  </a:lnTo>
                  <a:lnTo>
                    <a:pt x="336005" y="238391"/>
                  </a:lnTo>
                  <a:lnTo>
                    <a:pt x="403722" y="235970"/>
                  </a:lnTo>
                  <a:lnTo>
                    <a:pt x="466793" y="229024"/>
                  </a:lnTo>
                  <a:lnTo>
                    <a:pt x="523869" y="218035"/>
                  </a:lnTo>
                  <a:lnTo>
                    <a:pt x="573597" y="203480"/>
                  </a:lnTo>
                  <a:lnTo>
                    <a:pt x="614626" y="185839"/>
                  </a:lnTo>
                  <a:lnTo>
                    <a:pt x="665185" y="143218"/>
                  </a:lnTo>
                  <a:lnTo>
                    <a:pt x="672011" y="119195"/>
                  </a:lnTo>
                  <a:lnTo>
                    <a:pt x="665185" y="95173"/>
                  </a:lnTo>
                  <a:lnTo>
                    <a:pt x="614626" y="52552"/>
                  </a:lnTo>
                  <a:lnTo>
                    <a:pt x="573597" y="34911"/>
                  </a:lnTo>
                  <a:lnTo>
                    <a:pt x="523869" y="20356"/>
                  </a:lnTo>
                  <a:lnTo>
                    <a:pt x="466793" y="9366"/>
                  </a:lnTo>
                  <a:lnTo>
                    <a:pt x="403722" y="2421"/>
                  </a:lnTo>
                  <a:lnTo>
                    <a:pt x="336005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509840" y="1434158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60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7"/>
                  </a:lnTo>
                  <a:lnTo>
                    <a:pt x="614627" y="185839"/>
                  </a:lnTo>
                  <a:lnTo>
                    <a:pt x="573597" y="203480"/>
                  </a:lnTo>
                  <a:lnTo>
                    <a:pt x="523869" y="218035"/>
                  </a:lnTo>
                  <a:lnTo>
                    <a:pt x="466794" y="229024"/>
                  </a:lnTo>
                  <a:lnTo>
                    <a:pt x="403722" y="235970"/>
                  </a:lnTo>
                  <a:lnTo>
                    <a:pt x="336005" y="238392"/>
                  </a:lnTo>
                  <a:lnTo>
                    <a:pt x="268288" y="235970"/>
                  </a:lnTo>
                  <a:lnTo>
                    <a:pt x="205217" y="229024"/>
                  </a:lnTo>
                  <a:lnTo>
                    <a:pt x="148141" y="218035"/>
                  </a:lnTo>
                  <a:lnTo>
                    <a:pt x="98413" y="203480"/>
                  </a:lnTo>
                  <a:lnTo>
                    <a:pt x="57384" y="185839"/>
                  </a:lnTo>
                  <a:lnTo>
                    <a:pt x="6826" y="143217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7495596" y="589527"/>
            <a:ext cx="738505" cy="400050"/>
            <a:chOff x="7495596" y="589527"/>
            <a:chExt cx="738505" cy="400050"/>
          </a:xfrm>
        </p:grpSpPr>
        <p:sp>
          <p:nvSpPr>
            <p:cNvPr id="27" name="object 27"/>
            <p:cNvSpPr/>
            <p:nvPr/>
          </p:nvSpPr>
          <p:spPr>
            <a:xfrm>
              <a:off x="7895351" y="826568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294472" y="0"/>
                  </a:moveTo>
                  <a:lnTo>
                    <a:pt x="294472" y="19712"/>
                  </a:lnTo>
                  <a:lnTo>
                    <a:pt x="68995" y="19712"/>
                  </a:lnTo>
                  <a:lnTo>
                    <a:pt x="42139" y="25135"/>
                  </a:lnTo>
                  <a:lnTo>
                    <a:pt x="20208" y="39921"/>
                  </a:lnTo>
                  <a:lnTo>
                    <a:pt x="5421" y="61853"/>
                  </a:lnTo>
                  <a:lnTo>
                    <a:pt x="0" y="88709"/>
                  </a:lnTo>
                  <a:lnTo>
                    <a:pt x="0" y="157704"/>
                  </a:lnTo>
                  <a:lnTo>
                    <a:pt x="39425" y="157704"/>
                  </a:lnTo>
                  <a:lnTo>
                    <a:pt x="39425" y="88709"/>
                  </a:lnTo>
                  <a:lnTo>
                    <a:pt x="41749" y="77198"/>
                  </a:lnTo>
                  <a:lnTo>
                    <a:pt x="48086" y="67799"/>
                  </a:lnTo>
                  <a:lnTo>
                    <a:pt x="57485" y="61462"/>
                  </a:lnTo>
                  <a:lnTo>
                    <a:pt x="68995" y="59138"/>
                  </a:lnTo>
                  <a:lnTo>
                    <a:pt x="294472" y="59138"/>
                  </a:lnTo>
                  <a:lnTo>
                    <a:pt x="294472" y="78851"/>
                  </a:lnTo>
                  <a:lnTo>
                    <a:pt x="333898" y="39425"/>
                  </a:lnTo>
                  <a:lnTo>
                    <a:pt x="294472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7895350" y="826568"/>
              <a:ext cx="334010" cy="158115"/>
            </a:xfrm>
            <a:custGeom>
              <a:avLst/>
              <a:gdLst/>
              <a:ahLst/>
              <a:cxnLst/>
              <a:rect l="l" t="t" r="r" b="b"/>
              <a:pathLst>
                <a:path w="334009" h="158115">
                  <a:moveTo>
                    <a:pt x="0" y="157704"/>
                  </a:moveTo>
                  <a:lnTo>
                    <a:pt x="0" y="88709"/>
                  </a:lnTo>
                  <a:lnTo>
                    <a:pt x="5422" y="61852"/>
                  </a:lnTo>
                  <a:lnTo>
                    <a:pt x="20208" y="39921"/>
                  </a:lnTo>
                  <a:lnTo>
                    <a:pt x="42139" y="25134"/>
                  </a:lnTo>
                  <a:lnTo>
                    <a:pt x="68995" y="19712"/>
                  </a:lnTo>
                  <a:lnTo>
                    <a:pt x="294472" y="19712"/>
                  </a:lnTo>
                  <a:lnTo>
                    <a:pt x="294472" y="0"/>
                  </a:lnTo>
                  <a:lnTo>
                    <a:pt x="333898" y="39426"/>
                  </a:lnTo>
                  <a:lnTo>
                    <a:pt x="294472" y="78851"/>
                  </a:lnTo>
                  <a:lnTo>
                    <a:pt x="294472" y="59139"/>
                  </a:lnTo>
                  <a:lnTo>
                    <a:pt x="68995" y="59139"/>
                  </a:lnTo>
                  <a:lnTo>
                    <a:pt x="57485" y="61462"/>
                  </a:lnTo>
                  <a:lnTo>
                    <a:pt x="48086" y="67799"/>
                  </a:lnTo>
                  <a:lnTo>
                    <a:pt x="41749" y="77199"/>
                  </a:lnTo>
                  <a:lnTo>
                    <a:pt x="39426" y="88709"/>
                  </a:lnTo>
                  <a:lnTo>
                    <a:pt x="39426" y="157704"/>
                  </a:lnTo>
                  <a:lnTo>
                    <a:pt x="0" y="157704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500359" y="594290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336006" y="0"/>
                  </a:moveTo>
                  <a:lnTo>
                    <a:pt x="268289" y="2421"/>
                  </a:lnTo>
                  <a:lnTo>
                    <a:pt x="205217" y="9366"/>
                  </a:lnTo>
                  <a:lnTo>
                    <a:pt x="148142" y="20356"/>
                  </a:lnTo>
                  <a:lnTo>
                    <a:pt x="98414" y="34911"/>
                  </a:lnTo>
                  <a:lnTo>
                    <a:pt x="57384" y="52551"/>
                  </a:lnTo>
                  <a:lnTo>
                    <a:pt x="6826" y="95172"/>
                  </a:lnTo>
                  <a:lnTo>
                    <a:pt x="0" y="119194"/>
                  </a:lnTo>
                  <a:lnTo>
                    <a:pt x="6826" y="143216"/>
                  </a:lnTo>
                  <a:lnTo>
                    <a:pt x="57384" y="185837"/>
                  </a:lnTo>
                  <a:lnTo>
                    <a:pt x="98414" y="203478"/>
                  </a:lnTo>
                  <a:lnTo>
                    <a:pt x="148142" y="218033"/>
                  </a:lnTo>
                  <a:lnTo>
                    <a:pt x="205217" y="229023"/>
                  </a:lnTo>
                  <a:lnTo>
                    <a:pt x="268289" y="235968"/>
                  </a:lnTo>
                  <a:lnTo>
                    <a:pt x="336006" y="238390"/>
                  </a:lnTo>
                  <a:lnTo>
                    <a:pt x="403723" y="235968"/>
                  </a:lnTo>
                  <a:lnTo>
                    <a:pt x="466795" y="229023"/>
                  </a:lnTo>
                  <a:lnTo>
                    <a:pt x="523870" y="218033"/>
                  </a:lnTo>
                  <a:lnTo>
                    <a:pt x="573598" y="203478"/>
                  </a:lnTo>
                  <a:lnTo>
                    <a:pt x="614627" y="185837"/>
                  </a:lnTo>
                  <a:lnTo>
                    <a:pt x="665185" y="143216"/>
                  </a:lnTo>
                  <a:lnTo>
                    <a:pt x="672011" y="119194"/>
                  </a:lnTo>
                  <a:lnTo>
                    <a:pt x="665185" y="95172"/>
                  </a:lnTo>
                  <a:lnTo>
                    <a:pt x="614627" y="52551"/>
                  </a:lnTo>
                  <a:lnTo>
                    <a:pt x="573598" y="34911"/>
                  </a:lnTo>
                  <a:lnTo>
                    <a:pt x="523870" y="20356"/>
                  </a:lnTo>
                  <a:lnTo>
                    <a:pt x="466795" y="9366"/>
                  </a:lnTo>
                  <a:lnTo>
                    <a:pt x="403723" y="2421"/>
                  </a:lnTo>
                  <a:lnTo>
                    <a:pt x="336006" y="0"/>
                  </a:lnTo>
                  <a:close/>
                </a:path>
              </a:pathLst>
            </a:custGeom>
            <a:solidFill>
              <a:srgbClr val="FF2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00359" y="594290"/>
              <a:ext cx="672465" cy="238760"/>
            </a:xfrm>
            <a:custGeom>
              <a:avLst/>
              <a:gdLst/>
              <a:ahLst/>
              <a:cxnLst/>
              <a:rect l="l" t="t" r="r" b="b"/>
              <a:pathLst>
                <a:path w="672465" h="238759">
                  <a:moveTo>
                    <a:pt x="0" y="119195"/>
                  </a:moveTo>
                  <a:lnTo>
                    <a:pt x="26405" y="72799"/>
                  </a:lnTo>
                  <a:lnTo>
                    <a:pt x="98413" y="34911"/>
                  </a:lnTo>
                  <a:lnTo>
                    <a:pt x="148141" y="20356"/>
                  </a:lnTo>
                  <a:lnTo>
                    <a:pt x="205217" y="9366"/>
                  </a:lnTo>
                  <a:lnTo>
                    <a:pt x="268288" y="2421"/>
                  </a:lnTo>
                  <a:lnTo>
                    <a:pt x="336005" y="0"/>
                  </a:lnTo>
                  <a:lnTo>
                    <a:pt x="403722" y="2421"/>
                  </a:lnTo>
                  <a:lnTo>
                    <a:pt x="466794" y="9366"/>
                  </a:lnTo>
                  <a:lnTo>
                    <a:pt x="523869" y="20356"/>
                  </a:lnTo>
                  <a:lnTo>
                    <a:pt x="573597" y="34911"/>
                  </a:lnTo>
                  <a:lnTo>
                    <a:pt x="614627" y="52552"/>
                  </a:lnTo>
                  <a:lnTo>
                    <a:pt x="665185" y="95173"/>
                  </a:lnTo>
                  <a:lnTo>
                    <a:pt x="672011" y="119195"/>
                  </a:lnTo>
                  <a:lnTo>
                    <a:pt x="665185" y="143216"/>
                  </a:lnTo>
                  <a:lnTo>
                    <a:pt x="614627" y="185837"/>
                  </a:lnTo>
                  <a:lnTo>
                    <a:pt x="573597" y="203478"/>
                  </a:lnTo>
                  <a:lnTo>
                    <a:pt x="523869" y="218033"/>
                  </a:lnTo>
                  <a:lnTo>
                    <a:pt x="466794" y="229023"/>
                  </a:lnTo>
                  <a:lnTo>
                    <a:pt x="403722" y="235968"/>
                  </a:lnTo>
                  <a:lnTo>
                    <a:pt x="336005" y="238390"/>
                  </a:lnTo>
                  <a:lnTo>
                    <a:pt x="268288" y="235968"/>
                  </a:lnTo>
                  <a:lnTo>
                    <a:pt x="205217" y="229023"/>
                  </a:lnTo>
                  <a:lnTo>
                    <a:pt x="148141" y="218033"/>
                  </a:lnTo>
                  <a:lnTo>
                    <a:pt x="98413" y="203478"/>
                  </a:lnTo>
                  <a:lnTo>
                    <a:pt x="57384" y="185837"/>
                  </a:lnTo>
                  <a:lnTo>
                    <a:pt x="6826" y="143216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8785900" y="1250909"/>
            <a:ext cx="716915" cy="430530"/>
            <a:chOff x="8785900" y="1250909"/>
            <a:chExt cx="716915" cy="430530"/>
          </a:xfrm>
        </p:grpSpPr>
        <p:sp>
          <p:nvSpPr>
            <p:cNvPr id="32" name="object 32"/>
            <p:cNvSpPr/>
            <p:nvPr/>
          </p:nvSpPr>
          <p:spPr>
            <a:xfrm>
              <a:off x="8798037" y="1255670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9" y="0"/>
                  </a:moveTo>
                  <a:lnTo>
                    <a:pt x="294168" y="0"/>
                  </a:lnTo>
                  <a:lnTo>
                    <a:pt x="294168" y="69531"/>
                  </a:lnTo>
                  <a:lnTo>
                    <a:pt x="291826" y="81129"/>
                  </a:lnTo>
                  <a:lnTo>
                    <a:pt x="285440" y="90601"/>
                  </a:lnTo>
                  <a:lnTo>
                    <a:pt x="275968" y="96987"/>
                  </a:lnTo>
                  <a:lnTo>
                    <a:pt x="264369" y="99329"/>
                  </a:lnTo>
                  <a:lnTo>
                    <a:pt x="39731" y="99329"/>
                  </a:lnTo>
                  <a:lnTo>
                    <a:pt x="39731" y="79463"/>
                  </a:lnTo>
                  <a:lnTo>
                    <a:pt x="0" y="119195"/>
                  </a:lnTo>
                  <a:lnTo>
                    <a:pt x="39731" y="158927"/>
                  </a:lnTo>
                  <a:lnTo>
                    <a:pt x="39731" y="139061"/>
                  </a:lnTo>
                  <a:lnTo>
                    <a:pt x="264369" y="139062"/>
                  </a:lnTo>
                  <a:lnTo>
                    <a:pt x="291434" y="133598"/>
                  </a:lnTo>
                  <a:lnTo>
                    <a:pt x="313534" y="118697"/>
                  </a:lnTo>
                  <a:lnTo>
                    <a:pt x="328435" y="96595"/>
                  </a:lnTo>
                  <a:lnTo>
                    <a:pt x="333899" y="69531"/>
                  </a:lnTo>
                  <a:lnTo>
                    <a:pt x="333899" y="0"/>
                  </a:lnTo>
                  <a:close/>
                </a:path>
              </a:pathLst>
            </a:custGeom>
            <a:solidFill>
              <a:srgbClr val="A9A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798037" y="1255671"/>
              <a:ext cx="334010" cy="159385"/>
            </a:xfrm>
            <a:custGeom>
              <a:avLst/>
              <a:gdLst/>
              <a:ahLst/>
              <a:cxnLst/>
              <a:rect l="l" t="t" r="r" b="b"/>
              <a:pathLst>
                <a:path w="334009" h="159384">
                  <a:moveTo>
                    <a:pt x="333899" y="0"/>
                  </a:moveTo>
                  <a:lnTo>
                    <a:pt x="333899" y="69530"/>
                  </a:lnTo>
                  <a:lnTo>
                    <a:pt x="328435" y="96595"/>
                  </a:lnTo>
                  <a:lnTo>
                    <a:pt x="313534" y="118696"/>
                  </a:lnTo>
                  <a:lnTo>
                    <a:pt x="291433" y="133597"/>
                  </a:lnTo>
                  <a:lnTo>
                    <a:pt x="264369" y="139062"/>
                  </a:lnTo>
                  <a:lnTo>
                    <a:pt x="39731" y="139061"/>
                  </a:lnTo>
                  <a:lnTo>
                    <a:pt x="39731" y="158927"/>
                  </a:lnTo>
                  <a:lnTo>
                    <a:pt x="0" y="119194"/>
                  </a:lnTo>
                  <a:lnTo>
                    <a:pt x="39731" y="79462"/>
                  </a:lnTo>
                  <a:lnTo>
                    <a:pt x="39731" y="99329"/>
                  </a:lnTo>
                  <a:lnTo>
                    <a:pt x="264369" y="99329"/>
                  </a:lnTo>
                  <a:lnTo>
                    <a:pt x="275968" y="96987"/>
                  </a:lnTo>
                  <a:lnTo>
                    <a:pt x="285440" y="90601"/>
                  </a:lnTo>
                  <a:lnTo>
                    <a:pt x="291826" y="81129"/>
                  </a:lnTo>
                  <a:lnTo>
                    <a:pt x="294168" y="69530"/>
                  </a:lnTo>
                  <a:lnTo>
                    <a:pt x="294168" y="0"/>
                  </a:lnTo>
                  <a:lnTo>
                    <a:pt x="333899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8790662" y="1437826"/>
              <a:ext cx="707390" cy="238760"/>
            </a:xfrm>
            <a:custGeom>
              <a:avLst/>
              <a:gdLst/>
              <a:ahLst/>
              <a:cxnLst/>
              <a:rect l="l" t="t" r="r" b="b"/>
              <a:pathLst>
                <a:path w="707390" h="238760">
                  <a:moveTo>
                    <a:pt x="353386" y="0"/>
                  </a:moveTo>
                  <a:lnTo>
                    <a:pt x="282166" y="2421"/>
                  </a:lnTo>
                  <a:lnTo>
                    <a:pt x="215832" y="9366"/>
                  </a:lnTo>
                  <a:lnTo>
                    <a:pt x="155804" y="20356"/>
                  </a:lnTo>
                  <a:lnTo>
                    <a:pt x="103504" y="34911"/>
                  </a:lnTo>
                  <a:lnTo>
                    <a:pt x="60352" y="52552"/>
                  </a:lnTo>
                  <a:lnTo>
                    <a:pt x="27770" y="72799"/>
                  </a:lnTo>
                  <a:lnTo>
                    <a:pt x="0" y="119195"/>
                  </a:lnTo>
                  <a:lnTo>
                    <a:pt x="7179" y="143217"/>
                  </a:lnTo>
                  <a:lnTo>
                    <a:pt x="60352" y="185838"/>
                  </a:lnTo>
                  <a:lnTo>
                    <a:pt x="103504" y="203479"/>
                  </a:lnTo>
                  <a:lnTo>
                    <a:pt x="155804" y="218033"/>
                  </a:lnTo>
                  <a:lnTo>
                    <a:pt x="215832" y="229023"/>
                  </a:lnTo>
                  <a:lnTo>
                    <a:pt x="282166" y="235968"/>
                  </a:lnTo>
                  <a:lnTo>
                    <a:pt x="353386" y="238390"/>
                  </a:lnTo>
                  <a:lnTo>
                    <a:pt x="424605" y="235968"/>
                  </a:lnTo>
                  <a:lnTo>
                    <a:pt x="490940" y="229023"/>
                  </a:lnTo>
                  <a:lnTo>
                    <a:pt x="550967" y="218033"/>
                  </a:lnTo>
                  <a:lnTo>
                    <a:pt x="603267" y="203479"/>
                  </a:lnTo>
                  <a:lnTo>
                    <a:pt x="646419" y="185838"/>
                  </a:lnTo>
                  <a:lnTo>
                    <a:pt x="679000" y="165591"/>
                  </a:lnTo>
                  <a:lnTo>
                    <a:pt x="706771" y="119195"/>
                  </a:lnTo>
                  <a:lnTo>
                    <a:pt x="699592" y="95173"/>
                  </a:lnTo>
                  <a:lnTo>
                    <a:pt x="646419" y="52552"/>
                  </a:lnTo>
                  <a:lnTo>
                    <a:pt x="603267" y="34911"/>
                  </a:lnTo>
                  <a:lnTo>
                    <a:pt x="550967" y="20356"/>
                  </a:lnTo>
                  <a:lnTo>
                    <a:pt x="490940" y="9366"/>
                  </a:lnTo>
                  <a:lnTo>
                    <a:pt x="424605" y="2421"/>
                  </a:lnTo>
                  <a:lnTo>
                    <a:pt x="353386" y="0"/>
                  </a:lnTo>
                  <a:close/>
                </a:path>
              </a:pathLst>
            </a:custGeom>
            <a:solidFill>
              <a:srgbClr val="D6D7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8790662" y="1437826"/>
              <a:ext cx="707390" cy="238760"/>
            </a:xfrm>
            <a:custGeom>
              <a:avLst/>
              <a:gdLst/>
              <a:ahLst/>
              <a:cxnLst/>
              <a:rect l="l" t="t" r="r" b="b"/>
              <a:pathLst>
                <a:path w="707390" h="238760">
                  <a:moveTo>
                    <a:pt x="0" y="119195"/>
                  </a:moveTo>
                  <a:lnTo>
                    <a:pt x="27770" y="72798"/>
                  </a:lnTo>
                  <a:lnTo>
                    <a:pt x="60352" y="52551"/>
                  </a:lnTo>
                  <a:lnTo>
                    <a:pt x="103504" y="34911"/>
                  </a:lnTo>
                  <a:lnTo>
                    <a:pt x="155804" y="20356"/>
                  </a:lnTo>
                  <a:lnTo>
                    <a:pt x="215832" y="9366"/>
                  </a:lnTo>
                  <a:lnTo>
                    <a:pt x="282166" y="2421"/>
                  </a:lnTo>
                  <a:lnTo>
                    <a:pt x="353386" y="0"/>
                  </a:lnTo>
                  <a:lnTo>
                    <a:pt x="424605" y="2421"/>
                  </a:lnTo>
                  <a:lnTo>
                    <a:pt x="490939" y="9366"/>
                  </a:lnTo>
                  <a:lnTo>
                    <a:pt x="550967" y="20356"/>
                  </a:lnTo>
                  <a:lnTo>
                    <a:pt x="603267" y="34911"/>
                  </a:lnTo>
                  <a:lnTo>
                    <a:pt x="646418" y="52551"/>
                  </a:lnTo>
                  <a:lnTo>
                    <a:pt x="679000" y="72798"/>
                  </a:lnTo>
                  <a:lnTo>
                    <a:pt x="706771" y="119195"/>
                  </a:lnTo>
                  <a:lnTo>
                    <a:pt x="699592" y="143216"/>
                  </a:lnTo>
                  <a:lnTo>
                    <a:pt x="646418" y="185837"/>
                  </a:lnTo>
                  <a:lnTo>
                    <a:pt x="603267" y="203478"/>
                  </a:lnTo>
                  <a:lnTo>
                    <a:pt x="550967" y="218033"/>
                  </a:lnTo>
                  <a:lnTo>
                    <a:pt x="490939" y="229023"/>
                  </a:lnTo>
                  <a:lnTo>
                    <a:pt x="424605" y="235968"/>
                  </a:lnTo>
                  <a:lnTo>
                    <a:pt x="353386" y="238390"/>
                  </a:lnTo>
                  <a:lnTo>
                    <a:pt x="282166" y="235968"/>
                  </a:lnTo>
                  <a:lnTo>
                    <a:pt x="215832" y="229023"/>
                  </a:lnTo>
                  <a:lnTo>
                    <a:pt x="155804" y="218033"/>
                  </a:lnTo>
                  <a:lnTo>
                    <a:pt x="103504" y="203478"/>
                  </a:lnTo>
                  <a:lnTo>
                    <a:pt x="60352" y="185837"/>
                  </a:lnTo>
                  <a:lnTo>
                    <a:pt x="27770" y="165591"/>
                  </a:lnTo>
                  <a:lnTo>
                    <a:pt x="0" y="119195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42919" y="1891868"/>
            <a:ext cx="7492365" cy="17221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200"/>
              </a:lnSpc>
              <a:spcBef>
                <a:spcPts val="125"/>
              </a:spcBef>
            </a:pPr>
            <a:r>
              <a:rPr sz="2800" spc="400" dirty="0">
                <a:solidFill>
                  <a:srgbClr val="292934"/>
                </a:solidFill>
                <a:latin typeface="Arial MT"/>
                <a:cs typeface="Arial MT"/>
              </a:rPr>
              <a:t>Mejor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a  </a:t>
            </a:r>
            <a:r>
              <a:rPr sz="2800" spc="2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4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l  </a:t>
            </a:r>
            <a:r>
              <a:rPr sz="2800" spc="2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400" dirty="0">
                <a:solidFill>
                  <a:srgbClr val="292934"/>
                </a:solidFill>
                <a:latin typeface="Arial MT"/>
                <a:cs typeface="Arial MT"/>
              </a:rPr>
              <a:t>softwar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  </a:t>
            </a:r>
            <a:r>
              <a:rPr sz="2800" spc="2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800" spc="-38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b="1" spc="400" dirty="0">
                <a:solidFill>
                  <a:srgbClr val="292934"/>
                </a:solidFill>
                <a:latin typeface="Arial"/>
                <a:cs typeface="Arial"/>
              </a:rPr>
              <a:t>rendimient</a:t>
            </a:r>
            <a:r>
              <a:rPr sz="2800" b="1" dirty="0">
                <a:solidFill>
                  <a:srgbClr val="292934"/>
                </a:solidFill>
                <a:latin typeface="Arial"/>
                <a:cs typeface="Arial"/>
              </a:rPr>
              <a:t>o</a:t>
            </a:r>
            <a:r>
              <a:rPr sz="2800" b="1" spc="-38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, 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flexibilidad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,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reusabilidad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..)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o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implementación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nuevos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requisitos.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292934"/>
                </a:solidFill>
                <a:latin typeface="Arial MT"/>
                <a:cs typeface="Arial MT"/>
              </a:rPr>
              <a:t>También</a:t>
            </a:r>
            <a:r>
              <a:rPr sz="2800" spc="7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se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 conoce </a:t>
            </a:r>
            <a:r>
              <a:rPr sz="28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como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mantenimiento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evolutivo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1221" y="4906848"/>
            <a:ext cx="6096000" cy="725805"/>
          </a:xfrm>
          <a:prstGeom prst="rect">
            <a:avLst/>
          </a:prstGeom>
          <a:ln w="9524">
            <a:solidFill>
              <a:srgbClr val="363744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395605">
              <a:lnSpc>
                <a:spcPct val="100000"/>
              </a:lnSpc>
              <a:spcBef>
                <a:spcPts val="359"/>
              </a:spcBef>
            </a:pPr>
            <a:r>
              <a:rPr sz="3200" spc="-5" dirty="0">
                <a:solidFill>
                  <a:srgbClr val="292934"/>
                </a:solidFill>
                <a:latin typeface="Arial MT"/>
                <a:cs typeface="Arial MT"/>
              </a:rPr>
              <a:t>Firma</a:t>
            </a:r>
            <a:r>
              <a:rPr sz="3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292934"/>
                </a:solidFill>
                <a:latin typeface="Arial MT"/>
                <a:cs typeface="Arial MT"/>
              </a:rPr>
              <a:t>digital</a:t>
            </a:r>
            <a:r>
              <a:rPr sz="3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en</a:t>
            </a:r>
            <a:r>
              <a:rPr sz="3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banca</a:t>
            </a:r>
            <a:r>
              <a:rPr sz="3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online.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6662" y="644236"/>
            <a:ext cx="7631083" cy="7606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76078" y="672191"/>
            <a:ext cx="8719469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0" dirty="0"/>
              <a:t>T</a:t>
            </a:r>
            <a:r>
              <a:rPr sz="4000" spc="-100" dirty="0"/>
              <a:t>ipo</a:t>
            </a:r>
            <a:r>
              <a:rPr sz="4000" dirty="0"/>
              <a:t>s</a:t>
            </a:r>
            <a:r>
              <a:rPr sz="4000" spc="-204" dirty="0"/>
              <a:t> </a:t>
            </a:r>
            <a:r>
              <a:rPr sz="4000" spc="-100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5" dirty="0"/>
              <a:t>m</a:t>
            </a:r>
            <a:r>
              <a:rPr sz="4000" spc="-100" dirty="0"/>
              <a:t>an</a:t>
            </a:r>
            <a:r>
              <a:rPr sz="4000" spc="-105" dirty="0"/>
              <a:t>t</a:t>
            </a:r>
            <a:r>
              <a:rPr sz="4000" spc="-100" dirty="0"/>
              <a:t>eni</a:t>
            </a:r>
            <a:r>
              <a:rPr sz="4000" spc="-105" dirty="0"/>
              <a:t>m</a:t>
            </a:r>
            <a:r>
              <a:rPr sz="4000" spc="-100" dirty="0"/>
              <a:t>ien</a:t>
            </a:r>
            <a:r>
              <a:rPr sz="4000" spc="-105" dirty="0"/>
              <a:t>t</a:t>
            </a:r>
            <a:r>
              <a:rPr sz="4000" spc="-100" dirty="0"/>
              <a:t>o</a:t>
            </a:r>
            <a:r>
              <a:rPr sz="4000" dirty="0"/>
              <a:t>:</a:t>
            </a:r>
            <a:r>
              <a:rPr sz="4000" spc="-204" dirty="0"/>
              <a:t> </a:t>
            </a:r>
            <a:r>
              <a:rPr sz="4000" spc="-105" dirty="0"/>
              <a:t>P</a:t>
            </a:r>
            <a:r>
              <a:rPr sz="4000" spc="-100" dirty="0"/>
              <a:t>e</a:t>
            </a:r>
            <a:r>
              <a:rPr sz="4000" spc="-105" dirty="0"/>
              <a:t>rf</a:t>
            </a:r>
            <a:r>
              <a:rPr sz="4000" spc="-100" dirty="0"/>
              <a:t>e</a:t>
            </a:r>
            <a:r>
              <a:rPr sz="4000" spc="-105" dirty="0"/>
              <a:t>ct</a:t>
            </a:r>
            <a:r>
              <a:rPr sz="4000" spc="-100" dirty="0"/>
              <a:t>i</a:t>
            </a:r>
            <a:r>
              <a:rPr sz="4000" spc="-105" dirty="0"/>
              <a:t>v</a:t>
            </a:r>
            <a:r>
              <a:rPr sz="4000" dirty="0"/>
              <a:t>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12</a:t>
            </a:fld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64494" y="1828368"/>
            <a:ext cx="7212965" cy="17221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marR="5080" algn="just">
              <a:lnSpc>
                <a:spcPct val="99200"/>
              </a:lnSpc>
              <a:spcBef>
                <a:spcPts val="125"/>
              </a:spcBef>
            </a:pP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Adaptación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del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a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cambios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en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su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entorno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tecnológico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(nuevo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hardware,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otro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sistema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gestión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bases de datos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, otro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sistema operativo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...)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1221" y="4906848"/>
            <a:ext cx="6096000" cy="725805"/>
          </a:xfrm>
          <a:prstGeom prst="rect">
            <a:avLst/>
          </a:prstGeom>
          <a:ln w="9524">
            <a:solidFill>
              <a:srgbClr val="363744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237490">
              <a:lnSpc>
                <a:spcPct val="100000"/>
              </a:lnSpc>
              <a:spcBef>
                <a:spcPts val="359"/>
              </a:spcBef>
            </a:pPr>
            <a:r>
              <a:rPr sz="3200" spc="-5" dirty="0">
                <a:solidFill>
                  <a:srgbClr val="292934"/>
                </a:solidFill>
                <a:latin typeface="Arial MT"/>
                <a:cs typeface="Arial MT"/>
              </a:rPr>
              <a:t>Pantallas táctiles, entorno</a:t>
            </a: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 web.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036" y="644236"/>
            <a:ext cx="7747461" cy="7606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9823" y="672191"/>
            <a:ext cx="8735724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0" dirty="0"/>
              <a:t>T</a:t>
            </a:r>
            <a:r>
              <a:rPr sz="4000" spc="-100" dirty="0"/>
              <a:t>ipo</a:t>
            </a:r>
            <a:r>
              <a:rPr sz="4000" dirty="0"/>
              <a:t>s</a:t>
            </a:r>
            <a:r>
              <a:rPr sz="4000" spc="-204" dirty="0"/>
              <a:t> </a:t>
            </a:r>
            <a:r>
              <a:rPr sz="4000" spc="-100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5" dirty="0"/>
              <a:t>m</a:t>
            </a:r>
            <a:r>
              <a:rPr sz="4000" spc="-100" dirty="0"/>
              <a:t>an</a:t>
            </a:r>
            <a:r>
              <a:rPr sz="4000" spc="-105" dirty="0"/>
              <a:t>t</a:t>
            </a:r>
            <a:r>
              <a:rPr sz="4000" spc="-100" dirty="0"/>
              <a:t>eni</a:t>
            </a:r>
            <a:r>
              <a:rPr sz="4000" spc="-105" dirty="0"/>
              <a:t>m</a:t>
            </a:r>
            <a:r>
              <a:rPr sz="4000" spc="-100" dirty="0"/>
              <a:t>ien</a:t>
            </a:r>
            <a:r>
              <a:rPr sz="4000" spc="-105" dirty="0"/>
              <a:t>t</a:t>
            </a:r>
            <a:r>
              <a:rPr sz="4000" spc="-100" dirty="0"/>
              <a:t>o</a:t>
            </a:r>
            <a:r>
              <a:rPr sz="4000" dirty="0"/>
              <a:t>:</a:t>
            </a:r>
            <a:r>
              <a:rPr sz="4000" spc="-425" dirty="0"/>
              <a:t> </a:t>
            </a:r>
            <a:r>
              <a:rPr sz="4000" spc="-105" dirty="0"/>
              <a:t>A</a:t>
            </a:r>
            <a:r>
              <a:rPr sz="4000" spc="-100" dirty="0"/>
              <a:t>dap</a:t>
            </a:r>
            <a:r>
              <a:rPr sz="4000" spc="-105" dirty="0"/>
              <a:t>t</a:t>
            </a:r>
            <a:r>
              <a:rPr sz="4000" spc="-100" dirty="0"/>
              <a:t>a</a:t>
            </a:r>
            <a:r>
              <a:rPr sz="4000" spc="-105" dirty="0"/>
              <a:t>t</a:t>
            </a:r>
            <a:r>
              <a:rPr sz="4000" spc="-100" dirty="0"/>
              <a:t>i</a:t>
            </a:r>
            <a:r>
              <a:rPr sz="4000" spc="-105" dirty="0"/>
              <a:t>v</a:t>
            </a:r>
            <a:r>
              <a:rPr sz="4000" dirty="0"/>
              <a:t>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13</a:t>
            </a:fld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023" y="1611124"/>
            <a:ext cx="7654925" cy="21539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700"/>
              </a:lnSpc>
              <a:spcBef>
                <a:spcPts val="110"/>
              </a:spcBef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Corrección de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fallos detectados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en el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durante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la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fase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explotación. Estos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pueden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estar</a:t>
            </a:r>
            <a:r>
              <a:rPr sz="2800" spc="7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relacionados,</a:t>
            </a:r>
            <a:r>
              <a:rPr sz="2800" spc="7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con</a:t>
            </a:r>
            <a:r>
              <a:rPr sz="2800" spc="7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2800" spc="7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funcionalidad,</a:t>
            </a:r>
            <a:r>
              <a:rPr sz="2800" spc="7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pero </a:t>
            </a:r>
            <a:r>
              <a:rPr sz="2800" spc="-7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25" dirty="0">
                <a:solidFill>
                  <a:srgbClr val="292934"/>
                </a:solidFill>
                <a:latin typeface="Arial MT"/>
                <a:cs typeface="Arial MT"/>
              </a:rPr>
              <a:t>también</a:t>
            </a:r>
            <a:r>
              <a:rPr sz="28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25" dirty="0">
                <a:solidFill>
                  <a:srgbClr val="292934"/>
                </a:solidFill>
                <a:latin typeface="Arial MT"/>
                <a:cs typeface="Arial MT"/>
              </a:rPr>
              <a:t>pueden</a:t>
            </a:r>
            <a:r>
              <a:rPr sz="28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20" dirty="0">
                <a:solidFill>
                  <a:srgbClr val="292934"/>
                </a:solidFill>
                <a:latin typeface="Arial MT"/>
                <a:cs typeface="Arial MT"/>
              </a:rPr>
              <a:t>estar</a:t>
            </a:r>
            <a:r>
              <a:rPr sz="2800" spc="25" dirty="0">
                <a:solidFill>
                  <a:srgbClr val="292934"/>
                </a:solidFill>
                <a:latin typeface="Arial MT"/>
                <a:cs typeface="Arial MT"/>
              </a:rPr>
              <a:t> relacionados</a:t>
            </a:r>
            <a:r>
              <a:rPr sz="28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20" dirty="0">
                <a:solidFill>
                  <a:srgbClr val="292934"/>
                </a:solidFill>
                <a:latin typeface="Arial MT"/>
                <a:cs typeface="Arial MT"/>
              </a:rPr>
              <a:t>con</a:t>
            </a:r>
            <a:r>
              <a:rPr sz="2800" spc="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30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28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rendimiento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o escalabilidad del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sistema.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381221" y="4906848"/>
            <a:ext cx="6096000" cy="725805"/>
          </a:xfrm>
          <a:prstGeom prst="rect">
            <a:avLst/>
          </a:prstGeom>
          <a:ln w="9524">
            <a:solidFill>
              <a:srgbClr val="363744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5080" algn="ctr">
              <a:lnSpc>
                <a:spcPct val="100000"/>
              </a:lnSpc>
              <a:spcBef>
                <a:spcPts val="359"/>
              </a:spcBef>
            </a:pP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Agujeros</a:t>
            </a:r>
            <a:r>
              <a:rPr sz="32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32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seguridad.</a:t>
            </a:r>
            <a:endParaRPr sz="32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036" y="644236"/>
            <a:ext cx="6988464" cy="7606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59822" y="672191"/>
            <a:ext cx="886367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0" dirty="0"/>
              <a:t>T</a:t>
            </a:r>
            <a:r>
              <a:rPr sz="4000" spc="-100" dirty="0"/>
              <a:t>ipo</a:t>
            </a:r>
            <a:r>
              <a:rPr sz="4000" dirty="0"/>
              <a:t>s</a:t>
            </a:r>
            <a:r>
              <a:rPr sz="4000" spc="-204" dirty="0"/>
              <a:t> </a:t>
            </a:r>
            <a:r>
              <a:rPr sz="4000" spc="-100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5" dirty="0"/>
              <a:t>m</a:t>
            </a:r>
            <a:r>
              <a:rPr sz="4000" spc="-100" dirty="0"/>
              <a:t>an</a:t>
            </a:r>
            <a:r>
              <a:rPr sz="4000" spc="-105" dirty="0"/>
              <a:t>t</a:t>
            </a:r>
            <a:r>
              <a:rPr sz="4000" spc="-100" dirty="0"/>
              <a:t>eni</a:t>
            </a:r>
            <a:r>
              <a:rPr sz="4000" spc="-105" dirty="0"/>
              <a:t>m</a:t>
            </a:r>
            <a:r>
              <a:rPr sz="4000" spc="-100" dirty="0"/>
              <a:t>ien</a:t>
            </a:r>
            <a:r>
              <a:rPr sz="4000" spc="-105" dirty="0"/>
              <a:t>t</a:t>
            </a:r>
            <a:r>
              <a:rPr sz="4000" spc="-100" dirty="0"/>
              <a:t>o</a:t>
            </a:r>
            <a:r>
              <a:rPr sz="4000" dirty="0"/>
              <a:t>:</a:t>
            </a:r>
            <a:r>
              <a:rPr sz="4000" spc="-204" dirty="0"/>
              <a:t> </a:t>
            </a:r>
            <a:r>
              <a:rPr sz="4000" spc="-100" dirty="0"/>
              <a:t>Co</a:t>
            </a:r>
            <a:r>
              <a:rPr sz="4000" spc="-105" dirty="0"/>
              <a:t>rr</a:t>
            </a:r>
            <a:r>
              <a:rPr sz="4000" spc="-100" dirty="0"/>
              <a:t>e</a:t>
            </a:r>
            <a:r>
              <a:rPr sz="4000" spc="-105" dirty="0"/>
              <a:t>ct</a:t>
            </a:r>
            <a:r>
              <a:rPr sz="4000" spc="-100" dirty="0"/>
              <a:t>i</a:t>
            </a:r>
            <a:r>
              <a:rPr sz="4000" spc="-105" dirty="0"/>
              <a:t>v</a:t>
            </a:r>
            <a:r>
              <a:rPr sz="4000" dirty="0"/>
              <a:t>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14</a:t>
            </a:fld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023" y="1611124"/>
            <a:ext cx="7757795" cy="13030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700"/>
              </a:lnSpc>
              <a:spcBef>
                <a:spcPts val="110"/>
              </a:spcBef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Realización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modificaciones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en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800" spc="7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con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objetivo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de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facilitar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el</a:t>
            </a:r>
            <a:r>
              <a:rPr sz="2800" spc="7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mantenimiento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futuro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del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sistema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(mejorar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legibilidad...).</a:t>
            </a:r>
            <a:endParaRPr sz="2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0036" y="644236"/>
            <a:ext cx="7772400" cy="7606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59823" y="672191"/>
            <a:ext cx="91684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250" dirty="0"/>
              <a:t>T</a:t>
            </a:r>
            <a:r>
              <a:rPr sz="4000" spc="-100" dirty="0"/>
              <a:t>ipo</a:t>
            </a:r>
            <a:r>
              <a:rPr sz="4000" dirty="0"/>
              <a:t>s</a:t>
            </a:r>
            <a:r>
              <a:rPr sz="4000" spc="-204" dirty="0"/>
              <a:t> </a:t>
            </a:r>
            <a:r>
              <a:rPr sz="4000" spc="-100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5" dirty="0"/>
              <a:t>m</a:t>
            </a:r>
            <a:r>
              <a:rPr sz="4000" spc="-100" dirty="0"/>
              <a:t>an</a:t>
            </a:r>
            <a:r>
              <a:rPr sz="4000" spc="-105" dirty="0"/>
              <a:t>t</a:t>
            </a:r>
            <a:r>
              <a:rPr sz="4000" spc="-100" dirty="0"/>
              <a:t>eni</a:t>
            </a:r>
            <a:r>
              <a:rPr sz="4000" spc="-105" dirty="0"/>
              <a:t>m</a:t>
            </a:r>
            <a:r>
              <a:rPr sz="4000" spc="-100" dirty="0"/>
              <a:t>ien</a:t>
            </a:r>
            <a:r>
              <a:rPr sz="4000" spc="-105" dirty="0"/>
              <a:t>t</a:t>
            </a:r>
            <a:r>
              <a:rPr sz="4000" spc="-100" dirty="0"/>
              <a:t>o</a:t>
            </a:r>
            <a:r>
              <a:rPr sz="4000" dirty="0"/>
              <a:t>:</a:t>
            </a:r>
            <a:r>
              <a:rPr sz="4000" spc="-204" dirty="0"/>
              <a:t> </a:t>
            </a:r>
            <a:r>
              <a:rPr sz="4000" spc="-105" dirty="0"/>
              <a:t>Pr</a:t>
            </a:r>
            <a:r>
              <a:rPr sz="4000" spc="-100" dirty="0"/>
              <a:t>e</a:t>
            </a:r>
            <a:r>
              <a:rPr sz="4000" spc="-105" dirty="0"/>
              <a:t>v</a:t>
            </a:r>
            <a:r>
              <a:rPr sz="4000" spc="-100" dirty="0"/>
              <a:t>en</a:t>
            </a:r>
            <a:r>
              <a:rPr sz="4000" spc="-105" dirty="0"/>
              <a:t>t</a:t>
            </a:r>
            <a:r>
              <a:rPr sz="4000" spc="-100" dirty="0"/>
              <a:t>i</a:t>
            </a:r>
            <a:r>
              <a:rPr sz="4000" spc="-105" dirty="0"/>
              <a:t>v</a:t>
            </a:r>
            <a:r>
              <a:rPr sz="4000" dirty="0"/>
              <a:t>o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15</a:t>
            </a:fld>
            <a:endParaRPr dirty="0"/>
          </a:p>
        </p:txBody>
      </p:sp>
      <p:sp>
        <p:nvSpPr>
          <p:cNvPr id="5" name="object 5"/>
          <p:cNvSpPr txBox="1"/>
          <p:nvPr/>
        </p:nvSpPr>
        <p:spPr>
          <a:xfrm>
            <a:off x="2137554" y="4581945"/>
            <a:ext cx="6299200" cy="1081405"/>
          </a:xfrm>
          <a:prstGeom prst="rect">
            <a:avLst/>
          </a:prstGeom>
          <a:ln w="9524">
            <a:solidFill>
              <a:srgbClr val="363744"/>
            </a:solidFill>
          </a:ln>
        </p:spPr>
        <p:txBody>
          <a:bodyPr vert="horz" wrap="square" lIns="0" tIns="45719" rIns="0" bIns="0" rtlCol="0">
            <a:spAutoFit/>
          </a:bodyPr>
          <a:lstStyle/>
          <a:p>
            <a:pPr marL="5080" algn="ctr">
              <a:lnSpc>
                <a:spcPts val="3820"/>
              </a:lnSpc>
              <a:spcBef>
                <a:spcPts val="359"/>
              </a:spcBef>
            </a:pP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Añadir</a:t>
            </a:r>
            <a:r>
              <a:rPr sz="3200" spc="-5" dirty="0">
                <a:solidFill>
                  <a:srgbClr val="292934"/>
                </a:solidFill>
                <a:latin typeface="Arial MT"/>
                <a:cs typeface="Arial MT"/>
              </a:rPr>
              <a:t> comentarios,</a:t>
            </a:r>
            <a:r>
              <a:rPr sz="3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3200" spc="-5" dirty="0">
                <a:solidFill>
                  <a:srgbClr val="292934"/>
                </a:solidFill>
                <a:latin typeface="Arial MT"/>
                <a:cs typeface="Arial MT"/>
              </a:rPr>
              <a:t>reestructurar</a:t>
            </a:r>
            <a:endParaRPr sz="3200">
              <a:latin typeface="Arial MT"/>
              <a:cs typeface="Arial MT"/>
            </a:endParaRPr>
          </a:p>
          <a:p>
            <a:pPr marL="347980" algn="ctr">
              <a:lnSpc>
                <a:spcPts val="3820"/>
              </a:lnSpc>
            </a:pPr>
            <a:r>
              <a:rPr sz="3200" spc="-5" dirty="0">
                <a:solidFill>
                  <a:srgbClr val="292934"/>
                </a:solidFill>
                <a:latin typeface="Arial MT"/>
                <a:cs typeface="Arial MT"/>
              </a:rPr>
              <a:t>métodos.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5300" y="415106"/>
            <a:ext cx="4418677" cy="623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5" dirty="0"/>
              <a:t>Refactorización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09023" y="958735"/>
            <a:ext cx="7757795" cy="38631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C" sz="2400" spc="-105" dirty="0">
                <a:solidFill>
                  <a:srgbClr val="D2533C"/>
                </a:solidFill>
                <a:latin typeface="Arial MT"/>
                <a:cs typeface="Arial MT"/>
              </a:rPr>
              <a:t>      </a:t>
            </a:r>
            <a:r>
              <a:rPr sz="2400" spc="-105" dirty="0" err="1">
                <a:solidFill>
                  <a:srgbClr val="D2533C"/>
                </a:solidFill>
                <a:latin typeface="Arial MT"/>
                <a:cs typeface="Arial MT"/>
              </a:rPr>
              <a:t>Definición</a:t>
            </a:r>
            <a:endParaRPr sz="2400" dirty="0">
              <a:latin typeface="Arial MT"/>
              <a:cs typeface="Arial MT"/>
            </a:endParaRPr>
          </a:p>
          <a:p>
            <a:pPr marL="514350" indent="-183515" algn="just">
              <a:lnSpc>
                <a:spcPct val="100000"/>
              </a:lnSpc>
              <a:spcBef>
                <a:spcPts val="2080"/>
              </a:spcBef>
              <a:buClr>
                <a:srgbClr val="93A299"/>
              </a:buClr>
              <a:buSzPct val="83928"/>
              <a:buChar char="•"/>
              <a:tabLst>
                <a:tab pos="514984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Uso</a:t>
            </a:r>
            <a:r>
              <a:rPr sz="28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común</a:t>
            </a:r>
            <a:endParaRPr sz="2800" dirty="0">
              <a:latin typeface="Arial MT"/>
              <a:cs typeface="Arial MT"/>
            </a:endParaRPr>
          </a:p>
          <a:p>
            <a:pPr marL="781050" lvl="1" indent="-183515" algn="just">
              <a:lnSpc>
                <a:spcPct val="100000"/>
              </a:lnSpc>
              <a:spcBef>
                <a:spcPts val="259"/>
              </a:spcBef>
              <a:buClr>
                <a:srgbClr val="93A299"/>
              </a:buClr>
              <a:buSzPct val="83333"/>
              <a:buChar char="•"/>
              <a:tabLst>
                <a:tab pos="781685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Reorganizar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programa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(o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algo).</a:t>
            </a:r>
            <a:endParaRPr sz="2400" dirty="0">
              <a:latin typeface="Arial MT"/>
              <a:cs typeface="Arial MT"/>
            </a:endParaRPr>
          </a:p>
          <a:p>
            <a:pPr marL="514350" indent="-183515" algn="just">
              <a:lnSpc>
                <a:spcPct val="100000"/>
              </a:lnSpc>
              <a:spcBef>
                <a:spcPts val="275"/>
              </a:spcBef>
              <a:buClr>
                <a:srgbClr val="93A299"/>
              </a:buClr>
              <a:buSzPct val="83928"/>
              <a:buChar char="•"/>
              <a:tabLst>
                <a:tab pos="514984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Como</a:t>
            </a:r>
            <a:r>
              <a:rPr sz="28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nombre</a:t>
            </a:r>
            <a:endParaRPr sz="2800" dirty="0">
              <a:latin typeface="Arial MT"/>
              <a:cs typeface="Arial MT"/>
            </a:endParaRPr>
          </a:p>
          <a:p>
            <a:pPr marL="788670" marR="5080" lvl="1" indent="-190500" algn="just">
              <a:lnSpc>
                <a:spcPct val="90600"/>
              </a:lnSpc>
              <a:spcBef>
                <a:spcPts val="555"/>
              </a:spcBef>
              <a:buClr>
                <a:srgbClr val="93A299"/>
              </a:buClr>
              <a:buSzPct val="83333"/>
              <a:buChar char="•"/>
              <a:tabLst>
                <a:tab pos="781685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Cambio realizado en la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estructura interna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 algún 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componente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para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hacerlo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más</a:t>
            </a:r>
            <a:r>
              <a:rPr sz="24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fácil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de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entender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y más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barato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para 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modificar,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sin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modificar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comportamiento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observable del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software.</a:t>
            </a:r>
            <a:endParaRPr sz="2400" dirty="0">
              <a:latin typeface="Arial MT"/>
              <a:cs typeface="Arial MT"/>
            </a:endParaRPr>
          </a:p>
          <a:p>
            <a:pPr marL="514350" indent="-183515" algn="just">
              <a:lnSpc>
                <a:spcPct val="100000"/>
              </a:lnSpc>
              <a:spcBef>
                <a:spcPts val="350"/>
              </a:spcBef>
              <a:buClr>
                <a:srgbClr val="93A299"/>
              </a:buClr>
              <a:buSzPct val="83928"/>
              <a:buChar char="•"/>
              <a:tabLst>
                <a:tab pos="514984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Como</a:t>
            </a:r>
            <a:r>
              <a:rPr sz="2800" spc="-5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verbo</a:t>
            </a:r>
            <a:endParaRPr sz="2800" dirty="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95121" y="4778840"/>
            <a:ext cx="1619250" cy="1372235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203200" marR="5080" indent="-190500" algn="just">
              <a:lnSpc>
                <a:spcPct val="89400"/>
              </a:lnSpc>
              <a:spcBef>
                <a:spcPts val="405"/>
              </a:spcBef>
              <a:buClr>
                <a:srgbClr val="93A299"/>
              </a:buClr>
              <a:buSzPct val="83333"/>
              <a:buChar char="•"/>
              <a:tabLst>
                <a:tab pos="205104" algn="l"/>
              </a:tabLst>
            </a:pPr>
            <a:r>
              <a:rPr sz="2400" spc="140" dirty="0">
                <a:solidFill>
                  <a:srgbClr val="292934"/>
                </a:solidFill>
                <a:latin typeface="Arial MT"/>
                <a:cs typeface="Arial MT"/>
              </a:rPr>
              <a:t>Actividad  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aplicando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95" dirty="0">
                <a:solidFill>
                  <a:srgbClr val="292934"/>
                </a:solidFill>
                <a:latin typeface="Arial MT"/>
                <a:cs typeface="Arial MT"/>
              </a:rPr>
              <a:t>modificar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software.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25971" y="4778840"/>
            <a:ext cx="535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4840" algn="l"/>
                <a:tab pos="3340735" algn="l"/>
                <a:tab pos="4039235" algn="l"/>
              </a:tabLst>
            </a:pPr>
            <a:r>
              <a:rPr sz="2400" spc="14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	</a:t>
            </a:r>
            <a:r>
              <a:rPr sz="2400" spc="140" dirty="0">
                <a:solidFill>
                  <a:srgbClr val="292934"/>
                </a:solidFill>
                <a:latin typeface="Arial MT"/>
                <a:cs typeface="Arial MT"/>
              </a:rPr>
              <a:t>reestructuració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	</a:t>
            </a:r>
            <a:r>
              <a:rPr sz="2400" spc="14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	</a:t>
            </a:r>
            <a:r>
              <a:rPr sz="2400" spc="14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89747" y="5099387"/>
            <a:ext cx="53841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8510" algn="l"/>
                <a:tab pos="1711325" algn="l"/>
                <a:tab pos="2301240" algn="l"/>
                <a:tab pos="4959985" algn="l"/>
              </a:tabLst>
            </a:pP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	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seri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	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d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	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refactorizacione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	</a:t>
            </a:r>
            <a:r>
              <a:rPr sz="2400" spc="50" dirty="0">
                <a:solidFill>
                  <a:srgbClr val="292934"/>
                </a:solidFill>
                <a:latin typeface="Arial MT"/>
                <a:cs typeface="Arial MT"/>
              </a:rPr>
              <a:t>sin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68622" y="5429587"/>
            <a:ext cx="54095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1175" algn="l"/>
                <a:tab pos="3103880" algn="l"/>
                <a:tab pos="4953000" algn="l"/>
              </a:tabLst>
            </a:pPr>
            <a:r>
              <a:rPr sz="2400" spc="95" dirty="0">
                <a:solidFill>
                  <a:srgbClr val="292934"/>
                </a:solidFill>
                <a:latin typeface="Arial MT"/>
                <a:cs typeface="Arial MT"/>
              </a:rPr>
              <a:t>e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	</a:t>
            </a:r>
            <a:r>
              <a:rPr sz="2400" spc="95" dirty="0">
                <a:solidFill>
                  <a:srgbClr val="292934"/>
                </a:solidFill>
                <a:latin typeface="Arial MT"/>
                <a:cs typeface="Arial MT"/>
              </a:rPr>
              <a:t>comportamient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	</a:t>
            </a:r>
            <a:r>
              <a:rPr sz="2400" spc="95" dirty="0">
                <a:solidFill>
                  <a:srgbClr val="292934"/>
                </a:solidFill>
                <a:latin typeface="Arial MT"/>
                <a:cs typeface="Arial MT"/>
              </a:rPr>
              <a:t>observabl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	</a:t>
            </a:r>
            <a:r>
              <a:rPr sz="2400" spc="95" dirty="0">
                <a:solidFill>
                  <a:srgbClr val="292934"/>
                </a:solidFill>
                <a:latin typeface="Arial MT"/>
                <a:cs typeface="Arial MT"/>
              </a:rPr>
              <a:t>del</a:t>
            </a:r>
            <a:endParaRPr sz="24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87372" y="550521"/>
            <a:ext cx="60188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/>
              <a:t>Qu</a:t>
            </a:r>
            <a:r>
              <a:rPr sz="4000" dirty="0"/>
              <a:t>é</a:t>
            </a:r>
            <a:r>
              <a:rPr sz="4000" spc="-200" dirty="0"/>
              <a:t> </a:t>
            </a:r>
            <a:r>
              <a:rPr sz="4000" spc="-105" dirty="0"/>
              <a:t>e</a:t>
            </a:r>
            <a:r>
              <a:rPr sz="4000" dirty="0"/>
              <a:t>s</a:t>
            </a:r>
            <a:r>
              <a:rPr sz="4000" spc="-200" dirty="0"/>
              <a:t> </a:t>
            </a:r>
            <a:r>
              <a:rPr sz="4000" spc="-100" dirty="0"/>
              <a:t>refactorizar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17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09024" y="1640643"/>
            <a:ext cx="7775575" cy="37763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90500" marR="5080" indent="-177800" algn="just">
              <a:lnSpc>
                <a:spcPct val="99700"/>
              </a:lnSpc>
              <a:spcBef>
                <a:spcPts val="110"/>
              </a:spcBef>
              <a:buClr>
                <a:srgbClr val="93A299"/>
              </a:buClr>
              <a:buSzPct val="83928"/>
              <a:buFont typeface="Arial MT"/>
              <a:buChar char="•"/>
              <a:tabLst>
                <a:tab pos="205104" algn="l"/>
              </a:tabLst>
            </a:pPr>
            <a:r>
              <a:rPr sz="2800" b="1" spc="120" dirty="0">
                <a:solidFill>
                  <a:srgbClr val="292934"/>
                </a:solidFill>
                <a:latin typeface="Arial"/>
                <a:cs typeface="Arial"/>
              </a:rPr>
              <a:t>Pequeños</a:t>
            </a:r>
            <a:r>
              <a:rPr sz="2800" b="1" spc="1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800" spc="120" dirty="0">
                <a:solidFill>
                  <a:srgbClr val="292934"/>
                </a:solidFill>
                <a:latin typeface="Arial MT"/>
                <a:cs typeface="Arial MT"/>
              </a:rPr>
              <a:t>cambios</a:t>
            </a:r>
            <a:r>
              <a:rPr sz="2800" spc="1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70" dirty="0">
                <a:solidFill>
                  <a:srgbClr val="292934"/>
                </a:solidFill>
                <a:latin typeface="Arial MT"/>
                <a:cs typeface="Arial MT"/>
              </a:rPr>
              <a:t>en</a:t>
            </a:r>
            <a:r>
              <a:rPr sz="2800" spc="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7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800" spc="7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20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800" spc="1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40" dirty="0">
                <a:solidFill>
                  <a:srgbClr val="292934"/>
                </a:solidFill>
                <a:latin typeface="Arial MT"/>
                <a:cs typeface="Arial MT"/>
              </a:rPr>
              <a:t>que </a:t>
            </a:r>
            <a:r>
              <a:rPr sz="2800" spc="1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cambian su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estructura interna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sin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modificar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su </a:t>
            </a:r>
            <a:r>
              <a:rPr sz="2800" spc="-7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comportamiento externo </a:t>
            </a:r>
            <a:r>
              <a:rPr sz="2800" b="1" dirty="0">
                <a:solidFill>
                  <a:srgbClr val="292934"/>
                </a:solidFill>
                <a:latin typeface="Arial"/>
                <a:cs typeface="Arial"/>
              </a:rPr>
              <a:t>–</a:t>
            </a:r>
            <a:r>
              <a:rPr sz="2800" b="1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Martin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Fowler</a:t>
            </a:r>
            <a:endParaRPr sz="2800">
              <a:latin typeface="Arial MT"/>
              <a:cs typeface="Arial MT"/>
            </a:endParaRPr>
          </a:p>
          <a:p>
            <a:pPr marL="190500" marR="22860" indent="-177800" algn="just">
              <a:lnSpc>
                <a:spcPct val="102000"/>
              </a:lnSpc>
              <a:spcBef>
                <a:spcPts val="545"/>
              </a:spcBef>
              <a:buClr>
                <a:srgbClr val="93A299"/>
              </a:buClr>
              <a:buSzPct val="83928"/>
              <a:buChar char="•"/>
              <a:tabLst>
                <a:tab pos="195580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Después de </a:t>
            </a:r>
            <a:r>
              <a:rPr sz="2800" spc="-15" dirty="0">
                <a:solidFill>
                  <a:srgbClr val="292934"/>
                </a:solidFill>
                <a:latin typeface="Arial MT"/>
                <a:cs typeface="Arial MT"/>
              </a:rPr>
              <a:t>refactorizar,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hay que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verificar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que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cambia el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comportamiento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externo:</a:t>
            </a:r>
            <a:endParaRPr sz="2800">
              <a:latin typeface="Arial MT"/>
              <a:cs typeface="Arial MT"/>
            </a:endParaRPr>
          </a:p>
          <a:p>
            <a:pPr marL="462280" lvl="1" indent="-182880">
              <a:lnSpc>
                <a:spcPct val="100000"/>
              </a:lnSpc>
              <a:spcBef>
                <a:spcPts val="610"/>
              </a:spcBef>
              <a:buClr>
                <a:srgbClr val="93A299"/>
              </a:buClr>
              <a:buSzPct val="83928"/>
              <a:buChar char="•"/>
              <a:tabLst>
                <a:tab pos="462280" algn="l"/>
              </a:tabLst>
            </a:pPr>
            <a:r>
              <a:rPr sz="2800" spc="-40" dirty="0">
                <a:solidFill>
                  <a:srgbClr val="292934"/>
                </a:solidFill>
                <a:latin typeface="Arial MT"/>
                <a:cs typeface="Arial MT"/>
              </a:rPr>
              <a:t>Testing.</a:t>
            </a:r>
            <a:endParaRPr sz="2800">
              <a:latin typeface="Arial MT"/>
              <a:cs typeface="Arial MT"/>
            </a:endParaRPr>
          </a:p>
          <a:p>
            <a:pPr marL="462280" lvl="1" indent="-182880">
              <a:lnSpc>
                <a:spcPct val="100000"/>
              </a:lnSpc>
              <a:spcBef>
                <a:spcPts val="740"/>
              </a:spcBef>
              <a:buClr>
                <a:srgbClr val="93A299"/>
              </a:buClr>
              <a:buSzPct val="83928"/>
              <a:buChar char="•"/>
              <a:tabLst>
                <a:tab pos="462280" algn="l"/>
              </a:tabLst>
            </a:pP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Utilizando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herramientas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análisis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código.</a:t>
            </a:r>
            <a:endParaRPr sz="2800">
              <a:latin typeface="Arial MT"/>
              <a:cs typeface="Arial MT"/>
            </a:endParaRPr>
          </a:p>
          <a:p>
            <a:pPr marL="462280" lvl="1" indent="-182880">
              <a:lnSpc>
                <a:spcPct val="100000"/>
              </a:lnSpc>
              <a:spcBef>
                <a:spcPts val="640"/>
              </a:spcBef>
              <a:buClr>
                <a:srgbClr val="93A299"/>
              </a:buClr>
              <a:buSzPct val="83928"/>
              <a:buChar char="•"/>
              <a:tabLst>
                <a:tab pos="462280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Siendo</a:t>
            </a:r>
            <a:r>
              <a:rPr sz="28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5" dirty="0">
                <a:solidFill>
                  <a:srgbClr val="292934"/>
                </a:solidFill>
                <a:latin typeface="Arial MT"/>
                <a:cs typeface="Arial MT"/>
              </a:rPr>
              <a:t>muy,</a:t>
            </a:r>
            <a:r>
              <a:rPr sz="28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muy</a:t>
            </a:r>
            <a:r>
              <a:rPr sz="28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cuidadoso.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89100" y="635335"/>
            <a:ext cx="91430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Cuand</a:t>
            </a:r>
            <a:r>
              <a:rPr sz="4000" dirty="0"/>
              <a:t>o</a:t>
            </a:r>
            <a:r>
              <a:rPr sz="4000" spc="-200" dirty="0"/>
              <a:t> </a:t>
            </a:r>
            <a:r>
              <a:rPr sz="4000" spc="-105" dirty="0"/>
              <a:t>e</a:t>
            </a:r>
            <a:r>
              <a:rPr sz="4000" dirty="0"/>
              <a:t>l</a:t>
            </a:r>
            <a:r>
              <a:rPr sz="4000" spc="-200" dirty="0"/>
              <a:t> </a:t>
            </a:r>
            <a:r>
              <a:rPr sz="4000" spc="-100" dirty="0"/>
              <a:t>softwar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5" dirty="0"/>
              <a:t>dej</a:t>
            </a:r>
            <a:r>
              <a:rPr sz="4000" dirty="0"/>
              <a:t>a</a:t>
            </a:r>
            <a:r>
              <a:rPr sz="4000" spc="-200" dirty="0"/>
              <a:t> </a:t>
            </a:r>
            <a:r>
              <a:rPr sz="4000" spc="-105" dirty="0"/>
              <a:t>d</a:t>
            </a:r>
            <a:r>
              <a:rPr sz="4000" dirty="0"/>
              <a:t>e</a:t>
            </a:r>
            <a:r>
              <a:rPr sz="4000" spc="-200" dirty="0"/>
              <a:t> </a:t>
            </a:r>
            <a:r>
              <a:rPr sz="4000" spc="-100" dirty="0"/>
              <a:t>se</a:t>
            </a:r>
            <a:r>
              <a:rPr sz="4000" dirty="0"/>
              <a:t>r</a:t>
            </a:r>
            <a:r>
              <a:rPr sz="4000" spc="-200" dirty="0"/>
              <a:t> </a:t>
            </a:r>
            <a:r>
              <a:rPr sz="4000" spc="-100" dirty="0"/>
              <a:t>«soft»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09023" y="1758834"/>
            <a:ext cx="7474584" cy="4297680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190500" marR="95250" indent="-177800">
              <a:lnSpc>
                <a:spcPct val="77400"/>
              </a:lnSpc>
              <a:spcBef>
                <a:spcPts val="860"/>
              </a:spcBef>
              <a:buClr>
                <a:srgbClr val="93A299"/>
              </a:buClr>
              <a:buSzPct val="83928"/>
              <a:buChar char="•"/>
              <a:tabLst>
                <a:tab pos="195580" algn="l"/>
                <a:tab pos="2646680" algn="l"/>
              </a:tabLst>
            </a:pPr>
            <a:r>
              <a:rPr sz="2800" spc="-110" dirty="0">
                <a:solidFill>
                  <a:srgbClr val="292934"/>
                </a:solidFill>
                <a:latin typeface="Arial MT"/>
                <a:cs typeface="Arial MT"/>
              </a:rPr>
              <a:t>¿Te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ha</a:t>
            </a:r>
            <a:r>
              <a:rPr sz="28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tocado	trabajar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con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software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difícil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800" spc="-7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cambiar?</a:t>
            </a:r>
            <a:endParaRPr sz="2800">
              <a:latin typeface="Arial MT"/>
              <a:cs typeface="Arial MT"/>
            </a:endParaRPr>
          </a:p>
          <a:p>
            <a:pPr marL="462280" lvl="1" indent="-182880">
              <a:lnSpc>
                <a:spcPts val="2875"/>
              </a:lnSpc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sabes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dónde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hay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modificar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código.</a:t>
            </a:r>
            <a:endParaRPr sz="2400">
              <a:latin typeface="Arial MT"/>
              <a:cs typeface="Arial MT"/>
            </a:endParaRPr>
          </a:p>
          <a:p>
            <a:pPr marL="469900" marR="1005205" lvl="1" indent="-190500">
              <a:lnSpc>
                <a:spcPts val="2320"/>
              </a:lnSpc>
              <a:spcBef>
                <a:spcPts val="560"/>
              </a:spcBef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sabes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si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único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lugar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donde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hay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que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modificar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 código.</a:t>
            </a:r>
            <a:endParaRPr sz="2400">
              <a:latin typeface="Arial MT"/>
              <a:cs typeface="Arial MT"/>
            </a:endParaRPr>
          </a:p>
          <a:p>
            <a:pPr marL="469900" marR="989330" lvl="1" indent="-190500">
              <a:lnSpc>
                <a:spcPts val="2320"/>
              </a:lnSpc>
              <a:spcBef>
                <a:spcPts val="560"/>
              </a:spcBef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Al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modificar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 código, no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tienes certeza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si el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programa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va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fallar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en alguna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otra parte.</a:t>
            </a:r>
            <a:endParaRPr sz="2400">
              <a:latin typeface="Arial MT"/>
              <a:cs typeface="Arial MT"/>
            </a:endParaRPr>
          </a:p>
          <a:p>
            <a:pPr marL="462280" lvl="1" indent="-182880">
              <a:lnSpc>
                <a:spcPct val="100000"/>
              </a:lnSpc>
              <a:spcBef>
                <a:spcPts val="20"/>
              </a:spcBef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Hay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demasiadas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dependencias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internas.</a:t>
            </a:r>
            <a:endParaRPr sz="2400">
              <a:latin typeface="Arial MT"/>
              <a:cs typeface="Arial MT"/>
            </a:endParaRPr>
          </a:p>
          <a:p>
            <a:pPr marL="462280" lvl="1" indent="-182880">
              <a:lnSpc>
                <a:spcPts val="2840"/>
              </a:lnSpc>
              <a:spcBef>
                <a:spcPts val="20"/>
              </a:spcBef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hay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diseño</a:t>
            </a:r>
            <a:r>
              <a:rPr sz="24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claro.</a:t>
            </a:r>
            <a:endParaRPr sz="2400">
              <a:latin typeface="Arial MT"/>
              <a:cs typeface="Arial MT"/>
            </a:endParaRPr>
          </a:p>
          <a:p>
            <a:pPr marL="462280" lvl="1" indent="-182880">
              <a:lnSpc>
                <a:spcPts val="2840"/>
              </a:lnSpc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difícil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probar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módulo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forma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aislada.</a:t>
            </a:r>
            <a:endParaRPr sz="2400">
              <a:latin typeface="Arial MT"/>
              <a:cs typeface="Arial MT"/>
            </a:endParaRPr>
          </a:p>
          <a:p>
            <a:pPr marL="462280" lvl="1" indent="-182880">
              <a:lnSpc>
                <a:spcPct val="100000"/>
              </a:lnSpc>
              <a:spcBef>
                <a:spcPts val="20"/>
              </a:spcBef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Es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difícil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intercambiar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una pieza con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otra.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20"/>
              </a:spcBef>
              <a:buClr>
                <a:srgbClr val="93A299"/>
              </a:buClr>
              <a:buSzPct val="83333"/>
              <a:buFont typeface="Arial MT"/>
              <a:buChar char="•"/>
              <a:tabLst>
                <a:tab pos="195580" algn="l"/>
              </a:tabLst>
            </a:pPr>
            <a:r>
              <a:rPr sz="2400" b="1" i="1" dirty="0">
                <a:solidFill>
                  <a:srgbClr val="292934"/>
                </a:solidFill>
                <a:latin typeface="Arial"/>
                <a:cs typeface="Arial"/>
              </a:rPr>
              <a:t>El</a:t>
            </a:r>
            <a:r>
              <a:rPr sz="2400" b="1" i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software</a:t>
            </a:r>
            <a:r>
              <a:rPr sz="2400" b="1" i="1" dirty="0">
                <a:solidFill>
                  <a:srgbClr val="292934"/>
                </a:solidFill>
                <a:latin typeface="Arial"/>
                <a:cs typeface="Arial"/>
              </a:rPr>
              <a:t> se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 convierte en una</a:t>
            </a:r>
            <a:r>
              <a:rPr sz="2400" b="1" i="1" dirty="0">
                <a:solidFill>
                  <a:srgbClr val="292934"/>
                </a:solidFill>
                <a:latin typeface="Arial"/>
                <a:cs typeface="Arial"/>
              </a:rPr>
              <a:t> gran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2400" b="1" i="1" dirty="0">
                <a:solidFill>
                  <a:srgbClr val="292934"/>
                </a:solidFill>
                <a:latin typeface="Arial"/>
                <a:cs typeface="Arial"/>
              </a:rPr>
              <a:t>bola de</a:t>
            </a:r>
            <a:r>
              <a:rPr sz="2400" b="1" i="1" spc="-5" dirty="0">
                <a:solidFill>
                  <a:srgbClr val="292934"/>
                </a:solidFill>
                <a:latin typeface="Arial"/>
                <a:cs typeface="Arial"/>
              </a:rPr>
              <a:t> lodo.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46300" y="607543"/>
            <a:ext cx="67046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/>
              <a:t>¿Po</a:t>
            </a:r>
            <a:r>
              <a:rPr sz="4000" dirty="0"/>
              <a:t>r</a:t>
            </a:r>
            <a:r>
              <a:rPr sz="4000" spc="-200" dirty="0"/>
              <a:t> </a:t>
            </a:r>
            <a:r>
              <a:rPr sz="4000" spc="-105" dirty="0"/>
              <a:t>qu</a:t>
            </a:r>
            <a:r>
              <a:rPr sz="4000" dirty="0"/>
              <a:t>é</a:t>
            </a:r>
            <a:r>
              <a:rPr sz="4000" spc="-204" dirty="0"/>
              <a:t> </a:t>
            </a:r>
            <a:r>
              <a:rPr sz="4000" spc="-105" dirty="0"/>
              <a:t>refactorizar?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083467" y="1500338"/>
            <a:ext cx="8406130" cy="461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ts val="3065"/>
              </a:lnSpc>
              <a:spcBef>
                <a:spcPts val="100"/>
              </a:spcBef>
              <a:buClr>
                <a:srgbClr val="93A299"/>
              </a:buClr>
              <a:buSzPct val="84615"/>
              <a:buChar char="•"/>
              <a:tabLst>
                <a:tab pos="195580" algn="l"/>
              </a:tabLst>
            </a:pP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Con 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tiempo</a:t>
            </a: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 el 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software</a:t>
            </a: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 adquiere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b="1" spc="-5" dirty="0">
                <a:solidFill>
                  <a:srgbClr val="363744"/>
                </a:solidFill>
                <a:latin typeface="Arial"/>
                <a:cs typeface="Arial"/>
              </a:rPr>
              <a:t>Deuda</a:t>
            </a:r>
            <a:r>
              <a:rPr sz="2600" b="1" dirty="0">
                <a:solidFill>
                  <a:srgbClr val="363744"/>
                </a:solidFill>
                <a:latin typeface="Arial"/>
                <a:cs typeface="Arial"/>
              </a:rPr>
              <a:t> </a:t>
            </a:r>
            <a:r>
              <a:rPr sz="2600" b="1" spc="-5" dirty="0">
                <a:solidFill>
                  <a:srgbClr val="363744"/>
                </a:solidFill>
                <a:latin typeface="Arial"/>
                <a:cs typeface="Arial"/>
              </a:rPr>
              <a:t>técnica.</a:t>
            </a:r>
            <a:endParaRPr sz="2600">
              <a:latin typeface="Arial"/>
              <a:cs typeface="Arial"/>
            </a:endParaRPr>
          </a:p>
          <a:p>
            <a:pPr marL="462280" lvl="1" indent="-183515">
              <a:lnSpc>
                <a:spcPts val="2585"/>
              </a:lnSpc>
              <a:buClr>
                <a:srgbClr val="93A299"/>
              </a:buClr>
              <a:buSzPct val="84090"/>
              <a:buChar char="•"/>
              <a:tabLst>
                <a:tab pos="4622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Crecimiento</a:t>
            </a:r>
            <a:r>
              <a:rPr sz="22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regulado.</a:t>
            </a:r>
            <a:endParaRPr sz="2200">
              <a:latin typeface="Arial MT"/>
              <a:cs typeface="Arial MT"/>
            </a:endParaRPr>
          </a:p>
          <a:p>
            <a:pPr marL="195580" indent="-182880">
              <a:lnSpc>
                <a:spcPts val="3100"/>
              </a:lnSpc>
              <a:spcBef>
                <a:spcPts val="75"/>
              </a:spcBef>
              <a:buClr>
                <a:srgbClr val="93A299"/>
              </a:buClr>
              <a:buSzPct val="84615"/>
              <a:buChar char="•"/>
              <a:tabLst>
                <a:tab pos="195580" algn="l"/>
              </a:tabLst>
            </a:pP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Debido</a:t>
            </a:r>
            <a:r>
              <a:rPr sz="2600" spc="-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a:</a:t>
            </a:r>
            <a:endParaRPr sz="2600">
              <a:latin typeface="Arial MT"/>
              <a:cs typeface="Arial MT"/>
            </a:endParaRPr>
          </a:p>
          <a:p>
            <a:pPr marL="462280" lvl="1" indent="-183515">
              <a:lnSpc>
                <a:spcPts val="2610"/>
              </a:lnSpc>
              <a:buClr>
                <a:srgbClr val="93A299"/>
              </a:buClr>
              <a:buSzPct val="84090"/>
              <a:buChar char="•"/>
              <a:tabLst>
                <a:tab pos="462280" algn="l"/>
              </a:tabLst>
            </a:pP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Desarrollo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Quick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and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30" dirty="0">
                <a:solidFill>
                  <a:srgbClr val="292934"/>
                </a:solidFill>
                <a:latin typeface="Arial MT"/>
                <a:cs typeface="Arial MT"/>
              </a:rPr>
              <a:t>dirty.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Resultados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inmediatos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 a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corto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plazo.</a:t>
            </a:r>
            <a:endParaRPr sz="2200">
              <a:latin typeface="Arial MT"/>
              <a:cs typeface="Arial MT"/>
            </a:endParaRPr>
          </a:p>
          <a:p>
            <a:pPr marL="195580" indent="-182880">
              <a:lnSpc>
                <a:spcPts val="3110"/>
              </a:lnSpc>
              <a:buClr>
                <a:srgbClr val="93A299"/>
              </a:buClr>
              <a:buSzPct val="84615"/>
              <a:buChar char="•"/>
              <a:tabLst>
                <a:tab pos="195580" algn="l"/>
              </a:tabLst>
            </a:pP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Esto</a:t>
            </a:r>
            <a:r>
              <a:rPr sz="26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nos</a:t>
            </a:r>
            <a:r>
              <a:rPr sz="26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lleva</a:t>
            </a:r>
            <a:r>
              <a:rPr sz="26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a:</a:t>
            </a:r>
            <a:endParaRPr sz="2600">
              <a:latin typeface="Arial MT"/>
              <a:cs typeface="Arial MT"/>
            </a:endParaRPr>
          </a:p>
          <a:p>
            <a:pPr marL="462280" lvl="1" indent="-183515">
              <a:lnSpc>
                <a:spcPts val="2620"/>
              </a:lnSpc>
              <a:spcBef>
                <a:spcPts val="65"/>
              </a:spcBef>
              <a:buClr>
                <a:srgbClr val="93A299"/>
              </a:buClr>
              <a:buSzPct val="84090"/>
              <a:buChar char="•"/>
              <a:tabLst>
                <a:tab pos="4622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Información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duplicada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globalizada.</a:t>
            </a:r>
            <a:endParaRPr sz="2200">
              <a:latin typeface="Arial MT"/>
              <a:cs typeface="Arial MT"/>
            </a:endParaRPr>
          </a:p>
          <a:p>
            <a:pPr marL="462280" lvl="1" indent="-183515">
              <a:lnSpc>
                <a:spcPts val="2610"/>
              </a:lnSpc>
              <a:buClr>
                <a:srgbClr val="93A299"/>
              </a:buClr>
              <a:buSzPct val="84090"/>
              <a:buChar char="•"/>
              <a:tabLst>
                <a:tab pos="46228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Estructura</a:t>
            </a:r>
            <a:r>
              <a:rPr sz="22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erosionada.</a:t>
            </a:r>
            <a:endParaRPr sz="2200">
              <a:latin typeface="Arial MT"/>
              <a:cs typeface="Arial MT"/>
            </a:endParaRPr>
          </a:p>
          <a:p>
            <a:pPr marL="195580" indent="-182880">
              <a:lnSpc>
                <a:spcPts val="3110"/>
              </a:lnSpc>
              <a:buClr>
                <a:srgbClr val="93A299"/>
              </a:buClr>
              <a:buSzPct val="84615"/>
              <a:buChar char="•"/>
              <a:tabLst>
                <a:tab pos="195580" algn="l"/>
              </a:tabLst>
            </a:pP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Para 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mitigarlo, necesitamos:</a:t>
            </a:r>
            <a:endParaRPr sz="2600">
              <a:latin typeface="Arial MT"/>
              <a:cs typeface="Arial MT"/>
            </a:endParaRPr>
          </a:p>
          <a:p>
            <a:pPr marL="462280" lvl="1" indent="-183515">
              <a:lnSpc>
                <a:spcPts val="2620"/>
              </a:lnSpc>
              <a:spcBef>
                <a:spcPts val="65"/>
              </a:spcBef>
              <a:buClr>
                <a:srgbClr val="93A299"/>
              </a:buClr>
              <a:buSzPct val="84090"/>
              <a:buChar char="•"/>
              <a:tabLst>
                <a:tab pos="462280" algn="l"/>
              </a:tabLst>
            </a:pP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Escribir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software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más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fácil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entender.</a:t>
            </a:r>
            <a:endParaRPr sz="2200">
              <a:latin typeface="Arial MT"/>
              <a:cs typeface="Arial MT"/>
            </a:endParaRPr>
          </a:p>
          <a:p>
            <a:pPr marL="462280" lvl="1" indent="-183515">
              <a:lnSpc>
                <a:spcPts val="2610"/>
              </a:lnSpc>
              <a:buClr>
                <a:srgbClr val="93A299"/>
              </a:buClr>
              <a:buSzPct val="84090"/>
              <a:buChar char="•"/>
              <a:tabLst>
                <a:tab pos="462280" algn="l"/>
              </a:tabLst>
            </a:pP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Escribir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código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para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las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personas,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para</a:t>
            </a:r>
            <a:r>
              <a:rPr sz="22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compilador.</a:t>
            </a:r>
            <a:endParaRPr sz="2200">
              <a:latin typeface="Arial MT"/>
              <a:cs typeface="Arial MT"/>
            </a:endParaRPr>
          </a:p>
          <a:p>
            <a:pPr marL="195580" indent="-182880">
              <a:lnSpc>
                <a:spcPts val="3110"/>
              </a:lnSpc>
              <a:buClr>
                <a:srgbClr val="93A299"/>
              </a:buClr>
              <a:buSzPct val="84615"/>
              <a:buChar char="•"/>
              <a:tabLst>
                <a:tab pos="195580" algn="l"/>
              </a:tabLst>
            </a:pP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Si</a:t>
            </a:r>
            <a:r>
              <a:rPr sz="26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funciona,</a:t>
            </a:r>
            <a:r>
              <a:rPr sz="26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dirty="0">
                <a:solidFill>
                  <a:srgbClr val="292934"/>
                </a:solidFill>
                <a:latin typeface="Arial MT"/>
                <a:cs typeface="Arial MT"/>
              </a:rPr>
              <a:t>lo</a:t>
            </a:r>
            <a:r>
              <a:rPr sz="26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Arial MT"/>
                <a:cs typeface="Arial MT"/>
              </a:rPr>
              <a:t>toques</a:t>
            </a:r>
            <a:endParaRPr sz="2600">
              <a:latin typeface="Arial MT"/>
              <a:cs typeface="Arial MT"/>
            </a:endParaRPr>
          </a:p>
          <a:p>
            <a:pPr marL="469265" marR="231140" lvl="1" indent="-190500">
              <a:lnSpc>
                <a:spcPct val="78500"/>
              </a:lnSpc>
              <a:spcBef>
                <a:spcPts val="630"/>
              </a:spcBef>
              <a:buClr>
                <a:srgbClr val="93A299"/>
              </a:buClr>
              <a:buSzPct val="84090"/>
              <a:buChar char="•"/>
              <a:tabLst>
                <a:tab pos="462280" algn="l"/>
                <a:tab pos="5401310" algn="l"/>
              </a:tabLst>
            </a:pP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¿Sabiduría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ingeniería,</a:t>
            </a:r>
            <a:r>
              <a:rPr sz="22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o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la</a:t>
            </a:r>
            <a:r>
              <a:rPr sz="22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señal	de</a:t>
            </a:r>
            <a:r>
              <a:rPr sz="22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ya</a:t>
            </a:r>
            <a:r>
              <a:rPr sz="22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22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tenemos </a:t>
            </a:r>
            <a:r>
              <a:rPr sz="2200" spc="-5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Arial MT"/>
                <a:cs typeface="Arial MT"/>
              </a:rPr>
              <a:t>control?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0527" y="251121"/>
            <a:ext cx="9022873" cy="1233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Refactoring</a:t>
            </a:r>
            <a:r>
              <a:rPr spc="-204" dirty="0"/>
              <a:t> </a:t>
            </a:r>
            <a:r>
              <a:rPr dirty="0"/>
              <a:t>y</a:t>
            </a:r>
            <a:r>
              <a:rPr spc="-270" dirty="0"/>
              <a:t> </a:t>
            </a:r>
            <a:r>
              <a:rPr spc="-180" dirty="0"/>
              <a:t>Test</a:t>
            </a:r>
            <a:r>
              <a:rPr spc="-195" dirty="0"/>
              <a:t> </a:t>
            </a:r>
            <a:r>
              <a:rPr spc="-85" dirty="0"/>
              <a:t>Driven</a:t>
            </a:r>
            <a:r>
              <a:rPr spc="-204" dirty="0"/>
              <a:t> </a:t>
            </a:r>
            <a:r>
              <a:rPr spc="-95" dirty="0"/>
              <a:t>Development</a:t>
            </a:r>
            <a:r>
              <a:rPr spc="-204" dirty="0"/>
              <a:t> </a:t>
            </a:r>
            <a:r>
              <a:rPr spc="-105" dirty="0"/>
              <a:t>(TDD)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20</a:t>
            </a:fld>
            <a:endParaRPr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10225" y="1858848"/>
            <a:ext cx="3209803" cy="49189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309023" y="1758834"/>
            <a:ext cx="4888230" cy="249682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90500" marR="5080" indent="-177800" algn="just">
              <a:lnSpc>
                <a:spcPct val="79900"/>
              </a:lnSpc>
              <a:spcBef>
                <a:spcPts val="775"/>
              </a:spcBef>
              <a:buClr>
                <a:srgbClr val="93A299"/>
              </a:buClr>
              <a:buSzPct val="83928"/>
              <a:buChar char="•"/>
              <a:tabLst>
                <a:tab pos="195580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Una vez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finalizado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el proceso </a:t>
            </a:r>
            <a:r>
              <a:rPr sz="2800" spc="-7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test,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pasamos a la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etapa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55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800" spc="6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105" dirty="0">
                <a:solidFill>
                  <a:srgbClr val="292934"/>
                </a:solidFill>
                <a:latin typeface="Arial MT"/>
                <a:cs typeface="Arial MT"/>
              </a:rPr>
              <a:t>refactorización,</a:t>
            </a:r>
            <a:r>
              <a:rPr sz="2800" spc="110" dirty="0">
                <a:solidFill>
                  <a:srgbClr val="292934"/>
                </a:solidFill>
                <a:latin typeface="Arial MT"/>
                <a:cs typeface="Arial MT"/>
              </a:rPr>
              <a:t> donde </a:t>
            </a:r>
            <a:r>
              <a:rPr sz="2800" spc="114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310" dirty="0">
                <a:solidFill>
                  <a:srgbClr val="292934"/>
                </a:solidFill>
                <a:latin typeface="Arial MT"/>
                <a:cs typeface="Arial MT"/>
              </a:rPr>
              <a:t>procedemos</a:t>
            </a:r>
            <a:r>
              <a:rPr sz="2800" spc="3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300" dirty="0">
                <a:solidFill>
                  <a:srgbClr val="292934"/>
                </a:solidFill>
                <a:latin typeface="Arial MT"/>
                <a:cs typeface="Arial MT"/>
              </a:rPr>
              <a:t>realizar </a:t>
            </a:r>
            <a:r>
              <a:rPr sz="2800" spc="-7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35" dirty="0">
                <a:solidFill>
                  <a:srgbClr val="292934"/>
                </a:solidFill>
                <a:latin typeface="Arial MT"/>
                <a:cs typeface="Arial MT"/>
              </a:rPr>
              <a:t>pequeños</a:t>
            </a:r>
            <a:r>
              <a:rPr sz="28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30" dirty="0">
                <a:solidFill>
                  <a:srgbClr val="292934"/>
                </a:solidFill>
                <a:latin typeface="Arial MT"/>
                <a:cs typeface="Arial MT"/>
              </a:rPr>
              <a:t>cambios</a:t>
            </a:r>
            <a:r>
              <a:rPr sz="28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25" dirty="0">
                <a:solidFill>
                  <a:srgbClr val="292934"/>
                </a:solidFill>
                <a:latin typeface="Arial MT"/>
                <a:cs typeface="Arial MT"/>
              </a:rPr>
              <a:t>con</a:t>
            </a:r>
            <a:r>
              <a:rPr sz="2800" spc="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40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28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objetivo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de mejorar el código </a:t>
            </a:r>
            <a:r>
              <a:rPr sz="2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existente.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09023" y="1768994"/>
            <a:ext cx="6765290" cy="1112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ts val="2880"/>
              </a:lnSpc>
              <a:spcBef>
                <a:spcPts val="100"/>
              </a:spcBef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Descubre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cómo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«huele»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2400" b="1" i="1" spc="-5" dirty="0">
                <a:solidFill>
                  <a:srgbClr val="363744"/>
                </a:solidFill>
                <a:latin typeface="Arial"/>
                <a:cs typeface="Arial"/>
              </a:rPr>
              <a:t>code</a:t>
            </a:r>
            <a:r>
              <a:rPr sz="2400" b="1" i="1" spc="-15" dirty="0">
                <a:solidFill>
                  <a:srgbClr val="363744"/>
                </a:solidFill>
                <a:latin typeface="Arial"/>
                <a:cs typeface="Arial"/>
              </a:rPr>
              <a:t> </a:t>
            </a:r>
            <a:r>
              <a:rPr sz="2400" b="1" i="1" spc="-5" dirty="0">
                <a:solidFill>
                  <a:srgbClr val="363744"/>
                </a:solidFill>
                <a:latin typeface="Arial"/>
                <a:cs typeface="Arial"/>
              </a:rPr>
              <a:t>smell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)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código.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ts val="2840"/>
              </a:lnSpc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Refactoriza</a:t>
            </a:r>
            <a:r>
              <a:rPr sz="24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(eliminando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mal</a:t>
            </a:r>
            <a:r>
              <a:rPr sz="24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olor).</a:t>
            </a:r>
            <a:endParaRPr sz="2400">
              <a:latin typeface="Arial MT"/>
              <a:cs typeface="Arial MT"/>
            </a:endParaRPr>
          </a:p>
          <a:p>
            <a:pPr marL="195580" indent="-182880">
              <a:lnSpc>
                <a:spcPts val="2840"/>
              </a:lnSpc>
              <a:buClr>
                <a:srgbClr val="93A299"/>
              </a:buClr>
              <a:buSzPct val="83333"/>
              <a:buChar char="•"/>
              <a:tabLst>
                <a:tab pos="1955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Ejecuta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las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pruebas.</a:t>
            </a:r>
            <a:endParaRPr sz="24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197320" y="3058998"/>
            <a:ext cx="4253865" cy="2630170"/>
            <a:chOff x="4197320" y="3058998"/>
            <a:chExt cx="4253865" cy="26301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77047" y="3058998"/>
              <a:ext cx="2574118" cy="252223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02083" y="5074817"/>
              <a:ext cx="4089400" cy="609600"/>
            </a:xfrm>
            <a:custGeom>
              <a:avLst/>
              <a:gdLst/>
              <a:ahLst/>
              <a:cxnLst/>
              <a:rect l="l" t="t" r="r" b="b"/>
              <a:pathLst>
                <a:path w="4089400" h="609600">
                  <a:moveTo>
                    <a:pt x="3431498" y="0"/>
                  </a:moveTo>
                  <a:lnTo>
                    <a:pt x="657900" y="0"/>
                  </a:lnTo>
                  <a:lnTo>
                    <a:pt x="594540" y="1394"/>
                  </a:lnTo>
                  <a:lnTo>
                    <a:pt x="532884" y="5492"/>
                  </a:lnTo>
                  <a:lnTo>
                    <a:pt x="473207" y="12165"/>
                  </a:lnTo>
                  <a:lnTo>
                    <a:pt x="415786" y="21287"/>
                  </a:lnTo>
                  <a:lnTo>
                    <a:pt x="360896" y="32729"/>
                  </a:lnTo>
                  <a:lnTo>
                    <a:pt x="308813" y="46364"/>
                  </a:lnTo>
                  <a:lnTo>
                    <a:pt x="259812" y="62065"/>
                  </a:lnTo>
                  <a:lnTo>
                    <a:pt x="214170" y="79703"/>
                  </a:lnTo>
                  <a:lnTo>
                    <a:pt x="172161" y="99151"/>
                  </a:lnTo>
                  <a:lnTo>
                    <a:pt x="134063" y="120281"/>
                  </a:lnTo>
                  <a:lnTo>
                    <a:pt x="100149" y="142966"/>
                  </a:lnTo>
                  <a:lnTo>
                    <a:pt x="45981" y="192490"/>
                  </a:lnTo>
                  <a:lnTo>
                    <a:pt x="11862" y="246701"/>
                  </a:lnTo>
                  <a:lnTo>
                    <a:pt x="0" y="304577"/>
                  </a:lnTo>
                  <a:lnTo>
                    <a:pt x="3011" y="333910"/>
                  </a:lnTo>
                  <a:lnTo>
                    <a:pt x="26278" y="390082"/>
                  </a:lnTo>
                  <a:lnTo>
                    <a:pt x="70697" y="442077"/>
                  </a:lnTo>
                  <a:lnTo>
                    <a:pt x="134063" y="488874"/>
                  </a:lnTo>
                  <a:lnTo>
                    <a:pt x="172161" y="510004"/>
                  </a:lnTo>
                  <a:lnTo>
                    <a:pt x="214170" y="529452"/>
                  </a:lnTo>
                  <a:lnTo>
                    <a:pt x="259812" y="547090"/>
                  </a:lnTo>
                  <a:lnTo>
                    <a:pt x="308813" y="562790"/>
                  </a:lnTo>
                  <a:lnTo>
                    <a:pt x="360896" y="576426"/>
                  </a:lnTo>
                  <a:lnTo>
                    <a:pt x="415786" y="587868"/>
                  </a:lnTo>
                  <a:lnTo>
                    <a:pt x="473207" y="596990"/>
                  </a:lnTo>
                  <a:lnTo>
                    <a:pt x="532884" y="603663"/>
                  </a:lnTo>
                  <a:lnTo>
                    <a:pt x="594540" y="607761"/>
                  </a:lnTo>
                  <a:lnTo>
                    <a:pt x="657900" y="609155"/>
                  </a:lnTo>
                  <a:lnTo>
                    <a:pt x="3431498" y="609155"/>
                  </a:lnTo>
                  <a:lnTo>
                    <a:pt x="3494858" y="607761"/>
                  </a:lnTo>
                  <a:lnTo>
                    <a:pt x="3556514" y="603663"/>
                  </a:lnTo>
                  <a:lnTo>
                    <a:pt x="3616191" y="596990"/>
                  </a:lnTo>
                  <a:lnTo>
                    <a:pt x="3673612" y="587868"/>
                  </a:lnTo>
                  <a:lnTo>
                    <a:pt x="3728502" y="576426"/>
                  </a:lnTo>
                  <a:lnTo>
                    <a:pt x="3780585" y="562790"/>
                  </a:lnTo>
                  <a:lnTo>
                    <a:pt x="3829586" y="547090"/>
                  </a:lnTo>
                  <a:lnTo>
                    <a:pt x="3875228" y="529452"/>
                  </a:lnTo>
                  <a:lnTo>
                    <a:pt x="3917237" y="510004"/>
                  </a:lnTo>
                  <a:lnTo>
                    <a:pt x="3955336" y="488874"/>
                  </a:lnTo>
                  <a:lnTo>
                    <a:pt x="3989249" y="466189"/>
                  </a:lnTo>
                  <a:lnTo>
                    <a:pt x="4043417" y="416665"/>
                  </a:lnTo>
                  <a:lnTo>
                    <a:pt x="4077535" y="362454"/>
                  </a:lnTo>
                  <a:lnTo>
                    <a:pt x="4089398" y="304577"/>
                  </a:lnTo>
                  <a:lnTo>
                    <a:pt x="4086387" y="275245"/>
                  </a:lnTo>
                  <a:lnTo>
                    <a:pt x="4063120" y="219073"/>
                  </a:lnTo>
                  <a:lnTo>
                    <a:pt x="4018701" y="167078"/>
                  </a:lnTo>
                  <a:lnTo>
                    <a:pt x="3955336" y="120281"/>
                  </a:lnTo>
                  <a:lnTo>
                    <a:pt x="3917237" y="99151"/>
                  </a:lnTo>
                  <a:lnTo>
                    <a:pt x="3875228" y="79703"/>
                  </a:lnTo>
                  <a:lnTo>
                    <a:pt x="3829586" y="62065"/>
                  </a:lnTo>
                  <a:lnTo>
                    <a:pt x="3780585" y="46364"/>
                  </a:lnTo>
                  <a:lnTo>
                    <a:pt x="3728502" y="32729"/>
                  </a:lnTo>
                  <a:lnTo>
                    <a:pt x="3673612" y="21287"/>
                  </a:lnTo>
                  <a:lnTo>
                    <a:pt x="3616191" y="12165"/>
                  </a:lnTo>
                  <a:lnTo>
                    <a:pt x="3556514" y="5492"/>
                  </a:lnTo>
                  <a:lnTo>
                    <a:pt x="3494858" y="1394"/>
                  </a:lnTo>
                  <a:lnTo>
                    <a:pt x="3431498" y="0"/>
                  </a:lnTo>
                  <a:close/>
                </a:path>
              </a:pathLst>
            </a:custGeom>
            <a:solidFill>
              <a:srgbClr val="30D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02083" y="5074816"/>
              <a:ext cx="4089400" cy="609600"/>
            </a:xfrm>
            <a:custGeom>
              <a:avLst/>
              <a:gdLst/>
              <a:ahLst/>
              <a:cxnLst/>
              <a:rect l="l" t="t" r="r" b="b"/>
              <a:pathLst>
                <a:path w="4089400" h="609600">
                  <a:moveTo>
                    <a:pt x="657900" y="0"/>
                  </a:moveTo>
                  <a:lnTo>
                    <a:pt x="3431497" y="0"/>
                  </a:lnTo>
                  <a:lnTo>
                    <a:pt x="3494857" y="1394"/>
                  </a:lnTo>
                  <a:lnTo>
                    <a:pt x="3556514" y="5491"/>
                  </a:lnTo>
                  <a:lnTo>
                    <a:pt x="3616190" y="12165"/>
                  </a:lnTo>
                  <a:lnTo>
                    <a:pt x="3673612" y="21287"/>
                  </a:lnTo>
                  <a:lnTo>
                    <a:pt x="3728502" y="32729"/>
                  </a:lnTo>
                  <a:lnTo>
                    <a:pt x="3780585" y="46364"/>
                  </a:lnTo>
                  <a:lnTo>
                    <a:pt x="3829586" y="62064"/>
                  </a:lnTo>
                  <a:lnTo>
                    <a:pt x="3875228" y="79702"/>
                  </a:lnTo>
                  <a:lnTo>
                    <a:pt x="3917237" y="99150"/>
                  </a:lnTo>
                  <a:lnTo>
                    <a:pt x="3955336" y="120281"/>
                  </a:lnTo>
                  <a:lnTo>
                    <a:pt x="3989249" y="142966"/>
                  </a:lnTo>
                  <a:lnTo>
                    <a:pt x="4043417" y="192489"/>
                  </a:lnTo>
                  <a:lnTo>
                    <a:pt x="4077536" y="246700"/>
                  </a:lnTo>
                  <a:lnTo>
                    <a:pt x="4089399" y="304577"/>
                  </a:lnTo>
                  <a:lnTo>
                    <a:pt x="4086387" y="333910"/>
                  </a:lnTo>
                  <a:lnTo>
                    <a:pt x="4063121" y="390081"/>
                  </a:lnTo>
                  <a:lnTo>
                    <a:pt x="4018702" y="442076"/>
                  </a:lnTo>
                  <a:lnTo>
                    <a:pt x="3955336" y="488873"/>
                  </a:lnTo>
                  <a:lnTo>
                    <a:pt x="3917237" y="510003"/>
                  </a:lnTo>
                  <a:lnTo>
                    <a:pt x="3875228" y="529451"/>
                  </a:lnTo>
                  <a:lnTo>
                    <a:pt x="3829586" y="547089"/>
                  </a:lnTo>
                  <a:lnTo>
                    <a:pt x="3780585" y="562790"/>
                  </a:lnTo>
                  <a:lnTo>
                    <a:pt x="3728502" y="576425"/>
                  </a:lnTo>
                  <a:lnTo>
                    <a:pt x="3673612" y="587867"/>
                  </a:lnTo>
                  <a:lnTo>
                    <a:pt x="3616190" y="596989"/>
                  </a:lnTo>
                  <a:lnTo>
                    <a:pt x="3556514" y="603662"/>
                  </a:lnTo>
                  <a:lnTo>
                    <a:pt x="3494857" y="607760"/>
                  </a:lnTo>
                  <a:lnTo>
                    <a:pt x="3431497" y="609154"/>
                  </a:lnTo>
                  <a:lnTo>
                    <a:pt x="657900" y="609154"/>
                  </a:lnTo>
                  <a:lnTo>
                    <a:pt x="594540" y="607760"/>
                  </a:lnTo>
                  <a:lnTo>
                    <a:pt x="532884" y="603662"/>
                  </a:lnTo>
                  <a:lnTo>
                    <a:pt x="473207" y="596989"/>
                  </a:lnTo>
                  <a:lnTo>
                    <a:pt x="415786" y="587867"/>
                  </a:lnTo>
                  <a:lnTo>
                    <a:pt x="360896" y="576425"/>
                  </a:lnTo>
                  <a:lnTo>
                    <a:pt x="308813" y="562790"/>
                  </a:lnTo>
                  <a:lnTo>
                    <a:pt x="259812" y="547089"/>
                  </a:lnTo>
                  <a:lnTo>
                    <a:pt x="214170" y="529451"/>
                  </a:lnTo>
                  <a:lnTo>
                    <a:pt x="172161" y="510003"/>
                  </a:lnTo>
                  <a:lnTo>
                    <a:pt x="134063" y="488873"/>
                  </a:lnTo>
                  <a:lnTo>
                    <a:pt x="100149" y="466188"/>
                  </a:lnTo>
                  <a:lnTo>
                    <a:pt x="45981" y="416664"/>
                  </a:lnTo>
                  <a:lnTo>
                    <a:pt x="11862" y="362454"/>
                  </a:lnTo>
                  <a:lnTo>
                    <a:pt x="0" y="304577"/>
                  </a:lnTo>
                  <a:lnTo>
                    <a:pt x="3011" y="275244"/>
                  </a:lnTo>
                  <a:lnTo>
                    <a:pt x="26278" y="219073"/>
                  </a:lnTo>
                  <a:lnTo>
                    <a:pt x="70697" y="167078"/>
                  </a:lnTo>
                  <a:lnTo>
                    <a:pt x="134063" y="120281"/>
                  </a:lnTo>
                  <a:lnTo>
                    <a:pt x="172161" y="99150"/>
                  </a:lnTo>
                  <a:lnTo>
                    <a:pt x="214170" y="79702"/>
                  </a:lnTo>
                  <a:lnTo>
                    <a:pt x="259812" y="62064"/>
                  </a:lnTo>
                  <a:lnTo>
                    <a:pt x="308813" y="46364"/>
                  </a:lnTo>
                  <a:lnTo>
                    <a:pt x="360896" y="32729"/>
                  </a:lnTo>
                  <a:lnTo>
                    <a:pt x="415786" y="21287"/>
                  </a:lnTo>
                  <a:lnTo>
                    <a:pt x="473207" y="12165"/>
                  </a:lnTo>
                  <a:lnTo>
                    <a:pt x="532884" y="5491"/>
                  </a:lnTo>
                  <a:lnTo>
                    <a:pt x="594540" y="1394"/>
                  </a:lnTo>
                  <a:lnTo>
                    <a:pt x="65790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547552" y="5277868"/>
              <a:ext cx="1439545" cy="287655"/>
            </a:xfrm>
            <a:custGeom>
              <a:avLst/>
              <a:gdLst/>
              <a:ahLst/>
              <a:cxnLst/>
              <a:rect l="l" t="t" r="r" b="b"/>
              <a:pathLst>
                <a:path w="1439545" h="287654">
                  <a:moveTo>
                    <a:pt x="1207634" y="0"/>
                  </a:moveTo>
                  <a:lnTo>
                    <a:pt x="231532" y="0"/>
                  </a:lnTo>
                  <a:lnTo>
                    <a:pt x="169981" y="5137"/>
                  </a:lnTo>
                  <a:lnTo>
                    <a:pt x="114673" y="19636"/>
                  </a:lnTo>
                  <a:lnTo>
                    <a:pt x="67814" y="42125"/>
                  </a:lnTo>
                  <a:lnTo>
                    <a:pt x="31610" y="71234"/>
                  </a:lnTo>
                  <a:lnTo>
                    <a:pt x="8270" y="105591"/>
                  </a:lnTo>
                  <a:lnTo>
                    <a:pt x="0" y="143826"/>
                  </a:lnTo>
                  <a:lnTo>
                    <a:pt x="8270" y="182061"/>
                  </a:lnTo>
                  <a:lnTo>
                    <a:pt x="31610" y="216418"/>
                  </a:lnTo>
                  <a:lnTo>
                    <a:pt x="67814" y="245526"/>
                  </a:lnTo>
                  <a:lnTo>
                    <a:pt x="114673" y="268016"/>
                  </a:lnTo>
                  <a:lnTo>
                    <a:pt x="169981" y="282514"/>
                  </a:lnTo>
                  <a:lnTo>
                    <a:pt x="231532" y="287652"/>
                  </a:lnTo>
                  <a:lnTo>
                    <a:pt x="1207634" y="287652"/>
                  </a:lnTo>
                  <a:lnTo>
                    <a:pt x="1269184" y="282514"/>
                  </a:lnTo>
                  <a:lnTo>
                    <a:pt x="1324493" y="268016"/>
                  </a:lnTo>
                  <a:lnTo>
                    <a:pt x="1371352" y="245526"/>
                  </a:lnTo>
                  <a:lnTo>
                    <a:pt x="1407555" y="216418"/>
                  </a:lnTo>
                  <a:lnTo>
                    <a:pt x="1430896" y="182061"/>
                  </a:lnTo>
                  <a:lnTo>
                    <a:pt x="1439166" y="143826"/>
                  </a:lnTo>
                  <a:lnTo>
                    <a:pt x="1430896" y="105591"/>
                  </a:lnTo>
                  <a:lnTo>
                    <a:pt x="1407555" y="71234"/>
                  </a:lnTo>
                  <a:lnTo>
                    <a:pt x="1371352" y="42125"/>
                  </a:lnTo>
                  <a:lnTo>
                    <a:pt x="1324493" y="19636"/>
                  </a:lnTo>
                  <a:lnTo>
                    <a:pt x="1269184" y="5137"/>
                  </a:lnTo>
                  <a:lnTo>
                    <a:pt x="1207634" y="0"/>
                  </a:lnTo>
                  <a:close/>
                </a:path>
              </a:pathLst>
            </a:custGeom>
            <a:solidFill>
              <a:srgbClr val="A7D2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547552" y="5277868"/>
              <a:ext cx="1439545" cy="287655"/>
            </a:xfrm>
            <a:custGeom>
              <a:avLst/>
              <a:gdLst/>
              <a:ahLst/>
              <a:cxnLst/>
              <a:rect l="l" t="t" r="r" b="b"/>
              <a:pathLst>
                <a:path w="1439545" h="287654">
                  <a:moveTo>
                    <a:pt x="231532" y="0"/>
                  </a:moveTo>
                  <a:lnTo>
                    <a:pt x="1207633" y="0"/>
                  </a:lnTo>
                  <a:lnTo>
                    <a:pt x="1269184" y="5137"/>
                  </a:lnTo>
                  <a:lnTo>
                    <a:pt x="1324492" y="19636"/>
                  </a:lnTo>
                  <a:lnTo>
                    <a:pt x="1371352" y="42125"/>
                  </a:lnTo>
                  <a:lnTo>
                    <a:pt x="1407555" y="71234"/>
                  </a:lnTo>
                  <a:lnTo>
                    <a:pt x="1430896" y="105591"/>
                  </a:lnTo>
                  <a:lnTo>
                    <a:pt x="1439166" y="143826"/>
                  </a:lnTo>
                  <a:lnTo>
                    <a:pt x="1430896" y="182061"/>
                  </a:lnTo>
                  <a:lnTo>
                    <a:pt x="1407555" y="216418"/>
                  </a:lnTo>
                  <a:lnTo>
                    <a:pt x="1371352" y="245527"/>
                  </a:lnTo>
                  <a:lnTo>
                    <a:pt x="1324492" y="268016"/>
                  </a:lnTo>
                  <a:lnTo>
                    <a:pt x="1269184" y="282515"/>
                  </a:lnTo>
                  <a:lnTo>
                    <a:pt x="1207633" y="287652"/>
                  </a:lnTo>
                  <a:lnTo>
                    <a:pt x="231532" y="287652"/>
                  </a:lnTo>
                  <a:lnTo>
                    <a:pt x="169981" y="282515"/>
                  </a:lnTo>
                  <a:lnTo>
                    <a:pt x="114673" y="268016"/>
                  </a:lnTo>
                  <a:lnTo>
                    <a:pt x="67814" y="245527"/>
                  </a:lnTo>
                  <a:lnTo>
                    <a:pt x="31610" y="216418"/>
                  </a:lnTo>
                  <a:lnTo>
                    <a:pt x="8270" y="182061"/>
                  </a:lnTo>
                  <a:lnTo>
                    <a:pt x="0" y="143826"/>
                  </a:lnTo>
                  <a:lnTo>
                    <a:pt x="8270" y="105591"/>
                  </a:lnTo>
                  <a:lnTo>
                    <a:pt x="31610" y="71234"/>
                  </a:lnTo>
                  <a:lnTo>
                    <a:pt x="67814" y="42125"/>
                  </a:lnTo>
                  <a:lnTo>
                    <a:pt x="114673" y="19636"/>
                  </a:lnTo>
                  <a:lnTo>
                    <a:pt x="169981" y="5137"/>
                  </a:lnTo>
                  <a:lnTo>
                    <a:pt x="231532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6778673" y="5293968"/>
            <a:ext cx="9740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292934"/>
                </a:solidFill>
                <a:latin typeface="Times New Roman"/>
                <a:cs typeface="Times New Roman"/>
              </a:rPr>
              <a:t>Smell</a:t>
            </a:r>
            <a:r>
              <a:rPr sz="1400" b="1" spc="-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292934"/>
                </a:solidFill>
                <a:latin typeface="Times New Roman"/>
                <a:cs typeface="Times New Roman"/>
              </a:rPr>
              <a:t>a</a:t>
            </a:r>
            <a:r>
              <a:rPr sz="1400" b="1" spc="-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292934"/>
                </a:solidFill>
                <a:latin typeface="Times New Roman"/>
                <a:cs typeface="Times New Roman"/>
              </a:rPr>
              <a:t>code</a:t>
            </a:r>
            <a:endParaRPr sz="1400">
              <a:latin typeface="Times New Roman"/>
              <a:cs typeface="Times New Roman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1760" y="5377426"/>
            <a:ext cx="417830" cy="118110"/>
            <a:chOff x="6121760" y="5377426"/>
            <a:chExt cx="417830" cy="118110"/>
          </a:xfrm>
        </p:grpSpPr>
        <p:sp>
          <p:nvSpPr>
            <p:cNvPr id="11" name="object 11"/>
            <p:cNvSpPr/>
            <p:nvPr/>
          </p:nvSpPr>
          <p:spPr>
            <a:xfrm>
              <a:off x="6146965" y="5435982"/>
              <a:ext cx="386080" cy="635"/>
            </a:xfrm>
            <a:custGeom>
              <a:avLst/>
              <a:gdLst/>
              <a:ahLst/>
              <a:cxnLst/>
              <a:rect l="l" t="t" r="r" b="b"/>
              <a:pathLst>
                <a:path w="386079" h="635">
                  <a:moveTo>
                    <a:pt x="385836" y="0"/>
                  </a:moveTo>
                  <a:lnTo>
                    <a:pt x="0" y="496"/>
                  </a:lnTo>
                </a:path>
              </a:pathLst>
            </a:custGeom>
            <a:ln w="12699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21760" y="5377426"/>
              <a:ext cx="115966" cy="117908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6230027" y="5192449"/>
            <a:ext cx="2882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92934"/>
                </a:solidFill>
                <a:latin typeface="Times New Roman"/>
                <a:cs typeface="Times New Roman"/>
              </a:rPr>
              <a:t>Bad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62973" y="5273106"/>
            <a:ext cx="2702560" cy="838835"/>
            <a:chOff x="4662973" y="5273106"/>
            <a:chExt cx="2702560" cy="838835"/>
          </a:xfrm>
        </p:grpSpPr>
        <p:sp>
          <p:nvSpPr>
            <p:cNvPr id="15" name="object 15"/>
            <p:cNvSpPr/>
            <p:nvPr/>
          </p:nvSpPr>
          <p:spPr>
            <a:xfrm>
              <a:off x="7270892" y="5568495"/>
              <a:ext cx="5080" cy="369570"/>
            </a:xfrm>
            <a:custGeom>
              <a:avLst/>
              <a:gdLst/>
              <a:ahLst/>
              <a:cxnLst/>
              <a:rect l="l" t="t" r="r" b="b"/>
              <a:pathLst>
                <a:path w="5079" h="369570">
                  <a:moveTo>
                    <a:pt x="0" y="0"/>
                  </a:moveTo>
                  <a:lnTo>
                    <a:pt x="4709" y="369288"/>
                  </a:lnTo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86113" y="5916108"/>
              <a:ext cx="178838" cy="19565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67736" y="5277868"/>
              <a:ext cx="1439545" cy="287655"/>
            </a:xfrm>
            <a:custGeom>
              <a:avLst/>
              <a:gdLst/>
              <a:ahLst/>
              <a:cxnLst/>
              <a:rect l="l" t="t" r="r" b="b"/>
              <a:pathLst>
                <a:path w="1439545" h="287654">
                  <a:moveTo>
                    <a:pt x="1207634" y="0"/>
                  </a:moveTo>
                  <a:lnTo>
                    <a:pt x="231532" y="0"/>
                  </a:lnTo>
                  <a:lnTo>
                    <a:pt x="169981" y="5137"/>
                  </a:lnTo>
                  <a:lnTo>
                    <a:pt x="114673" y="19636"/>
                  </a:lnTo>
                  <a:lnTo>
                    <a:pt x="67814" y="42125"/>
                  </a:lnTo>
                  <a:lnTo>
                    <a:pt x="31610" y="71234"/>
                  </a:lnTo>
                  <a:lnTo>
                    <a:pt x="8270" y="105591"/>
                  </a:lnTo>
                  <a:lnTo>
                    <a:pt x="0" y="143826"/>
                  </a:lnTo>
                  <a:lnTo>
                    <a:pt x="8270" y="182061"/>
                  </a:lnTo>
                  <a:lnTo>
                    <a:pt x="31610" y="216418"/>
                  </a:lnTo>
                  <a:lnTo>
                    <a:pt x="67814" y="245526"/>
                  </a:lnTo>
                  <a:lnTo>
                    <a:pt x="114673" y="268016"/>
                  </a:lnTo>
                  <a:lnTo>
                    <a:pt x="169981" y="282514"/>
                  </a:lnTo>
                  <a:lnTo>
                    <a:pt x="231532" y="287652"/>
                  </a:lnTo>
                  <a:lnTo>
                    <a:pt x="1207634" y="287652"/>
                  </a:lnTo>
                  <a:lnTo>
                    <a:pt x="1269184" y="282514"/>
                  </a:lnTo>
                  <a:lnTo>
                    <a:pt x="1324492" y="268016"/>
                  </a:lnTo>
                  <a:lnTo>
                    <a:pt x="1371352" y="245526"/>
                  </a:lnTo>
                  <a:lnTo>
                    <a:pt x="1407555" y="216418"/>
                  </a:lnTo>
                  <a:lnTo>
                    <a:pt x="1430895" y="182061"/>
                  </a:lnTo>
                  <a:lnTo>
                    <a:pt x="1439166" y="143826"/>
                  </a:lnTo>
                  <a:lnTo>
                    <a:pt x="1430895" y="105591"/>
                  </a:lnTo>
                  <a:lnTo>
                    <a:pt x="1407555" y="71234"/>
                  </a:lnTo>
                  <a:lnTo>
                    <a:pt x="1371352" y="42125"/>
                  </a:lnTo>
                  <a:lnTo>
                    <a:pt x="1324492" y="19636"/>
                  </a:lnTo>
                  <a:lnTo>
                    <a:pt x="1269184" y="5137"/>
                  </a:lnTo>
                  <a:lnTo>
                    <a:pt x="1207634" y="0"/>
                  </a:lnTo>
                  <a:close/>
                </a:path>
              </a:pathLst>
            </a:custGeom>
            <a:solidFill>
              <a:srgbClr val="A7D2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67736" y="5277868"/>
              <a:ext cx="1439545" cy="287655"/>
            </a:xfrm>
            <a:custGeom>
              <a:avLst/>
              <a:gdLst/>
              <a:ahLst/>
              <a:cxnLst/>
              <a:rect l="l" t="t" r="r" b="b"/>
              <a:pathLst>
                <a:path w="1439545" h="287654">
                  <a:moveTo>
                    <a:pt x="231532" y="0"/>
                  </a:moveTo>
                  <a:lnTo>
                    <a:pt x="1207633" y="0"/>
                  </a:lnTo>
                  <a:lnTo>
                    <a:pt x="1269184" y="5137"/>
                  </a:lnTo>
                  <a:lnTo>
                    <a:pt x="1324492" y="19636"/>
                  </a:lnTo>
                  <a:lnTo>
                    <a:pt x="1371352" y="42125"/>
                  </a:lnTo>
                  <a:lnTo>
                    <a:pt x="1407555" y="71234"/>
                  </a:lnTo>
                  <a:lnTo>
                    <a:pt x="1430896" y="105591"/>
                  </a:lnTo>
                  <a:lnTo>
                    <a:pt x="1439166" y="143826"/>
                  </a:lnTo>
                  <a:lnTo>
                    <a:pt x="1430896" y="182061"/>
                  </a:lnTo>
                  <a:lnTo>
                    <a:pt x="1407555" y="216418"/>
                  </a:lnTo>
                  <a:lnTo>
                    <a:pt x="1371352" y="245527"/>
                  </a:lnTo>
                  <a:lnTo>
                    <a:pt x="1324492" y="268016"/>
                  </a:lnTo>
                  <a:lnTo>
                    <a:pt x="1269184" y="282515"/>
                  </a:lnTo>
                  <a:lnTo>
                    <a:pt x="1207633" y="287652"/>
                  </a:lnTo>
                  <a:lnTo>
                    <a:pt x="231532" y="287652"/>
                  </a:lnTo>
                  <a:lnTo>
                    <a:pt x="169982" y="282515"/>
                  </a:lnTo>
                  <a:lnTo>
                    <a:pt x="114673" y="268016"/>
                  </a:lnTo>
                  <a:lnTo>
                    <a:pt x="67814" y="245527"/>
                  </a:lnTo>
                  <a:lnTo>
                    <a:pt x="31611" y="216418"/>
                  </a:lnTo>
                  <a:lnTo>
                    <a:pt x="8270" y="182061"/>
                  </a:lnTo>
                  <a:lnTo>
                    <a:pt x="0" y="143826"/>
                  </a:lnTo>
                  <a:lnTo>
                    <a:pt x="8270" y="105591"/>
                  </a:lnTo>
                  <a:lnTo>
                    <a:pt x="31611" y="71234"/>
                  </a:lnTo>
                  <a:lnTo>
                    <a:pt x="67814" y="42125"/>
                  </a:lnTo>
                  <a:lnTo>
                    <a:pt x="114673" y="19636"/>
                  </a:lnTo>
                  <a:lnTo>
                    <a:pt x="169982" y="5137"/>
                  </a:lnTo>
                  <a:lnTo>
                    <a:pt x="231532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7337412" y="5632390"/>
            <a:ext cx="3816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292934"/>
                </a:solidFill>
                <a:latin typeface="Times New Roman"/>
                <a:cs typeface="Times New Roman"/>
              </a:rPr>
              <a:t>Good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898858" y="5293968"/>
            <a:ext cx="102235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5" dirty="0">
                <a:solidFill>
                  <a:srgbClr val="292934"/>
                </a:solidFill>
                <a:latin typeface="Times New Roman"/>
                <a:cs typeface="Times New Roman"/>
              </a:rPr>
              <a:t>RefactorizeIt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890583" y="5037023"/>
            <a:ext cx="1905" cy="234950"/>
          </a:xfrm>
          <a:custGeom>
            <a:avLst/>
            <a:gdLst/>
            <a:ahLst/>
            <a:cxnLst/>
            <a:rect l="l" t="t" r="r" b="b"/>
            <a:pathLst>
              <a:path w="1904" h="234950">
                <a:moveTo>
                  <a:pt x="1587" y="0"/>
                </a:moveTo>
                <a:lnTo>
                  <a:pt x="0" y="234775"/>
                </a:lnTo>
              </a:path>
            </a:pathLst>
          </a:custGeom>
          <a:ln w="9524">
            <a:solidFill>
              <a:srgbClr val="3637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xfrm>
            <a:off x="1638407" y="360813"/>
            <a:ext cx="9403196" cy="12337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95" dirty="0"/>
              <a:t>Refactoring</a:t>
            </a:r>
            <a:r>
              <a:rPr spc="-204" dirty="0"/>
              <a:t> </a:t>
            </a:r>
            <a:r>
              <a:rPr dirty="0"/>
              <a:t>y</a:t>
            </a:r>
            <a:r>
              <a:rPr spc="-270" dirty="0"/>
              <a:t> </a:t>
            </a:r>
            <a:r>
              <a:rPr spc="-180" dirty="0"/>
              <a:t>Test</a:t>
            </a:r>
            <a:r>
              <a:rPr spc="-195" dirty="0"/>
              <a:t> </a:t>
            </a:r>
            <a:r>
              <a:rPr spc="-85" dirty="0"/>
              <a:t>Driven</a:t>
            </a:r>
            <a:r>
              <a:rPr spc="-204" dirty="0"/>
              <a:t> </a:t>
            </a:r>
            <a:r>
              <a:rPr spc="-95" dirty="0"/>
              <a:t>Development</a:t>
            </a:r>
            <a:r>
              <a:rPr spc="-204" dirty="0"/>
              <a:t> </a:t>
            </a:r>
            <a:r>
              <a:rPr spc="-105" dirty="0"/>
              <a:t>(TDD)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21</a:t>
            </a:fld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41500" y="635335"/>
            <a:ext cx="79238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Malo</a:t>
            </a:r>
            <a:r>
              <a:rPr sz="4000" dirty="0"/>
              <a:t>s</a:t>
            </a:r>
            <a:r>
              <a:rPr sz="4000" spc="-200" dirty="0"/>
              <a:t> </a:t>
            </a:r>
            <a:r>
              <a:rPr sz="4000" spc="-105" dirty="0"/>
              <a:t>olore</a:t>
            </a:r>
            <a:r>
              <a:rPr sz="4000" dirty="0"/>
              <a:t>s</a:t>
            </a:r>
            <a:r>
              <a:rPr sz="4000" spc="-204" dirty="0"/>
              <a:t> </a:t>
            </a:r>
            <a:r>
              <a:rPr sz="4000" spc="-105" dirty="0"/>
              <a:t>de</a:t>
            </a:r>
            <a:r>
              <a:rPr sz="4000" dirty="0"/>
              <a:t>l</a:t>
            </a:r>
            <a:r>
              <a:rPr sz="4000" spc="-204" dirty="0"/>
              <a:t> </a:t>
            </a:r>
            <a:r>
              <a:rPr sz="4000" spc="-100" dirty="0"/>
              <a:t>códig</a:t>
            </a:r>
            <a:r>
              <a:rPr sz="4000" dirty="0"/>
              <a:t>o</a:t>
            </a:r>
            <a:r>
              <a:rPr sz="4000" spc="-200" dirty="0"/>
              <a:t> </a:t>
            </a:r>
            <a:r>
              <a:rPr sz="4000" spc="-100" dirty="0"/>
              <a:t>fuente</a:t>
            </a:r>
            <a:endParaRPr sz="40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22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09023" y="1758834"/>
            <a:ext cx="7750175" cy="2979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ts val="3315"/>
              </a:lnSpc>
              <a:spcBef>
                <a:spcPts val="100"/>
              </a:spcBef>
              <a:buClr>
                <a:srgbClr val="93A299"/>
              </a:buClr>
              <a:buSzPct val="83928"/>
              <a:buChar char="•"/>
              <a:tabLst>
                <a:tab pos="195580" algn="l"/>
              </a:tabLst>
            </a:pP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Metáfora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para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problema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potencial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en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código.</a:t>
            </a:r>
            <a:endParaRPr sz="2800">
              <a:latin typeface="Arial MT"/>
              <a:cs typeface="Arial MT"/>
            </a:endParaRPr>
          </a:p>
          <a:p>
            <a:pPr marL="195580" indent="-182880">
              <a:lnSpc>
                <a:spcPts val="3315"/>
              </a:lnSpc>
              <a:buClr>
                <a:srgbClr val="93A299"/>
              </a:buClr>
              <a:buSzPct val="83928"/>
              <a:buChar char="•"/>
              <a:tabLst>
                <a:tab pos="195580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r>
              <a:rPr sz="28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8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síntoma.</a:t>
            </a:r>
            <a:endParaRPr sz="2800">
              <a:latin typeface="Arial MT"/>
              <a:cs typeface="Arial MT"/>
            </a:endParaRPr>
          </a:p>
          <a:p>
            <a:pPr marL="195580" indent="-182880">
              <a:lnSpc>
                <a:spcPct val="100000"/>
              </a:lnSpc>
              <a:spcBef>
                <a:spcPts val="40"/>
              </a:spcBef>
              <a:buClr>
                <a:srgbClr val="93A299"/>
              </a:buClr>
              <a:buSzPct val="83928"/>
              <a:buChar char="•"/>
              <a:tabLst>
                <a:tab pos="195580" algn="l"/>
              </a:tabLst>
            </a:pP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difícil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 imponer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métricas</a:t>
            </a:r>
            <a:r>
              <a:rPr sz="2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292934"/>
                </a:solidFill>
                <a:latin typeface="Arial MT"/>
                <a:cs typeface="Arial MT"/>
              </a:rPr>
              <a:t>o reglas</a:t>
            </a:r>
            <a:r>
              <a:rPr sz="2800" spc="-5" dirty="0">
                <a:solidFill>
                  <a:srgbClr val="292934"/>
                </a:solidFill>
                <a:latin typeface="Arial MT"/>
                <a:cs typeface="Arial MT"/>
              </a:rPr>
              <a:t> exactas</a:t>
            </a:r>
            <a:endParaRPr sz="2800">
              <a:latin typeface="Arial MT"/>
              <a:cs typeface="Arial MT"/>
            </a:endParaRPr>
          </a:p>
          <a:p>
            <a:pPr marL="469900" marR="5080" lvl="1" indent="-190500">
              <a:lnSpc>
                <a:spcPct val="77200"/>
              </a:lnSpc>
              <a:spcBef>
                <a:spcPts val="680"/>
              </a:spcBef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¿Cuál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el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numero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máximo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líneas</a:t>
            </a:r>
            <a:r>
              <a:rPr sz="24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2400" spc="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un</a:t>
            </a:r>
            <a:r>
              <a:rPr sz="2400" spc="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método </a:t>
            </a:r>
            <a:r>
              <a:rPr sz="2400" spc="-6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debe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 tener?</a:t>
            </a:r>
            <a:endParaRPr sz="2400">
              <a:latin typeface="Arial MT"/>
              <a:cs typeface="Arial MT"/>
            </a:endParaRPr>
          </a:p>
          <a:p>
            <a:pPr marL="462280" lvl="1" indent="-182880">
              <a:lnSpc>
                <a:spcPts val="2875"/>
              </a:lnSpc>
              <a:buClr>
                <a:srgbClr val="93A299"/>
              </a:buClr>
              <a:buSzPct val="83333"/>
              <a:buChar char="•"/>
              <a:tabLst>
                <a:tab pos="462280" algn="l"/>
              </a:tabLst>
            </a:pP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¿Y</a:t>
            </a:r>
            <a:r>
              <a:rPr sz="2400" spc="-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número</a:t>
            </a:r>
            <a:r>
              <a:rPr sz="24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mínimo?</a:t>
            </a:r>
            <a:endParaRPr sz="2400">
              <a:latin typeface="Arial MT"/>
              <a:cs typeface="Arial MT"/>
            </a:endParaRPr>
          </a:p>
          <a:p>
            <a:pPr marL="469900" marR="5080" lvl="1" indent="-190500">
              <a:lnSpc>
                <a:spcPts val="2320"/>
              </a:lnSpc>
              <a:spcBef>
                <a:spcPts val="565"/>
              </a:spcBef>
              <a:buClr>
                <a:srgbClr val="93A299"/>
              </a:buClr>
              <a:buSzPct val="83333"/>
              <a:buChar char="•"/>
              <a:tabLst>
                <a:tab pos="462280" algn="l"/>
                <a:tab pos="2450465" algn="l"/>
                <a:tab pos="2948305" algn="l"/>
                <a:tab pos="4124325" algn="l"/>
                <a:tab pos="5333365" algn="l"/>
                <a:tab pos="5831840" algn="l"/>
                <a:tab pos="6889115" algn="l"/>
              </a:tabLst>
            </a:pP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Herramien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as	de	análisis	es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á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ica	de	código	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f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uen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t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e 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ayudan</a:t>
            </a:r>
            <a:r>
              <a:rPr sz="2400" spc="-5" dirty="0">
                <a:solidFill>
                  <a:srgbClr val="363744"/>
                </a:solidFill>
                <a:latin typeface="Arial MT"/>
                <a:cs typeface="Arial MT"/>
              </a:rPr>
              <a:t>… </a:t>
            </a:r>
            <a:r>
              <a:rPr sz="2400" dirty="0">
                <a:solidFill>
                  <a:srgbClr val="363744"/>
                </a:solidFill>
                <a:latin typeface="Arial MT"/>
                <a:cs typeface="Arial MT"/>
              </a:rPr>
              <a:t>pero</a:t>
            </a:r>
            <a:r>
              <a:rPr sz="2400" spc="-5" dirty="0">
                <a:solidFill>
                  <a:srgbClr val="36374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hasta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cierto</a:t>
            </a:r>
            <a:r>
              <a:rPr sz="24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Arial MT"/>
                <a:cs typeface="Arial MT"/>
              </a:rPr>
              <a:t>punto.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22107" y="382567"/>
            <a:ext cx="906780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5" dirty="0"/>
              <a:t>Lo</a:t>
            </a:r>
            <a:r>
              <a:rPr sz="3600" dirty="0"/>
              <a:t>s</a:t>
            </a:r>
            <a:r>
              <a:rPr sz="3600" spc="-200" dirty="0"/>
              <a:t> </a:t>
            </a:r>
            <a:r>
              <a:rPr sz="3600" spc="-100" dirty="0"/>
              <a:t>“</a:t>
            </a:r>
            <a:r>
              <a:rPr sz="3600" i="1" spc="-100" dirty="0">
                <a:solidFill>
                  <a:srgbClr val="3333CC"/>
                </a:solidFill>
                <a:latin typeface="Arial"/>
                <a:cs typeface="Arial"/>
              </a:rPr>
              <a:t>Ba</a:t>
            </a:r>
            <a:r>
              <a:rPr sz="3600" i="1" dirty="0">
                <a:solidFill>
                  <a:srgbClr val="3333CC"/>
                </a:solidFill>
                <a:latin typeface="Arial"/>
                <a:cs typeface="Arial"/>
              </a:rPr>
              <a:t>d</a:t>
            </a:r>
            <a:r>
              <a:rPr sz="3600" i="1" spc="-200" dirty="0">
                <a:solidFill>
                  <a:srgbClr val="3333CC"/>
                </a:solidFill>
                <a:latin typeface="Arial"/>
                <a:cs typeface="Arial"/>
              </a:rPr>
              <a:t> </a:t>
            </a:r>
            <a:r>
              <a:rPr sz="3600" i="1" spc="-105" dirty="0">
                <a:solidFill>
                  <a:srgbClr val="3333CC"/>
                </a:solidFill>
                <a:latin typeface="Arial"/>
                <a:cs typeface="Arial"/>
              </a:rPr>
              <a:t>Smells</a:t>
            </a:r>
            <a:r>
              <a:rPr sz="3600" dirty="0"/>
              <a:t>”</a:t>
            </a:r>
            <a:r>
              <a:rPr sz="3600" spc="-200" dirty="0"/>
              <a:t> </a:t>
            </a:r>
            <a:r>
              <a:rPr sz="3600" spc="-100" dirty="0"/>
              <a:t>propuesto</a:t>
            </a:r>
            <a:r>
              <a:rPr sz="3600" dirty="0"/>
              <a:t>s</a:t>
            </a:r>
            <a:r>
              <a:rPr sz="3600" spc="-204" dirty="0"/>
              <a:t> </a:t>
            </a:r>
            <a:r>
              <a:rPr sz="3600" spc="-100" dirty="0"/>
              <a:t>po</a:t>
            </a:r>
            <a:r>
              <a:rPr sz="3600" dirty="0"/>
              <a:t>r</a:t>
            </a:r>
            <a:r>
              <a:rPr sz="3600" spc="-200" dirty="0"/>
              <a:t> </a:t>
            </a:r>
            <a:r>
              <a:rPr sz="3600" spc="-100" dirty="0"/>
              <a:t>Fowle</a:t>
            </a:r>
            <a:r>
              <a:rPr sz="3600" dirty="0"/>
              <a:t>r</a:t>
            </a:r>
            <a:r>
              <a:rPr sz="3600" spc="-200" dirty="0"/>
              <a:t> </a:t>
            </a:r>
            <a:r>
              <a:rPr sz="3600" spc="-100" dirty="0"/>
              <a:t>[2]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23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128196" y="1239685"/>
            <a:ext cx="6480810" cy="135445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424180" indent="-412115">
              <a:lnSpc>
                <a:spcPct val="100000"/>
              </a:lnSpc>
              <a:spcBef>
                <a:spcPts val="465"/>
              </a:spcBef>
              <a:buClr>
                <a:srgbClr val="93A299"/>
              </a:buClr>
              <a:buSzPct val="85000"/>
              <a:buChar char="•"/>
              <a:tabLst>
                <a:tab pos="424180" algn="l"/>
                <a:tab pos="424815" algn="l"/>
                <a:tab pos="1892300" algn="l"/>
                <a:tab pos="5083810" algn="l"/>
              </a:tabLst>
            </a:pP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Descripción	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22</a:t>
            </a:r>
            <a:r>
              <a:rPr sz="2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defectos</a:t>
            </a:r>
            <a:r>
              <a:rPr sz="2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spc="-5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20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292934"/>
                </a:solidFill>
                <a:latin typeface="Arial MT"/>
                <a:cs typeface="Arial MT"/>
              </a:rPr>
              <a:t>diseño o	</a:t>
            </a:r>
            <a:r>
              <a:rPr sz="2000" b="1" i="1" spc="-5" dirty="0">
                <a:solidFill>
                  <a:srgbClr val="363744"/>
                </a:solidFill>
                <a:latin typeface="Arial"/>
                <a:cs typeface="Arial"/>
              </a:rPr>
              <a:t>Bad-Smells</a:t>
            </a:r>
            <a:endParaRPr sz="2000">
              <a:latin typeface="Arial"/>
              <a:cs typeface="Arial"/>
            </a:endParaRPr>
          </a:p>
          <a:p>
            <a:pPr marL="753745" lvl="1" indent="-284480">
              <a:lnSpc>
                <a:spcPct val="100000"/>
              </a:lnSpc>
              <a:spcBef>
                <a:spcPts val="335"/>
              </a:spcBef>
              <a:buClr>
                <a:srgbClr val="93A299"/>
              </a:buClr>
              <a:buSzPct val="83333"/>
              <a:buFont typeface="Wingdings"/>
              <a:buChar char=""/>
              <a:tabLst>
                <a:tab pos="753745" algn="l"/>
                <a:tab pos="754380" algn="l"/>
              </a:tabLst>
            </a:pP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Bajo</a:t>
            </a: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nivel.</a:t>
            </a:r>
            <a:r>
              <a:rPr sz="1800" spc="-10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800" spc="-1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nivel</a:t>
            </a: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clase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método</a:t>
            </a:r>
            <a:endParaRPr sz="1800">
              <a:latin typeface="Arial MT"/>
              <a:cs typeface="Arial MT"/>
            </a:endParaRPr>
          </a:p>
          <a:p>
            <a:pPr marL="753745" lvl="1" indent="-284480">
              <a:lnSpc>
                <a:spcPct val="100000"/>
              </a:lnSpc>
              <a:spcBef>
                <a:spcPts val="440"/>
              </a:spcBef>
              <a:buClr>
                <a:srgbClr val="93A299"/>
              </a:buClr>
              <a:buSzPct val="83333"/>
              <a:buFont typeface="Wingdings"/>
              <a:buChar char=""/>
              <a:tabLst>
                <a:tab pos="753745" algn="l"/>
                <a:tab pos="754380" algn="l"/>
              </a:tabLst>
            </a:pP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Ventajas: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propuesta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refactorización.</a:t>
            </a:r>
            <a:endParaRPr sz="1800">
              <a:latin typeface="Arial MT"/>
              <a:cs typeface="Arial MT"/>
            </a:endParaRPr>
          </a:p>
          <a:p>
            <a:pPr marL="741680" lvl="2" indent="-182880">
              <a:lnSpc>
                <a:spcPct val="100000"/>
              </a:lnSpc>
              <a:spcBef>
                <a:spcPts val="440"/>
              </a:spcBef>
              <a:buClr>
                <a:srgbClr val="93A299"/>
              </a:buClr>
              <a:buSzPct val="88888"/>
              <a:buFont typeface="Wingdings"/>
              <a:buChar char=""/>
              <a:tabLst>
                <a:tab pos="741680" algn="l"/>
              </a:tabLst>
            </a:pP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Modificar</a:t>
            </a: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diseño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en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base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al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“Bad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Smell”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54625" y="2177934"/>
            <a:ext cx="322580" cy="826769"/>
            <a:chOff x="9354625" y="2177934"/>
            <a:chExt cx="322580" cy="826769"/>
          </a:xfrm>
        </p:grpSpPr>
        <p:sp>
          <p:nvSpPr>
            <p:cNvPr id="5" name="object 5"/>
            <p:cNvSpPr/>
            <p:nvPr/>
          </p:nvSpPr>
          <p:spPr>
            <a:xfrm>
              <a:off x="9431529" y="2386192"/>
              <a:ext cx="109220" cy="321945"/>
            </a:xfrm>
            <a:custGeom>
              <a:avLst/>
              <a:gdLst/>
              <a:ahLst/>
              <a:cxnLst/>
              <a:rect l="l" t="t" r="r" b="b"/>
              <a:pathLst>
                <a:path w="109220" h="321944">
                  <a:moveTo>
                    <a:pt x="45001" y="0"/>
                  </a:moveTo>
                  <a:lnTo>
                    <a:pt x="11764" y="23774"/>
                  </a:lnTo>
                  <a:lnTo>
                    <a:pt x="0" y="62130"/>
                  </a:lnTo>
                  <a:lnTo>
                    <a:pt x="0" y="87329"/>
                  </a:lnTo>
                  <a:lnTo>
                    <a:pt x="3757" y="113800"/>
                  </a:lnTo>
                  <a:lnTo>
                    <a:pt x="9099" y="139791"/>
                  </a:lnTo>
                  <a:lnTo>
                    <a:pt x="15039" y="166263"/>
                  </a:lnTo>
                  <a:lnTo>
                    <a:pt x="15039" y="185117"/>
                  </a:lnTo>
                  <a:lnTo>
                    <a:pt x="13945" y="199861"/>
                  </a:lnTo>
                  <a:lnTo>
                    <a:pt x="10187" y="220148"/>
                  </a:lnTo>
                  <a:lnTo>
                    <a:pt x="11764" y="252954"/>
                  </a:lnTo>
                  <a:lnTo>
                    <a:pt x="25226" y="294801"/>
                  </a:lnTo>
                  <a:lnTo>
                    <a:pt x="62104" y="321426"/>
                  </a:lnTo>
                  <a:lnTo>
                    <a:pt x="73263" y="318569"/>
                  </a:lnTo>
                  <a:lnTo>
                    <a:pt x="98372" y="272449"/>
                  </a:lnTo>
                  <a:lnTo>
                    <a:pt x="103712" y="232667"/>
                  </a:lnTo>
                  <a:lnTo>
                    <a:pt x="104800" y="209532"/>
                  </a:lnTo>
                  <a:lnTo>
                    <a:pt x="106987" y="185911"/>
                  </a:lnTo>
                  <a:lnTo>
                    <a:pt x="109169" y="158653"/>
                  </a:lnTo>
                  <a:lnTo>
                    <a:pt x="109169" y="130597"/>
                  </a:lnTo>
                  <a:lnTo>
                    <a:pt x="95219" y="62130"/>
                  </a:lnTo>
                  <a:lnTo>
                    <a:pt x="80298" y="22351"/>
                  </a:lnTo>
                  <a:lnTo>
                    <a:pt x="57739" y="3487"/>
                  </a:lnTo>
                  <a:lnTo>
                    <a:pt x="4500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75970" y="2177934"/>
              <a:ext cx="254976" cy="47579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354617" y="2313444"/>
              <a:ext cx="322580" cy="691515"/>
            </a:xfrm>
            <a:custGeom>
              <a:avLst/>
              <a:gdLst/>
              <a:ahLst/>
              <a:cxnLst/>
              <a:rect l="l" t="t" r="r" b="b"/>
              <a:pathLst>
                <a:path w="322579" h="691514">
                  <a:moveTo>
                    <a:pt x="110629" y="306844"/>
                  </a:moveTo>
                  <a:lnTo>
                    <a:pt x="107480" y="303364"/>
                  </a:lnTo>
                  <a:lnTo>
                    <a:pt x="102616" y="303364"/>
                  </a:lnTo>
                  <a:lnTo>
                    <a:pt x="96672" y="307479"/>
                  </a:lnTo>
                  <a:lnTo>
                    <a:pt x="87693" y="310337"/>
                  </a:lnTo>
                  <a:lnTo>
                    <a:pt x="79082" y="310337"/>
                  </a:lnTo>
                  <a:lnTo>
                    <a:pt x="73748" y="306057"/>
                  </a:lnTo>
                  <a:lnTo>
                    <a:pt x="77990" y="298450"/>
                  </a:lnTo>
                  <a:lnTo>
                    <a:pt x="81267" y="286562"/>
                  </a:lnTo>
                  <a:lnTo>
                    <a:pt x="82842" y="274675"/>
                  </a:lnTo>
                  <a:lnTo>
                    <a:pt x="82245" y="267703"/>
                  </a:lnTo>
                  <a:lnTo>
                    <a:pt x="74841" y="264210"/>
                  </a:lnTo>
                  <a:lnTo>
                    <a:pt x="70472" y="267703"/>
                  </a:lnTo>
                  <a:lnTo>
                    <a:pt x="66230" y="276733"/>
                  </a:lnTo>
                  <a:lnTo>
                    <a:pt x="66840" y="288620"/>
                  </a:lnTo>
                  <a:lnTo>
                    <a:pt x="65138" y="299872"/>
                  </a:lnTo>
                  <a:lnTo>
                    <a:pt x="59804" y="307479"/>
                  </a:lnTo>
                  <a:lnTo>
                    <a:pt x="51308" y="310972"/>
                  </a:lnTo>
                  <a:lnTo>
                    <a:pt x="42214" y="307479"/>
                  </a:lnTo>
                  <a:lnTo>
                    <a:pt x="21348" y="264210"/>
                  </a:lnTo>
                  <a:lnTo>
                    <a:pt x="20739" y="248043"/>
                  </a:lnTo>
                  <a:lnTo>
                    <a:pt x="21348" y="245986"/>
                  </a:lnTo>
                  <a:lnTo>
                    <a:pt x="21831" y="226491"/>
                  </a:lnTo>
                  <a:lnTo>
                    <a:pt x="29845" y="176885"/>
                  </a:lnTo>
                  <a:lnTo>
                    <a:pt x="42214" y="140436"/>
                  </a:lnTo>
                  <a:lnTo>
                    <a:pt x="60896" y="105562"/>
                  </a:lnTo>
                  <a:lnTo>
                    <a:pt x="67322" y="93675"/>
                  </a:lnTo>
                  <a:lnTo>
                    <a:pt x="69507" y="80365"/>
                  </a:lnTo>
                  <a:lnTo>
                    <a:pt x="68414" y="68478"/>
                  </a:lnTo>
                  <a:lnTo>
                    <a:pt x="66230" y="62293"/>
                  </a:lnTo>
                  <a:lnTo>
                    <a:pt x="61379" y="58013"/>
                  </a:lnTo>
                  <a:lnTo>
                    <a:pt x="50711" y="58013"/>
                  </a:lnTo>
                  <a:lnTo>
                    <a:pt x="22440" y="95732"/>
                  </a:lnTo>
                  <a:lnTo>
                    <a:pt x="8978" y="157226"/>
                  </a:lnTo>
                  <a:lnTo>
                    <a:pt x="2057" y="204774"/>
                  </a:lnTo>
                  <a:lnTo>
                    <a:pt x="0" y="227126"/>
                  </a:lnTo>
                  <a:lnTo>
                    <a:pt x="0" y="249466"/>
                  </a:lnTo>
                  <a:lnTo>
                    <a:pt x="8978" y="294957"/>
                  </a:lnTo>
                  <a:lnTo>
                    <a:pt x="35788" y="326351"/>
                  </a:lnTo>
                  <a:lnTo>
                    <a:pt x="52400" y="329831"/>
                  </a:lnTo>
                  <a:lnTo>
                    <a:pt x="63080" y="332676"/>
                  </a:lnTo>
                  <a:lnTo>
                    <a:pt x="72174" y="338861"/>
                  </a:lnTo>
                  <a:lnTo>
                    <a:pt x="80670" y="346633"/>
                  </a:lnTo>
                  <a:lnTo>
                    <a:pt x="91338" y="349478"/>
                  </a:lnTo>
                  <a:lnTo>
                    <a:pt x="98856" y="348691"/>
                  </a:lnTo>
                  <a:lnTo>
                    <a:pt x="100444" y="348056"/>
                  </a:lnTo>
                  <a:lnTo>
                    <a:pt x="103720" y="341718"/>
                  </a:lnTo>
                  <a:lnTo>
                    <a:pt x="104203" y="334111"/>
                  </a:lnTo>
                  <a:lnTo>
                    <a:pt x="101041" y="330619"/>
                  </a:lnTo>
                  <a:lnTo>
                    <a:pt x="93522" y="329831"/>
                  </a:lnTo>
                  <a:lnTo>
                    <a:pt x="87096" y="329831"/>
                  </a:lnTo>
                  <a:lnTo>
                    <a:pt x="80187" y="328561"/>
                  </a:lnTo>
                  <a:lnTo>
                    <a:pt x="78600" y="324916"/>
                  </a:lnTo>
                  <a:lnTo>
                    <a:pt x="81762" y="324281"/>
                  </a:lnTo>
                  <a:lnTo>
                    <a:pt x="88671" y="325704"/>
                  </a:lnTo>
                  <a:lnTo>
                    <a:pt x="95707" y="325704"/>
                  </a:lnTo>
                  <a:lnTo>
                    <a:pt x="103720" y="322859"/>
                  </a:lnTo>
                  <a:lnTo>
                    <a:pt x="109537" y="315252"/>
                  </a:lnTo>
                  <a:lnTo>
                    <a:pt x="110629" y="306844"/>
                  </a:lnTo>
                  <a:close/>
                </a:path>
                <a:path w="322579" h="691514">
                  <a:moveTo>
                    <a:pt x="132588" y="383717"/>
                  </a:moveTo>
                  <a:lnTo>
                    <a:pt x="131978" y="360578"/>
                  </a:lnTo>
                  <a:lnTo>
                    <a:pt x="124574" y="350748"/>
                  </a:lnTo>
                  <a:lnTo>
                    <a:pt x="117538" y="350113"/>
                  </a:lnTo>
                  <a:lnTo>
                    <a:pt x="105295" y="363423"/>
                  </a:lnTo>
                  <a:lnTo>
                    <a:pt x="94615" y="385775"/>
                  </a:lnTo>
                  <a:lnTo>
                    <a:pt x="83337" y="415886"/>
                  </a:lnTo>
                  <a:lnTo>
                    <a:pt x="78600" y="447268"/>
                  </a:lnTo>
                  <a:lnTo>
                    <a:pt x="75933" y="468985"/>
                  </a:lnTo>
                  <a:lnTo>
                    <a:pt x="77508" y="512254"/>
                  </a:lnTo>
                  <a:lnTo>
                    <a:pt x="81762" y="533171"/>
                  </a:lnTo>
                  <a:lnTo>
                    <a:pt x="94005" y="573747"/>
                  </a:lnTo>
                  <a:lnTo>
                    <a:pt x="97764" y="590550"/>
                  </a:lnTo>
                  <a:lnTo>
                    <a:pt x="101041" y="603707"/>
                  </a:lnTo>
                  <a:lnTo>
                    <a:pt x="100444" y="614324"/>
                  </a:lnTo>
                  <a:lnTo>
                    <a:pt x="94615" y="619074"/>
                  </a:lnTo>
                  <a:lnTo>
                    <a:pt x="80187" y="623366"/>
                  </a:lnTo>
                  <a:lnTo>
                    <a:pt x="65747" y="630339"/>
                  </a:lnTo>
                  <a:lnTo>
                    <a:pt x="56654" y="632396"/>
                  </a:lnTo>
                  <a:lnTo>
                    <a:pt x="43789" y="642861"/>
                  </a:lnTo>
                  <a:lnTo>
                    <a:pt x="34696" y="651256"/>
                  </a:lnTo>
                  <a:lnTo>
                    <a:pt x="30441" y="661085"/>
                  </a:lnTo>
                  <a:lnTo>
                    <a:pt x="34201" y="669480"/>
                  </a:lnTo>
                  <a:lnTo>
                    <a:pt x="40640" y="679932"/>
                  </a:lnTo>
                  <a:lnTo>
                    <a:pt x="52400" y="683425"/>
                  </a:lnTo>
                  <a:lnTo>
                    <a:pt x="60896" y="678510"/>
                  </a:lnTo>
                  <a:lnTo>
                    <a:pt x="71081" y="656958"/>
                  </a:lnTo>
                  <a:lnTo>
                    <a:pt x="81762" y="647128"/>
                  </a:lnTo>
                  <a:lnTo>
                    <a:pt x="94005" y="641591"/>
                  </a:lnTo>
                  <a:lnTo>
                    <a:pt x="106870" y="640791"/>
                  </a:lnTo>
                  <a:lnTo>
                    <a:pt x="116446" y="642861"/>
                  </a:lnTo>
                  <a:lnTo>
                    <a:pt x="120815" y="639368"/>
                  </a:lnTo>
                  <a:lnTo>
                    <a:pt x="124574" y="632396"/>
                  </a:lnTo>
                  <a:lnTo>
                    <a:pt x="123977" y="621296"/>
                  </a:lnTo>
                  <a:lnTo>
                    <a:pt x="117538" y="604494"/>
                  </a:lnTo>
                  <a:lnTo>
                    <a:pt x="110147" y="581355"/>
                  </a:lnTo>
                  <a:lnTo>
                    <a:pt x="105295" y="556945"/>
                  </a:lnTo>
                  <a:lnTo>
                    <a:pt x="103720" y="524141"/>
                  </a:lnTo>
                  <a:lnTo>
                    <a:pt x="100444" y="479450"/>
                  </a:lnTo>
                  <a:lnTo>
                    <a:pt x="103720" y="463283"/>
                  </a:lnTo>
                  <a:lnTo>
                    <a:pt x="121297" y="422071"/>
                  </a:lnTo>
                  <a:lnTo>
                    <a:pt x="128828" y="402577"/>
                  </a:lnTo>
                  <a:lnTo>
                    <a:pt x="132588" y="383717"/>
                  </a:lnTo>
                  <a:close/>
                </a:path>
                <a:path w="322579" h="691514">
                  <a:moveTo>
                    <a:pt x="237871" y="668845"/>
                  </a:moveTo>
                  <a:lnTo>
                    <a:pt x="234721" y="661708"/>
                  </a:lnTo>
                  <a:lnTo>
                    <a:pt x="218097" y="649833"/>
                  </a:lnTo>
                  <a:lnTo>
                    <a:pt x="199415" y="642213"/>
                  </a:lnTo>
                  <a:lnTo>
                    <a:pt x="182321" y="638098"/>
                  </a:lnTo>
                  <a:lnTo>
                    <a:pt x="174307" y="629691"/>
                  </a:lnTo>
                  <a:lnTo>
                    <a:pt x="173697" y="621931"/>
                  </a:lnTo>
                  <a:lnTo>
                    <a:pt x="175882" y="608622"/>
                  </a:lnTo>
                  <a:lnTo>
                    <a:pt x="183896" y="584847"/>
                  </a:lnTo>
                  <a:lnTo>
                    <a:pt x="187045" y="562495"/>
                  </a:lnTo>
                  <a:lnTo>
                    <a:pt x="192989" y="539508"/>
                  </a:lnTo>
                  <a:lnTo>
                    <a:pt x="197231" y="512889"/>
                  </a:lnTo>
                  <a:lnTo>
                    <a:pt x="198805" y="496239"/>
                  </a:lnTo>
                  <a:lnTo>
                    <a:pt x="198805" y="476592"/>
                  </a:lnTo>
                  <a:lnTo>
                    <a:pt x="194564" y="424929"/>
                  </a:lnTo>
                  <a:lnTo>
                    <a:pt x="175882" y="375945"/>
                  </a:lnTo>
                  <a:lnTo>
                    <a:pt x="149682" y="350113"/>
                  </a:lnTo>
                  <a:lnTo>
                    <a:pt x="144348" y="352171"/>
                  </a:lnTo>
                  <a:lnTo>
                    <a:pt x="141071" y="360578"/>
                  </a:lnTo>
                  <a:lnTo>
                    <a:pt x="141681" y="378015"/>
                  </a:lnTo>
                  <a:lnTo>
                    <a:pt x="146405" y="410972"/>
                  </a:lnTo>
                  <a:lnTo>
                    <a:pt x="150774" y="429844"/>
                  </a:lnTo>
                  <a:lnTo>
                    <a:pt x="158788" y="447903"/>
                  </a:lnTo>
                  <a:lnTo>
                    <a:pt x="166789" y="471678"/>
                  </a:lnTo>
                  <a:lnTo>
                    <a:pt x="172123" y="491337"/>
                  </a:lnTo>
                  <a:lnTo>
                    <a:pt x="174307" y="503212"/>
                  </a:lnTo>
                  <a:lnTo>
                    <a:pt x="174307" y="515112"/>
                  </a:lnTo>
                  <a:lnTo>
                    <a:pt x="167881" y="527634"/>
                  </a:lnTo>
                  <a:lnTo>
                    <a:pt x="163512" y="546481"/>
                  </a:lnTo>
                  <a:lnTo>
                    <a:pt x="160362" y="561860"/>
                  </a:lnTo>
                  <a:lnTo>
                    <a:pt x="159867" y="584847"/>
                  </a:lnTo>
                  <a:lnTo>
                    <a:pt x="160362" y="601014"/>
                  </a:lnTo>
                  <a:lnTo>
                    <a:pt x="158178" y="610844"/>
                  </a:lnTo>
                  <a:lnTo>
                    <a:pt x="152361" y="617816"/>
                  </a:lnTo>
                  <a:lnTo>
                    <a:pt x="147510" y="626846"/>
                  </a:lnTo>
                  <a:lnTo>
                    <a:pt x="143256" y="635876"/>
                  </a:lnTo>
                  <a:lnTo>
                    <a:pt x="142773" y="647763"/>
                  </a:lnTo>
                  <a:lnTo>
                    <a:pt x="146405" y="654100"/>
                  </a:lnTo>
                  <a:lnTo>
                    <a:pt x="156603" y="659650"/>
                  </a:lnTo>
                  <a:lnTo>
                    <a:pt x="166789" y="660438"/>
                  </a:lnTo>
                  <a:lnTo>
                    <a:pt x="180124" y="660438"/>
                  </a:lnTo>
                  <a:lnTo>
                    <a:pt x="192379" y="670115"/>
                  </a:lnTo>
                  <a:lnTo>
                    <a:pt x="201002" y="679932"/>
                  </a:lnTo>
                  <a:lnTo>
                    <a:pt x="205244" y="686917"/>
                  </a:lnTo>
                  <a:lnTo>
                    <a:pt x="211670" y="691184"/>
                  </a:lnTo>
                  <a:lnTo>
                    <a:pt x="231444" y="682790"/>
                  </a:lnTo>
                  <a:lnTo>
                    <a:pt x="236778" y="676452"/>
                  </a:lnTo>
                  <a:lnTo>
                    <a:pt x="237871" y="668845"/>
                  </a:lnTo>
                  <a:close/>
                </a:path>
                <a:path w="322579" h="691514">
                  <a:moveTo>
                    <a:pt x="322414" y="140436"/>
                  </a:moveTo>
                  <a:lnTo>
                    <a:pt x="306895" y="89560"/>
                  </a:lnTo>
                  <a:lnTo>
                    <a:pt x="283845" y="55321"/>
                  </a:lnTo>
                  <a:lnTo>
                    <a:pt x="254977" y="27266"/>
                  </a:lnTo>
                  <a:lnTo>
                    <a:pt x="213855" y="3492"/>
                  </a:lnTo>
                  <a:lnTo>
                    <a:pt x="202577" y="0"/>
                  </a:lnTo>
                  <a:lnTo>
                    <a:pt x="195173" y="0"/>
                  </a:lnTo>
                  <a:lnTo>
                    <a:pt x="187655" y="5715"/>
                  </a:lnTo>
                  <a:lnTo>
                    <a:pt x="183400" y="12687"/>
                  </a:lnTo>
                  <a:lnTo>
                    <a:pt x="181711" y="21717"/>
                  </a:lnTo>
                  <a:lnTo>
                    <a:pt x="180124" y="28067"/>
                  </a:lnTo>
                  <a:lnTo>
                    <a:pt x="181711" y="36461"/>
                  </a:lnTo>
                  <a:lnTo>
                    <a:pt x="187045" y="44069"/>
                  </a:lnTo>
                  <a:lnTo>
                    <a:pt x="195656" y="48348"/>
                  </a:lnTo>
                  <a:lnTo>
                    <a:pt x="217614" y="53898"/>
                  </a:lnTo>
                  <a:lnTo>
                    <a:pt x="229870" y="58013"/>
                  </a:lnTo>
                  <a:lnTo>
                    <a:pt x="266738" y="84645"/>
                  </a:lnTo>
                  <a:lnTo>
                    <a:pt x="292938" y="118084"/>
                  </a:lnTo>
                  <a:lnTo>
                    <a:pt x="299859" y="136309"/>
                  </a:lnTo>
                  <a:lnTo>
                    <a:pt x="298881" y="153111"/>
                  </a:lnTo>
                  <a:lnTo>
                    <a:pt x="294030" y="166420"/>
                  </a:lnTo>
                  <a:lnTo>
                    <a:pt x="283845" y="183070"/>
                  </a:lnTo>
                  <a:lnTo>
                    <a:pt x="268922" y="199237"/>
                  </a:lnTo>
                  <a:lnTo>
                    <a:pt x="253885" y="213182"/>
                  </a:lnTo>
                  <a:lnTo>
                    <a:pt x="234111" y="233464"/>
                  </a:lnTo>
                  <a:lnTo>
                    <a:pt x="221259" y="243293"/>
                  </a:lnTo>
                  <a:lnTo>
                    <a:pt x="212280" y="248043"/>
                  </a:lnTo>
                  <a:lnTo>
                    <a:pt x="197840" y="256451"/>
                  </a:lnTo>
                  <a:lnTo>
                    <a:pt x="182803" y="260731"/>
                  </a:lnTo>
                  <a:lnTo>
                    <a:pt x="163512" y="262153"/>
                  </a:lnTo>
                  <a:lnTo>
                    <a:pt x="158178" y="260731"/>
                  </a:lnTo>
                  <a:lnTo>
                    <a:pt x="156121" y="256451"/>
                  </a:lnTo>
                  <a:lnTo>
                    <a:pt x="157695" y="252958"/>
                  </a:lnTo>
                  <a:lnTo>
                    <a:pt x="163029" y="249466"/>
                  </a:lnTo>
                  <a:lnTo>
                    <a:pt x="168363" y="243928"/>
                  </a:lnTo>
                  <a:lnTo>
                    <a:pt x="172618" y="236156"/>
                  </a:lnTo>
                  <a:lnTo>
                    <a:pt x="172618" y="227126"/>
                  </a:lnTo>
                  <a:lnTo>
                    <a:pt x="169456" y="220154"/>
                  </a:lnTo>
                  <a:lnTo>
                    <a:pt x="165214" y="218097"/>
                  </a:lnTo>
                  <a:lnTo>
                    <a:pt x="160362" y="221576"/>
                  </a:lnTo>
                  <a:lnTo>
                    <a:pt x="152844" y="240436"/>
                  </a:lnTo>
                  <a:lnTo>
                    <a:pt x="148107" y="246786"/>
                  </a:lnTo>
                  <a:lnTo>
                    <a:pt x="141681" y="248843"/>
                  </a:lnTo>
                  <a:lnTo>
                    <a:pt x="136347" y="250266"/>
                  </a:lnTo>
                  <a:lnTo>
                    <a:pt x="134162" y="248843"/>
                  </a:lnTo>
                  <a:lnTo>
                    <a:pt x="131495" y="241871"/>
                  </a:lnTo>
                  <a:lnTo>
                    <a:pt x="127241" y="233464"/>
                  </a:lnTo>
                  <a:lnTo>
                    <a:pt x="120815" y="227761"/>
                  </a:lnTo>
                  <a:lnTo>
                    <a:pt x="114388" y="227126"/>
                  </a:lnTo>
                  <a:lnTo>
                    <a:pt x="108445" y="227761"/>
                  </a:lnTo>
                  <a:lnTo>
                    <a:pt x="104800" y="235521"/>
                  </a:lnTo>
                  <a:lnTo>
                    <a:pt x="105295" y="241871"/>
                  </a:lnTo>
                  <a:lnTo>
                    <a:pt x="108445" y="248043"/>
                  </a:lnTo>
                  <a:lnTo>
                    <a:pt x="114388" y="252323"/>
                  </a:lnTo>
                  <a:lnTo>
                    <a:pt x="122389" y="255816"/>
                  </a:lnTo>
                  <a:lnTo>
                    <a:pt x="128828" y="260731"/>
                  </a:lnTo>
                  <a:lnTo>
                    <a:pt x="128828" y="264845"/>
                  </a:lnTo>
                  <a:lnTo>
                    <a:pt x="123482" y="267703"/>
                  </a:lnTo>
                  <a:lnTo>
                    <a:pt x="113779" y="267703"/>
                  </a:lnTo>
                  <a:lnTo>
                    <a:pt x="107480" y="266268"/>
                  </a:lnTo>
                  <a:lnTo>
                    <a:pt x="101041" y="266915"/>
                  </a:lnTo>
                  <a:lnTo>
                    <a:pt x="96189" y="271183"/>
                  </a:lnTo>
                  <a:lnTo>
                    <a:pt x="95097" y="276098"/>
                  </a:lnTo>
                  <a:lnTo>
                    <a:pt x="98374" y="285927"/>
                  </a:lnTo>
                  <a:lnTo>
                    <a:pt x="103720" y="289407"/>
                  </a:lnTo>
                  <a:lnTo>
                    <a:pt x="111721" y="290677"/>
                  </a:lnTo>
                  <a:lnTo>
                    <a:pt x="127241" y="285927"/>
                  </a:lnTo>
                  <a:lnTo>
                    <a:pt x="136347" y="281012"/>
                  </a:lnTo>
                  <a:lnTo>
                    <a:pt x="147015" y="276733"/>
                  </a:lnTo>
                  <a:lnTo>
                    <a:pt x="155511" y="277533"/>
                  </a:lnTo>
                  <a:lnTo>
                    <a:pt x="164122" y="280212"/>
                  </a:lnTo>
                  <a:lnTo>
                    <a:pt x="173697" y="281012"/>
                  </a:lnTo>
                  <a:lnTo>
                    <a:pt x="186563" y="281647"/>
                  </a:lnTo>
                  <a:lnTo>
                    <a:pt x="200507" y="281012"/>
                  </a:lnTo>
                  <a:lnTo>
                    <a:pt x="216522" y="277533"/>
                  </a:lnTo>
                  <a:lnTo>
                    <a:pt x="250240" y="259295"/>
                  </a:lnTo>
                  <a:lnTo>
                    <a:pt x="290271" y="225069"/>
                  </a:lnTo>
                  <a:lnTo>
                    <a:pt x="315988" y="185280"/>
                  </a:lnTo>
                  <a:lnTo>
                    <a:pt x="319747" y="171183"/>
                  </a:lnTo>
                  <a:lnTo>
                    <a:pt x="322414" y="14043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01073" y="3129145"/>
            <a:ext cx="34696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5" dirty="0">
                <a:solidFill>
                  <a:srgbClr val="292934"/>
                </a:solidFill>
                <a:latin typeface="Arial"/>
                <a:cs typeface="Arial"/>
              </a:rPr>
              <a:t>Duplicate</a:t>
            </a:r>
            <a:r>
              <a:rPr sz="1800" i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92934"/>
                </a:solidFill>
                <a:latin typeface="Arial"/>
                <a:cs typeface="Arial"/>
              </a:rPr>
              <a:t>code</a:t>
            </a:r>
            <a:r>
              <a:rPr sz="1800" i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92934"/>
                </a:solidFill>
                <a:latin typeface="Arial"/>
                <a:cs typeface="Arial"/>
              </a:rPr>
              <a:t>(código</a:t>
            </a:r>
            <a:r>
              <a:rPr sz="1800" i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92934"/>
                </a:solidFill>
                <a:latin typeface="Arial"/>
                <a:cs typeface="Arial"/>
              </a:rPr>
              <a:t>duplicado)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202661" y="3634498"/>
            <a:ext cx="3075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dirty="0">
                <a:solidFill>
                  <a:srgbClr val="292934"/>
                </a:solidFill>
                <a:latin typeface="Arial"/>
                <a:cs typeface="Arial"/>
              </a:rPr>
              <a:t>Long</a:t>
            </a:r>
            <a:r>
              <a:rPr sz="1800" i="1" spc="-2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292934"/>
                </a:solidFill>
                <a:latin typeface="Arial"/>
                <a:cs typeface="Arial"/>
              </a:rPr>
              <a:t>method(métodos</a:t>
            </a:r>
            <a:r>
              <a:rPr sz="1800" i="1" spc="-2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i="1" dirty="0">
                <a:solidFill>
                  <a:srgbClr val="292934"/>
                </a:solidFill>
                <a:latin typeface="Arial"/>
                <a:cs typeface="Arial"/>
              </a:rPr>
              <a:t>largos)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502120" y="3318374"/>
            <a:ext cx="1504950" cy="501650"/>
            <a:chOff x="4502120" y="3318374"/>
            <a:chExt cx="1504950" cy="501650"/>
          </a:xfrm>
        </p:grpSpPr>
        <p:sp>
          <p:nvSpPr>
            <p:cNvPr id="11" name="object 11"/>
            <p:cNvSpPr/>
            <p:nvPr/>
          </p:nvSpPr>
          <p:spPr>
            <a:xfrm>
              <a:off x="4506883" y="3323136"/>
              <a:ext cx="1495425" cy="492125"/>
            </a:xfrm>
            <a:custGeom>
              <a:avLst/>
              <a:gdLst/>
              <a:ahLst/>
              <a:cxnLst/>
              <a:rect l="l" t="t" r="r" b="b"/>
              <a:pathLst>
                <a:path w="1495425" h="492125">
                  <a:moveTo>
                    <a:pt x="1000205" y="0"/>
                  </a:moveTo>
                  <a:lnTo>
                    <a:pt x="1000205" y="123031"/>
                  </a:lnTo>
                  <a:lnTo>
                    <a:pt x="0" y="123031"/>
                  </a:lnTo>
                  <a:lnTo>
                    <a:pt x="0" y="369093"/>
                  </a:lnTo>
                  <a:lnTo>
                    <a:pt x="1000205" y="369093"/>
                  </a:lnTo>
                  <a:lnTo>
                    <a:pt x="1000205" y="492125"/>
                  </a:lnTo>
                  <a:lnTo>
                    <a:pt x="1495425" y="246062"/>
                  </a:lnTo>
                  <a:lnTo>
                    <a:pt x="1000205" y="0"/>
                  </a:lnTo>
                  <a:close/>
                </a:path>
              </a:pathLst>
            </a:custGeom>
            <a:solidFill>
              <a:srgbClr val="FFD5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06883" y="3323136"/>
              <a:ext cx="1495425" cy="492125"/>
            </a:xfrm>
            <a:custGeom>
              <a:avLst/>
              <a:gdLst/>
              <a:ahLst/>
              <a:cxnLst/>
              <a:rect l="l" t="t" r="r" b="b"/>
              <a:pathLst>
                <a:path w="1495425" h="492125">
                  <a:moveTo>
                    <a:pt x="0" y="123030"/>
                  </a:moveTo>
                  <a:lnTo>
                    <a:pt x="1000204" y="123030"/>
                  </a:lnTo>
                  <a:lnTo>
                    <a:pt x="1000204" y="0"/>
                  </a:lnTo>
                  <a:lnTo>
                    <a:pt x="1495424" y="246062"/>
                  </a:lnTo>
                  <a:lnTo>
                    <a:pt x="1000204" y="492124"/>
                  </a:lnTo>
                  <a:lnTo>
                    <a:pt x="1000204" y="369093"/>
                  </a:lnTo>
                  <a:lnTo>
                    <a:pt x="0" y="369093"/>
                  </a:lnTo>
                  <a:lnTo>
                    <a:pt x="0" y="12303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074698" y="3113270"/>
            <a:ext cx="3195955" cy="12344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248920">
              <a:lnSpc>
                <a:spcPts val="1900"/>
              </a:lnSpc>
              <a:spcBef>
                <a:spcPts val="180"/>
              </a:spcBef>
            </a:pP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Refactorización: Extract </a:t>
            </a:r>
            <a:r>
              <a:rPr sz="1600" spc="-9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Method</a:t>
            </a:r>
            <a:endParaRPr sz="1600">
              <a:latin typeface="Courier New"/>
              <a:cs typeface="Courier New"/>
            </a:endParaRPr>
          </a:p>
          <a:p>
            <a:pPr marL="12700" marR="5080">
              <a:lnSpc>
                <a:spcPts val="1900"/>
              </a:lnSpc>
            </a:pP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Extrae un fragmento en un </a:t>
            </a:r>
            <a:r>
              <a:rPr sz="16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método, cuyo nombre sea su </a:t>
            </a:r>
            <a:r>
              <a:rPr sz="1600" spc="-9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propósito</a:t>
            </a:r>
            <a:endParaRPr sz="160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901671" y="2662738"/>
            <a:ext cx="8791575" cy="1738630"/>
            <a:chOff x="901671" y="2662738"/>
            <a:chExt cx="8791575" cy="1738630"/>
          </a:xfrm>
        </p:grpSpPr>
        <p:sp>
          <p:nvSpPr>
            <p:cNvPr id="15" name="object 15"/>
            <p:cNvSpPr/>
            <p:nvPr/>
          </p:nvSpPr>
          <p:spPr>
            <a:xfrm>
              <a:off x="906433" y="2667500"/>
              <a:ext cx="8782050" cy="1729105"/>
            </a:xfrm>
            <a:custGeom>
              <a:avLst/>
              <a:gdLst/>
              <a:ahLst/>
              <a:cxnLst/>
              <a:rect l="l" t="t" r="r" b="b"/>
              <a:pathLst>
                <a:path w="8782050" h="1729104">
                  <a:moveTo>
                    <a:pt x="8782048" y="0"/>
                  </a:moveTo>
                  <a:lnTo>
                    <a:pt x="0" y="0"/>
                  </a:lnTo>
                  <a:lnTo>
                    <a:pt x="0" y="1728786"/>
                  </a:lnTo>
                  <a:lnTo>
                    <a:pt x="8782048" y="1728786"/>
                  </a:lnTo>
                  <a:lnTo>
                    <a:pt x="8782048" y="0"/>
                  </a:lnTo>
                  <a:close/>
                </a:path>
              </a:pathLst>
            </a:custGeom>
            <a:solidFill>
              <a:srgbClr val="FFD5A9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06433" y="2667500"/>
              <a:ext cx="8782050" cy="1729105"/>
            </a:xfrm>
            <a:custGeom>
              <a:avLst/>
              <a:gdLst/>
              <a:ahLst/>
              <a:cxnLst/>
              <a:rect l="l" t="t" r="r" b="b"/>
              <a:pathLst>
                <a:path w="8782050" h="1729104">
                  <a:moveTo>
                    <a:pt x="0" y="0"/>
                  </a:moveTo>
                  <a:lnTo>
                    <a:pt x="8782047" y="0"/>
                  </a:lnTo>
                  <a:lnTo>
                    <a:pt x="8782047" y="1728786"/>
                  </a:lnTo>
                  <a:lnTo>
                    <a:pt x="0" y="1728786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043911" y="4747117"/>
            <a:ext cx="13131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3185" marR="5080" indent="-7112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void</a:t>
            </a:r>
            <a:r>
              <a:rPr sz="1000" spc="-3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printTrabajador()</a:t>
            </a:r>
            <a:r>
              <a:rPr sz="10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{ </a:t>
            </a:r>
            <a:r>
              <a:rPr sz="1000" spc="-2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printPhoto();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079192" y="5204317"/>
            <a:ext cx="258318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7625" marR="5080">
              <a:lnSpc>
                <a:spcPct val="100000"/>
              </a:lnSpc>
              <a:spcBef>
                <a:spcPts val="100"/>
              </a:spcBef>
            </a:pP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System.out.println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("name: " + _name); 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System.out.println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("amount</a:t>
            </a:r>
            <a:r>
              <a:rPr sz="10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"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+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getSueldo());</a:t>
            </a:r>
            <a:endParaRPr sz="10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}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537045" y="4982067"/>
            <a:ext cx="1504950" cy="381000"/>
            <a:chOff x="4537045" y="4982067"/>
            <a:chExt cx="1504950" cy="381000"/>
          </a:xfrm>
        </p:grpSpPr>
        <p:sp>
          <p:nvSpPr>
            <p:cNvPr id="20" name="object 20"/>
            <p:cNvSpPr/>
            <p:nvPr/>
          </p:nvSpPr>
          <p:spPr>
            <a:xfrm>
              <a:off x="4541808" y="4986830"/>
              <a:ext cx="1495425" cy="371475"/>
            </a:xfrm>
            <a:custGeom>
              <a:avLst/>
              <a:gdLst/>
              <a:ahLst/>
              <a:cxnLst/>
              <a:rect l="l" t="t" r="r" b="b"/>
              <a:pathLst>
                <a:path w="1495425" h="371475">
                  <a:moveTo>
                    <a:pt x="1121568" y="0"/>
                  </a:moveTo>
                  <a:lnTo>
                    <a:pt x="1121568" y="92868"/>
                  </a:lnTo>
                  <a:lnTo>
                    <a:pt x="0" y="92868"/>
                  </a:lnTo>
                  <a:lnTo>
                    <a:pt x="0" y="278604"/>
                  </a:lnTo>
                  <a:lnTo>
                    <a:pt x="1121568" y="278604"/>
                  </a:lnTo>
                  <a:lnTo>
                    <a:pt x="1121568" y="371474"/>
                  </a:lnTo>
                  <a:lnTo>
                    <a:pt x="1495425" y="185737"/>
                  </a:lnTo>
                  <a:lnTo>
                    <a:pt x="1121568" y="0"/>
                  </a:lnTo>
                  <a:close/>
                </a:path>
              </a:pathLst>
            </a:custGeom>
            <a:solidFill>
              <a:srgbClr val="FFD5A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41808" y="4986830"/>
              <a:ext cx="1495425" cy="371475"/>
            </a:xfrm>
            <a:custGeom>
              <a:avLst/>
              <a:gdLst/>
              <a:ahLst/>
              <a:cxnLst/>
              <a:rect l="l" t="t" r="r" b="b"/>
              <a:pathLst>
                <a:path w="1495425" h="371475">
                  <a:moveTo>
                    <a:pt x="0" y="92868"/>
                  </a:moveTo>
                  <a:lnTo>
                    <a:pt x="1121568" y="92868"/>
                  </a:lnTo>
                  <a:lnTo>
                    <a:pt x="1121568" y="0"/>
                  </a:lnTo>
                  <a:lnTo>
                    <a:pt x="1495424" y="185737"/>
                  </a:lnTo>
                  <a:lnTo>
                    <a:pt x="1121568" y="371474"/>
                  </a:lnTo>
                  <a:lnTo>
                    <a:pt x="1121568" y="278605"/>
                  </a:lnTo>
                  <a:lnTo>
                    <a:pt x="0" y="278605"/>
                  </a:lnTo>
                  <a:lnTo>
                    <a:pt x="0" y="92868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6119148" y="4562967"/>
            <a:ext cx="2305050" cy="1355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0805" marR="723265" indent="-7112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void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printTrabajador()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{ 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printPhoto(); 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printDetalles(getSueldo());</a:t>
            </a:r>
            <a:endParaRPr sz="1000">
              <a:latin typeface="Arial MT"/>
              <a:cs typeface="Arial MT"/>
            </a:endParaRPr>
          </a:p>
          <a:p>
            <a:pPr marL="20320">
              <a:lnSpc>
                <a:spcPct val="100000"/>
              </a:lnSpc>
            </a:pP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}</a:t>
            </a:r>
            <a:endParaRPr sz="1000">
              <a:latin typeface="Arial MT"/>
              <a:cs typeface="Arial MT"/>
            </a:endParaRPr>
          </a:p>
          <a:p>
            <a:pPr marL="83185" marR="5080" indent="-71120">
              <a:lnSpc>
                <a:spcPct val="100000"/>
              </a:lnSpc>
              <a:spcBef>
                <a:spcPts val="869"/>
              </a:spcBef>
            </a:pP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void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printDetalles(float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sueldo); </a:t>
            </a:r>
            <a:r>
              <a:rPr sz="10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System.out.println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("name: " + _name); </a:t>
            </a:r>
            <a:r>
              <a:rPr sz="1000" spc="-2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System.out.println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(</a:t>
            </a:r>
            <a:r>
              <a:rPr sz="1000" dirty="0">
                <a:solidFill>
                  <a:srgbClr val="363744"/>
                </a:solidFill>
                <a:latin typeface="MS PGothic"/>
                <a:cs typeface="MS PGothic"/>
              </a:rPr>
              <a:t>“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sueldo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"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+</a:t>
            </a:r>
            <a:r>
              <a:rPr sz="10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sueldo);</a:t>
            </a:r>
            <a:endParaRPr sz="1000">
              <a:latin typeface="Arial MT"/>
              <a:cs typeface="Arial MT"/>
            </a:endParaRPr>
          </a:p>
          <a:p>
            <a:pPr marL="47625">
              <a:lnSpc>
                <a:spcPct val="100000"/>
              </a:lnSpc>
            </a:pPr>
            <a:r>
              <a:rPr sz="1000" dirty="0">
                <a:solidFill>
                  <a:srgbClr val="292934"/>
                </a:solidFill>
                <a:latin typeface="Arial MT"/>
                <a:cs typeface="Arial MT"/>
              </a:rPr>
              <a:t>}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92146" y="3872403"/>
            <a:ext cx="8832850" cy="2322830"/>
            <a:chOff x="892146" y="3872403"/>
            <a:chExt cx="8832850" cy="2322830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02250" y="3872403"/>
              <a:ext cx="322417" cy="399552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9543322" y="4238716"/>
              <a:ext cx="97155" cy="257810"/>
            </a:xfrm>
            <a:custGeom>
              <a:avLst/>
              <a:gdLst/>
              <a:ahLst/>
              <a:cxnLst/>
              <a:rect l="l" t="t" r="r" b="b"/>
              <a:pathLst>
                <a:path w="97154" h="257810">
                  <a:moveTo>
                    <a:pt x="8611" y="0"/>
                  </a:moveTo>
                  <a:lnTo>
                    <a:pt x="3271" y="1554"/>
                  </a:lnTo>
                  <a:lnTo>
                    <a:pt x="0" y="7889"/>
                  </a:lnTo>
                  <a:lnTo>
                    <a:pt x="607" y="21041"/>
                  </a:lnTo>
                  <a:lnTo>
                    <a:pt x="5336" y="45909"/>
                  </a:lnTo>
                  <a:lnTo>
                    <a:pt x="9700" y="60138"/>
                  </a:lnTo>
                  <a:lnTo>
                    <a:pt x="17710" y="73764"/>
                  </a:lnTo>
                  <a:lnTo>
                    <a:pt x="25716" y="91699"/>
                  </a:lnTo>
                  <a:lnTo>
                    <a:pt x="31051" y="106523"/>
                  </a:lnTo>
                  <a:lnTo>
                    <a:pt x="33233" y="115488"/>
                  </a:lnTo>
                  <a:lnTo>
                    <a:pt x="33233" y="124458"/>
                  </a:lnTo>
                  <a:lnTo>
                    <a:pt x="26804" y="133902"/>
                  </a:lnTo>
                  <a:lnTo>
                    <a:pt x="22440" y="148126"/>
                  </a:lnTo>
                  <a:lnTo>
                    <a:pt x="19287" y="159724"/>
                  </a:lnTo>
                  <a:lnTo>
                    <a:pt x="18798" y="177059"/>
                  </a:lnTo>
                  <a:lnTo>
                    <a:pt x="19287" y="189254"/>
                  </a:lnTo>
                  <a:lnTo>
                    <a:pt x="17100" y="196669"/>
                  </a:lnTo>
                  <a:lnTo>
                    <a:pt x="11281" y="201927"/>
                  </a:lnTo>
                  <a:lnTo>
                    <a:pt x="6430" y="208741"/>
                  </a:lnTo>
                  <a:lnTo>
                    <a:pt x="2183" y="215554"/>
                  </a:lnTo>
                  <a:lnTo>
                    <a:pt x="1695" y="224524"/>
                  </a:lnTo>
                  <a:lnTo>
                    <a:pt x="5336" y="229306"/>
                  </a:lnTo>
                  <a:lnTo>
                    <a:pt x="15524" y="233489"/>
                  </a:lnTo>
                  <a:lnTo>
                    <a:pt x="25716" y="234086"/>
                  </a:lnTo>
                  <a:lnTo>
                    <a:pt x="39055" y="234086"/>
                  </a:lnTo>
                  <a:lnTo>
                    <a:pt x="51308" y="241380"/>
                  </a:lnTo>
                  <a:lnTo>
                    <a:pt x="59923" y="248790"/>
                  </a:lnTo>
                  <a:lnTo>
                    <a:pt x="64165" y="254054"/>
                  </a:lnTo>
                  <a:lnTo>
                    <a:pt x="70594" y="257279"/>
                  </a:lnTo>
                  <a:lnTo>
                    <a:pt x="90368" y="250946"/>
                  </a:lnTo>
                  <a:lnTo>
                    <a:pt x="95704" y="246162"/>
                  </a:lnTo>
                  <a:lnTo>
                    <a:pt x="96798" y="240423"/>
                  </a:lnTo>
                  <a:lnTo>
                    <a:pt x="93644" y="235043"/>
                  </a:lnTo>
                  <a:lnTo>
                    <a:pt x="77024" y="226079"/>
                  </a:lnTo>
                  <a:lnTo>
                    <a:pt x="58343" y="220338"/>
                  </a:lnTo>
                  <a:lnTo>
                    <a:pt x="41243" y="217229"/>
                  </a:lnTo>
                  <a:lnTo>
                    <a:pt x="33233" y="210892"/>
                  </a:lnTo>
                  <a:lnTo>
                    <a:pt x="32627" y="205036"/>
                  </a:lnTo>
                  <a:lnTo>
                    <a:pt x="34810" y="194994"/>
                  </a:lnTo>
                  <a:lnTo>
                    <a:pt x="42819" y="177059"/>
                  </a:lnTo>
                  <a:lnTo>
                    <a:pt x="45972" y="160205"/>
                  </a:lnTo>
                  <a:lnTo>
                    <a:pt x="51913" y="142867"/>
                  </a:lnTo>
                  <a:lnTo>
                    <a:pt x="56160" y="122783"/>
                  </a:lnTo>
                  <a:lnTo>
                    <a:pt x="57735" y="110228"/>
                  </a:lnTo>
                  <a:lnTo>
                    <a:pt x="57735" y="95403"/>
                  </a:lnTo>
                  <a:lnTo>
                    <a:pt x="53493" y="56433"/>
                  </a:lnTo>
                  <a:lnTo>
                    <a:pt x="34810" y="19486"/>
                  </a:lnTo>
                  <a:lnTo>
                    <a:pt x="22440" y="5859"/>
                  </a:lnTo>
                  <a:lnTo>
                    <a:pt x="86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432695" y="4238716"/>
              <a:ext cx="102135" cy="25142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896908" y="4485180"/>
              <a:ext cx="8791575" cy="1704975"/>
            </a:xfrm>
            <a:custGeom>
              <a:avLst/>
              <a:gdLst/>
              <a:ahLst/>
              <a:cxnLst/>
              <a:rect l="l" t="t" r="r" b="b"/>
              <a:pathLst>
                <a:path w="8791575" h="1704975">
                  <a:moveTo>
                    <a:pt x="8791573" y="0"/>
                  </a:moveTo>
                  <a:lnTo>
                    <a:pt x="0" y="0"/>
                  </a:lnTo>
                  <a:lnTo>
                    <a:pt x="0" y="1704973"/>
                  </a:lnTo>
                  <a:lnTo>
                    <a:pt x="8791573" y="1704973"/>
                  </a:lnTo>
                  <a:lnTo>
                    <a:pt x="8791573" y="0"/>
                  </a:lnTo>
                  <a:close/>
                </a:path>
              </a:pathLst>
            </a:custGeom>
            <a:solidFill>
              <a:srgbClr val="FFD5A9">
                <a:alpha val="1215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96908" y="4485180"/>
              <a:ext cx="8791575" cy="1704975"/>
            </a:xfrm>
            <a:custGeom>
              <a:avLst/>
              <a:gdLst/>
              <a:ahLst/>
              <a:cxnLst/>
              <a:rect l="l" t="t" r="r" b="b"/>
              <a:pathLst>
                <a:path w="8791575" h="1704975">
                  <a:moveTo>
                    <a:pt x="0" y="0"/>
                  </a:moveTo>
                  <a:lnTo>
                    <a:pt x="8791572" y="0"/>
                  </a:lnTo>
                  <a:lnTo>
                    <a:pt x="8791572" y="1704974"/>
                  </a:lnTo>
                  <a:lnTo>
                    <a:pt x="0" y="17049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637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985173" y="6316209"/>
            <a:ext cx="8394700" cy="5105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910"/>
              </a:lnSpc>
              <a:spcBef>
                <a:spcPts val="100"/>
              </a:spcBef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[2] Libro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Refactoring: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Improving</a:t>
            </a:r>
            <a:r>
              <a:rPr sz="1600" spc="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the</a:t>
            </a:r>
            <a:r>
              <a:rPr sz="16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Design</a:t>
            </a:r>
            <a:r>
              <a:rPr sz="16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of</a:t>
            </a:r>
            <a:r>
              <a:rPr sz="16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Existing</a:t>
            </a:r>
            <a:r>
              <a:rPr sz="16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Code. M.</a:t>
            </a:r>
            <a:r>
              <a:rPr sz="16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15" dirty="0">
                <a:solidFill>
                  <a:srgbClr val="292934"/>
                </a:solidFill>
                <a:latin typeface="Arial MT"/>
                <a:cs typeface="Arial MT"/>
              </a:rPr>
              <a:t>Fowler,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J.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Brant,</a:t>
            </a:r>
            <a:r>
              <a:rPr sz="16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45" dirty="0">
                <a:solidFill>
                  <a:srgbClr val="292934"/>
                </a:solidFill>
                <a:latin typeface="Arial MT"/>
                <a:cs typeface="Arial MT"/>
              </a:rPr>
              <a:t>W.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Opdyke,</a:t>
            </a:r>
            <a:endParaRPr sz="1600">
              <a:latin typeface="Arial MT"/>
              <a:cs typeface="Arial MT"/>
            </a:endParaRPr>
          </a:p>
          <a:p>
            <a:pPr marL="12700">
              <a:lnSpc>
                <a:spcPts val="1910"/>
              </a:lnSpc>
            </a:pP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D.</a:t>
            </a:r>
            <a:r>
              <a:rPr sz="16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Arial MT"/>
                <a:cs typeface="Arial MT"/>
              </a:rPr>
              <a:t>Roberts.</a:t>
            </a:r>
            <a:r>
              <a:rPr sz="1600" spc="-9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Addison</a:t>
            </a:r>
            <a:r>
              <a:rPr sz="16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spc="-25" dirty="0">
                <a:solidFill>
                  <a:srgbClr val="292934"/>
                </a:solidFill>
                <a:latin typeface="Arial MT"/>
                <a:cs typeface="Arial MT"/>
              </a:rPr>
              <a:t>Wesley,</a:t>
            </a:r>
            <a:r>
              <a:rPr sz="16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92934"/>
                </a:solidFill>
                <a:latin typeface="Arial MT"/>
                <a:cs typeface="Arial MT"/>
              </a:rPr>
              <a:t>1999</a:t>
            </a:r>
            <a:endParaRPr sz="1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8458" y="655045"/>
            <a:ext cx="73904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55925" algn="l"/>
              </a:tabLst>
            </a:pPr>
            <a:r>
              <a:rPr sz="4000" spc="-100" dirty="0"/>
              <a:t>Clasificació</a:t>
            </a:r>
            <a:r>
              <a:rPr sz="4000" dirty="0"/>
              <a:t>n	</a:t>
            </a:r>
            <a:r>
              <a:rPr sz="4000" spc="-105" dirty="0"/>
              <a:t>d</a:t>
            </a:r>
            <a:r>
              <a:rPr sz="4000" dirty="0"/>
              <a:t>e</a:t>
            </a:r>
            <a:r>
              <a:rPr sz="4000" spc="-204" dirty="0"/>
              <a:t> </a:t>
            </a:r>
            <a:r>
              <a:rPr sz="4000" spc="-100" dirty="0"/>
              <a:t>“</a:t>
            </a:r>
            <a:r>
              <a:rPr sz="4000" i="1" spc="-100" dirty="0">
                <a:solidFill>
                  <a:srgbClr val="0033CC"/>
                </a:solidFill>
                <a:latin typeface="Arial"/>
                <a:cs typeface="Arial"/>
              </a:rPr>
              <a:t>Ba</a:t>
            </a:r>
            <a:r>
              <a:rPr sz="4000" i="1" dirty="0">
                <a:solidFill>
                  <a:srgbClr val="0033CC"/>
                </a:solidFill>
                <a:latin typeface="Arial"/>
                <a:cs typeface="Arial"/>
              </a:rPr>
              <a:t>d</a:t>
            </a:r>
            <a:r>
              <a:rPr sz="4000" i="1" spc="-200" dirty="0">
                <a:solidFill>
                  <a:srgbClr val="0033CC"/>
                </a:solidFill>
                <a:latin typeface="Arial"/>
                <a:cs typeface="Arial"/>
              </a:rPr>
              <a:t> </a:t>
            </a:r>
            <a:r>
              <a:rPr sz="4000" i="1" spc="-100" dirty="0">
                <a:solidFill>
                  <a:srgbClr val="0033CC"/>
                </a:solidFill>
                <a:latin typeface="Arial"/>
                <a:cs typeface="Arial"/>
              </a:rPr>
              <a:t>Smell</a:t>
            </a:r>
            <a:r>
              <a:rPr sz="4000" i="1" spc="-105" dirty="0">
                <a:solidFill>
                  <a:srgbClr val="0033CC"/>
                </a:solidFill>
                <a:latin typeface="Arial"/>
                <a:cs typeface="Arial"/>
              </a:rPr>
              <a:t>s</a:t>
            </a:r>
            <a:r>
              <a:rPr sz="4000" dirty="0"/>
              <a:t>”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24</a:t>
            </a:fld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941718" y="3070109"/>
            <a:ext cx="819785" cy="1585595"/>
            <a:chOff x="941718" y="3070109"/>
            <a:chExt cx="819785" cy="1585595"/>
          </a:xfrm>
        </p:grpSpPr>
        <p:sp>
          <p:nvSpPr>
            <p:cNvPr id="4" name="object 4"/>
            <p:cNvSpPr/>
            <p:nvPr/>
          </p:nvSpPr>
          <p:spPr>
            <a:xfrm>
              <a:off x="1137197" y="3469438"/>
              <a:ext cx="277495" cy="616585"/>
            </a:xfrm>
            <a:custGeom>
              <a:avLst/>
              <a:gdLst/>
              <a:ahLst/>
              <a:cxnLst/>
              <a:rect l="l" t="t" r="r" b="b"/>
              <a:pathLst>
                <a:path w="277494" h="616585">
                  <a:moveTo>
                    <a:pt x="114386" y="0"/>
                  </a:moveTo>
                  <a:lnTo>
                    <a:pt x="58576" y="17329"/>
                  </a:lnTo>
                  <a:lnTo>
                    <a:pt x="29904" y="45585"/>
                  </a:lnTo>
                  <a:lnTo>
                    <a:pt x="0" y="119132"/>
                  </a:lnTo>
                  <a:lnTo>
                    <a:pt x="0" y="167450"/>
                  </a:lnTo>
                  <a:lnTo>
                    <a:pt x="9554" y="218210"/>
                  </a:lnTo>
                  <a:lnTo>
                    <a:pt x="23130" y="268044"/>
                  </a:lnTo>
                  <a:lnTo>
                    <a:pt x="38231" y="318804"/>
                  </a:lnTo>
                  <a:lnTo>
                    <a:pt x="38231" y="354957"/>
                  </a:lnTo>
                  <a:lnTo>
                    <a:pt x="35451" y="383227"/>
                  </a:lnTo>
                  <a:lnTo>
                    <a:pt x="25896" y="422126"/>
                  </a:lnTo>
                  <a:lnTo>
                    <a:pt x="29904" y="485030"/>
                  </a:lnTo>
                  <a:lnTo>
                    <a:pt x="46246" y="530616"/>
                  </a:lnTo>
                  <a:lnTo>
                    <a:pt x="64123" y="565270"/>
                  </a:lnTo>
                  <a:lnTo>
                    <a:pt x="103293" y="598995"/>
                  </a:lnTo>
                  <a:lnTo>
                    <a:pt x="157862" y="616324"/>
                  </a:lnTo>
                  <a:lnTo>
                    <a:pt x="186227" y="610847"/>
                  </a:lnTo>
                  <a:lnTo>
                    <a:pt x="225695" y="585317"/>
                  </a:lnTo>
                  <a:lnTo>
                    <a:pt x="250052" y="522411"/>
                  </a:lnTo>
                  <a:lnTo>
                    <a:pt x="258379" y="485030"/>
                  </a:lnTo>
                  <a:lnTo>
                    <a:pt x="263622" y="446133"/>
                  </a:lnTo>
                  <a:lnTo>
                    <a:pt x="266389" y="401770"/>
                  </a:lnTo>
                  <a:lnTo>
                    <a:pt x="271951" y="356478"/>
                  </a:lnTo>
                  <a:lnTo>
                    <a:pt x="277497" y="304211"/>
                  </a:lnTo>
                  <a:lnTo>
                    <a:pt x="277497" y="250416"/>
                  </a:lnTo>
                  <a:lnTo>
                    <a:pt x="266389" y="199666"/>
                  </a:lnTo>
                  <a:lnTo>
                    <a:pt x="242037" y="119132"/>
                  </a:lnTo>
                  <a:lnTo>
                    <a:pt x="221687" y="72332"/>
                  </a:lnTo>
                  <a:lnTo>
                    <a:pt x="174204" y="18846"/>
                  </a:lnTo>
                  <a:lnTo>
                    <a:pt x="146768" y="6686"/>
                  </a:lnTo>
                  <a:lnTo>
                    <a:pt x="1143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3155" y="3485544"/>
              <a:ext cx="230938" cy="22368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12318" y="3649047"/>
              <a:ext cx="471805" cy="309880"/>
            </a:xfrm>
            <a:custGeom>
              <a:avLst/>
              <a:gdLst/>
              <a:ahLst/>
              <a:cxnLst/>
              <a:rect l="l" t="t" r="r" b="b"/>
              <a:pathLst>
                <a:path w="471805" h="309879">
                  <a:moveTo>
                    <a:pt x="301550" y="0"/>
                  </a:moveTo>
                  <a:lnTo>
                    <a:pt x="250061" y="10637"/>
                  </a:lnTo>
                  <a:lnTo>
                    <a:pt x="199797" y="25217"/>
                  </a:lnTo>
                  <a:lnTo>
                    <a:pt x="146768" y="52277"/>
                  </a:lnTo>
                  <a:lnTo>
                    <a:pt x="150775" y="49536"/>
                  </a:lnTo>
                  <a:lnTo>
                    <a:pt x="100526" y="80225"/>
                  </a:lnTo>
                  <a:lnTo>
                    <a:pt x="85411" y="101804"/>
                  </a:lnTo>
                  <a:lnTo>
                    <a:pt x="57046" y="125811"/>
                  </a:lnTo>
                  <a:lnTo>
                    <a:pt x="35147" y="152563"/>
                  </a:lnTo>
                  <a:lnTo>
                    <a:pt x="10795" y="184771"/>
                  </a:lnTo>
                  <a:lnTo>
                    <a:pt x="2780" y="219727"/>
                  </a:lnTo>
                  <a:lnTo>
                    <a:pt x="0" y="253152"/>
                  </a:lnTo>
                  <a:lnTo>
                    <a:pt x="19118" y="277164"/>
                  </a:lnTo>
                  <a:lnTo>
                    <a:pt x="47482" y="301471"/>
                  </a:lnTo>
                  <a:lnTo>
                    <a:pt x="94965" y="309372"/>
                  </a:lnTo>
                  <a:lnTo>
                    <a:pt x="148009" y="308162"/>
                  </a:lnTo>
                  <a:lnTo>
                    <a:pt x="193024" y="296002"/>
                  </a:lnTo>
                  <a:lnTo>
                    <a:pt x="226930" y="278682"/>
                  </a:lnTo>
                  <a:lnTo>
                    <a:pt x="271647" y="257103"/>
                  </a:lnTo>
                  <a:lnTo>
                    <a:pt x="300324" y="226405"/>
                  </a:lnTo>
                  <a:lnTo>
                    <a:pt x="330223" y="199358"/>
                  </a:lnTo>
                  <a:lnTo>
                    <a:pt x="381714" y="183556"/>
                  </a:lnTo>
                  <a:lnTo>
                    <a:pt x="388501" y="183556"/>
                  </a:lnTo>
                  <a:lnTo>
                    <a:pt x="452626" y="161982"/>
                  </a:lnTo>
                  <a:lnTo>
                    <a:pt x="470209" y="145872"/>
                  </a:lnTo>
                  <a:lnTo>
                    <a:pt x="471445" y="120342"/>
                  </a:lnTo>
                  <a:lnTo>
                    <a:pt x="466201" y="72325"/>
                  </a:lnTo>
                  <a:lnTo>
                    <a:pt x="443070" y="42844"/>
                  </a:lnTo>
                  <a:lnTo>
                    <a:pt x="406384" y="17315"/>
                  </a:lnTo>
                  <a:lnTo>
                    <a:pt x="349347" y="2428"/>
                  </a:lnTo>
                  <a:lnTo>
                    <a:pt x="301550" y="0"/>
                  </a:lnTo>
                  <a:close/>
                </a:path>
              </a:pathLst>
            </a:custGeom>
            <a:solidFill>
              <a:srgbClr val="CCE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5976" y="3631420"/>
              <a:ext cx="511175" cy="351155"/>
            </a:xfrm>
            <a:custGeom>
              <a:avLst/>
              <a:gdLst/>
              <a:ahLst/>
              <a:cxnLst/>
              <a:rect l="l" t="t" r="r" b="b"/>
              <a:pathLst>
                <a:path w="511175" h="351154">
                  <a:moveTo>
                    <a:pt x="370923" y="0"/>
                  </a:moveTo>
                  <a:lnTo>
                    <a:pt x="330228" y="0"/>
                  </a:lnTo>
                  <a:lnTo>
                    <a:pt x="286752" y="2736"/>
                  </a:lnTo>
                  <a:lnTo>
                    <a:pt x="243273" y="13369"/>
                  </a:lnTo>
                  <a:lnTo>
                    <a:pt x="195790" y="29475"/>
                  </a:lnTo>
                  <a:lnTo>
                    <a:pt x="164351" y="47103"/>
                  </a:lnTo>
                  <a:lnTo>
                    <a:pt x="134433" y="68374"/>
                  </a:lnTo>
                  <a:lnTo>
                    <a:pt x="108541" y="83273"/>
                  </a:lnTo>
                  <a:lnTo>
                    <a:pt x="54270" y="130069"/>
                  </a:lnTo>
                  <a:lnTo>
                    <a:pt x="21586" y="172918"/>
                  </a:lnTo>
                  <a:lnTo>
                    <a:pt x="5546" y="216985"/>
                  </a:lnTo>
                  <a:lnTo>
                    <a:pt x="0" y="270780"/>
                  </a:lnTo>
                  <a:lnTo>
                    <a:pt x="6788" y="298743"/>
                  </a:lnTo>
                  <a:lnTo>
                    <a:pt x="21586" y="320321"/>
                  </a:lnTo>
                  <a:lnTo>
                    <a:pt x="44716" y="337642"/>
                  </a:lnTo>
                  <a:lnTo>
                    <a:pt x="74620" y="347060"/>
                  </a:lnTo>
                  <a:lnTo>
                    <a:pt x="106073" y="351011"/>
                  </a:lnTo>
                  <a:lnTo>
                    <a:pt x="138753" y="349797"/>
                  </a:lnTo>
                  <a:lnTo>
                    <a:pt x="161571" y="351011"/>
                  </a:lnTo>
                  <a:lnTo>
                    <a:pt x="226935" y="337642"/>
                  </a:lnTo>
                  <a:lnTo>
                    <a:pt x="283972" y="308161"/>
                  </a:lnTo>
                  <a:lnTo>
                    <a:pt x="327448" y="276249"/>
                  </a:lnTo>
                  <a:lnTo>
                    <a:pt x="361369" y="237355"/>
                  </a:lnTo>
                  <a:lnTo>
                    <a:pt x="383258" y="221245"/>
                  </a:lnTo>
                  <a:lnTo>
                    <a:pt x="413172" y="210308"/>
                  </a:lnTo>
                  <a:lnTo>
                    <a:pt x="434748" y="206344"/>
                  </a:lnTo>
                  <a:lnTo>
                    <a:pt x="460655" y="194496"/>
                  </a:lnTo>
                  <a:lnTo>
                    <a:pt x="498886" y="166240"/>
                  </a:lnTo>
                  <a:lnTo>
                    <a:pt x="459413" y="170191"/>
                  </a:lnTo>
                  <a:lnTo>
                    <a:pt x="421186" y="180820"/>
                  </a:lnTo>
                  <a:lnTo>
                    <a:pt x="374931" y="187506"/>
                  </a:lnTo>
                  <a:lnTo>
                    <a:pt x="341020" y="203616"/>
                  </a:lnTo>
                  <a:lnTo>
                    <a:pt x="303091" y="230663"/>
                  </a:lnTo>
                  <a:lnTo>
                    <a:pt x="274418" y="262576"/>
                  </a:lnTo>
                  <a:lnTo>
                    <a:pt x="243273" y="281414"/>
                  </a:lnTo>
                  <a:lnTo>
                    <a:pt x="218920" y="290841"/>
                  </a:lnTo>
                  <a:lnTo>
                    <a:pt x="194251" y="302987"/>
                  </a:lnTo>
                  <a:lnTo>
                    <a:pt x="173905" y="309679"/>
                  </a:lnTo>
                  <a:lnTo>
                    <a:pt x="154783" y="312407"/>
                  </a:lnTo>
                  <a:lnTo>
                    <a:pt x="99285" y="312407"/>
                  </a:lnTo>
                  <a:lnTo>
                    <a:pt x="58590" y="297520"/>
                  </a:lnTo>
                  <a:lnTo>
                    <a:pt x="39467" y="262576"/>
                  </a:lnTo>
                  <a:lnTo>
                    <a:pt x="37928" y="244033"/>
                  </a:lnTo>
                  <a:lnTo>
                    <a:pt x="44716" y="225195"/>
                  </a:lnTo>
                  <a:lnTo>
                    <a:pt x="51490" y="202398"/>
                  </a:lnTo>
                  <a:lnTo>
                    <a:pt x="80167" y="160773"/>
                  </a:lnTo>
                  <a:lnTo>
                    <a:pt x="147995" y="97853"/>
                  </a:lnTo>
                  <a:lnTo>
                    <a:pt x="226935" y="56227"/>
                  </a:lnTo>
                  <a:lnTo>
                    <a:pt x="283972" y="41634"/>
                  </a:lnTo>
                  <a:lnTo>
                    <a:pt x="349347" y="36167"/>
                  </a:lnTo>
                  <a:lnTo>
                    <a:pt x="380487" y="41634"/>
                  </a:lnTo>
                  <a:lnTo>
                    <a:pt x="434748" y="68374"/>
                  </a:lnTo>
                  <a:lnTo>
                    <a:pt x="464662" y="103331"/>
                  </a:lnTo>
                  <a:lnTo>
                    <a:pt x="466201" y="126118"/>
                  </a:lnTo>
                  <a:lnTo>
                    <a:pt x="466201" y="144661"/>
                  </a:lnTo>
                  <a:lnTo>
                    <a:pt x="462194" y="158031"/>
                  </a:lnTo>
                  <a:lnTo>
                    <a:pt x="457873" y="165017"/>
                  </a:lnTo>
                  <a:lnTo>
                    <a:pt x="498886" y="163499"/>
                  </a:lnTo>
                  <a:lnTo>
                    <a:pt x="506895" y="146179"/>
                  </a:lnTo>
                  <a:lnTo>
                    <a:pt x="510904" y="128551"/>
                  </a:lnTo>
                  <a:lnTo>
                    <a:pt x="506895" y="93902"/>
                  </a:lnTo>
                  <a:lnTo>
                    <a:pt x="498886" y="73855"/>
                  </a:lnTo>
                  <a:lnTo>
                    <a:pt x="486551" y="55004"/>
                  </a:lnTo>
                  <a:lnTo>
                    <a:pt x="466201" y="38893"/>
                  </a:lnTo>
                  <a:lnTo>
                    <a:pt x="449859" y="25524"/>
                  </a:lnTo>
                  <a:lnTo>
                    <a:pt x="419945" y="10935"/>
                  </a:lnTo>
                  <a:lnTo>
                    <a:pt x="370923" y="0"/>
                  </a:lnTo>
                  <a:close/>
                </a:path>
              </a:pathLst>
            </a:custGeom>
            <a:solidFill>
              <a:srgbClr val="6699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41717" y="3070110"/>
              <a:ext cx="819785" cy="1585595"/>
            </a:xfrm>
            <a:custGeom>
              <a:avLst/>
              <a:gdLst/>
              <a:ahLst/>
              <a:cxnLst/>
              <a:rect l="l" t="t" r="r" b="b"/>
              <a:pathLst>
                <a:path w="819785" h="1585595">
                  <a:moveTo>
                    <a:pt x="281190" y="848194"/>
                  </a:moveTo>
                  <a:lnTo>
                    <a:pt x="273177" y="841514"/>
                  </a:lnTo>
                  <a:lnTo>
                    <a:pt x="260832" y="841514"/>
                  </a:lnTo>
                  <a:lnTo>
                    <a:pt x="245719" y="849414"/>
                  </a:lnTo>
                  <a:lnTo>
                    <a:pt x="222910" y="854887"/>
                  </a:lnTo>
                  <a:lnTo>
                    <a:pt x="201015" y="854887"/>
                  </a:lnTo>
                  <a:lnTo>
                    <a:pt x="187464" y="846670"/>
                  </a:lnTo>
                  <a:lnTo>
                    <a:pt x="198234" y="832091"/>
                  </a:lnTo>
                  <a:lnTo>
                    <a:pt x="206565" y="809294"/>
                  </a:lnTo>
                  <a:lnTo>
                    <a:pt x="210578" y="786511"/>
                  </a:lnTo>
                  <a:lnTo>
                    <a:pt x="209029" y="773137"/>
                  </a:lnTo>
                  <a:lnTo>
                    <a:pt x="190233" y="766445"/>
                  </a:lnTo>
                  <a:lnTo>
                    <a:pt x="179133" y="773137"/>
                  </a:lnTo>
                  <a:lnTo>
                    <a:pt x="168338" y="790460"/>
                  </a:lnTo>
                  <a:lnTo>
                    <a:pt x="169875" y="813244"/>
                  </a:lnTo>
                  <a:lnTo>
                    <a:pt x="165557" y="834834"/>
                  </a:lnTo>
                  <a:lnTo>
                    <a:pt x="151993" y="849414"/>
                  </a:lnTo>
                  <a:lnTo>
                    <a:pt x="130416" y="856107"/>
                  </a:lnTo>
                  <a:lnTo>
                    <a:pt x="107276" y="849414"/>
                  </a:lnTo>
                  <a:lnTo>
                    <a:pt x="69049" y="821461"/>
                  </a:lnTo>
                  <a:lnTo>
                    <a:pt x="54254" y="766445"/>
                  </a:lnTo>
                  <a:lnTo>
                    <a:pt x="52717" y="735457"/>
                  </a:lnTo>
                  <a:lnTo>
                    <a:pt x="54254" y="731507"/>
                  </a:lnTo>
                  <a:lnTo>
                    <a:pt x="55499" y="694131"/>
                  </a:lnTo>
                  <a:lnTo>
                    <a:pt x="66586" y="629691"/>
                  </a:lnTo>
                  <a:lnTo>
                    <a:pt x="90944" y="561314"/>
                  </a:lnTo>
                  <a:lnTo>
                    <a:pt x="127635" y="494449"/>
                  </a:lnTo>
                  <a:lnTo>
                    <a:pt x="154762" y="462241"/>
                  </a:lnTo>
                  <a:lnTo>
                    <a:pt x="171119" y="439445"/>
                  </a:lnTo>
                  <a:lnTo>
                    <a:pt x="176669" y="413918"/>
                  </a:lnTo>
                  <a:lnTo>
                    <a:pt x="173888" y="391134"/>
                  </a:lnTo>
                  <a:lnTo>
                    <a:pt x="168338" y="379272"/>
                  </a:lnTo>
                  <a:lnTo>
                    <a:pt x="156006" y="371081"/>
                  </a:lnTo>
                  <a:lnTo>
                    <a:pt x="128866" y="371081"/>
                  </a:lnTo>
                  <a:lnTo>
                    <a:pt x="77381" y="404799"/>
                  </a:lnTo>
                  <a:lnTo>
                    <a:pt x="57035" y="443395"/>
                  </a:lnTo>
                  <a:lnTo>
                    <a:pt x="33909" y="518464"/>
                  </a:lnTo>
                  <a:lnTo>
                    <a:pt x="22809" y="561314"/>
                  </a:lnTo>
                  <a:lnTo>
                    <a:pt x="13550" y="610857"/>
                  </a:lnTo>
                  <a:lnTo>
                    <a:pt x="5232" y="652487"/>
                  </a:lnTo>
                  <a:lnTo>
                    <a:pt x="0" y="695337"/>
                  </a:lnTo>
                  <a:lnTo>
                    <a:pt x="0" y="738187"/>
                  </a:lnTo>
                  <a:lnTo>
                    <a:pt x="10782" y="791984"/>
                  </a:lnTo>
                  <a:lnTo>
                    <a:pt x="36690" y="849414"/>
                  </a:lnTo>
                  <a:lnTo>
                    <a:pt x="90944" y="885583"/>
                  </a:lnTo>
                  <a:lnTo>
                    <a:pt x="133197" y="892263"/>
                  </a:lnTo>
                  <a:lnTo>
                    <a:pt x="160324" y="897737"/>
                  </a:lnTo>
                  <a:lnTo>
                    <a:pt x="183438" y="909599"/>
                  </a:lnTo>
                  <a:lnTo>
                    <a:pt x="205028" y="924483"/>
                  </a:lnTo>
                  <a:lnTo>
                    <a:pt x="232168" y="929944"/>
                  </a:lnTo>
                  <a:lnTo>
                    <a:pt x="251282" y="928433"/>
                  </a:lnTo>
                  <a:lnTo>
                    <a:pt x="255295" y="927214"/>
                  </a:lnTo>
                  <a:lnTo>
                    <a:pt x="263613" y="915060"/>
                  </a:lnTo>
                  <a:lnTo>
                    <a:pt x="264845" y="900480"/>
                  </a:lnTo>
                  <a:lnTo>
                    <a:pt x="256832" y="893787"/>
                  </a:lnTo>
                  <a:lnTo>
                    <a:pt x="237718" y="892263"/>
                  </a:lnTo>
                  <a:lnTo>
                    <a:pt x="221373" y="892263"/>
                  </a:lnTo>
                  <a:lnTo>
                    <a:pt x="203796" y="889838"/>
                  </a:lnTo>
                  <a:lnTo>
                    <a:pt x="199783" y="882840"/>
                  </a:lnTo>
                  <a:lnTo>
                    <a:pt x="207810" y="881634"/>
                  </a:lnTo>
                  <a:lnTo>
                    <a:pt x="225374" y="884364"/>
                  </a:lnTo>
                  <a:lnTo>
                    <a:pt x="243255" y="884364"/>
                  </a:lnTo>
                  <a:lnTo>
                    <a:pt x="263613" y="878890"/>
                  </a:lnTo>
                  <a:lnTo>
                    <a:pt x="278409" y="864298"/>
                  </a:lnTo>
                  <a:lnTo>
                    <a:pt x="281190" y="848194"/>
                  </a:lnTo>
                  <a:close/>
                </a:path>
                <a:path w="819785" h="1585595">
                  <a:moveTo>
                    <a:pt x="336994" y="995603"/>
                  </a:moveTo>
                  <a:lnTo>
                    <a:pt x="335457" y="951217"/>
                  </a:lnTo>
                  <a:lnTo>
                    <a:pt x="316649" y="932383"/>
                  </a:lnTo>
                  <a:lnTo>
                    <a:pt x="298767" y="931164"/>
                  </a:lnTo>
                  <a:lnTo>
                    <a:pt x="267627" y="956691"/>
                  </a:lnTo>
                  <a:lnTo>
                    <a:pt x="240487" y="999540"/>
                  </a:lnTo>
                  <a:lnTo>
                    <a:pt x="211810" y="1057287"/>
                  </a:lnTo>
                  <a:lnTo>
                    <a:pt x="199783" y="1117460"/>
                  </a:lnTo>
                  <a:lnTo>
                    <a:pt x="193001" y="1159103"/>
                  </a:lnTo>
                  <a:lnTo>
                    <a:pt x="195478" y="1207109"/>
                  </a:lnTo>
                  <a:lnTo>
                    <a:pt x="197015" y="1242072"/>
                  </a:lnTo>
                  <a:lnTo>
                    <a:pt x="207810" y="1282166"/>
                  </a:lnTo>
                  <a:lnTo>
                    <a:pt x="224155" y="1323809"/>
                  </a:lnTo>
                  <a:lnTo>
                    <a:pt x="238950" y="1359979"/>
                  </a:lnTo>
                  <a:lnTo>
                    <a:pt x="248500" y="1392186"/>
                  </a:lnTo>
                  <a:lnTo>
                    <a:pt x="256832" y="1417421"/>
                  </a:lnTo>
                  <a:lnTo>
                    <a:pt x="255295" y="1437779"/>
                  </a:lnTo>
                  <a:lnTo>
                    <a:pt x="240487" y="1446898"/>
                  </a:lnTo>
                  <a:lnTo>
                    <a:pt x="203796" y="1455102"/>
                  </a:lnTo>
                  <a:lnTo>
                    <a:pt x="167093" y="1468475"/>
                  </a:lnTo>
                  <a:lnTo>
                    <a:pt x="143979" y="1472425"/>
                  </a:lnTo>
                  <a:lnTo>
                    <a:pt x="111302" y="1492478"/>
                  </a:lnTo>
                  <a:lnTo>
                    <a:pt x="88176" y="1508582"/>
                  </a:lnTo>
                  <a:lnTo>
                    <a:pt x="77381" y="1527429"/>
                  </a:lnTo>
                  <a:lnTo>
                    <a:pt x="86931" y="1543532"/>
                  </a:lnTo>
                  <a:lnTo>
                    <a:pt x="103276" y="1563585"/>
                  </a:lnTo>
                  <a:lnTo>
                    <a:pt x="133197" y="1570278"/>
                  </a:lnTo>
                  <a:lnTo>
                    <a:pt x="154762" y="1560855"/>
                  </a:lnTo>
                  <a:lnTo>
                    <a:pt x="167093" y="1540802"/>
                  </a:lnTo>
                  <a:lnTo>
                    <a:pt x="180670" y="1519529"/>
                  </a:lnTo>
                  <a:lnTo>
                    <a:pt x="207810" y="1500682"/>
                  </a:lnTo>
                  <a:lnTo>
                    <a:pt x="238950" y="1490052"/>
                  </a:lnTo>
                  <a:lnTo>
                    <a:pt x="271627" y="1488528"/>
                  </a:lnTo>
                  <a:lnTo>
                    <a:pt x="295986" y="1492478"/>
                  </a:lnTo>
                  <a:lnTo>
                    <a:pt x="307086" y="1485798"/>
                  </a:lnTo>
                  <a:lnTo>
                    <a:pt x="316649" y="1472425"/>
                  </a:lnTo>
                  <a:lnTo>
                    <a:pt x="315112" y="1451140"/>
                  </a:lnTo>
                  <a:lnTo>
                    <a:pt x="298767" y="1418932"/>
                  </a:lnTo>
                  <a:lnTo>
                    <a:pt x="279958" y="1374559"/>
                  </a:lnTo>
                  <a:lnTo>
                    <a:pt x="267627" y="1327759"/>
                  </a:lnTo>
                  <a:lnTo>
                    <a:pt x="263613" y="1264856"/>
                  </a:lnTo>
                  <a:lnTo>
                    <a:pt x="255295" y="1179156"/>
                  </a:lnTo>
                  <a:lnTo>
                    <a:pt x="263613" y="1148156"/>
                  </a:lnTo>
                  <a:lnTo>
                    <a:pt x="308317" y="1069136"/>
                  </a:lnTo>
                  <a:lnTo>
                    <a:pt x="327444" y="1031748"/>
                  </a:lnTo>
                  <a:lnTo>
                    <a:pt x="336994" y="995603"/>
                  </a:lnTo>
                  <a:close/>
                </a:path>
                <a:path w="819785" h="1585595">
                  <a:moveTo>
                    <a:pt x="448297" y="364388"/>
                  </a:moveTo>
                  <a:lnTo>
                    <a:pt x="445528" y="353745"/>
                  </a:lnTo>
                  <a:lnTo>
                    <a:pt x="443052" y="341591"/>
                  </a:lnTo>
                  <a:lnTo>
                    <a:pt x="435965" y="330949"/>
                  </a:lnTo>
                  <a:lnTo>
                    <a:pt x="418401" y="320319"/>
                  </a:lnTo>
                  <a:lnTo>
                    <a:pt x="395274" y="305435"/>
                  </a:lnTo>
                  <a:lnTo>
                    <a:pt x="377698" y="296011"/>
                  </a:lnTo>
                  <a:lnTo>
                    <a:pt x="364134" y="288112"/>
                  </a:lnTo>
                  <a:lnTo>
                    <a:pt x="351802" y="274739"/>
                  </a:lnTo>
                  <a:lnTo>
                    <a:pt x="353339" y="246468"/>
                  </a:lnTo>
                  <a:lnTo>
                    <a:pt x="347789" y="215773"/>
                  </a:lnTo>
                  <a:lnTo>
                    <a:pt x="335457" y="166243"/>
                  </a:lnTo>
                  <a:lnTo>
                    <a:pt x="317881" y="127342"/>
                  </a:lnTo>
                  <a:lnTo>
                    <a:pt x="297522" y="87223"/>
                  </a:lnTo>
                  <a:lnTo>
                    <a:pt x="260832" y="30708"/>
                  </a:lnTo>
                  <a:lnTo>
                    <a:pt x="220141" y="1219"/>
                  </a:lnTo>
                  <a:lnTo>
                    <a:pt x="198234" y="0"/>
                  </a:lnTo>
                  <a:lnTo>
                    <a:pt x="175120" y="2743"/>
                  </a:lnTo>
                  <a:lnTo>
                    <a:pt x="127635" y="20066"/>
                  </a:lnTo>
                  <a:lnTo>
                    <a:pt x="84162" y="60185"/>
                  </a:lnTo>
                  <a:lnTo>
                    <a:pt x="58254" y="117919"/>
                  </a:lnTo>
                  <a:lnTo>
                    <a:pt x="54254" y="148615"/>
                  </a:lnTo>
                  <a:lnTo>
                    <a:pt x="57035" y="172923"/>
                  </a:lnTo>
                  <a:lnTo>
                    <a:pt x="62268" y="195719"/>
                  </a:lnTo>
                  <a:lnTo>
                    <a:pt x="75844" y="222465"/>
                  </a:lnTo>
                  <a:lnTo>
                    <a:pt x="96494" y="246468"/>
                  </a:lnTo>
                  <a:lnTo>
                    <a:pt x="118071" y="273215"/>
                  </a:lnTo>
                  <a:lnTo>
                    <a:pt x="156006" y="301485"/>
                  </a:lnTo>
                  <a:lnTo>
                    <a:pt x="180670" y="323049"/>
                  </a:lnTo>
                  <a:lnTo>
                    <a:pt x="209029" y="341591"/>
                  </a:lnTo>
                  <a:lnTo>
                    <a:pt x="238950" y="347065"/>
                  </a:lnTo>
                  <a:lnTo>
                    <a:pt x="270395" y="347065"/>
                  </a:lnTo>
                  <a:lnTo>
                    <a:pt x="294754" y="343115"/>
                  </a:lnTo>
                  <a:lnTo>
                    <a:pt x="316649" y="330949"/>
                  </a:lnTo>
                  <a:lnTo>
                    <a:pt x="336994" y="312115"/>
                  </a:lnTo>
                  <a:lnTo>
                    <a:pt x="368134" y="345541"/>
                  </a:lnTo>
                  <a:lnTo>
                    <a:pt x="391261" y="379272"/>
                  </a:lnTo>
                  <a:lnTo>
                    <a:pt x="408838" y="392645"/>
                  </a:lnTo>
                  <a:lnTo>
                    <a:pt x="425170" y="393865"/>
                  </a:lnTo>
                  <a:lnTo>
                    <a:pt x="438746" y="388708"/>
                  </a:lnTo>
                  <a:lnTo>
                    <a:pt x="445528" y="375031"/>
                  </a:lnTo>
                  <a:lnTo>
                    <a:pt x="448297" y="364388"/>
                  </a:lnTo>
                  <a:close/>
                </a:path>
                <a:path w="819785" h="1585595">
                  <a:moveTo>
                    <a:pt x="604634" y="1542313"/>
                  </a:moveTo>
                  <a:lnTo>
                    <a:pt x="596620" y="1528635"/>
                  </a:lnTo>
                  <a:lnTo>
                    <a:pt x="554367" y="1505851"/>
                  </a:lnTo>
                  <a:lnTo>
                    <a:pt x="506882" y="1491259"/>
                  </a:lnTo>
                  <a:lnTo>
                    <a:pt x="463423" y="1483360"/>
                  </a:lnTo>
                  <a:lnTo>
                    <a:pt x="443052" y="1467243"/>
                  </a:lnTo>
                  <a:lnTo>
                    <a:pt x="441515" y="1452359"/>
                  </a:lnTo>
                  <a:lnTo>
                    <a:pt x="447065" y="1426832"/>
                  </a:lnTo>
                  <a:lnTo>
                    <a:pt x="467423" y="1381252"/>
                  </a:lnTo>
                  <a:lnTo>
                    <a:pt x="475437" y="1338402"/>
                  </a:lnTo>
                  <a:lnTo>
                    <a:pt x="490537" y="1294333"/>
                  </a:lnTo>
                  <a:lnTo>
                    <a:pt x="501332" y="1243279"/>
                  </a:lnTo>
                  <a:lnTo>
                    <a:pt x="505333" y="1211364"/>
                  </a:lnTo>
                  <a:lnTo>
                    <a:pt x="505333" y="1173683"/>
                  </a:lnTo>
                  <a:lnTo>
                    <a:pt x="501332" y="1129626"/>
                  </a:lnTo>
                  <a:lnTo>
                    <a:pt x="494563" y="1074610"/>
                  </a:lnTo>
                  <a:lnTo>
                    <a:pt x="478205" y="1031748"/>
                  </a:lnTo>
                  <a:lnTo>
                    <a:pt x="447065" y="980694"/>
                  </a:lnTo>
                  <a:lnTo>
                    <a:pt x="415620" y="946061"/>
                  </a:lnTo>
                  <a:lnTo>
                    <a:pt x="380479" y="931164"/>
                  </a:lnTo>
                  <a:lnTo>
                    <a:pt x="366903" y="935113"/>
                  </a:lnTo>
                  <a:lnTo>
                    <a:pt x="358584" y="951217"/>
                  </a:lnTo>
                  <a:lnTo>
                    <a:pt x="360121" y="984656"/>
                  </a:lnTo>
                  <a:lnTo>
                    <a:pt x="372148" y="1047864"/>
                  </a:lnTo>
                  <a:lnTo>
                    <a:pt x="383235" y="1084033"/>
                  </a:lnTo>
                  <a:lnTo>
                    <a:pt x="403606" y="1118666"/>
                  </a:lnTo>
                  <a:lnTo>
                    <a:pt x="423951" y="1164259"/>
                  </a:lnTo>
                  <a:lnTo>
                    <a:pt x="437515" y="1201940"/>
                  </a:lnTo>
                  <a:lnTo>
                    <a:pt x="443052" y="1224737"/>
                  </a:lnTo>
                  <a:lnTo>
                    <a:pt x="443052" y="1247533"/>
                  </a:lnTo>
                  <a:lnTo>
                    <a:pt x="426720" y="1271536"/>
                  </a:lnTo>
                  <a:lnTo>
                    <a:pt x="415620" y="1307693"/>
                  </a:lnTo>
                  <a:lnTo>
                    <a:pt x="407606" y="1337183"/>
                  </a:lnTo>
                  <a:lnTo>
                    <a:pt x="406361" y="1381252"/>
                  </a:lnTo>
                  <a:lnTo>
                    <a:pt x="407606" y="1412240"/>
                  </a:lnTo>
                  <a:lnTo>
                    <a:pt x="402056" y="1431099"/>
                  </a:lnTo>
                  <a:lnTo>
                    <a:pt x="387261" y="1444459"/>
                  </a:lnTo>
                  <a:lnTo>
                    <a:pt x="374929" y="1461782"/>
                  </a:lnTo>
                  <a:lnTo>
                    <a:pt x="364134" y="1479105"/>
                  </a:lnTo>
                  <a:lnTo>
                    <a:pt x="362889" y="1501902"/>
                  </a:lnTo>
                  <a:lnTo>
                    <a:pt x="372148" y="1514055"/>
                  </a:lnTo>
                  <a:lnTo>
                    <a:pt x="398043" y="1524685"/>
                  </a:lnTo>
                  <a:lnTo>
                    <a:pt x="423951" y="1526209"/>
                  </a:lnTo>
                  <a:lnTo>
                    <a:pt x="457860" y="1526209"/>
                  </a:lnTo>
                  <a:lnTo>
                    <a:pt x="489000" y="1544751"/>
                  </a:lnTo>
                  <a:lnTo>
                    <a:pt x="510895" y="1563585"/>
                  </a:lnTo>
                  <a:lnTo>
                    <a:pt x="521677" y="1576971"/>
                  </a:lnTo>
                  <a:lnTo>
                    <a:pt x="538022" y="1585163"/>
                  </a:lnTo>
                  <a:lnTo>
                    <a:pt x="588289" y="1569072"/>
                  </a:lnTo>
                  <a:lnTo>
                    <a:pt x="601853" y="1556905"/>
                  </a:lnTo>
                  <a:lnTo>
                    <a:pt x="604634" y="1542313"/>
                  </a:lnTo>
                  <a:close/>
                </a:path>
                <a:path w="819785" h="1585595">
                  <a:moveTo>
                    <a:pt x="819543" y="529107"/>
                  </a:moveTo>
                  <a:lnTo>
                    <a:pt x="800417" y="464985"/>
                  </a:lnTo>
                  <a:lnTo>
                    <a:pt x="780072" y="431546"/>
                  </a:lnTo>
                  <a:lnTo>
                    <a:pt x="754164" y="402069"/>
                  </a:lnTo>
                  <a:lnTo>
                    <a:pt x="721474" y="365899"/>
                  </a:lnTo>
                  <a:lnTo>
                    <a:pt x="648106" y="312115"/>
                  </a:lnTo>
                  <a:lnTo>
                    <a:pt x="614184" y="293268"/>
                  </a:lnTo>
                  <a:lnTo>
                    <a:pt x="543585" y="266534"/>
                  </a:lnTo>
                  <a:lnTo>
                    <a:pt x="514908" y="259842"/>
                  </a:lnTo>
                  <a:lnTo>
                    <a:pt x="496100" y="259842"/>
                  </a:lnTo>
                  <a:lnTo>
                    <a:pt x="476973" y="270776"/>
                  </a:lnTo>
                  <a:lnTo>
                    <a:pt x="466178" y="284162"/>
                  </a:lnTo>
                  <a:lnTo>
                    <a:pt x="461860" y="301485"/>
                  </a:lnTo>
                  <a:lnTo>
                    <a:pt x="457860" y="313639"/>
                  </a:lnTo>
                  <a:lnTo>
                    <a:pt x="497332" y="352539"/>
                  </a:lnTo>
                  <a:lnTo>
                    <a:pt x="553135" y="363169"/>
                  </a:lnTo>
                  <a:lnTo>
                    <a:pt x="584276" y="371081"/>
                  </a:lnTo>
                  <a:lnTo>
                    <a:pt x="645325" y="402069"/>
                  </a:lnTo>
                  <a:lnTo>
                    <a:pt x="678002" y="422135"/>
                  </a:lnTo>
                  <a:lnTo>
                    <a:pt x="713473" y="448868"/>
                  </a:lnTo>
                  <a:lnTo>
                    <a:pt x="744613" y="486244"/>
                  </a:lnTo>
                  <a:lnTo>
                    <a:pt x="762190" y="521195"/>
                  </a:lnTo>
                  <a:lnTo>
                    <a:pt x="759726" y="553415"/>
                  </a:lnTo>
                  <a:lnTo>
                    <a:pt x="747395" y="578942"/>
                  </a:lnTo>
                  <a:lnTo>
                    <a:pt x="721474" y="610857"/>
                  </a:lnTo>
                  <a:lnTo>
                    <a:pt x="683564" y="641845"/>
                  </a:lnTo>
                  <a:lnTo>
                    <a:pt x="645325" y="668591"/>
                  </a:lnTo>
                  <a:lnTo>
                    <a:pt x="595071" y="707491"/>
                  </a:lnTo>
                  <a:lnTo>
                    <a:pt x="562394" y="726338"/>
                  </a:lnTo>
                  <a:lnTo>
                    <a:pt x="539572" y="735457"/>
                  </a:lnTo>
                  <a:lnTo>
                    <a:pt x="502881" y="751560"/>
                  </a:lnTo>
                  <a:lnTo>
                    <a:pt x="464642" y="759764"/>
                  </a:lnTo>
                  <a:lnTo>
                    <a:pt x="415620" y="762495"/>
                  </a:lnTo>
                  <a:lnTo>
                    <a:pt x="402056" y="759764"/>
                  </a:lnTo>
                  <a:lnTo>
                    <a:pt x="396811" y="751560"/>
                  </a:lnTo>
                  <a:lnTo>
                    <a:pt x="400824" y="744867"/>
                  </a:lnTo>
                  <a:lnTo>
                    <a:pt x="414375" y="738187"/>
                  </a:lnTo>
                  <a:lnTo>
                    <a:pt x="427951" y="727557"/>
                  </a:lnTo>
                  <a:lnTo>
                    <a:pt x="438746" y="712660"/>
                  </a:lnTo>
                  <a:lnTo>
                    <a:pt x="438746" y="695337"/>
                  </a:lnTo>
                  <a:lnTo>
                    <a:pt x="430720" y="681964"/>
                  </a:lnTo>
                  <a:lnTo>
                    <a:pt x="419938" y="678014"/>
                  </a:lnTo>
                  <a:lnTo>
                    <a:pt x="407606" y="684695"/>
                  </a:lnTo>
                  <a:lnTo>
                    <a:pt x="400824" y="698080"/>
                  </a:lnTo>
                  <a:lnTo>
                    <a:pt x="388493" y="720864"/>
                  </a:lnTo>
                  <a:lnTo>
                    <a:pt x="376466" y="733018"/>
                  </a:lnTo>
                  <a:lnTo>
                    <a:pt x="360121" y="736981"/>
                  </a:lnTo>
                  <a:lnTo>
                    <a:pt x="346557" y="739711"/>
                  </a:lnTo>
                  <a:lnTo>
                    <a:pt x="341007" y="736981"/>
                  </a:lnTo>
                  <a:lnTo>
                    <a:pt x="334213" y="723607"/>
                  </a:lnTo>
                  <a:lnTo>
                    <a:pt x="323418" y="707491"/>
                  </a:lnTo>
                  <a:lnTo>
                    <a:pt x="307086" y="696556"/>
                  </a:lnTo>
                  <a:lnTo>
                    <a:pt x="290741" y="695337"/>
                  </a:lnTo>
                  <a:lnTo>
                    <a:pt x="275640" y="696556"/>
                  </a:lnTo>
                  <a:lnTo>
                    <a:pt x="266382" y="711441"/>
                  </a:lnTo>
                  <a:lnTo>
                    <a:pt x="267627" y="723607"/>
                  </a:lnTo>
                  <a:lnTo>
                    <a:pt x="275640" y="735457"/>
                  </a:lnTo>
                  <a:lnTo>
                    <a:pt x="290741" y="743661"/>
                  </a:lnTo>
                  <a:lnTo>
                    <a:pt x="311099" y="750341"/>
                  </a:lnTo>
                  <a:lnTo>
                    <a:pt x="327444" y="759764"/>
                  </a:lnTo>
                  <a:lnTo>
                    <a:pt x="327444" y="767664"/>
                  </a:lnTo>
                  <a:lnTo>
                    <a:pt x="313867" y="773137"/>
                  </a:lnTo>
                  <a:lnTo>
                    <a:pt x="289204" y="773137"/>
                  </a:lnTo>
                  <a:lnTo>
                    <a:pt x="273177" y="770394"/>
                  </a:lnTo>
                  <a:lnTo>
                    <a:pt x="256832" y="771626"/>
                  </a:lnTo>
                  <a:lnTo>
                    <a:pt x="244500" y="779818"/>
                  </a:lnTo>
                  <a:lnTo>
                    <a:pt x="241719" y="789241"/>
                  </a:lnTo>
                  <a:lnTo>
                    <a:pt x="250037" y="808088"/>
                  </a:lnTo>
                  <a:lnTo>
                    <a:pt x="263613" y="814768"/>
                  </a:lnTo>
                  <a:lnTo>
                    <a:pt x="283972" y="817194"/>
                  </a:lnTo>
                  <a:lnTo>
                    <a:pt x="300304" y="813244"/>
                  </a:lnTo>
                  <a:lnTo>
                    <a:pt x="323418" y="808088"/>
                  </a:lnTo>
                  <a:lnTo>
                    <a:pt x="346557" y="798664"/>
                  </a:lnTo>
                  <a:lnTo>
                    <a:pt x="373684" y="790460"/>
                  </a:lnTo>
                  <a:lnTo>
                    <a:pt x="395274" y="791984"/>
                  </a:lnTo>
                  <a:lnTo>
                    <a:pt x="417156" y="797140"/>
                  </a:lnTo>
                  <a:lnTo>
                    <a:pt x="441515" y="798664"/>
                  </a:lnTo>
                  <a:lnTo>
                    <a:pt x="474192" y="799884"/>
                  </a:lnTo>
                  <a:lnTo>
                    <a:pt x="509663" y="798664"/>
                  </a:lnTo>
                  <a:lnTo>
                    <a:pt x="550354" y="791984"/>
                  </a:lnTo>
                  <a:lnTo>
                    <a:pt x="636079" y="757034"/>
                  </a:lnTo>
                  <a:lnTo>
                    <a:pt x="669988" y="738187"/>
                  </a:lnTo>
                  <a:lnTo>
                    <a:pt x="709155" y="715391"/>
                  </a:lnTo>
                  <a:lnTo>
                    <a:pt x="759726" y="669810"/>
                  </a:lnTo>
                  <a:lnTo>
                    <a:pt x="786853" y="641845"/>
                  </a:lnTo>
                  <a:lnTo>
                    <a:pt x="812749" y="588060"/>
                  </a:lnTo>
                  <a:lnTo>
                    <a:pt x="816762" y="554634"/>
                  </a:lnTo>
                  <a:lnTo>
                    <a:pt x="819543" y="5291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1868458" y="1804873"/>
            <a:ext cx="476250" cy="4860925"/>
          </a:xfrm>
          <a:custGeom>
            <a:avLst/>
            <a:gdLst/>
            <a:ahLst/>
            <a:cxnLst/>
            <a:rect l="l" t="t" r="r" b="b"/>
            <a:pathLst>
              <a:path w="476250" h="4860925">
                <a:moveTo>
                  <a:pt x="476249" y="4860923"/>
                </a:moveTo>
                <a:lnTo>
                  <a:pt x="412946" y="4844733"/>
                </a:lnTo>
                <a:lnTo>
                  <a:pt x="356063" y="4799043"/>
                </a:lnTo>
                <a:lnTo>
                  <a:pt x="330738" y="4766485"/>
                </a:lnTo>
                <a:lnTo>
                  <a:pt x="307870" y="4728173"/>
                </a:lnTo>
                <a:lnTo>
                  <a:pt x="287741" y="4684645"/>
                </a:lnTo>
                <a:lnTo>
                  <a:pt x="270635" y="4636443"/>
                </a:lnTo>
                <a:lnTo>
                  <a:pt x="256837" y="4584106"/>
                </a:lnTo>
                <a:lnTo>
                  <a:pt x="246631" y="4528174"/>
                </a:lnTo>
                <a:lnTo>
                  <a:pt x="240298" y="4469187"/>
                </a:lnTo>
                <a:lnTo>
                  <a:pt x="238124" y="4407685"/>
                </a:lnTo>
                <a:lnTo>
                  <a:pt x="238124" y="2883698"/>
                </a:lnTo>
                <a:lnTo>
                  <a:pt x="235951" y="2822197"/>
                </a:lnTo>
                <a:lnTo>
                  <a:pt x="229618" y="2763210"/>
                </a:lnTo>
                <a:lnTo>
                  <a:pt x="219411" y="2707278"/>
                </a:lnTo>
                <a:lnTo>
                  <a:pt x="205613" y="2654941"/>
                </a:lnTo>
                <a:lnTo>
                  <a:pt x="188508" y="2606738"/>
                </a:lnTo>
                <a:lnTo>
                  <a:pt x="168379" y="2563211"/>
                </a:lnTo>
                <a:lnTo>
                  <a:pt x="145511" y="2524899"/>
                </a:lnTo>
                <a:lnTo>
                  <a:pt x="120186" y="2492341"/>
                </a:lnTo>
                <a:lnTo>
                  <a:pt x="63303" y="2446651"/>
                </a:lnTo>
                <a:lnTo>
                  <a:pt x="0" y="2430461"/>
                </a:lnTo>
                <a:lnTo>
                  <a:pt x="32312" y="2426323"/>
                </a:lnTo>
                <a:lnTo>
                  <a:pt x="92688" y="2394843"/>
                </a:lnTo>
                <a:lnTo>
                  <a:pt x="145511" y="2336023"/>
                </a:lnTo>
                <a:lnTo>
                  <a:pt x="168379" y="2297710"/>
                </a:lnTo>
                <a:lnTo>
                  <a:pt x="188508" y="2254183"/>
                </a:lnTo>
                <a:lnTo>
                  <a:pt x="205613" y="2205981"/>
                </a:lnTo>
                <a:lnTo>
                  <a:pt x="219411" y="2153644"/>
                </a:lnTo>
                <a:lnTo>
                  <a:pt x="229618" y="2097711"/>
                </a:lnTo>
                <a:lnTo>
                  <a:pt x="235951" y="2038725"/>
                </a:lnTo>
                <a:lnTo>
                  <a:pt x="238124" y="1977223"/>
                </a:lnTo>
                <a:lnTo>
                  <a:pt x="238124" y="453237"/>
                </a:lnTo>
                <a:lnTo>
                  <a:pt x="240298" y="391736"/>
                </a:lnTo>
                <a:lnTo>
                  <a:pt x="246631" y="332749"/>
                </a:lnTo>
                <a:lnTo>
                  <a:pt x="256837" y="276817"/>
                </a:lnTo>
                <a:lnTo>
                  <a:pt x="270635" y="224479"/>
                </a:lnTo>
                <a:lnTo>
                  <a:pt x="287741" y="176277"/>
                </a:lnTo>
                <a:lnTo>
                  <a:pt x="307870" y="132750"/>
                </a:lnTo>
                <a:lnTo>
                  <a:pt x="330738" y="94437"/>
                </a:lnTo>
                <a:lnTo>
                  <a:pt x="356063" y="61880"/>
                </a:lnTo>
                <a:lnTo>
                  <a:pt x="412946" y="16190"/>
                </a:lnTo>
                <a:lnTo>
                  <a:pt x="443937" y="4137"/>
                </a:lnTo>
                <a:lnTo>
                  <a:pt x="476249" y="0"/>
                </a:lnTo>
              </a:path>
            </a:pathLst>
          </a:custGeom>
          <a:ln w="9524">
            <a:solidFill>
              <a:srgbClr val="3637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378999" y="1801765"/>
            <a:ext cx="6684645" cy="4960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99500"/>
              </a:lnSpc>
              <a:spcBef>
                <a:spcPts val="110"/>
              </a:spcBef>
            </a:pP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The bloaters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(los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infladores),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agrupa “aromas” que indican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crecimiento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excesivo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algún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aspecto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que hacen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incontrolable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el </a:t>
            </a:r>
            <a:r>
              <a:rPr sz="1800" spc="-484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código.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850">
              <a:latin typeface="Arial MT"/>
              <a:cs typeface="Arial MT"/>
            </a:endParaRPr>
          </a:p>
          <a:p>
            <a:pPr marL="12700" marR="156845">
              <a:lnSpc>
                <a:spcPct val="99500"/>
              </a:lnSpc>
              <a:spcBef>
                <a:spcPts val="5"/>
              </a:spcBef>
            </a:pP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The Object-Orientation </a:t>
            </a:r>
            <a:r>
              <a:rPr sz="1800" b="1" dirty="0">
                <a:solidFill>
                  <a:srgbClr val="292934"/>
                </a:solidFill>
                <a:latin typeface="Arial"/>
                <a:cs typeface="Arial"/>
              </a:rPr>
              <a:t>Abusers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(los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maltratadores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de la 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orientación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a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objetos),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aglutina </a:t>
            </a:r>
            <a:r>
              <a:rPr sz="1800" i="1" dirty="0">
                <a:solidFill>
                  <a:srgbClr val="292934"/>
                </a:solidFill>
                <a:latin typeface="Arial"/>
                <a:cs typeface="Arial"/>
              </a:rPr>
              <a:t>code smells</a:t>
            </a:r>
            <a:r>
              <a:rPr sz="1800" i="1" spc="-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indican que </a:t>
            </a:r>
            <a:r>
              <a:rPr sz="1800" spc="-484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no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se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está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aprovechando la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potencia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de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este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paradigma.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Arial MT"/>
              <a:cs typeface="Arial MT"/>
            </a:endParaRPr>
          </a:p>
          <a:p>
            <a:pPr marL="12700" marR="273050">
              <a:lnSpc>
                <a:spcPct val="101899"/>
              </a:lnSpc>
            </a:pP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8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92934"/>
                </a:solidFill>
                <a:latin typeface="Arial"/>
                <a:cs typeface="Arial"/>
              </a:rPr>
              <a:t>change</a:t>
            </a:r>
            <a:r>
              <a:rPr sz="18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preventers</a:t>
            </a:r>
            <a:r>
              <a:rPr sz="18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(los</a:t>
            </a: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previsores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cambios).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Cambios </a:t>
            </a:r>
            <a:r>
              <a:rPr sz="1800" spc="-484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en los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requisitos afectan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a muchos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artefactos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del diseño.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50">
              <a:latin typeface="Arial MT"/>
              <a:cs typeface="Arial MT"/>
            </a:endParaRPr>
          </a:p>
          <a:p>
            <a:pPr marL="12700" marR="461645">
              <a:lnSpc>
                <a:spcPct val="99500"/>
              </a:lnSpc>
            </a:pP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The Dispensables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(los prescindibles),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pistas aportadas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por 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porciones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código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innecesarias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podrían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deberían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 ser </a:t>
            </a:r>
            <a:r>
              <a:rPr sz="1800" spc="-484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eliminadas.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950">
              <a:latin typeface="Arial MT"/>
              <a:cs typeface="Arial MT"/>
            </a:endParaRPr>
          </a:p>
          <a:p>
            <a:pPr marL="12700" marR="18415">
              <a:lnSpc>
                <a:spcPct val="99500"/>
              </a:lnSpc>
            </a:pPr>
            <a:r>
              <a:rPr sz="1800" b="1" spc="-5" dirty="0">
                <a:solidFill>
                  <a:srgbClr val="292934"/>
                </a:solidFill>
                <a:latin typeface="Arial"/>
                <a:cs typeface="Arial"/>
              </a:rPr>
              <a:t>The</a:t>
            </a:r>
            <a:r>
              <a:rPr sz="1800" b="1" spc="-10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292934"/>
                </a:solidFill>
                <a:latin typeface="Arial"/>
                <a:cs typeface="Arial"/>
              </a:rPr>
              <a:t>couplers</a:t>
            </a:r>
            <a:r>
              <a:rPr sz="1800" b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(Los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emparejadores),</a:t>
            </a:r>
            <a:r>
              <a:rPr sz="1800" spc="-1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son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i="1" dirty="0">
                <a:solidFill>
                  <a:srgbClr val="292934"/>
                </a:solidFill>
                <a:latin typeface="Arial"/>
                <a:cs typeface="Arial"/>
              </a:rPr>
              <a:t>smells</a:t>
            </a:r>
            <a:r>
              <a:rPr sz="1800" i="1" spc="-15" dirty="0">
                <a:solidFill>
                  <a:srgbClr val="29293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que</a:t>
            </a:r>
            <a:r>
              <a:rPr sz="1800" spc="-1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alertan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sobre </a:t>
            </a:r>
            <a:r>
              <a:rPr sz="1800" spc="-484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problemas</a:t>
            </a:r>
            <a:r>
              <a:rPr sz="1800" spc="3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de</a:t>
            </a:r>
            <a:r>
              <a:rPr sz="18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acoplamiento</a:t>
            </a:r>
            <a:r>
              <a:rPr sz="18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entre</a:t>
            </a:r>
            <a:r>
              <a:rPr sz="18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componentes,</a:t>
            </a:r>
            <a:r>
              <a:rPr sz="1800" spc="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a</a:t>
            </a:r>
            <a:r>
              <a:rPr sz="1800" spc="4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veces </a:t>
            </a:r>
            <a:r>
              <a:rPr sz="1800" spc="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excesivo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y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otras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demasiado</a:t>
            </a:r>
            <a:r>
              <a:rPr sz="18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292934"/>
                </a:solidFill>
                <a:latin typeface="Arial MT"/>
                <a:cs typeface="Arial MT"/>
              </a:rPr>
              <a:t>escaso.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023" y="565035"/>
            <a:ext cx="63906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5" dirty="0"/>
              <a:t>Categorizació</a:t>
            </a:r>
            <a:r>
              <a:rPr sz="4000" dirty="0"/>
              <a:t>n</a:t>
            </a:r>
            <a:r>
              <a:rPr sz="4000" spc="-200" dirty="0"/>
              <a:t> </a:t>
            </a:r>
            <a:r>
              <a:rPr sz="4000" spc="-105" dirty="0"/>
              <a:t>d</a:t>
            </a:r>
            <a:r>
              <a:rPr sz="4000" dirty="0"/>
              <a:t>e</a:t>
            </a:r>
            <a:r>
              <a:rPr sz="4000" spc="-195" dirty="0"/>
              <a:t> </a:t>
            </a:r>
            <a:r>
              <a:rPr sz="4000" spc="-100" dirty="0"/>
              <a:t>Ba</a:t>
            </a:r>
            <a:r>
              <a:rPr sz="4000" dirty="0"/>
              <a:t>d</a:t>
            </a:r>
            <a:r>
              <a:rPr sz="4000" spc="-204" dirty="0"/>
              <a:t> </a:t>
            </a:r>
            <a:r>
              <a:rPr sz="4000" spc="-100" dirty="0"/>
              <a:t>smells</a:t>
            </a:r>
            <a:endParaRPr sz="4000"/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pc="-25" dirty="0"/>
              <a:t>BLOATERS</a:t>
            </a:r>
          </a:p>
          <a:p>
            <a:pPr marL="577850" indent="-172085">
              <a:lnSpc>
                <a:spcPct val="100000"/>
              </a:lnSpc>
              <a:spcBef>
                <a:spcPts val="335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spc="-5" dirty="0">
                <a:latin typeface="Arial MT"/>
                <a:cs typeface="Arial MT"/>
              </a:rPr>
              <a:t>Long</a:t>
            </a:r>
            <a:r>
              <a:rPr sz="1400" b="0" spc="-4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Method</a:t>
            </a:r>
            <a:endParaRPr sz="1400">
              <a:latin typeface="Arial MT"/>
              <a:cs typeface="Arial MT"/>
            </a:endParaRPr>
          </a:p>
          <a:p>
            <a:pPr marL="577850" indent="-1720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dirty="0">
                <a:latin typeface="Arial MT"/>
                <a:cs typeface="Arial MT"/>
              </a:rPr>
              <a:t>Large</a:t>
            </a:r>
            <a:r>
              <a:rPr sz="1400" b="0" spc="-5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Class</a:t>
            </a:r>
            <a:endParaRPr sz="1400">
              <a:latin typeface="Arial MT"/>
              <a:cs typeface="Arial MT"/>
            </a:endParaRPr>
          </a:p>
          <a:p>
            <a:pPr marL="577850" indent="-1720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dirty="0">
                <a:latin typeface="Arial MT"/>
                <a:cs typeface="Arial MT"/>
              </a:rPr>
              <a:t>Primitive</a:t>
            </a:r>
            <a:r>
              <a:rPr sz="1400" b="0" spc="-5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Obsession</a:t>
            </a:r>
            <a:endParaRPr sz="1400">
              <a:latin typeface="Arial MT"/>
              <a:cs typeface="Arial MT"/>
            </a:endParaRPr>
          </a:p>
          <a:p>
            <a:pPr marL="577850" indent="-1720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spc="-5" dirty="0">
                <a:latin typeface="Arial MT"/>
                <a:cs typeface="Arial MT"/>
              </a:rPr>
              <a:t>Long</a:t>
            </a:r>
            <a:r>
              <a:rPr sz="1400" b="0" spc="-30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Parameter</a:t>
            </a:r>
            <a:r>
              <a:rPr sz="1400" b="0" spc="-3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List</a:t>
            </a:r>
            <a:endParaRPr sz="1400">
              <a:latin typeface="Arial MT"/>
              <a:cs typeface="Arial MT"/>
            </a:endParaRPr>
          </a:p>
          <a:p>
            <a:pPr marL="577850" indent="-1720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dirty="0">
                <a:latin typeface="Arial MT"/>
                <a:cs typeface="Arial MT"/>
              </a:rPr>
              <a:t>DataClumps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93A299"/>
              </a:buClr>
              <a:buFont typeface="Arial MT"/>
              <a:buChar char="•"/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pc="-5" dirty="0"/>
              <a:t>OO-ABUSERS</a:t>
            </a:r>
          </a:p>
          <a:p>
            <a:pPr marL="577850" indent="-172085">
              <a:lnSpc>
                <a:spcPct val="100000"/>
              </a:lnSpc>
              <a:spcBef>
                <a:spcPts val="355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dirty="0">
                <a:latin typeface="Arial MT"/>
                <a:cs typeface="Arial MT"/>
              </a:rPr>
              <a:t>Switch</a:t>
            </a:r>
            <a:r>
              <a:rPr sz="1400" b="0" spc="-30" dirty="0">
                <a:latin typeface="Arial MT"/>
                <a:cs typeface="Arial MT"/>
              </a:rPr>
              <a:t> </a:t>
            </a:r>
            <a:r>
              <a:rPr sz="1400" b="0" spc="-5" dirty="0">
                <a:latin typeface="Arial MT"/>
                <a:cs typeface="Arial MT"/>
              </a:rPr>
              <a:t>Statements</a:t>
            </a:r>
            <a:endParaRPr sz="1400">
              <a:latin typeface="Arial MT"/>
              <a:cs typeface="Arial MT"/>
            </a:endParaRPr>
          </a:p>
          <a:p>
            <a:pPr marL="577850" indent="-1720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spc="-20" dirty="0">
                <a:latin typeface="Arial MT"/>
                <a:cs typeface="Arial MT"/>
              </a:rPr>
              <a:t>Temporary</a:t>
            </a:r>
            <a:r>
              <a:rPr sz="1400" b="0" spc="-4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Field</a:t>
            </a:r>
            <a:endParaRPr sz="1400">
              <a:latin typeface="Arial MT"/>
              <a:cs typeface="Arial MT"/>
            </a:endParaRPr>
          </a:p>
          <a:p>
            <a:pPr marL="577850" indent="-172085">
              <a:lnSpc>
                <a:spcPct val="100000"/>
              </a:lnSpc>
              <a:spcBef>
                <a:spcPts val="420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dirty="0">
                <a:latin typeface="Arial MT"/>
                <a:cs typeface="Arial MT"/>
              </a:rPr>
              <a:t>Refused</a:t>
            </a:r>
            <a:r>
              <a:rPr sz="1400" b="0" spc="-5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Bequest</a:t>
            </a:r>
            <a:endParaRPr sz="1400">
              <a:latin typeface="Arial MT"/>
              <a:cs typeface="Arial MT"/>
            </a:endParaRPr>
          </a:p>
          <a:p>
            <a:pPr marL="577850" indent="-1720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577850" algn="l"/>
              </a:tabLst>
            </a:pPr>
            <a:r>
              <a:rPr sz="1400" b="0" dirty="0">
                <a:latin typeface="Arial MT"/>
                <a:cs typeface="Arial MT"/>
              </a:rPr>
              <a:t>Alternative</a:t>
            </a:r>
            <a:r>
              <a:rPr sz="1400" b="0" spc="-1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Classes</a:t>
            </a:r>
            <a:r>
              <a:rPr sz="1400" b="0" spc="-1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with</a:t>
            </a:r>
            <a:r>
              <a:rPr sz="1400" b="0" spc="-15" dirty="0">
                <a:latin typeface="Arial MT"/>
                <a:cs typeface="Arial MT"/>
              </a:rPr>
              <a:t> </a:t>
            </a:r>
            <a:r>
              <a:rPr sz="1400" b="0" spc="-5" dirty="0">
                <a:latin typeface="Arial MT"/>
                <a:cs typeface="Arial MT"/>
              </a:rPr>
              <a:t>Different</a:t>
            </a:r>
            <a:r>
              <a:rPr sz="1400" b="0" spc="-15" dirty="0">
                <a:latin typeface="Arial MT"/>
                <a:cs typeface="Arial MT"/>
              </a:rPr>
              <a:t> </a:t>
            </a:r>
            <a:r>
              <a:rPr sz="1400" b="0" spc="-5" dirty="0">
                <a:latin typeface="Arial MT"/>
                <a:cs typeface="Arial MT"/>
              </a:rPr>
              <a:t>Interfaces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93A299"/>
              </a:buClr>
              <a:buFont typeface="Arial MT"/>
              <a:buChar char="•"/>
            </a:pPr>
            <a:endParaRPr sz="1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93A299"/>
              </a:buClr>
              <a:buFont typeface="Arial MT"/>
              <a:buChar char="•"/>
            </a:pPr>
            <a:endParaRPr sz="14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pc="-5" dirty="0"/>
              <a:t>CHANGE</a:t>
            </a:r>
            <a:r>
              <a:rPr spc="-15" dirty="0"/>
              <a:t> </a:t>
            </a:r>
            <a:r>
              <a:rPr spc="-5" dirty="0"/>
              <a:t>PREVENTERS</a:t>
            </a:r>
          </a:p>
          <a:p>
            <a:pPr marL="692150" indent="-286385">
              <a:lnSpc>
                <a:spcPct val="100000"/>
              </a:lnSpc>
              <a:spcBef>
                <a:spcPts val="355"/>
              </a:spcBef>
              <a:buClr>
                <a:srgbClr val="93A299"/>
              </a:buClr>
              <a:buSzPct val="82142"/>
              <a:buChar char="•"/>
              <a:tabLst>
                <a:tab pos="691515" algn="l"/>
                <a:tab pos="692150" algn="l"/>
              </a:tabLst>
            </a:pPr>
            <a:r>
              <a:rPr sz="1400" b="0" dirty="0">
                <a:latin typeface="Arial MT"/>
                <a:cs typeface="Arial MT"/>
              </a:rPr>
              <a:t>Divergent</a:t>
            </a:r>
            <a:r>
              <a:rPr sz="1400" b="0" spc="-5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Change</a:t>
            </a:r>
            <a:endParaRPr sz="1400">
              <a:latin typeface="Arial MT"/>
              <a:cs typeface="Arial MT"/>
            </a:endParaRPr>
          </a:p>
          <a:p>
            <a:pPr marL="692150" indent="-2863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691515" algn="l"/>
                <a:tab pos="692150" algn="l"/>
              </a:tabLst>
            </a:pPr>
            <a:r>
              <a:rPr sz="1400" b="0" dirty="0">
                <a:latin typeface="Arial MT"/>
                <a:cs typeface="Arial MT"/>
              </a:rPr>
              <a:t>Shotgun</a:t>
            </a:r>
            <a:r>
              <a:rPr sz="1400" b="0" spc="-5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Surgery</a:t>
            </a:r>
            <a:endParaRPr sz="1400">
              <a:latin typeface="Arial MT"/>
              <a:cs typeface="Arial MT"/>
            </a:endParaRPr>
          </a:p>
          <a:p>
            <a:pPr marL="692150" indent="-28638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691515" algn="l"/>
                <a:tab pos="692150" algn="l"/>
              </a:tabLst>
            </a:pPr>
            <a:r>
              <a:rPr sz="1400" b="0" dirty="0">
                <a:latin typeface="Arial MT"/>
                <a:cs typeface="Arial MT"/>
              </a:rPr>
              <a:t>Parallel</a:t>
            </a:r>
            <a:r>
              <a:rPr sz="1400" b="0" spc="-40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Inheritance</a:t>
            </a:r>
            <a:r>
              <a:rPr sz="1400" b="0" spc="-35" dirty="0">
                <a:latin typeface="Arial MT"/>
                <a:cs typeface="Arial MT"/>
              </a:rPr>
              <a:t> </a:t>
            </a:r>
            <a:r>
              <a:rPr sz="1400" b="0" dirty="0">
                <a:latin typeface="Arial MT"/>
                <a:cs typeface="Arial MT"/>
              </a:rPr>
              <a:t>Hierarchies</a:t>
            </a:r>
            <a:endParaRPr sz="1400">
              <a:latin typeface="Arial MT"/>
              <a:cs typeface="Arial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25</a:t>
            </a:fld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6232004" y="1526153"/>
            <a:ext cx="2244725" cy="331470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DISPENSABLES</a:t>
            </a:r>
            <a:endParaRPr sz="2000">
              <a:latin typeface="Arial"/>
              <a:cs typeface="Arial"/>
            </a:endParaRPr>
          </a:p>
          <a:p>
            <a:pPr marL="452120" indent="-186055">
              <a:lnSpc>
                <a:spcPct val="100000"/>
              </a:lnSpc>
              <a:spcBef>
                <a:spcPts val="335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Lazy</a:t>
            </a:r>
            <a:r>
              <a:rPr sz="1400" spc="-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class</a:t>
            </a:r>
            <a:endParaRPr sz="1400">
              <a:latin typeface="Arial MT"/>
              <a:cs typeface="Arial MT"/>
            </a:endParaRPr>
          </a:p>
          <a:p>
            <a:pPr marL="452120" indent="-18605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spc="-5" dirty="0">
                <a:solidFill>
                  <a:srgbClr val="292934"/>
                </a:solidFill>
                <a:latin typeface="Arial MT"/>
                <a:cs typeface="Arial MT"/>
              </a:rPr>
              <a:t>Dat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a class</a:t>
            </a:r>
            <a:endParaRPr sz="1400">
              <a:latin typeface="Arial MT"/>
              <a:cs typeface="Arial MT"/>
            </a:endParaRPr>
          </a:p>
          <a:p>
            <a:pPr marL="452120" indent="-18605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Duplicate</a:t>
            </a:r>
            <a:r>
              <a:rPr sz="14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Code</a:t>
            </a:r>
            <a:endParaRPr sz="1400">
              <a:latin typeface="Arial MT"/>
              <a:cs typeface="Arial MT"/>
            </a:endParaRPr>
          </a:p>
          <a:p>
            <a:pPr marL="452120" indent="-18605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Dead</a:t>
            </a:r>
            <a:r>
              <a:rPr sz="14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Code</a:t>
            </a:r>
            <a:endParaRPr sz="1400">
              <a:latin typeface="Arial MT"/>
              <a:cs typeface="Arial MT"/>
            </a:endParaRPr>
          </a:p>
          <a:p>
            <a:pPr marL="452120" indent="-18605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Speculative</a:t>
            </a:r>
            <a:r>
              <a:rPr sz="1400" spc="-8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Generality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93A299"/>
              </a:buClr>
              <a:buFont typeface="Arial MT"/>
              <a:buChar char="•"/>
            </a:pPr>
            <a:endParaRPr sz="2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000" b="1" spc="-5" dirty="0">
                <a:solidFill>
                  <a:srgbClr val="292934"/>
                </a:solidFill>
                <a:latin typeface="Arial"/>
                <a:cs typeface="Arial"/>
              </a:rPr>
              <a:t>COUPLERS</a:t>
            </a:r>
            <a:endParaRPr sz="2000">
              <a:latin typeface="Arial"/>
              <a:cs typeface="Arial"/>
            </a:endParaRPr>
          </a:p>
          <a:p>
            <a:pPr marL="452120" indent="-186055">
              <a:lnSpc>
                <a:spcPct val="100000"/>
              </a:lnSpc>
              <a:spcBef>
                <a:spcPts val="355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spc="-5" dirty="0">
                <a:solidFill>
                  <a:srgbClr val="292934"/>
                </a:solidFill>
                <a:latin typeface="Arial MT"/>
                <a:cs typeface="Arial MT"/>
              </a:rPr>
              <a:t>Feature</a:t>
            </a:r>
            <a:r>
              <a:rPr sz="1400" spc="-4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Envy</a:t>
            </a:r>
            <a:endParaRPr sz="1400">
              <a:latin typeface="Arial MT"/>
              <a:cs typeface="Arial MT"/>
            </a:endParaRPr>
          </a:p>
          <a:p>
            <a:pPr marL="452120" indent="-18605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Inappropriate</a:t>
            </a:r>
            <a:r>
              <a:rPr sz="1400" spc="-6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Intimacy</a:t>
            </a:r>
            <a:endParaRPr sz="1400">
              <a:latin typeface="Arial MT"/>
              <a:cs typeface="Arial MT"/>
            </a:endParaRPr>
          </a:p>
          <a:p>
            <a:pPr marL="452120" indent="-186055">
              <a:lnSpc>
                <a:spcPct val="100000"/>
              </a:lnSpc>
              <a:spcBef>
                <a:spcPts val="420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Message</a:t>
            </a:r>
            <a:r>
              <a:rPr sz="14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Chains</a:t>
            </a:r>
            <a:endParaRPr sz="1400">
              <a:latin typeface="Arial MT"/>
              <a:cs typeface="Arial MT"/>
            </a:endParaRPr>
          </a:p>
          <a:p>
            <a:pPr marL="452120" indent="-186055">
              <a:lnSpc>
                <a:spcPct val="100000"/>
              </a:lnSpc>
              <a:spcBef>
                <a:spcPts val="320"/>
              </a:spcBef>
              <a:buClr>
                <a:srgbClr val="93A299"/>
              </a:buClr>
              <a:buSzPct val="82142"/>
              <a:buChar char="•"/>
              <a:tabLst>
                <a:tab pos="452120" algn="l"/>
                <a:tab pos="452755" algn="l"/>
              </a:tabLst>
            </a:pP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Middle</a:t>
            </a:r>
            <a:r>
              <a:rPr sz="1400" spc="-5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292934"/>
                </a:solidFill>
                <a:latin typeface="Arial MT"/>
                <a:cs typeface="Arial MT"/>
              </a:rPr>
              <a:t>Man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17700" y="305139"/>
            <a:ext cx="8075354" cy="623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Ejempl</a:t>
            </a:r>
            <a:r>
              <a:rPr dirty="0"/>
              <a:t>o</a:t>
            </a:r>
            <a:r>
              <a:rPr spc="-200" dirty="0"/>
              <a:t> </a:t>
            </a:r>
            <a:r>
              <a:rPr spc="-100" dirty="0"/>
              <a:t>Ba</a:t>
            </a:r>
            <a:r>
              <a:rPr dirty="0"/>
              <a:t>d</a:t>
            </a:r>
            <a:r>
              <a:rPr spc="-200" dirty="0"/>
              <a:t> </a:t>
            </a:r>
            <a:r>
              <a:rPr spc="-105" dirty="0"/>
              <a:t>smell</a:t>
            </a:r>
            <a:r>
              <a:rPr dirty="0"/>
              <a:t>:</a:t>
            </a:r>
            <a:r>
              <a:rPr spc="-200" dirty="0"/>
              <a:t> </a:t>
            </a:r>
            <a:r>
              <a:rPr spc="-105" dirty="0"/>
              <a:t>Lon</a:t>
            </a:r>
            <a:r>
              <a:rPr dirty="0"/>
              <a:t>g</a:t>
            </a:r>
            <a:r>
              <a:rPr spc="-204" dirty="0"/>
              <a:t> </a:t>
            </a:r>
            <a:r>
              <a:rPr spc="-105" dirty="0"/>
              <a:t>Method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09023" y="911710"/>
            <a:ext cx="7768590" cy="542861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0"/>
              </a:spcBef>
            </a:pPr>
            <a:r>
              <a:rPr lang="es-EC" sz="2400" spc="-100" dirty="0">
                <a:solidFill>
                  <a:srgbClr val="D2533C"/>
                </a:solidFill>
                <a:latin typeface="Arial MT"/>
                <a:cs typeface="Arial MT"/>
              </a:rPr>
              <a:t>      </a:t>
            </a:r>
            <a:r>
              <a:rPr sz="2400" spc="-100" dirty="0" err="1">
                <a:solidFill>
                  <a:srgbClr val="D2533C"/>
                </a:solidFill>
                <a:latin typeface="Arial MT"/>
                <a:cs typeface="Arial MT"/>
              </a:rPr>
              <a:t>Definición</a:t>
            </a:r>
            <a:endParaRPr sz="2400" dirty="0">
              <a:latin typeface="Arial MT"/>
              <a:cs typeface="Arial MT"/>
            </a:endParaRPr>
          </a:p>
          <a:p>
            <a:pPr marL="749935" indent="-183515">
              <a:lnSpc>
                <a:spcPts val="3310"/>
              </a:lnSpc>
              <a:spcBef>
                <a:spcPts val="430"/>
              </a:spcBef>
              <a:buClr>
                <a:srgbClr val="93A299"/>
              </a:buClr>
              <a:buSzPct val="83928"/>
              <a:buFont typeface="Arial MT"/>
              <a:buChar char="•"/>
              <a:tabLst>
                <a:tab pos="750570" algn="l"/>
              </a:tabLst>
            </a:pP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Olores</a:t>
            </a:r>
            <a:r>
              <a:rPr sz="2800" spc="-2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que</a:t>
            </a:r>
            <a:r>
              <a:rPr sz="2800" spc="-2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desprende:</a:t>
            </a:r>
            <a:endParaRPr sz="2800" dirty="0">
              <a:latin typeface="Calibri"/>
              <a:cs typeface="Calibri"/>
            </a:endParaRPr>
          </a:p>
          <a:p>
            <a:pPr marL="1016635" lvl="1" indent="-183515">
              <a:lnSpc>
                <a:spcPts val="2830"/>
              </a:lnSpc>
              <a:buClr>
                <a:srgbClr val="93A299"/>
              </a:buClr>
              <a:buSzPct val="83333"/>
              <a:buFont typeface="Arial MT"/>
              <a:buChar char="•"/>
              <a:tabLst>
                <a:tab pos="1017269" algn="l"/>
              </a:tabLst>
            </a:pP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Difícil </a:t>
            </a:r>
            <a:r>
              <a:rPr sz="2400" dirty="0">
                <a:solidFill>
                  <a:srgbClr val="292934"/>
                </a:solidFill>
                <a:latin typeface="Calibri"/>
                <a:cs typeface="Calibri"/>
              </a:rPr>
              <a:t>de </a:t>
            </a: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modificar,</a:t>
            </a:r>
            <a:r>
              <a:rPr sz="240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mantener,</a:t>
            </a:r>
            <a:r>
              <a:rPr sz="240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depurar</a:t>
            </a:r>
            <a:endParaRPr sz="2400" dirty="0">
              <a:latin typeface="Calibri"/>
              <a:cs typeface="Calibri"/>
            </a:endParaRPr>
          </a:p>
          <a:p>
            <a:pPr marL="1016635" lvl="1" indent="-183515">
              <a:lnSpc>
                <a:spcPct val="100000"/>
              </a:lnSpc>
              <a:spcBef>
                <a:spcPts val="20"/>
              </a:spcBef>
              <a:buClr>
                <a:srgbClr val="93A299"/>
              </a:buClr>
              <a:buSzPct val="83333"/>
              <a:buFont typeface="Arial MT"/>
              <a:buChar char="•"/>
              <a:tabLst>
                <a:tab pos="1017269" algn="l"/>
              </a:tabLst>
            </a:pP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Difícil</a:t>
            </a:r>
            <a:r>
              <a:rPr sz="2400" spc="-1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34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entender</a:t>
            </a:r>
            <a:endParaRPr sz="2400" dirty="0">
              <a:latin typeface="Calibri"/>
              <a:cs typeface="Calibri"/>
            </a:endParaRPr>
          </a:p>
          <a:p>
            <a:pPr marL="1016635" lvl="1" indent="-183515">
              <a:lnSpc>
                <a:spcPct val="100000"/>
              </a:lnSpc>
              <a:spcBef>
                <a:spcPts val="20"/>
              </a:spcBef>
              <a:buClr>
                <a:srgbClr val="93A299"/>
              </a:buClr>
              <a:buSzPct val="83333"/>
              <a:buFont typeface="Arial MT"/>
              <a:buChar char="•"/>
              <a:tabLst>
                <a:tab pos="1017269" algn="l"/>
              </a:tabLst>
            </a:pP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Difícil</a:t>
            </a:r>
            <a:r>
              <a:rPr sz="2400" spc="-2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292934"/>
                </a:solidFill>
                <a:latin typeface="Calibri"/>
                <a:cs typeface="Calibri"/>
              </a:rPr>
              <a:t>de</a:t>
            </a:r>
            <a:r>
              <a:rPr sz="2400" spc="-1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400" spc="-5" dirty="0">
                <a:solidFill>
                  <a:srgbClr val="292934"/>
                </a:solidFill>
                <a:latin typeface="Calibri"/>
                <a:cs typeface="Calibri"/>
              </a:rPr>
              <a:t>reutilizar</a:t>
            </a:r>
            <a:endParaRPr sz="2400" dirty="0">
              <a:latin typeface="Calibri"/>
              <a:cs typeface="Calibri"/>
            </a:endParaRPr>
          </a:p>
          <a:p>
            <a:pPr marL="744855" marR="8890" indent="-177800" algn="just">
              <a:lnSpc>
                <a:spcPct val="79300"/>
              </a:lnSpc>
              <a:spcBef>
                <a:spcPts val="730"/>
              </a:spcBef>
              <a:buClr>
                <a:srgbClr val="93A299"/>
              </a:buClr>
              <a:buSzPct val="83928"/>
              <a:buFont typeface="Arial MT"/>
              <a:buChar char="•"/>
              <a:tabLst>
                <a:tab pos="750570" algn="l"/>
              </a:tabLst>
            </a:pP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Cómo</a:t>
            </a:r>
            <a:r>
              <a:rPr sz="2800" spc="52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detectarlo:</a:t>
            </a:r>
            <a:r>
              <a:rPr sz="2800" spc="53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¿Cuál</a:t>
            </a:r>
            <a:r>
              <a:rPr sz="2800" spc="53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es</a:t>
            </a:r>
            <a:r>
              <a:rPr sz="2800" spc="53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el</a:t>
            </a:r>
            <a:r>
              <a:rPr sz="2800" spc="52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numero</a:t>
            </a:r>
            <a:r>
              <a:rPr sz="2800" spc="52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máximo </a:t>
            </a:r>
            <a:r>
              <a:rPr sz="2800" spc="-62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de las líneas de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código 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fuente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para 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un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método 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bien</a:t>
            </a:r>
            <a:r>
              <a:rPr sz="2800" spc="-1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hecho?</a:t>
            </a:r>
            <a:endParaRPr sz="2800" dirty="0">
              <a:latin typeface="Calibri"/>
              <a:cs typeface="Calibri"/>
            </a:endParaRPr>
          </a:p>
          <a:p>
            <a:pPr marL="749935" indent="-183515" algn="just">
              <a:lnSpc>
                <a:spcPct val="100000"/>
              </a:lnSpc>
              <a:spcBef>
                <a:spcPts val="15"/>
              </a:spcBef>
              <a:buClr>
                <a:srgbClr val="93A299"/>
              </a:buClr>
              <a:buSzPct val="83928"/>
              <a:buFont typeface="Arial MT"/>
              <a:buChar char="•"/>
              <a:tabLst>
                <a:tab pos="750570" algn="l"/>
              </a:tabLst>
            </a:pP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Ejemplo:</a:t>
            </a:r>
            <a:endParaRPr sz="2800" dirty="0">
              <a:latin typeface="Calibri"/>
              <a:cs typeface="Calibri"/>
            </a:endParaRPr>
          </a:p>
          <a:p>
            <a:pPr marL="749935" indent="-183515" algn="just">
              <a:lnSpc>
                <a:spcPts val="3304"/>
              </a:lnSpc>
              <a:spcBef>
                <a:spcPts val="40"/>
              </a:spcBef>
              <a:buClr>
                <a:srgbClr val="93A299"/>
              </a:buClr>
              <a:buSzPct val="83928"/>
              <a:buFont typeface="Arial MT"/>
              <a:buChar char="•"/>
              <a:tabLst>
                <a:tab pos="750570" algn="l"/>
              </a:tabLst>
            </a:pP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Fuentes:</a:t>
            </a:r>
            <a:endParaRPr sz="2800" dirty="0">
              <a:latin typeface="Calibri"/>
              <a:cs typeface="Calibri"/>
            </a:endParaRPr>
          </a:p>
          <a:p>
            <a:pPr marL="1562735" lvl="1" indent="-183515">
              <a:lnSpc>
                <a:spcPts val="1864"/>
              </a:lnSpc>
              <a:buClr>
                <a:srgbClr val="93A299"/>
              </a:buClr>
              <a:buChar char="•"/>
              <a:tabLst>
                <a:tab pos="1563370" algn="l"/>
              </a:tabLst>
            </a:pP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 MT"/>
                <a:cs typeface="Arial MT"/>
                <a:hlinkClick r:id="rId2"/>
              </a:rPr>
              <a:t>http://sourcemaking.com/refactoring/extract-method</a:t>
            </a:r>
            <a:endParaRPr sz="1600" dirty="0">
              <a:latin typeface="Arial MT"/>
              <a:cs typeface="Arial MT"/>
            </a:endParaRPr>
          </a:p>
          <a:p>
            <a:pPr marL="1570355" marR="17780" lvl="1" indent="-190500">
              <a:lnSpc>
                <a:spcPct val="79000"/>
              </a:lnSpc>
              <a:spcBef>
                <a:spcPts val="480"/>
              </a:spcBef>
              <a:buClr>
                <a:srgbClr val="93A299"/>
              </a:buClr>
              <a:buChar char="•"/>
              <a:tabLst>
                <a:tab pos="1564005" algn="l"/>
              </a:tabLst>
            </a:pPr>
            <a:r>
              <a:rPr sz="1600" u="sng" spc="10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 MT"/>
                <a:cs typeface="Arial MT"/>
                <a:hlinkClick r:id="rId3"/>
              </a:rPr>
              <a:t>http://lostechies.com/seanchambers/2009/08/10/refactoring-day-10- </a:t>
            </a:r>
            <a:r>
              <a:rPr sz="1600" spc="10" dirty="0">
                <a:solidFill>
                  <a:srgbClr val="0000FF"/>
                </a:solidFill>
                <a:latin typeface="Arial MT"/>
                <a:cs typeface="Arial MT"/>
              </a:rPr>
              <a:t> </a:t>
            </a:r>
            <a:r>
              <a:rPr sz="1600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 MT"/>
                <a:cs typeface="Arial MT"/>
              </a:rPr>
              <a:t>extract-method/</a:t>
            </a:r>
            <a:r>
              <a:rPr sz="1600" u="sng" spc="3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 MT"/>
                <a:cs typeface="Arial MT"/>
              </a:rPr>
              <a:t> </a:t>
            </a:r>
            <a:endParaRPr sz="1600" dirty="0">
              <a:latin typeface="Arial MT"/>
              <a:cs typeface="Arial MT"/>
            </a:endParaRPr>
          </a:p>
          <a:p>
            <a:pPr marL="744855" marR="5080" indent="-177800" algn="just">
              <a:lnSpc>
                <a:spcPts val="2730"/>
              </a:lnSpc>
              <a:spcBef>
                <a:spcPts val="630"/>
              </a:spcBef>
              <a:buClr>
                <a:srgbClr val="93A299"/>
              </a:buClr>
              <a:buSzPct val="83928"/>
              <a:buFont typeface="Arial MT"/>
              <a:buChar char="•"/>
              <a:tabLst>
                <a:tab pos="750570" algn="l"/>
              </a:tabLst>
            </a:pPr>
            <a:r>
              <a:rPr sz="2800" spc="-5" dirty="0">
                <a:solidFill>
                  <a:srgbClr val="292934"/>
                </a:solidFill>
                <a:latin typeface="Calibri"/>
                <a:cs typeface="Calibri"/>
              </a:rPr>
              <a:t>Refactorizaciones:</a:t>
            </a:r>
            <a:r>
              <a:rPr sz="280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92934"/>
                </a:solidFill>
                <a:latin typeface="Calibri"/>
                <a:cs typeface="Calibri"/>
              </a:rPr>
              <a:t>Extraer</a:t>
            </a:r>
            <a:r>
              <a:rPr sz="2800" b="1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92934"/>
                </a:solidFill>
                <a:latin typeface="Calibri"/>
                <a:cs typeface="Calibri"/>
              </a:rPr>
              <a:t>método</a:t>
            </a:r>
            <a:r>
              <a:rPr sz="2800" b="1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292934"/>
                </a:solidFill>
                <a:latin typeface="Calibri"/>
                <a:cs typeface="Calibri"/>
              </a:rPr>
              <a:t>(opcional </a:t>
            </a:r>
            <a:r>
              <a:rPr sz="2800" b="1" spc="-62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800" b="1" spc="-5" dirty="0">
                <a:solidFill>
                  <a:srgbClr val="292934"/>
                </a:solidFill>
                <a:latin typeface="Calibri"/>
                <a:cs typeface="Calibri"/>
              </a:rPr>
              <a:t>desarrollarlo)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10723" y="1798204"/>
            <a:ext cx="5390515" cy="489204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256540" marR="1955800" indent="-244475">
              <a:lnSpc>
                <a:spcPts val="1900"/>
              </a:lnSpc>
              <a:spcBef>
                <a:spcPts val="180"/>
              </a:spcBef>
            </a:pP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public class Receipt </a:t>
            </a:r>
            <a:r>
              <a:rPr sz="1600" b="1" dirty="0">
                <a:solidFill>
                  <a:srgbClr val="292934"/>
                </a:solidFill>
                <a:latin typeface="Courier New"/>
                <a:cs typeface="Courier New"/>
              </a:rPr>
              <a:t>{ </a:t>
            </a:r>
            <a:r>
              <a:rPr sz="1600" b="1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private Vector discounts; </a:t>
            </a:r>
            <a:r>
              <a:rPr sz="1600" b="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private</a:t>
            </a:r>
            <a:r>
              <a:rPr sz="1600" b="1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Vector</a:t>
            </a:r>
            <a:r>
              <a:rPr sz="1600" b="1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itemTotals;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500">
              <a:latin typeface="Courier New"/>
              <a:cs typeface="Courier New"/>
            </a:endParaRPr>
          </a:p>
          <a:p>
            <a:pPr marL="500380" marR="736600" indent="-244475">
              <a:lnSpc>
                <a:spcPct val="104200"/>
              </a:lnSpc>
            </a:pP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public float calculateGrandTotal() </a:t>
            </a:r>
            <a:r>
              <a:rPr sz="1600" b="1" dirty="0">
                <a:solidFill>
                  <a:srgbClr val="292934"/>
                </a:solidFill>
                <a:latin typeface="Courier New"/>
                <a:cs typeface="Courier New"/>
              </a:rPr>
              <a:t>{ </a:t>
            </a:r>
            <a:r>
              <a:rPr sz="1600" b="1" spc="-9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float</a:t>
            </a:r>
            <a:r>
              <a:rPr sz="1600" b="1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subTotal</a:t>
            </a:r>
            <a:r>
              <a:rPr sz="1600" b="1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600" b="1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0;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ts val="1889"/>
              </a:lnSpc>
            </a:pP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Enumeration</a:t>
            </a:r>
            <a:r>
              <a:rPr sz="1600" spc="-8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items=itemTotals.elements();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ts val="1900"/>
              </a:lnSpc>
            </a:pP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while</a:t>
            </a:r>
            <a:r>
              <a:rPr sz="1600" b="1" spc="-7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(items.hasMoreElements())</a:t>
            </a:r>
            <a:endParaRPr sz="1600">
              <a:latin typeface="Courier New"/>
              <a:cs typeface="Courier New"/>
            </a:endParaRPr>
          </a:p>
          <a:p>
            <a:pPr marL="622300">
              <a:lnSpc>
                <a:spcPts val="1910"/>
              </a:lnSpc>
            </a:pP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subTotal</a:t>
            </a:r>
            <a:r>
              <a:rPr sz="16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+=</a:t>
            </a:r>
            <a:r>
              <a:rPr sz="16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(Float)items.nextElement();</a:t>
            </a:r>
            <a:endParaRPr sz="16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Courier New"/>
              <a:cs typeface="Courier New"/>
            </a:endParaRPr>
          </a:p>
          <a:p>
            <a:pPr marL="500380">
              <a:lnSpc>
                <a:spcPct val="100000"/>
              </a:lnSpc>
            </a:pP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if</a:t>
            </a:r>
            <a:r>
              <a:rPr sz="1600" b="1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(!discounts.isEmpty())</a:t>
            </a:r>
            <a:r>
              <a:rPr sz="1600" b="1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292934"/>
                </a:solidFill>
                <a:latin typeface="Courier New"/>
                <a:cs typeface="Courier New"/>
              </a:rPr>
              <a:t>{</a:t>
            </a:r>
            <a:endParaRPr sz="1600">
              <a:latin typeface="Courier New"/>
              <a:cs typeface="Courier New"/>
            </a:endParaRPr>
          </a:p>
          <a:p>
            <a:pPr marL="622300" marR="5080">
              <a:lnSpc>
                <a:spcPts val="1900"/>
              </a:lnSpc>
              <a:spcBef>
                <a:spcPts val="160"/>
              </a:spcBef>
            </a:pP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Enumeration discs=discounts.elements(); </a:t>
            </a:r>
            <a:r>
              <a:rPr sz="1600" spc="-9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while</a:t>
            </a:r>
            <a:r>
              <a:rPr sz="1600" b="1" spc="19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(discs.hasMoreElements()) </a:t>
            </a:r>
            <a:r>
              <a:rPr sz="1600" b="1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subTotal</a:t>
            </a:r>
            <a:r>
              <a:rPr sz="16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-=</a:t>
            </a:r>
            <a:r>
              <a:rPr sz="16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(Float)discs.nextElement();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ts val="1839"/>
              </a:lnSpc>
            </a:pPr>
            <a:r>
              <a:rPr sz="1600" dirty="0">
                <a:solidFill>
                  <a:srgbClr val="292934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ts val="1910"/>
              </a:lnSpc>
              <a:spcBef>
                <a:spcPts val="80"/>
              </a:spcBef>
            </a:pP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double</a:t>
            </a:r>
            <a:r>
              <a:rPr sz="1600" b="1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tax</a:t>
            </a:r>
            <a:r>
              <a:rPr sz="16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600" b="1" spc="-3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subTotal*0.04;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ts val="1900"/>
              </a:lnSpc>
            </a:pP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subTotal</a:t>
            </a:r>
            <a:r>
              <a:rPr sz="16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+=</a:t>
            </a:r>
            <a:r>
              <a:rPr sz="16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spc="-5" dirty="0">
                <a:solidFill>
                  <a:srgbClr val="292934"/>
                </a:solidFill>
                <a:latin typeface="Courier New"/>
                <a:cs typeface="Courier New"/>
              </a:rPr>
              <a:t>tax;</a:t>
            </a:r>
            <a:endParaRPr sz="1600">
              <a:latin typeface="Courier New"/>
              <a:cs typeface="Courier New"/>
            </a:endParaRPr>
          </a:p>
          <a:p>
            <a:pPr marL="500380">
              <a:lnSpc>
                <a:spcPts val="1900"/>
              </a:lnSpc>
            </a:pP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return</a:t>
            </a:r>
            <a:r>
              <a:rPr sz="1600" b="1" spc="-10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600" b="1" spc="-5" dirty="0">
                <a:solidFill>
                  <a:srgbClr val="292934"/>
                </a:solidFill>
                <a:latin typeface="Courier New"/>
                <a:cs typeface="Courier New"/>
              </a:rPr>
              <a:t>subTotal;</a:t>
            </a:r>
            <a:endParaRPr sz="1600">
              <a:latin typeface="Courier New"/>
              <a:cs typeface="Courier New"/>
            </a:endParaRPr>
          </a:p>
          <a:p>
            <a:pPr marL="256540">
              <a:lnSpc>
                <a:spcPts val="1900"/>
              </a:lnSpc>
            </a:pPr>
            <a:r>
              <a:rPr sz="1600" dirty="0">
                <a:solidFill>
                  <a:srgbClr val="292934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  <a:p>
            <a:pPr marL="12700">
              <a:lnSpc>
                <a:spcPts val="1910"/>
              </a:lnSpc>
            </a:pPr>
            <a:r>
              <a:rPr sz="1600" dirty="0">
                <a:solidFill>
                  <a:srgbClr val="292934"/>
                </a:solidFill>
                <a:latin typeface="Courier New"/>
                <a:cs typeface="Courier New"/>
              </a:rPr>
              <a:t>}</a:t>
            </a:r>
            <a:endParaRPr sz="160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841500" y="600548"/>
            <a:ext cx="8381077" cy="937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4310"/>
              </a:lnSpc>
              <a:spcBef>
                <a:spcPts val="100"/>
              </a:spcBef>
            </a:pPr>
            <a:r>
              <a:rPr spc="-100" dirty="0"/>
              <a:t>Ejempl</a:t>
            </a:r>
            <a:r>
              <a:rPr dirty="0"/>
              <a:t>o</a:t>
            </a:r>
            <a:r>
              <a:rPr spc="-200" dirty="0"/>
              <a:t> </a:t>
            </a:r>
            <a:r>
              <a:rPr spc="-100" dirty="0"/>
              <a:t>Ba</a:t>
            </a:r>
            <a:r>
              <a:rPr dirty="0"/>
              <a:t>d</a:t>
            </a:r>
            <a:r>
              <a:rPr spc="-200" dirty="0"/>
              <a:t> </a:t>
            </a:r>
            <a:r>
              <a:rPr spc="-105" dirty="0"/>
              <a:t>smell</a:t>
            </a:r>
            <a:r>
              <a:rPr dirty="0"/>
              <a:t>:</a:t>
            </a:r>
            <a:r>
              <a:rPr spc="-200" dirty="0"/>
              <a:t> </a:t>
            </a:r>
            <a:r>
              <a:rPr spc="-105" dirty="0"/>
              <a:t>Lon</a:t>
            </a:r>
            <a:r>
              <a:rPr dirty="0"/>
              <a:t>g</a:t>
            </a:r>
            <a:r>
              <a:rPr spc="-204" dirty="0"/>
              <a:t> </a:t>
            </a:r>
            <a:r>
              <a:rPr spc="-105" dirty="0"/>
              <a:t>Method</a:t>
            </a:r>
          </a:p>
          <a:p>
            <a:pPr marL="12700">
              <a:lnSpc>
                <a:spcPts val="2870"/>
              </a:lnSpc>
            </a:pPr>
            <a:r>
              <a:rPr sz="2400" spc="-105" dirty="0"/>
              <a:t>Códig</a:t>
            </a:r>
            <a:r>
              <a:rPr sz="2400" dirty="0"/>
              <a:t>o</a:t>
            </a:r>
            <a:r>
              <a:rPr sz="2400" spc="-200" dirty="0"/>
              <a:t> </a:t>
            </a:r>
            <a:r>
              <a:rPr sz="2400" spc="-100" dirty="0"/>
              <a:t>inicial</a:t>
            </a:r>
            <a:endParaRPr sz="2400" dirty="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27</a:t>
            </a:fld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21018" y="335423"/>
            <a:ext cx="8075354" cy="623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Ejempl</a:t>
            </a:r>
            <a:r>
              <a:rPr dirty="0"/>
              <a:t>o</a:t>
            </a:r>
            <a:r>
              <a:rPr spc="-200" dirty="0"/>
              <a:t> </a:t>
            </a:r>
            <a:r>
              <a:rPr spc="-100" dirty="0"/>
              <a:t>Ba</a:t>
            </a:r>
            <a:r>
              <a:rPr dirty="0"/>
              <a:t>d</a:t>
            </a:r>
            <a:r>
              <a:rPr spc="-200" dirty="0"/>
              <a:t> </a:t>
            </a:r>
            <a:r>
              <a:rPr spc="-105" dirty="0"/>
              <a:t>smell</a:t>
            </a:r>
            <a:r>
              <a:rPr dirty="0"/>
              <a:t>:</a:t>
            </a:r>
            <a:r>
              <a:rPr spc="-200" dirty="0"/>
              <a:t> </a:t>
            </a:r>
            <a:r>
              <a:rPr spc="-105" dirty="0"/>
              <a:t>Lon</a:t>
            </a:r>
            <a:r>
              <a:rPr dirty="0"/>
              <a:t>g</a:t>
            </a:r>
            <a:r>
              <a:rPr spc="-204" dirty="0"/>
              <a:t> </a:t>
            </a:r>
            <a:r>
              <a:rPr spc="-105" dirty="0"/>
              <a:t>Method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28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309023" y="958735"/>
            <a:ext cx="6933277" cy="27152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EC" sz="2400" spc="-105" dirty="0">
                <a:solidFill>
                  <a:srgbClr val="D2533C"/>
                </a:solidFill>
                <a:latin typeface="Arial MT"/>
                <a:cs typeface="Arial MT"/>
              </a:rPr>
              <a:t>    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Códig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o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D2533C"/>
                </a:solidFill>
                <a:latin typeface="Arial MT"/>
                <a:cs typeface="Arial MT"/>
              </a:rPr>
              <a:t>refactorizad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o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5" dirty="0">
                <a:solidFill>
                  <a:srgbClr val="D2533C"/>
                </a:solidFill>
                <a:latin typeface="Arial MT"/>
                <a:cs typeface="Arial MT"/>
              </a:rPr>
              <a:t>aplicand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o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D2533C"/>
                </a:solidFill>
                <a:latin typeface="Arial MT"/>
                <a:cs typeface="Arial MT"/>
              </a:rPr>
              <a:t>Extrac</a:t>
            </a:r>
            <a:r>
              <a:rPr sz="2400" dirty="0">
                <a:solidFill>
                  <a:srgbClr val="D2533C"/>
                </a:solidFill>
                <a:latin typeface="Arial MT"/>
                <a:cs typeface="Arial MT"/>
              </a:rPr>
              <a:t>t</a:t>
            </a:r>
            <a:r>
              <a:rPr sz="2400" spc="-200" dirty="0">
                <a:solidFill>
                  <a:srgbClr val="D2533C"/>
                </a:solidFill>
                <a:latin typeface="Arial MT"/>
                <a:cs typeface="Arial MT"/>
              </a:rPr>
              <a:t> </a:t>
            </a:r>
            <a:r>
              <a:rPr sz="2400" spc="-100" dirty="0">
                <a:solidFill>
                  <a:srgbClr val="D2533C"/>
                </a:solidFill>
                <a:latin typeface="Arial MT"/>
                <a:cs typeface="Arial MT"/>
              </a:rPr>
              <a:t>Method</a:t>
            </a:r>
            <a:endParaRPr sz="2400" dirty="0">
              <a:latin typeface="Arial MT"/>
              <a:cs typeface="Arial MT"/>
            </a:endParaRPr>
          </a:p>
          <a:p>
            <a:pPr marL="494030" marR="2621915" indent="-427355">
              <a:lnSpc>
                <a:spcPts val="1600"/>
              </a:lnSpc>
              <a:spcBef>
                <a:spcPts val="1635"/>
              </a:spcBef>
            </a:pP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public</a:t>
            </a:r>
            <a:r>
              <a:rPr sz="14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class</a:t>
            </a:r>
            <a:r>
              <a:rPr sz="14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Receipt</a:t>
            </a:r>
            <a:r>
              <a:rPr sz="1400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{ </a:t>
            </a:r>
            <a:r>
              <a:rPr sz="1400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private</a:t>
            </a:r>
            <a:r>
              <a:rPr sz="1400" spc="-5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Courier New"/>
                <a:cs typeface="Courier New"/>
              </a:rPr>
              <a:t>Vector</a:t>
            </a:r>
            <a:r>
              <a:rPr sz="1400" spc="-4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discounts;</a:t>
            </a:r>
            <a:endParaRPr sz="1400" dirty="0">
              <a:latin typeface="Courier New"/>
              <a:cs typeface="Courier New"/>
            </a:endParaRPr>
          </a:p>
          <a:p>
            <a:pPr marL="494030">
              <a:lnSpc>
                <a:spcPts val="1660"/>
              </a:lnSpc>
            </a:pP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private</a:t>
            </a:r>
            <a:r>
              <a:rPr sz="1400" spc="-4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Courier New"/>
                <a:cs typeface="Courier New"/>
              </a:rPr>
              <a:t>Vector</a:t>
            </a:r>
            <a:r>
              <a:rPr sz="1400" spc="-3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dirty="0">
                <a:solidFill>
                  <a:srgbClr val="292934"/>
                </a:solidFill>
                <a:latin typeface="Courier New"/>
                <a:cs typeface="Courier New"/>
              </a:rPr>
              <a:t>itemTotals;</a:t>
            </a:r>
            <a:endParaRPr sz="1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</a:pPr>
            <a:endParaRPr sz="1500" dirty="0">
              <a:latin typeface="Courier New"/>
              <a:cs typeface="Courier New"/>
            </a:endParaRPr>
          </a:p>
          <a:p>
            <a:pPr marL="387350" marR="1447800" indent="-320675">
              <a:lnSpc>
                <a:spcPct val="101200"/>
              </a:lnSpc>
            </a:pP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public float </a:t>
            </a:r>
            <a:r>
              <a:rPr sz="1400" b="1" spc="-5" dirty="0">
                <a:solidFill>
                  <a:srgbClr val="292934"/>
                </a:solidFill>
                <a:latin typeface="Courier New"/>
                <a:cs typeface="Courier New"/>
              </a:rPr>
              <a:t>calculateGrandTotal() </a:t>
            </a: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{ </a:t>
            </a:r>
            <a:r>
              <a:rPr sz="1400" b="1" spc="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float</a:t>
            </a:r>
            <a:r>
              <a:rPr sz="1400" b="1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subTotal</a:t>
            </a:r>
            <a:r>
              <a:rPr sz="1400" b="1" spc="-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400" b="1" spc="-5" dirty="0">
                <a:solidFill>
                  <a:srgbClr val="292934"/>
                </a:solidFill>
                <a:latin typeface="Courier New"/>
                <a:cs typeface="Courier New"/>
              </a:rPr>
              <a:t> calculateSubTotal();</a:t>
            </a:r>
            <a:endParaRPr sz="1400" dirty="0">
              <a:latin typeface="Courier New"/>
              <a:cs typeface="Courier New"/>
            </a:endParaRPr>
          </a:p>
          <a:p>
            <a:pPr marL="387350">
              <a:lnSpc>
                <a:spcPts val="1600"/>
              </a:lnSpc>
            </a:pP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subTotal</a:t>
            </a:r>
            <a:r>
              <a:rPr sz="1400" b="1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=</a:t>
            </a:r>
            <a:r>
              <a:rPr sz="1400" b="1" spc="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b="1" spc="-5" dirty="0">
                <a:solidFill>
                  <a:srgbClr val="292934"/>
                </a:solidFill>
                <a:latin typeface="Courier New"/>
                <a:cs typeface="Courier New"/>
              </a:rPr>
              <a:t>calculateDiscount(subTotal);</a:t>
            </a:r>
            <a:endParaRPr sz="1400" dirty="0">
              <a:latin typeface="Courier New"/>
              <a:cs typeface="Courier New"/>
            </a:endParaRPr>
          </a:p>
          <a:p>
            <a:pPr marL="387350" marR="1767839">
              <a:lnSpc>
                <a:spcPct val="101200"/>
              </a:lnSpc>
            </a:pP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subTotal = </a:t>
            </a:r>
            <a:r>
              <a:rPr sz="1400" b="1" spc="-5" dirty="0">
                <a:solidFill>
                  <a:srgbClr val="292934"/>
                </a:solidFill>
                <a:latin typeface="Courier New"/>
                <a:cs typeface="Courier New"/>
              </a:rPr>
              <a:t>calculateTax(subTotal); </a:t>
            </a:r>
            <a:r>
              <a:rPr sz="1400" b="1" spc="-825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return</a:t>
            </a:r>
            <a:r>
              <a:rPr sz="1400" b="1" spc="-10" dirty="0">
                <a:solidFill>
                  <a:srgbClr val="292934"/>
                </a:solidFill>
                <a:latin typeface="Courier New"/>
                <a:cs typeface="Courier New"/>
              </a:rPr>
              <a:t> </a:t>
            </a: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subTotal;</a:t>
            </a:r>
            <a:endParaRPr sz="1400" dirty="0">
              <a:latin typeface="Courier New"/>
              <a:cs typeface="Courier New"/>
            </a:endParaRPr>
          </a:p>
          <a:p>
            <a:pPr marL="173990">
              <a:lnSpc>
                <a:spcPct val="100000"/>
              </a:lnSpc>
              <a:spcBef>
                <a:spcPts val="20"/>
              </a:spcBef>
            </a:pPr>
            <a:r>
              <a:rPr sz="1400" b="1" dirty="0">
                <a:solidFill>
                  <a:srgbClr val="292934"/>
                </a:solidFill>
                <a:latin typeface="Courier New"/>
                <a:cs typeface="Courier New"/>
              </a:rPr>
              <a:t>}</a:t>
            </a:r>
            <a:endParaRPr sz="1400" dirty="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47850" y="3650908"/>
            <a:ext cx="3481070" cy="31711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17475" marR="979805" indent="-88900">
              <a:lnSpc>
                <a:spcPts val="1600"/>
              </a:lnSpc>
              <a:spcBef>
                <a:spcPts val="219"/>
              </a:spcBef>
            </a:pP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public</a:t>
            </a:r>
            <a:r>
              <a:rPr sz="1400" spc="-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float </a:t>
            </a:r>
            <a:r>
              <a:rPr sz="1400" b="1" spc="-10" dirty="0">
                <a:solidFill>
                  <a:srgbClr val="292934"/>
                </a:solidFill>
                <a:latin typeface="Times New Roman"/>
                <a:cs typeface="Times New Roman"/>
              </a:rPr>
              <a:t>calculateSubTotal</a:t>
            </a:r>
            <a:r>
              <a:rPr sz="1400" spc="-10" dirty="0">
                <a:solidFill>
                  <a:srgbClr val="292934"/>
                </a:solidFill>
                <a:latin typeface="Times New Roman"/>
                <a:cs typeface="Times New Roman"/>
              </a:rPr>
              <a:t>()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{ </a:t>
            </a:r>
            <a:r>
              <a:rPr sz="1400" spc="-3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float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= 0;</a:t>
            </a:r>
            <a:endParaRPr sz="1400">
              <a:latin typeface="Times New Roman"/>
              <a:cs typeface="Times New Roman"/>
            </a:endParaRPr>
          </a:p>
          <a:p>
            <a:pPr marL="117475" marR="314325">
              <a:lnSpc>
                <a:spcPts val="1700"/>
              </a:lnSpc>
              <a:spcBef>
                <a:spcPts val="20"/>
              </a:spcBef>
            </a:pP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Enumeration items=itemTotals.elements(); </a:t>
            </a:r>
            <a:r>
              <a:rPr sz="1400" spc="-3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while</a:t>
            </a:r>
            <a:r>
              <a:rPr sz="1400" spc="68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(items.hasMoreElements())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 +=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(Float)items.nextElement();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return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subTotal;</a:t>
            </a:r>
            <a:endParaRPr sz="1400">
              <a:latin typeface="Times New Roman"/>
              <a:cs typeface="Times New Roman"/>
            </a:endParaRPr>
          </a:p>
          <a:p>
            <a:pPr marL="117475">
              <a:lnSpc>
                <a:spcPts val="1395"/>
              </a:lnSpc>
            </a:pP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495"/>
              </a:lnSpc>
            </a:pP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public</a:t>
            </a:r>
            <a:r>
              <a:rPr sz="1400" spc="1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float</a:t>
            </a:r>
            <a:r>
              <a:rPr sz="1400" spc="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b="1" spc="-5" dirty="0">
                <a:solidFill>
                  <a:srgbClr val="292934"/>
                </a:solidFill>
                <a:latin typeface="Times New Roman"/>
                <a:cs typeface="Times New Roman"/>
              </a:rPr>
              <a:t>calculateDiscounts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(float</a:t>
            </a:r>
            <a:r>
              <a:rPr sz="1400" spc="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subTotal){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ts val="1639"/>
              </a:lnSpc>
            </a:pP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if</a:t>
            </a:r>
            <a:r>
              <a:rPr sz="1400" spc="-1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(!discounts.isEmpty())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{</a:t>
            </a:r>
            <a:endParaRPr sz="1400">
              <a:latin typeface="Times New Roman"/>
              <a:cs typeface="Times New Roman"/>
            </a:endParaRPr>
          </a:p>
          <a:p>
            <a:pPr marL="190500" marR="347980">
              <a:lnSpc>
                <a:spcPct val="101200"/>
              </a:lnSpc>
            </a:pP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Enumeration</a:t>
            </a:r>
            <a:r>
              <a:rPr sz="1400" spc="2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discs=discounts.elements(); </a:t>
            </a:r>
            <a:r>
              <a:rPr sz="1400" spc="-3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while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(discs.hasMoreElements())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 -=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(Float)discs.nextElement();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ts val="1639"/>
              </a:lnSpc>
              <a:spcBef>
                <a:spcPts val="20"/>
              </a:spcBef>
            </a:pP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01600">
              <a:lnSpc>
                <a:spcPts val="1639"/>
              </a:lnSpc>
            </a:pP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return</a:t>
            </a:r>
            <a:r>
              <a:rPr sz="1400" spc="-2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30322" y="3653428"/>
            <a:ext cx="3064510" cy="13055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01600" marR="5080" indent="-88900">
              <a:lnSpc>
                <a:spcPts val="1600"/>
              </a:lnSpc>
              <a:spcBef>
                <a:spcPts val="219"/>
              </a:spcBef>
            </a:pP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public float </a:t>
            </a:r>
            <a:r>
              <a:rPr sz="1400" b="1" spc="-10" dirty="0">
                <a:solidFill>
                  <a:srgbClr val="292934"/>
                </a:solidFill>
                <a:latin typeface="Times New Roman"/>
                <a:cs typeface="Times New Roman"/>
              </a:rPr>
              <a:t>calculateTax</a:t>
            </a:r>
            <a:r>
              <a:rPr sz="1400" spc="-10" dirty="0">
                <a:solidFill>
                  <a:srgbClr val="292934"/>
                </a:solidFill>
                <a:latin typeface="Times New Roman"/>
                <a:cs typeface="Times New Roman"/>
              </a:rPr>
              <a:t>(float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subTotal)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 { </a:t>
            </a:r>
            <a:r>
              <a:rPr sz="1400" spc="-3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double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tax =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0" dirty="0">
                <a:solidFill>
                  <a:srgbClr val="292934"/>
                </a:solidFill>
                <a:latin typeface="Times New Roman"/>
                <a:cs typeface="Times New Roman"/>
              </a:rPr>
              <a:t>subTotal*0.04;</a:t>
            </a:r>
            <a:endParaRPr sz="1400">
              <a:latin typeface="Times New Roman"/>
              <a:cs typeface="Times New Roman"/>
            </a:endParaRPr>
          </a:p>
          <a:p>
            <a:pPr marL="101600" marR="1788795">
              <a:lnSpc>
                <a:spcPts val="1700"/>
              </a:lnSpc>
              <a:spcBef>
                <a:spcPts val="20"/>
              </a:spcBef>
            </a:pP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</a:t>
            </a:r>
            <a:r>
              <a:rPr sz="1400" spc="-4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+=</a:t>
            </a:r>
            <a:r>
              <a:rPr sz="1400" spc="-5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tax; </a:t>
            </a:r>
            <a:r>
              <a:rPr sz="1400" spc="-335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5" dirty="0">
                <a:solidFill>
                  <a:srgbClr val="292934"/>
                </a:solidFill>
                <a:latin typeface="Times New Roman"/>
                <a:cs typeface="Times New Roman"/>
              </a:rPr>
              <a:t>return</a:t>
            </a:r>
            <a:r>
              <a:rPr sz="1400" spc="-30" dirty="0">
                <a:solidFill>
                  <a:srgbClr val="292934"/>
                </a:solidFill>
                <a:latin typeface="Times New Roman"/>
                <a:cs typeface="Times New Roman"/>
              </a:rPr>
              <a:t> </a:t>
            </a:r>
            <a:r>
              <a:rPr sz="1400" spc="-15" dirty="0">
                <a:solidFill>
                  <a:srgbClr val="292934"/>
                </a:solidFill>
                <a:latin typeface="Times New Roman"/>
                <a:cs typeface="Times New Roman"/>
              </a:rPr>
              <a:t>subTotal;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ts val="1639"/>
              </a:lnSpc>
            </a:pP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dirty="0">
                <a:solidFill>
                  <a:srgbClr val="292934"/>
                </a:solidFill>
                <a:latin typeface="Times New Roman"/>
                <a:cs typeface="Times New Roman"/>
              </a:rPr>
              <a:t>}</a:t>
            </a:r>
            <a:endParaRPr sz="1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76447" y="480039"/>
            <a:ext cx="8914477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/>
              <a:t>¿So</a:t>
            </a:r>
            <a:r>
              <a:rPr sz="4000" dirty="0"/>
              <a:t>n</a:t>
            </a:r>
            <a:r>
              <a:rPr sz="4000" spc="-200" dirty="0"/>
              <a:t> </a:t>
            </a:r>
            <a:r>
              <a:rPr sz="4000" spc="-105" dirty="0"/>
              <a:t>lo</a:t>
            </a:r>
            <a:r>
              <a:rPr sz="4000" dirty="0"/>
              <a:t>s</a:t>
            </a:r>
            <a:r>
              <a:rPr sz="4000" spc="-204" dirty="0"/>
              <a:t> </a:t>
            </a:r>
            <a:r>
              <a:rPr sz="4000" spc="-105" dirty="0"/>
              <a:t>comentario</a:t>
            </a:r>
            <a:r>
              <a:rPr sz="4000" dirty="0"/>
              <a:t>s</a:t>
            </a:r>
            <a:r>
              <a:rPr sz="4000" spc="-204" dirty="0"/>
              <a:t> </a:t>
            </a:r>
            <a:r>
              <a:rPr sz="4000" spc="-105" dirty="0"/>
              <a:t>u</a:t>
            </a:r>
            <a:r>
              <a:rPr sz="4000" dirty="0"/>
              <a:t>n</a:t>
            </a:r>
            <a:r>
              <a:rPr sz="4000" spc="-204" dirty="0"/>
              <a:t> </a:t>
            </a:r>
            <a:r>
              <a:rPr sz="4000" spc="-105" dirty="0"/>
              <a:t>Ba</a:t>
            </a:r>
            <a:r>
              <a:rPr sz="4000" dirty="0"/>
              <a:t>d</a:t>
            </a:r>
            <a:r>
              <a:rPr sz="4000" spc="-204" dirty="0"/>
              <a:t> </a:t>
            </a:r>
            <a:r>
              <a:rPr sz="4000" spc="-105" dirty="0"/>
              <a:t>Smell?</a:t>
            </a:r>
            <a:endParaRPr sz="400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29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646063" y="1395432"/>
            <a:ext cx="6500495" cy="1072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ts val="2935"/>
              </a:lnSpc>
              <a:spcBef>
                <a:spcPts val="100"/>
              </a:spcBef>
              <a:buClr>
                <a:srgbClr val="93A299"/>
              </a:buClr>
              <a:buSzPct val="84615"/>
              <a:buFont typeface="Arial MT"/>
              <a:buChar char="•"/>
              <a:tabLst>
                <a:tab pos="195580" algn="l"/>
              </a:tabLst>
            </a:pP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Los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comentarios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mienten,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el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código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no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miente.</a:t>
            </a:r>
            <a:endParaRPr sz="2600">
              <a:latin typeface="Calibri"/>
              <a:cs typeface="Calibri"/>
            </a:endParaRPr>
          </a:p>
          <a:p>
            <a:pPr marL="182880" marR="1443990" lvl="1" indent="-182880" algn="r">
              <a:lnSpc>
                <a:spcPts val="2320"/>
              </a:lnSpc>
              <a:buClr>
                <a:srgbClr val="93A299"/>
              </a:buClr>
              <a:buSzPct val="84090"/>
              <a:buFont typeface="Arial MT"/>
              <a:buChar char="•"/>
              <a:tabLst>
                <a:tab pos="182880" algn="l"/>
              </a:tabLst>
            </a:pPr>
            <a:r>
              <a:rPr sz="2200" dirty="0">
                <a:solidFill>
                  <a:srgbClr val="292934"/>
                </a:solidFill>
                <a:latin typeface="Calibri"/>
                <a:cs typeface="Calibri"/>
              </a:rPr>
              <a:t>El </a:t>
            </a:r>
            <a:r>
              <a:rPr sz="2200" spc="-5" dirty="0">
                <a:solidFill>
                  <a:srgbClr val="292934"/>
                </a:solidFill>
                <a:latin typeface="Calibri"/>
                <a:cs typeface="Calibri"/>
              </a:rPr>
              <a:t>código</a:t>
            </a:r>
            <a:r>
              <a:rPr sz="22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200" dirty="0">
                <a:solidFill>
                  <a:srgbClr val="292934"/>
                </a:solidFill>
                <a:latin typeface="Calibri"/>
                <a:cs typeface="Calibri"/>
              </a:rPr>
              <a:t>se ejecuta, </a:t>
            </a:r>
            <a:r>
              <a:rPr sz="2200" spc="-5" dirty="0">
                <a:solidFill>
                  <a:srgbClr val="292934"/>
                </a:solidFill>
                <a:latin typeface="Calibri"/>
                <a:cs typeface="Calibri"/>
              </a:rPr>
              <a:t>los</a:t>
            </a:r>
            <a:r>
              <a:rPr sz="22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200" spc="-5" dirty="0">
                <a:solidFill>
                  <a:srgbClr val="292934"/>
                </a:solidFill>
                <a:latin typeface="Calibri"/>
                <a:cs typeface="Calibri"/>
              </a:rPr>
              <a:t>comentarios</a:t>
            </a:r>
            <a:r>
              <a:rPr sz="2200" dirty="0">
                <a:solidFill>
                  <a:srgbClr val="292934"/>
                </a:solidFill>
                <a:latin typeface="Calibri"/>
                <a:cs typeface="Calibri"/>
              </a:rPr>
              <a:t> no</a:t>
            </a:r>
            <a:r>
              <a:rPr sz="1900" dirty="0">
                <a:solidFill>
                  <a:srgbClr val="363744"/>
                </a:solidFill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marL="195580" marR="1483995" indent="-195580" algn="r">
              <a:lnSpc>
                <a:spcPts val="2990"/>
              </a:lnSpc>
              <a:buClr>
                <a:srgbClr val="93A299"/>
              </a:buClr>
              <a:buSzPct val="84615"/>
              <a:buFont typeface="Arial MT"/>
              <a:buChar char="•"/>
              <a:tabLst>
                <a:tab pos="195580" algn="l"/>
              </a:tabLst>
            </a:pP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Llegan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a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ser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obsoletos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con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facilidad.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46063" y="2401780"/>
            <a:ext cx="74345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3A299"/>
              </a:buClr>
              <a:buSzPct val="84615"/>
              <a:buFont typeface="Arial MT"/>
              <a:buChar char="•"/>
              <a:tabLst>
                <a:tab pos="195580" algn="l"/>
                <a:tab pos="831215" algn="l"/>
                <a:tab pos="1811020" algn="l"/>
                <a:tab pos="2649220" algn="l"/>
                <a:tab pos="3124200" algn="l"/>
                <a:tab pos="3772535" algn="l"/>
                <a:tab pos="4149090" algn="l"/>
                <a:tab pos="5179060" algn="l"/>
                <a:tab pos="5878195" algn="l"/>
                <a:tab pos="6676390" algn="l"/>
              </a:tabLst>
            </a:pP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S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n	buena	señal	de	que	el	c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ó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digo	está	p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co	cla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ro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,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3863" y="2678132"/>
            <a:ext cx="28987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demasiado</a:t>
            </a:r>
            <a:r>
              <a:rPr sz="2600" spc="-2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complejo.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46063" y="3036780"/>
            <a:ext cx="74352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3A299"/>
              </a:buClr>
              <a:buSzPct val="84615"/>
              <a:buFont typeface="Arial MT"/>
              <a:buChar char="•"/>
              <a:tabLst>
                <a:tab pos="195580" algn="l"/>
                <a:tab pos="1403985" algn="l"/>
                <a:tab pos="2303145" algn="l"/>
                <a:tab pos="2931795" algn="l"/>
                <a:tab pos="4343400" algn="l"/>
                <a:tab pos="4833620" algn="l"/>
                <a:tab pos="5497195" algn="l"/>
                <a:tab pos="5996940" algn="l"/>
                <a:tab pos="7084059" algn="l"/>
              </a:tabLst>
            </a:pP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Muchas	veces	s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n	indicad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r	de	que	un	bl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que	de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23863" y="3313132"/>
            <a:ext cx="50819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código merece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 ser un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método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aparte.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46063" y="3671780"/>
            <a:ext cx="74345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3A299"/>
              </a:buClr>
              <a:buSzPct val="84615"/>
              <a:buFont typeface="Arial MT"/>
              <a:buChar char="•"/>
              <a:tabLst>
                <a:tab pos="195580" algn="l"/>
                <a:tab pos="762000" algn="l"/>
                <a:tab pos="1989455" algn="l"/>
                <a:tab pos="3300095" algn="l"/>
                <a:tab pos="3917315" algn="l"/>
                <a:tab pos="4291965" algn="l"/>
                <a:tab pos="5228590" algn="l"/>
                <a:tab pos="6816090" algn="l"/>
              </a:tabLst>
            </a:pP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L</a:t>
            </a:r>
            <a:r>
              <a:rPr sz="2600" dirty="0">
                <a:solidFill>
                  <a:srgbClr val="363744"/>
                </a:solidFill>
                <a:latin typeface="Calibri"/>
                <a:cs typeface="Calibri"/>
              </a:rPr>
              <a:t>a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s	p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uebas	unita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ias	s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n	la	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m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ej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o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r	alt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er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n</a:t>
            </a:r>
            <a:r>
              <a:rPr sz="2600" spc="-10" dirty="0">
                <a:solidFill>
                  <a:srgbClr val="292934"/>
                </a:solidFill>
                <a:latin typeface="Calibri"/>
                <a:cs typeface="Calibri"/>
              </a:rPr>
              <a:t>ati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va	pa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r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a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23863" y="3948132"/>
            <a:ext cx="30372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documentar</a:t>
            </a:r>
            <a:r>
              <a:rPr sz="2600" spc="-2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el</a:t>
            </a:r>
            <a:r>
              <a:rPr sz="2600" spc="-1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código.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6063" y="4306780"/>
            <a:ext cx="45440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6375" indent="-193675">
              <a:lnSpc>
                <a:spcPct val="100000"/>
              </a:lnSpc>
              <a:spcBef>
                <a:spcPts val="100"/>
              </a:spcBef>
              <a:buClr>
                <a:srgbClr val="93A299"/>
              </a:buClr>
              <a:buSzPct val="84615"/>
              <a:buFont typeface="Arial MT"/>
              <a:buChar char="•"/>
              <a:tabLst>
                <a:tab pos="206375" algn="l"/>
                <a:tab pos="1711960" algn="l"/>
              </a:tabLst>
            </a:pPr>
            <a:r>
              <a:rPr sz="2600" spc="145" dirty="0">
                <a:solidFill>
                  <a:srgbClr val="292934"/>
                </a:solidFill>
                <a:latin typeface="Calibri"/>
                <a:cs typeface="Calibri"/>
              </a:rPr>
              <a:t>Posibles	</a:t>
            </a:r>
            <a:r>
              <a:rPr sz="2600" spc="155" dirty="0">
                <a:solidFill>
                  <a:srgbClr val="292934"/>
                </a:solidFill>
                <a:latin typeface="Calibri"/>
                <a:cs typeface="Calibri"/>
              </a:rPr>
              <a:t>Refactorizaciones: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425537" y="4306780"/>
            <a:ext cx="26562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0330" algn="l"/>
              </a:tabLst>
            </a:pPr>
            <a:r>
              <a:rPr sz="2600" spc="140" dirty="0">
                <a:solidFill>
                  <a:srgbClr val="292934"/>
                </a:solidFill>
                <a:latin typeface="Calibri"/>
                <a:cs typeface="Calibri"/>
              </a:rPr>
              <a:t>Extraer	método,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823863" y="4583132"/>
            <a:ext cx="16256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Renombrar.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646063" y="4941780"/>
            <a:ext cx="743458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indent="-182880">
              <a:lnSpc>
                <a:spcPct val="100000"/>
              </a:lnSpc>
              <a:spcBef>
                <a:spcPts val="100"/>
              </a:spcBef>
              <a:buClr>
                <a:srgbClr val="93A299"/>
              </a:buClr>
              <a:buSzPct val="84615"/>
              <a:buFont typeface="Arial MT"/>
              <a:buChar char="•"/>
              <a:tabLst>
                <a:tab pos="195580" algn="l"/>
              </a:tabLst>
            </a:pP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Siempre</a:t>
            </a:r>
            <a:r>
              <a:rPr sz="2600" spc="17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disponer</a:t>
            </a:r>
            <a:r>
              <a:rPr sz="2600" spc="17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de</a:t>
            </a:r>
            <a:r>
              <a:rPr sz="2600" spc="18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las</a:t>
            </a:r>
            <a:r>
              <a:rPr sz="2600" spc="17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pruebas</a:t>
            </a:r>
            <a:r>
              <a:rPr sz="2600" spc="18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unitarias</a:t>
            </a:r>
            <a:r>
              <a:rPr sz="2600" spc="17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necesarias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23863" y="5218132"/>
            <a:ext cx="55530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para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verificar</a:t>
            </a:r>
            <a:r>
              <a:rPr sz="2600" dirty="0">
                <a:solidFill>
                  <a:srgbClr val="292934"/>
                </a:solidFill>
                <a:latin typeface="Calibri"/>
                <a:cs typeface="Calibri"/>
              </a:rPr>
              <a:t> la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refactorización</a:t>
            </a:r>
            <a:r>
              <a:rPr sz="2600" spc="5" dirty="0">
                <a:solidFill>
                  <a:srgbClr val="292934"/>
                </a:solidFill>
                <a:latin typeface="Calibri"/>
                <a:cs typeface="Calibri"/>
              </a:rPr>
              <a:t> </a:t>
            </a:r>
            <a:r>
              <a:rPr sz="2600" spc="-5" dirty="0">
                <a:solidFill>
                  <a:srgbClr val="292934"/>
                </a:solidFill>
                <a:latin typeface="Calibri"/>
                <a:cs typeface="Calibri"/>
              </a:rPr>
              <a:t>realizada.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4223" y="6347139"/>
            <a:ext cx="7167245" cy="386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420"/>
              </a:lnSpc>
              <a:spcBef>
                <a:spcPts val="100"/>
              </a:spcBef>
            </a:pP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[3]</a:t>
            </a:r>
            <a:r>
              <a:rPr sz="12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Libro</a:t>
            </a:r>
            <a:r>
              <a:rPr sz="1200" spc="-25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Building</a:t>
            </a:r>
            <a:r>
              <a:rPr sz="12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Maintainable</a:t>
            </a:r>
            <a:r>
              <a:rPr sz="1200" spc="-20" dirty="0">
                <a:solidFill>
                  <a:srgbClr val="292934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92934"/>
                </a:solidFill>
                <a:latin typeface="Arial MT"/>
                <a:cs typeface="Arial MT"/>
              </a:rPr>
              <a:t>Software.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420"/>
              </a:lnSpc>
            </a:pPr>
            <a:r>
              <a:rPr sz="1200" b="1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</a:rPr>
              <a:t>https://</a:t>
            </a:r>
            <a:r>
              <a:rPr sz="1200" b="1" u="sng" spc="-5" dirty="0">
                <a:solidFill>
                  <a:srgbClr val="0000FF"/>
                </a:solidFill>
                <a:uFill>
                  <a:solidFill>
                    <a:srgbClr val="0433FF"/>
                  </a:solidFill>
                </a:uFill>
                <a:latin typeface="Arial"/>
                <a:cs typeface="Arial"/>
                <a:hlinkClick r:id="rId2"/>
              </a:rPr>
              <a:t>www.sig.eu/wp-content/uploads/2017/02/Building_Maintainable_Software_C_Sharp_SIG.pdf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09023" y="565035"/>
            <a:ext cx="465709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/>
              <a:t>Otro</a:t>
            </a:r>
            <a:r>
              <a:rPr sz="4000" dirty="0"/>
              <a:t>s</a:t>
            </a:r>
            <a:r>
              <a:rPr sz="4000" spc="-200" dirty="0"/>
              <a:t> </a:t>
            </a:r>
            <a:r>
              <a:rPr sz="4000" spc="-105" dirty="0"/>
              <a:t>“Ba</a:t>
            </a:r>
            <a:r>
              <a:rPr sz="4000" dirty="0"/>
              <a:t>d</a:t>
            </a:r>
            <a:r>
              <a:rPr sz="4000" spc="-204" dirty="0"/>
              <a:t> </a:t>
            </a:r>
            <a:r>
              <a:rPr sz="4000" spc="-105" dirty="0"/>
              <a:t>smells</a:t>
            </a:r>
            <a:r>
              <a:rPr sz="4000" dirty="0"/>
              <a:t>”</a:t>
            </a:r>
            <a:r>
              <a:rPr sz="4000" spc="-204" dirty="0"/>
              <a:t> </a:t>
            </a:r>
            <a:r>
              <a:rPr sz="4000" spc="-105" dirty="0"/>
              <a:t>[3]</a:t>
            </a:r>
            <a:endParaRPr sz="4000"/>
          </a:p>
        </p:txBody>
      </p:sp>
      <p:sp>
        <p:nvSpPr>
          <p:cNvPr id="5" name="object 5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24460" rIns="0" bIns="0" rtlCol="0">
            <a:spAutoFit/>
          </a:bodyPr>
          <a:lstStyle/>
          <a:p>
            <a:pPr marL="3347085" indent="-182880">
              <a:lnSpc>
                <a:spcPct val="100000"/>
              </a:lnSpc>
              <a:spcBef>
                <a:spcPts val="980"/>
              </a:spcBef>
              <a:buClr>
                <a:srgbClr val="93A299"/>
              </a:buClr>
              <a:buSzPct val="85000"/>
              <a:buChar char="•"/>
              <a:tabLst>
                <a:tab pos="3347720" algn="l"/>
              </a:tabLst>
            </a:pPr>
            <a:r>
              <a:rPr dirty="0"/>
              <a:t>¿Cuántas</a:t>
            </a:r>
            <a:r>
              <a:rPr spc="-20" dirty="0"/>
              <a:t> </a:t>
            </a:r>
            <a:r>
              <a:rPr dirty="0"/>
              <a:t>líneas</a:t>
            </a:r>
            <a:r>
              <a:rPr spc="-15" dirty="0"/>
              <a:t> </a:t>
            </a:r>
            <a:r>
              <a:rPr spc="-5" dirty="0"/>
              <a:t>de</a:t>
            </a:r>
            <a:r>
              <a:rPr spc="-15" dirty="0"/>
              <a:t> </a:t>
            </a:r>
            <a:r>
              <a:rPr dirty="0"/>
              <a:t>código</a:t>
            </a:r>
            <a:r>
              <a:rPr spc="-15" dirty="0"/>
              <a:t> </a:t>
            </a:r>
            <a:r>
              <a:rPr spc="-5" dirty="0"/>
              <a:t>un</a:t>
            </a:r>
            <a:r>
              <a:rPr spc="-15" dirty="0"/>
              <a:t> </a:t>
            </a:r>
            <a:r>
              <a:rPr spc="-5" dirty="0"/>
              <a:t>método?</a:t>
            </a:r>
          </a:p>
          <a:p>
            <a:pPr marL="3347085" indent="-182880">
              <a:lnSpc>
                <a:spcPct val="100000"/>
              </a:lnSpc>
              <a:spcBef>
                <a:spcPts val="880"/>
              </a:spcBef>
              <a:buClr>
                <a:srgbClr val="93A299"/>
              </a:buClr>
              <a:buSzPct val="85000"/>
              <a:buChar char="•"/>
              <a:tabLst>
                <a:tab pos="3347720" algn="l"/>
              </a:tabLst>
            </a:pPr>
            <a:r>
              <a:rPr dirty="0"/>
              <a:t>¿Cuántas</a:t>
            </a:r>
            <a:r>
              <a:rPr spc="-10" dirty="0"/>
              <a:t> </a:t>
            </a:r>
            <a:r>
              <a:rPr spc="-5" dirty="0"/>
              <a:t>bifurcaciones un método?</a:t>
            </a:r>
          </a:p>
          <a:p>
            <a:pPr marL="3347085" indent="-182880">
              <a:lnSpc>
                <a:spcPct val="100000"/>
              </a:lnSpc>
              <a:spcBef>
                <a:spcPts val="1000"/>
              </a:spcBef>
              <a:buClr>
                <a:srgbClr val="93A299"/>
              </a:buClr>
              <a:buSzPct val="85000"/>
              <a:buChar char="•"/>
              <a:tabLst>
                <a:tab pos="3347720" algn="l"/>
              </a:tabLst>
            </a:pPr>
            <a:r>
              <a:rPr dirty="0"/>
              <a:t>¿Cuántos</a:t>
            </a:r>
            <a:r>
              <a:rPr spc="-15" dirty="0"/>
              <a:t> </a:t>
            </a:r>
            <a:r>
              <a:rPr spc="-5" dirty="0"/>
              <a:t>parámetros</a:t>
            </a:r>
            <a:r>
              <a:rPr spc="-10" dirty="0"/>
              <a:t> </a:t>
            </a:r>
            <a:r>
              <a:rPr spc="-5" dirty="0"/>
              <a:t>un método?</a:t>
            </a:r>
          </a:p>
          <a:p>
            <a:pPr marL="3347085" indent="-182880">
              <a:lnSpc>
                <a:spcPct val="100000"/>
              </a:lnSpc>
              <a:spcBef>
                <a:spcPts val="1000"/>
              </a:spcBef>
              <a:buClr>
                <a:srgbClr val="93A299"/>
              </a:buClr>
              <a:buSzPct val="85000"/>
              <a:buChar char="•"/>
              <a:tabLst>
                <a:tab pos="3347720" algn="l"/>
              </a:tabLst>
            </a:pPr>
            <a:r>
              <a:rPr spc="-5" dirty="0"/>
              <a:t>¿Qué</a:t>
            </a:r>
            <a:r>
              <a:rPr spc="-10" dirty="0"/>
              <a:t> </a:t>
            </a:r>
            <a:r>
              <a:rPr dirty="0"/>
              <a:t>pasa</a:t>
            </a:r>
            <a:r>
              <a:rPr spc="-10" dirty="0"/>
              <a:t> </a:t>
            </a:r>
            <a:r>
              <a:rPr dirty="0"/>
              <a:t>con</a:t>
            </a:r>
            <a:r>
              <a:rPr spc="-10" dirty="0"/>
              <a:t> </a:t>
            </a:r>
            <a:r>
              <a:rPr dirty="0"/>
              <a:t>el</a:t>
            </a:r>
            <a:r>
              <a:rPr spc="-10" dirty="0"/>
              <a:t> </a:t>
            </a:r>
            <a:r>
              <a:rPr dirty="0"/>
              <a:t>código</a:t>
            </a:r>
            <a:r>
              <a:rPr spc="-15" dirty="0"/>
              <a:t> </a:t>
            </a:r>
            <a:r>
              <a:rPr spc="-5" dirty="0"/>
              <a:t>replicado?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45"/>
              </a:lnSpc>
            </a:pPr>
            <a:fld id="{81D60167-4931-47E6-BA6A-407CBD079E47}" type="slidenum">
              <a:rPr dirty="0"/>
              <a:t>30</a:t>
            </a:fld>
            <a:endParaRPr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08690" y="1632687"/>
            <a:ext cx="3027362" cy="39830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15</TotalTime>
  <Words>2010</Words>
  <Application>Microsoft Office PowerPoint</Application>
  <PresentationFormat>Personalizado</PresentationFormat>
  <Paragraphs>276</Paragraphs>
  <Slides>30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30</vt:i4>
      </vt:variant>
    </vt:vector>
  </HeadingPairs>
  <TitlesOfParts>
    <vt:vector size="40" baseType="lpstr">
      <vt:lpstr>MS PGothic</vt:lpstr>
      <vt:lpstr>Arial</vt:lpstr>
      <vt:lpstr>Arial MT</vt:lpstr>
      <vt:lpstr>Calibri</vt:lpstr>
      <vt:lpstr>Century Gothic</vt:lpstr>
      <vt:lpstr>Courier New</vt:lpstr>
      <vt:lpstr>Times New Roman</vt:lpstr>
      <vt:lpstr>Wingdings</vt:lpstr>
      <vt:lpstr>Wingdings 3</vt:lpstr>
      <vt:lpstr>Espiral</vt:lpstr>
      <vt:lpstr>Presentación de PowerPoint</vt:lpstr>
      <vt:lpstr>Indice</vt:lpstr>
      <vt:lpstr>Mantenimiento del software.</vt:lpstr>
      <vt:lpstr>Mantenimiento del software.</vt:lpstr>
      <vt:lpstr>Mantenimiento del software. Tiempo empleado en cada tarea de mantenimiento</vt:lpstr>
      <vt:lpstr>Mantenimiento del software.</vt:lpstr>
      <vt:lpstr>Ciclo de vida en el mantenimiento</vt:lpstr>
      <vt:lpstr>Puesta en producción</vt:lpstr>
      <vt:lpstr>Notificación de fallos</vt:lpstr>
      <vt:lpstr>Presentación de PowerPoint</vt:lpstr>
      <vt:lpstr>Reparación de defectos</vt:lpstr>
      <vt:lpstr>Tipos de mantenimiento: Perfectivo</vt:lpstr>
      <vt:lpstr>Tipos de mantenimiento: Adaptativo</vt:lpstr>
      <vt:lpstr>Tipos de mantenimiento: Correctivo</vt:lpstr>
      <vt:lpstr>Tipos de mantenimiento: Preventivo</vt:lpstr>
      <vt:lpstr>Refactorización</vt:lpstr>
      <vt:lpstr>Qué es refactorizar</vt:lpstr>
      <vt:lpstr>Cuando el software deja de ser «soft»</vt:lpstr>
      <vt:lpstr>¿Por qué refactorizar?</vt:lpstr>
      <vt:lpstr>Refactoring y Test Driven Development (TDD)</vt:lpstr>
      <vt:lpstr>Refactoring y Test Driven Development (TDD)</vt:lpstr>
      <vt:lpstr>Malos olores del código fuente</vt:lpstr>
      <vt:lpstr>Los “Bad Smells” propuestos por Fowler [2]</vt:lpstr>
      <vt:lpstr>Clasificación de “Bad Smells”</vt:lpstr>
      <vt:lpstr>Categorización de Bad smells</vt:lpstr>
      <vt:lpstr>Ejemplo Bad smell: Long Method</vt:lpstr>
      <vt:lpstr>Ejemplo Bad smell: Long Method Código inicial</vt:lpstr>
      <vt:lpstr>Ejemplo Bad smell: Long Method</vt:lpstr>
      <vt:lpstr>¿Son los comentarios un Bad Smell?</vt:lpstr>
      <vt:lpstr>Otros “Bad smells” [3]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Angel Marcelo Rea Guamán</dc:creator>
  <cp:lastModifiedBy>Angel Marcelo Rea Guamán</cp:lastModifiedBy>
  <cp:revision>2</cp:revision>
  <dcterms:created xsi:type="dcterms:W3CDTF">2024-08-06T02:25:30Z</dcterms:created>
  <dcterms:modified xsi:type="dcterms:W3CDTF">2024-08-06T02:42:00Z</dcterms:modified>
</cp:coreProperties>
</file>