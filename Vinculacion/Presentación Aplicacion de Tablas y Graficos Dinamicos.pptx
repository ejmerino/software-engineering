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70" r:id="rId2"/>
  </p:sldMasterIdLst>
  <p:notesMasterIdLst>
    <p:notesMasterId r:id="rId4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648">
          <p15:clr>
            <a:srgbClr val="A4A3A4"/>
          </p15:clr>
        </p15:guide>
        <p15:guide id="2" pos="2664">
          <p15:clr>
            <a:srgbClr val="A4A3A4"/>
          </p15:clr>
        </p15:guide>
        <p15:guide id="3" orient="horz" pos="2664">
          <p15:clr>
            <a:srgbClr val="A4A3A4"/>
          </p15:clr>
        </p15:guide>
        <p15:guide id="4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g0mDknXuQku1YX01Gk+HaC3oWo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668A3A-43F3-486C-AC8A-883A90ED3EB0}">
  <a:tblStyle styleId="{4E668A3A-43F3-486C-AC8A-883A90ED3EB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tcBdr/>
        <a:fill>
          <a:solidFill>
            <a:srgbClr val="E7F3F4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7F3F4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>
        <p:guide orient="horz" pos="3648"/>
        <p:guide pos="2664"/>
        <p:guide orient="horz" pos="2664"/>
        <p:guide orient="horz" pos="32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Documento1!_174869394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232688492448405"/>
          <c:y val="9.3670596652198124E-2"/>
          <c:w val="0.5420588608069693"/>
          <c:h val="0.796783207886031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'[Gráfico en Documento1]Hoja1'!$B$1</c:f>
              <c:strCache>
                <c:ptCount val="1"/>
                <c:pt idx="0">
                  <c:v>Comida</c:v>
                </c:pt>
              </c:strCache>
            </c:strRef>
          </c:tx>
          <c:invertIfNegative val="0"/>
          <c:cat>
            <c:strRef>
              <c:f>'[Gráfico en Documento1]Hoja1'!$A$2:$A$7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'[Gráfico en Documento1]Hoja1'!$B$2:$B$7</c:f>
              <c:numCache>
                <c:formatCode>General</c:formatCode>
                <c:ptCount val="6"/>
                <c:pt idx="0">
                  <c:v>12</c:v>
                </c:pt>
                <c:pt idx="1">
                  <c:v>17</c:v>
                </c:pt>
                <c:pt idx="2">
                  <c:v>22</c:v>
                </c:pt>
                <c:pt idx="3">
                  <c:v>14</c:v>
                </c:pt>
                <c:pt idx="4">
                  <c:v>12</c:v>
                </c:pt>
                <c:pt idx="5">
                  <c:v>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EB0-41BD-9EF1-7A3CABE96A79}"/>
            </c:ext>
          </c:extLst>
        </c:ser>
        <c:ser>
          <c:idx val="1"/>
          <c:order val="1"/>
          <c:tx>
            <c:strRef>
              <c:f>'[Gráfico en Documento1]Hoja1'!$C$1</c:f>
              <c:strCache>
                <c:ptCount val="1"/>
                <c:pt idx="0">
                  <c:v>Transporte</c:v>
                </c:pt>
              </c:strCache>
            </c:strRef>
          </c:tx>
          <c:invertIfNegative val="0"/>
          <c:cat>
            <c:strRef>
              <c:f>'[Gráfico en Documento1]Hoja1'!$A$2:$A$7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'[Gráfico en Documento1]Hoja1'!$C$2:$C$7</c:f>
              <c:numCache>
                <c:formatCode>General</c:formatCode>
                <c:ptCount val="6"/>
                <c:pt idx="0">
                  <c:v>17</c:v>
                </c:pt>
                <c:pt idx="1">
                  <c:v>11</c:v>
                </c:pt>
                <c:pt idx="2">
                  <c:v>29</c:v>
                </c:pt>
                <c:pt idx="3">
                  <c:v>10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EB0-41BD-9EF1-7A3CABE96A79}"/>
            </c:ext>
          </c:extLst>
        </c:ser>
        <c:ser>
          <c:idx val="2"/>
          <c:order val="2"/>
          <c:tx>
            <c:strRef>
              <c:f>'[Gráfico en Documento1]Hoja1'!$D$1</c:f>
              <c:strCache>
                <c:ptCount val="1"/>
                <c:pt idx="0">
                  <c:v>Alojamiento</c:v>
                </c:pt>
              </c:strCache>
            </c:strRef>
          </c:tx>
          <c:invertIfNegative val="0"/>
          <c:cat>
            <c:strRef>
              <c:f>'[Gráfico en Documento1]Hoja1'!$A$2:$A$7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'[Gráfico en Documento1]Hoja1'!$D$2:$D$7</c:f>
              <c:numCache>
                <c:formatCode>General</c:formatCode>
                <c:ptCount val="6"/>
                <c:pt idx="0">
                  <c:v>10</c:v>
                </c:pt>
                <c:pt idx="1">
                  <c:v>21</c:v>
                </c:pt>
                <c:pt idx="2">
                  <c:v>14</c:v>
                </c:pt>
                <c:pt idx="3">
                  <c:v>17</c:v>
                </c:pt>
                <c:pt idx="4">
                  <c:v>10</c:v>
                </c:pt>
                <c:pt idx="5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EB0-41BD-9EF1-7A3CABE96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8907512"/>
        <c:axId val="368912216"/>
      </c:barChart>
      <c:catAx>
        <c:axId val="368907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68912216"/>
        <c:crosses val="autoZero"/>
        <c:auto val="1"/>
        <c:lblAlgn val="ctr"/>
        <c:lblOffset val="100"/>
        <c:noMultiLvlLbl val="0"/>
      </c:catAx>
      <c:valAx>
        <c:axId val="3689122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890751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70704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9444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Configuraciones iniciales del documento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Insertar, borrar, copiar y pegar texto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Configurar páginas y márgenes -&gt; para acomodar texto automáticamente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Buscar y reemplazar palabras o frases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Píe de página y encabezados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Macros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Verificar ortografía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Tablas de contenido e índices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Ventanas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028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1299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800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9302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56a83172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56a831723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56a831723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115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Se refiere a los parámetros involucrados con la impresión de un documento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Pueden modificarse por el usuario según el tipo de documento y las necesidades del usuario</a:t>
            </a:r>
            <a:endParaRPr/>
          </a:p>
        </p:txBody>
      </p:sp>
      <p:sp>
        <p:nvSpPr>
          <p:cNvPr id="389" name="Google Shape;38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2908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6930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Se refiere a los parámetros involucrados con la impresión de un documento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Pueden modificarse por el usuario según el tipo de documento y las necesidades del usuario</a:t>
            </a:r>
            <a:endParaRPr/>
          </a:p>
        </p:txBody>
      </p:sp>
      <p:sp>
        <p:nvSpPr>
          <p:cNvPr id="412" name="Google Shape;41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0277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492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9" name="Google Shape;429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7481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7866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6399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4735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4025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54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6509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" name="Google Shape;49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7264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4" name="Google Shape;50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243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165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8653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Incremento de la primera letra de un párrafo para resaltar el comienzo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Dispone de opciones para modificar posición, tamaño</a:t>
            </a:r>
            <a:endParaRPr/>
          </a:p>
        </p:txBody>
      </p:sp>
      <p:sp>
        <p:nvSpPr>
          <p:cNvPr id="548" name="Google Shape;548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575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Incremento de la primera letra de un párrafo para resaltar el comienzo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Dispone de opciones para modificar posición, tamaño</a:t>
            </a:r>
            <a:endParaRPr/>
          </a:p>
        </p:txBody>
      </p:sp>
      <p:sp>
        <p:nvSpPr>
          <p:cNvPr id="556" name="Google Shape;55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0037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931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5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76" name="Google Shape;57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5354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5" name="Google Shape;5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9872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5" name="Google Shape;5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79595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Se refiere a los parámetros involucrados con la impresión de un documento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Pueden modificarse por el usuario según el tipo de documento y las necesidades del usuario</a:t>
            </a:r>
            <a:endParaRPr/>
          </a:p>
        </p:txBody>
      </p:sp>
      <p:sp>
        <p:nvSpPr>
          <p:cNvPr id="604" name="Google Shape;604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3424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1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13" name="Google Shape;61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0236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2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3" name="Google Shape;6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13314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3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30" name="Google Shape;6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0805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4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37" name="Google Shape;6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07969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5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47" name="Google Shape;64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79144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6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55" name="Google Shape;65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09931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7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63" name="Google Shape;66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25254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9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71" name="Google Shape;6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2204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0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79" name="Google Shape;67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69321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1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88" name="Google Shape;68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0499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96" name="Google Shape;69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00462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3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07" name="Google Shape;70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9691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19" name="Google Shape;71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02526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5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28" name="Google Shape;72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76991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6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36" name="Google Shape;73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28554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7:notes"/>
          <p:cNvSpPr txBox="1">
            <a:spLocks noGrp="1"/>
          </p:cNvSpPr>
          <p:nvPr>
            <p:ph type="body" idx="1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875" tIns="49925" rIns="99875" bIns="49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43" name="Google Shape;74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12379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2" name="Google Shape;752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181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50"/>
          <p:cNvSpPr txBox="1">
            <a:spLocks noGrp="1"/>
          </p:cNvSpPr>
          <p:nvPr>
            <p:ph type="body" idx="1"/>
          </p:nvPr>
        </p:nvSpPr>
        <p:spPr>
          <a:xfrm>
            <a:off x="2284355" y="4687178"/>
            <a:ext cx="159851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body" idx="3"/>
          </p:nvPr>
        </p:nvSpPr>
        <p:spPr>
          <a:xfrm>
            <a:off x="3440172" y="172667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body" idx="4"/>
          </p:nvPr>
        </p:nvSpPr>
        <p:spPr>
          <a:xfrm>
            <a:off x="1903189" y="71740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body" idx="5"/>
          </p:nvPr>
        </p:nvSpPr>
        <p:spPr>
          <a:xfrm>
            <a:off x="629693" y="285863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50"/>
          <p:cNvSpPr txBox="1">
            <a:spLocks noGrp="1"/>
          </p:cNvSpPr>
          <p:nvPr>
            <p:ph type="ctrTitle"/>
          </p:nvPr>
        </p:nvSpPr>
        <p:spPr>
          <a:xfrm>
            <a:off x="2373216" y="3667946"/>
            <a:ext cx="9285382" cy="127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0"/>
          <p:cNvSpPr txBox="1">
            <a:spLocks noGrp="1"/>
          </p:cNvSpPr>
          <p:nvPr>
            <p:ph type="subTitle" idx="6"/>
          </p:nvPr>
        </p:nvSpPr>
        <p:spPr>
          <a:xfrm>
            <a:off x="7970418" y="5325276"/>
            <a:ext cx="3677297" cy="68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" name="Google Shape;23;p50"/>
          <p:cNvCxnSpPr/>
          <p:nvPr/>
        </p:nvCxnSpPr>
        <p:spPr>
          <a:xfrm>
            <a:off x="4579559" y="5744231"/>
            <a:ext cx="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50"/>
          <p:cNvCxnSpPr/>
          <p:nvPr/>
        </p:nvCxnSpPr>
        <p:spPr>
          <a:xfrm>
            <a:off x="2536371" y="2017985"/>
            <a:ext cx="0" cy="153432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" name="Google Shape;25;p50"/>
          <p:cNvCxnSpPr/>
          <p:nvPr/>
        </p:nvCxnSpPr>
        <p:spPr>
          <a:xfrm rot="10800000">
            <a:off x="4245428" y="5655432"/>
            <a:ext cx="331888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58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>
  <p:cSld name="Cierr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>
            <a:spLocks noGrp="1"/>
          </p:cNvSpPr>
          <p:nvPr>
            <p:ph type="pic" idx="2"/>
          </p:nvPr>
        </p:nvSpPr>
        <p:spPr>
          <a:xfrm>
            <a:off x="6426578" y="0"/>
            <a:ext cx="576542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4"/>
          <p:cNvSpPr>
            <a:spLocks noGrp="1"/>
          </p:cNvSpPr>
          <p:nvPr>
            <p:ph type="pic" idx="3"/>
          </p:nvPr>
        </p:nvSpPr>
        <p:spPr>
          <a:xfrm>
            <a:off x="-11657" y="-16298"/>
            <a:ext cx="5555640" cy="6874299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4"/>
          <p:cNvSpPr txBox="1">
            <a:spLocks noGrp="1"/>
          </p:cNvSpPr>
          <p:nvPr>
            <p:ph type="body" idx="1"/>
          </p:nvPr>
        </p:nvSpPr>
        <p:spPr>
          <a:xfrm>
            <a:off x="4461307" y="4277953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33" name="Google Shape;33;p54"/>
          <p:cNvSpPr txBox="1">
            <a:spLocks noGrp="1"/>
          </p:cNvSpPr>
          <p:nvPr>
            <p:ph type="body" idx="4"/>
          </p:nvPr>
        </p:nvSpPr>
        <p:spPr>
          <a:xfrm>
            <a:off x="4156823" y="4752561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4"/>
          <p:cNvSpPr txBox="1">
            <a:spLocks noGrp="1"/>
          </p:cNvSpPr>
          <p:nvPr>
            <p:ph type="body" idx="5"/>
          </p:nvPr>
        </p:nvSpPr>
        <p:spPr>
          <a:xfrm>
            <a:off x="3869713" y="5217644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4"/>
          <p:cNvSpPr txBox="1">
            <a:spLocks noGrp="1"/>
          </p:cNvSpPr>
          <p:nvPr>
            <p:ph type="body" idx="6"/>
          </p:nvPr>
        </p:nvSpPr>
        <p:spPr>
          <a:xfrm>
            <a:off x="3580046" y="5673201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contenido">
  <p:cSld name="1_Título y contenid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/>
          <p:nvPr/>
        </p:nvSpPr>
        <p:spPr>
          <a:xfrm>
            <a:off x="6016886" y="0"/>
            <a:ext cx="6175114" cy="6858000"/>
          </a:xfrm>
          <a:custGeom>
            <a:avLst/>
            <a:gdLst/>
            <a:ahLst/>
            <a:cxnLst/>
            <a:rect l="l" t="t" r="r" b="b"/>
            <a:pathLst>
              <a:path w="6175114" h="6858000" extrusionOk="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6"/>
          <p:cNvSpPr txBox="1"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1"/>
          </p:nvPr>
        </p:nvSpPr>
        <p:spPr>
          <a:xfrm>
            <a:off x="1099456" y="4238625"/>
            <a:ext cx="4203247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46" name="Google Shape;46;p56"/>
          <p:cNvCxnSpPr/>
          <p:nvPr/>
        </p:nvCxnSpPr>
        <p:spPr>
          <a:xfrm>
            <a:off x="1121228" y="0"/>
            <a:ext cx="0" cy="304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 con la imagen S">
  <p:cSld name="Título y contenido con la imagen 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7"/>
          <p:cNvSpPr>
            <a:spLocks noGrp="1"/>
          </p:cNvSpPr>
          <p:nvPr>
            <p:ph type="pic" idx="2"/>
          </p:nvPr>
        </p:nvSpPr>
        <p:spPr>
          <a:xfrm>
            <a:off x="6016886" y="0"/>
            <a:ext cx="617511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7"/>
          <p:cNvSpPr txBox="1"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1"/>
          </p:nvPr>
        </p:nvSpPr>
        <p:spPr>
          <a:xfrm>
            <a:off x="1099456" y="4238625"/>
            <a:ext cx="4203247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54" name="Google Shape;54;p57"/>
          <p:cNvCxnSpPr/>
          <p:nvPr/>
        </p:nvCxnSpPr>
        <p:spPr>
          <a:xfrm>
            <a:off x="1121228" y="0"/>
            <a:ext cx="0" cy="304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is contenido">
  <p:cSld name="Seis contenid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>
            <a:spLocks noGrp="1"/>
          </p:cNvSpPr>
          <p:nvPr>
            <p:ph type="body" idx="1"/>
          </p:nvPr>
        </p:nvSpPr>
        <p:spPr>
          <a:xfrm>
            <a:off x="1034186" y="2903538"/>
            <a:ext cx="3104198" cy="34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body" idx="2"/>
          </p:nvPr>
        </p:nvSpPr>
        <p:spPr>
          <a:xfrm>
            <a:off x="1034141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58"/>
          <p:cNvSpPr txBox="1">
            <a:spLocks noGrp="1"/>
          </p:cNvSpPr>
          <p:nvPr>
            <p:ph type="body" idx="3"/>
          </p:nvPr>
        </p:nvSpPr>
        <p:spPr>
          <a:xfrm>
            <a:off x="4641894" y="2903538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8"/>
          <p:cNvSpPr txBox="1">
            <a:spLocks noGrp="1"/>
          </p:cNvSpPr>
          <p:nvPr>
            <p:ph type="body" idx="4"/>
          </p:nvPr>
        </p:nvSpPr>
        <p:spPr>
          <a:xfrm>
            <a:off x="4642223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58"/>
          <p:cNvSpPr txBox="1">
            <a:spLocks noGrp="1"/>
          </p:cNvSpPr>
          <p:nvPr>
            <p:ph type="body" idx="5"/>
          </p:nvPr>
        </p:nvSpPr>
        <p:spPr>
          <a:xfrm>
            <a:off x="8249601" y="2903538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8"/>
          <p:cNvSpPr txBox="1">
            <a:spLocks noGrp="1"/>
          </p:cNvSpPr>
          <p:nvPr>
            <p:ph type="body" idx="6"/>
          </p:nvPr>
        </p:nvSpPr>
        <p:spPr>
          <a:xfrm>
            <a:off x="8250305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8"/>
          <p:cNvSpPr txBox="1"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6" name="Google Shape;66;p58"/>
          <p:cNvSpPr txBox="1">
            <a:spLocks noGrp="1"/>
          </p:cNvSpPr>
          <p:nvPr>
            <p:ph type="body" idx="7"/>
          </p:nvPr>
        </p:nvSpPr>
        <p:spPr>
          <a:xfrm>
            <a:off x="1033811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8"/>
          <p:cNvSpPr txBox="1">
            <a:spLocks noGrp="1"/>
          </p:cNvSpPr>
          <p:nvPr>
            <p:ph type="body" idx="8"/>
          </p:nvPr>
        </p:nvSpPr>
        <p:spPr>
          <a:xfrm>
            <a:off x="1033766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8"/>
          <p:cNvSpPr txBox="1">
            <a:spLocks noGrp="1"/>
          </p:cNvSpPr>
          <p:nvPr>
            <p:ph type="body" idx="9"/>
          </p:nvPr>
        </p:nvSpPr>
        <p:spPr>
          <a:xfrm>
            <a:off x="4641519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8"/>
          <p:cNvSpPr txBox="1">
            <a:spLocks noGrp="1"/>
          </p:cNvSpPr>
          <p:nvPr>
            <p:ph type="body" idx="13"/>
          </p:nvPr>
        </p:nvSpPr>
        <p:spPr>
          <a:xfrm>
            <a:off x="4641848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body" idx="14"/>
          </p:nvPr>
        </p:nvSpPr>
        <p:spPr>
          <a:xfrm>
            <a:off x="8249226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body" idx="15"/>
          </p:nvPr>
        </p:nvSpPr>
        <p:spPr>
          <a:xfrm>
            <a:off x="8249930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58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contenido 1">
  <p:cSld name="Columna de contenido 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9"/>
          <p:cNvSpPr txBox="1">
            <a:spLocks noGrp="1"/>
          </p:cNvSpPr>
          <p:nvPr>
            <p:ph type="body" idx="1"/>
          </p:nvPr>
        </p:nvSpPr>
        <p:spPr>
          <a:xfrm>
            <a:off x="4450921" y="2145859"/>
            <a:ext cx="5042568" cy="345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body" idx="2"/>
          </p:nvPr>
        </p:nvSpPr>
        <p:spPr>
          <a:xfrm>
            <a:off x="4450922" y="2491335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0" name="Google Shape;80;p59"/>
          <p:cNvSpPr txBox="1">
            <a:spLocks noGrp="1"/>
          </p:cNvSpPr>
          <p:nvPr>
            <p:ph type="body" idx="3"/>
          </p:nvPr>
        </p:nvSpPr>
        <p:spPr>
          <a:xfrm>
            <a:off x="4450921" y="3198051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9"/>
          <p:cNvSpPr txBox="1">
            <a:spLocks noGrp="1"/>
          </p:cNvSpPr>
          <p:nvPr>
            <p:ph type="body" idx="4"/>
          </p:nvPr>
        </p:nvSpPr>
        <p:spPr>
          <a:xfrm>
            <a:off x="4450922" y="3543527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59"/>
          <p:cNvSpPr txBox="1">
            <a:spLocks noGrp="1"/>
          </p:cNvSpPr>
          <p:nvPr>
            <p:ph type="body" idx="5"/>
          </p:nvPr>
        </p:nvSpPr>
        <p:spPr>
          <a:xfrm>
            <a:off x="4450921" y="5302434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9"/>
          <p:cNvSpPr txBox="1">
            <a:spLocks noGrp="1"/>
          </p:cNvSpPr>
          <p:nvPr>
            <p:ph type="body" idx="6"/>
          </p:nvPr>
        </p:nvSpPr>
        <p:spPr>
          <a:xfrm>
            <a:off x="4450922" y="5647910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9"/>
          <p:cNvSpPr txBox="1">
            <a:spLocks noGrp="1"/>
          </p:cNvSpPr>
          <p:nvPr>
            <p:ph type="body" idx="7"/>
          </p:nvPr>
        </p:nvSpPr>
        <p:spPr>
          <a:xfrm>
            <a:off x="4450921" y="4250243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59"/>
          <p:cNvSpPr txBox="1">
            <a:spLocks noGrp="1"/>
          </p:cNvSpPr>
          <p:nvPr>
            <p:ph type="body" idx="8"/>
          </p:nvPr>
        </p:nvSpPr>
        <p:spPr>
          <a:xfrm>
            <a:off x="4450922" y="4595719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6" name="Google Shape;86;p59"/>
          <p:cNvCxnSpPr/>
          <p:nvPr/>
        </p:nvCxnSpPr>
        <p:spPr>
          <a:xfrm>
            <a:off x="3766456" y="-16561"/>
            <a:ext cx="0" cy="687456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" name="Google Shape;87;p59"/>
          <p:cNvCxnSpPr/>
          <p:nvPr/>
        </p:nvCxnSpPr>
        <p:spPr>
          <a:xfrm>
            <a:off x="-1" y="1676400"/>
            <a:ext cx="12191999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imagen y 3 contenido">
  <p:cSld name="Título, imagen y 3 contenido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0"/>
          <p:cNvSpPr txBox="1">
            <a:spLocks noGrp="1"/>
          </p:cNvSpPr>
          <p:nvPr>
            <p:ph type="body" idx="1"/>
          </p:nvPr>
        </p:nvSpPr>
        <p:spPr>
          <a:xfrm>
            <a:off x="6144768" y="2069658"/>
            <a:ext cx="5042568" cy="345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0"/>
          <p:cNvSpPr txBox="1">
            <a:spLocks noGrp="1"/>
          </p:cNvSpPr>
          <p:nvPr>
            <p:ph type="body" idx="2"/>
          </p:nvPr>
        </p:nvSpPr>
        <p:spPr>
          <a:xfrm>
            <a:off x="6144768" y="241513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60"/>
          <p:cNvSpPr txBox="1"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0"/>
          <p:cNvSpPr txBox="1">
            <a:spLocks noGrp="1"/>
          </p:cNvSpPr>
          <p:nvPr>
            <p:ph type="body" idx="3"/>
          </p:nvPr>
        </p:nvSpPr>
        <p:spPr>
          <a:xfrm>
            <a:off x="5300006" y="3587638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60"/>
          <p:cNvSpPr txBox="1">
            <a:spLocks noGrp="1"/>
          </p:cNvSpPr>
          <p:nvPr>
            <p:ph type="body" idx="4"/>
          </p:nvPr>
        </p:nvSpPr>
        <p:spPr>
          <a:xfrm>
            <a:off x="5300007" y="393311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60"/>
          <p:cNvSpPr txBox="1">
            <a:spLocks noGrp="1"/>
          </p:cNvSpPr>
          <p:nvPr>
            <p:ph type="body" idx="5"/>
          </p:nvPr>
        </p:nvSpPr>
        <p:spPr>
          <a:xfrm>
            <a:off x="4398264" y="5105618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60"/>
          <p:cNvSpPr txBox="1">
            <a:spLocks noGrp="1"/>
          </p:cNvSpPr>
          <p:nvPr>
            <p:ph type="body" idx="6"/>
          </p:nvPr>
        </p:nvSpPr>
        <p:spPr>
          <a:xfrm>
            <a:off x="4398264" y="545109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 con la imagen T">
  <p:cSld name="Título y contenido con la imagen 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1"/>
          <p:cNvSpPr>
            <a:spLocks noGrp="1"/>
          </p:cNvSpPr>
          <p:nvPr>
            <p:ph type="pic" idx="2"/>
          </p:nvPr>
        </p:nvSpPr>
        <p:spPr>
          <a:xfrm>
            <a:off x="1" y="-12700"/>
            <a:ext cx="7080595" cy="68707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01" name="Google Shape;101;p61"/>
          <p:cNvSpPr txBox="1"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1"/>
          <p:cNvSpPr txBox="1">
            <a:spLocks noGrp="1"/>
          </p:cNvSpPr>
          <p:nvPr>
            <p:ph type="body" idx="1"/>
          </p:nvPr>
        </p:nvSpPr>
        <p:spPr>
          <a:xfrm>
            <a:off x="7543799" y="4147457"/>
            <a:ext cx="4203247" cy="153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cera de sección">
  <p:cSld name="Cabecera de secció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62"/>
          <p:cNvSpPr txBox="1">
            <a:spLocks noGrp="1"/>
          </p:cNvSpPr>
          <p:nvPr>
            <p:ph type="body" idx="1"/>
          </p:nvPr>
        </p:nvSpPr>
        <p:spPr>
          <a:xfrm>
            <a:off x="3650085" y="4546575"/>
            <a:ext cx="1500624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62"/>
          <p:cNvSpPr txBox="1">
            <a:spLocks noGrp="1"/>
          </p:cNvSpPr>
          <p:nvPr>
            <p:ph type="body" idx="3"/>
          </p:nvPr>
        </p:nvSpPr>
        <p:spPr>
          <a:xfrm>
            <a:off x="2377374" y="275039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62"/>
          <p:cNvSpPr txBox="1">
            <a:spLocks noGrp="1"/>
          </p:cNvSpPr>
          <p:nvPr>
            <p:ph type="body" idx="4"/>
          </p:nvPr>
        </p:nvSpPr>
        <p:spPr>
          <a:xfrm>
            <a:off x="442380" y="903514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2"/>
          <p:cNvSpPr txBox="1">
            <a:spLocks noGrp="1"/>
          </p:cNvSpPr>
          <p:nvPr>
            <p:ph type="body" idx="5"/>
          </p:nvPr>
        </p:nvSpPr>
        <p:spPr>
          <a:xfrm>
            <a:off x="2377374" y="89707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sz="155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62"/>
          <p:cNvSpPr txBox="1"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2"/>
          <p:cNvSpPr/>
          <p:nvPr/>
        </p:nvSpPr>
        <p:spPr>
          <a:xfrm>
            <a:off x="3565384" y="1857932"/>
            <a:ext cx="922101" cy="2445893"/>
          </a:xfrm>
          <a:custGeom>
            <a:avLst/>
            <a:gdLst/>
            <a:ahLst/>
            <a:cxnLst/>
            <a:rect l="l" t="t" r="r" b="b"/>
            <a:pathLst>
              <a:path w="922101" h="2332208" extrusionOk="0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3EF0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2"/>
          <p:cNvSpPr/>
          <p:nvPr/>
        </p:nvSpPr>
        <p:spPr>
          <a:xfrm>
            <a:off x="1845311" y="1857400"/>
            <a:ext cx="691575" cy="8866"/>
          </a:xfrm>
          <a:custGeom>
            <a:avLst/>
            <a:gdLst/>
            <a:ahLst/>
            <a:cxnLst/>
            <a:rect l="l" t="t" r="r" b="b"/>
            <a:pathLst>
              <a:path w="691575" h="8866" extrusionOk="0">
                <a:moveTo>
                  <a:pt x="691576" y="0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3EF0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2"/>
          <p:cNvSpPr/>
          <p:nvPr/>
        </p:nvSpPr>
        <p:spPr>
          <a:xfrm>
            <a:off x="3565384" y="1857931"/>
            <a:ext cx="922101" cy="2573623"/>
          </a:xfrm>
          <a:custGeom>
            <a:avLst/>
            <a:gdLst/>
            <a:ahLst/>
            <a:cxnLst/>
            <a:rect l="l" t="t" r="r" b="b"/>
            <a:pathLst>
              <a:path w="922101" h="2332208" extrusionOk="0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3EF0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584">
          <p15:clr>
            <a:srgbClr val="FBAE40"/>
          </p15:clr>
        </p15:guide>
        <p15:guide id="3" orient="horz" pos="271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ntenido con títulos">
  <p:cSld name="3 Contenido con título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3"/>
          <p:cNvSpPr/>
          <p:nvPr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3"/>
          <p:cNvSpPr/>
          <p:nvPr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3"/>
          <p:cNvSpPr/>
          <p:nvPr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3"/>
          <p:cNvSpPr txBox="1">
            <a:spLocks noGrp="1"/>
          </p:cNvSpPr>
          <p:nvPr>
            <p:ph type="body" idx="1"/>
          </p:nvPr>
        </p:nvSpPr>
        <p:spPr>
          <a:xfrm>
            <a:off x="1034142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63"/>
          <p:cNvSpPr txBox="1">
            <a:spLocks noGrp="1"/>
          </p:cNvSpPr>
          <p:nvPr>
            <p:ph type="body" idx="2"/>
          </p:nvPr>
        </p:nvSpPr>
        <p:spPr>
          <a:xfrm>
            <a:off x="1034142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63"/>
          <p:cNvSpPr txBox="1"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63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63"/>
          <p:cNvSpPr txBox="1">
            <a:spLocks noGrp="1"/>
          </p:cNvSpPr>
          <p:nvPr>
            <p:ph type="body" idx="3"/>
          </p:nvPr>
        </p:nvSpPr>
        <p:spPr>
          <a:xfrm>
            <a:off x="4706975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63"/>
          <p:cNvSpPr txBox="1">
            <a:spLocks noGrp="1"/>
          </p:cNvSpPr>
          <p:nvPr>
            <p:ph type="body" idx="4"/>
          </p:nvPr>
        </p:nvSpPr>
        <p:spPr>
          <a:xfrm>
            <a:off x="4706975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63"/>
          <p:cNvSpPr txBox="1">
            <a:spLocks noGrp="1"/>
          </p:cNvSpPr>
          <p:nvPr>
            <p:ph type="body" idx="5"/>
          </p:nvPr>
        </p:nvSpPr>
        <p:spPr>
          <a:xfrm>
            <a:off x="8412200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63"/>
          <p:cNvSpPr txBox="1">
            <a:spLocks noGrp="1"/>
          </p:cNvSpPr>
          <p:nvPr>
            <p:ph type="body" idx="6"/>
          </p:nvPr>
        </p:nvSpPr>
        <p:spPr>
          <a:xfrm>
            <a:off x="8412200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 con la imagen E">
  <p:cSld name="Título y contenido con la imagen 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4"/>
          <p:cNvSpPr>
            <a:spLocks noGrp="1"/>
          </p:cNvSpPr>
          <p:nvPr>
            <p:ph type="pic" idx="2"/>
          </p:nvPr>
        </p:nvSpPr>
        <p:spPr>
          <a:xfrm>
            <a:off x="0" y="3"/>
            <a:ext cx="5288281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64"/>
          <p:cNvSpPr txBox="1"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4"/>
          <p:cNvSpPr txBox="1">
            <a:spLocks noGrp="1"/>
          </p:cNvSpPr>
          <p:nvPr>
            <p:ph type="body" idx="1"/>
          </p:nvPr>
        </p:nvSpPr>
        <p:spPr>
          <a:xfrm>
            <a:off x="7366082" y="3009550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64"/>
          <p:cNvSpPr txBox="1">
            <a:spLocks noGrp="1"/>
          </p:cNvSpPr>
          <p:nvPr>
            <p:ph type="body" idx="3"/>
          </p:nvPr>
        </p:nvSpPr>
        <p:spPr>
          <a:xfrm>
            <a:off x="7366082" y="4017086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64"/>
          <p:cNvSpPr txBox="1">
            <a:spLocks noGrp="1"/>
          </p:cNvSpPr>
          <p:nvPr>
            <p:ph type="body" idx="4"/>
          </p:nvPr>
        </p:nvSpPr>
        <p:spPr>
          <a:xfrm>
            <a:off x="7366082" y="4957948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64"/>
          <p:cNvSpPr txBox="1">
            <a:spLocks noGrp="1"/>
          </p:cNvSpPr>
          <p:nvPr>
            <p:ph type="body" idx="5"/>
          </p:nvPr>
        </p:nvSpPr>
        <p:spPr>
          <a:xfrm>
            <a:off x="6903720" y="2816574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1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64"/>
          <p:cNvSpPr txBox="1">
            <a:spLocks noGrp="1"/>
          </p:cNvSpPr>
          <p:nvPr>
            <p:ph type="body" idx="6"/>
          </p:nvPr>
        </p:nvSpPr>
        <p:spPr>
          <a:xfrm>
            <a:off x="6903720" y="3805802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1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64"/>
          <p:cNvSpPr txBox="1">
            <a:spLocks noGrp="1"/>
          </p:cNvSpPr>
          <p:nvPr>
            <p:ph type="body" idx="7"/>
          </p:nvPr>
        </p:nvSpPr>
        <p:spPr>
          <a:xfrm>
            <a:off x="6903721" y="4795030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1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64"/>
          <p:cNvSpPr txBox="1">
            <a:spLocks noGrp="1"/>
          </p:cNvSpPr>
          <p:nvPr>
            <p:ph type="body" idx="8"/>
          </p:nvPr>
        </p:nvSpPr>
        <p:spPr>
          <a:xfrm>
            <a:off x="8629106" y="3074238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64"/>
          <p:cNvSpPr txBox="1">
            <a:spLocks noGrp="1"/>
          </p:cNvSpPr>
          <p:nvPr>
            <p:ph type="body" idx="9"/>
          </p:nvPr>
        </p:nvSpPr>
        <p:spPr>
          <a:xfrm>
            <a:off x="8629106" y="4074889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64"/>
          <p:cNvSpPr txBox="1">
            <a:spLocks noGrp="1"/>
          </p:cNvSpPr>
          <p:nvPr>
            <p:ph type="body" idx="13"/>
          </p:nvPr>
        </p:nvSpPr>
        <p:spPr>
          <a:xfrm>
            <a:off x="8629106" y="5016921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 con títulos">
  <p:cSld name="Dos Contenido con título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5"/>
          <p:cNvSpPr txBox="1">
            <a:spLocks noGrp="1"/>
          </p:cNvSpPr>
          <p:nvPr>
            <p:ph type="body" idx="1"/>
          </p:nvPr>
        </p:nvSpPr>
        <p:spPr>
          <a:xfrm>
            <a:off x="838200" y="3429000"/>
            <a:ext cx="4114797" cy="274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65"/>
          <p:cNvSpPr txBox="1">
            <a:spLocks noGrp="1"/>
          </p:cNvSpPr>
          <p:nvPr>
            <p:ph type="body" idx="2"/>
          </p:nvPr>
        </p:nvSpPr>
        <p:spPr>
          <a:xfrm>
            <a:off x="7239003" y="3429000"/>
            <a:ext cx="4114797" cy="274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65"/>
          <p:cNvSpPr txBox="1">
            <a:spLocks noGrp="1"/>
          </p:cNvSpPr>
          <p:nvPr>
            <p:ph type="sldNum" idx="12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48" name="Google Shape;148;p65"/>
          <p:cNvSpPr txBox="1"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9" name="Google Shape;149;p65"/>
          <p:cNvCxnSpPr/>
          <p:nvPr/>
        </p:nvCxnSpPr>
        <p:spPr>
          <a:xfrm>
            <a:off x="6096000" y="2603500"/>
            <a:ext cx="0" cy="42545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65"/>
          <p:cNvSpPr/>
          <p:nvPr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5"/>
          <p:cNvSpPr txBox="1">
            <a:spLocks noGrp="1"/>
          </p:cNvSpPr>
          <p:nvPr>
            <p:ph type="body" idx="3"/>
          </p:nvPr>
        </p:nvSpPr>
        <p:spPr>
          <a:xfrm>
            <a:off x="838201" y="2413000"/>
            <a:ext cx="4114795" cy="49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2" name="Google Shape;152;p65"/>
          <p:cNvSpPr txBox="1">
            <a:spLocks noGrp="1"/>
          </p:cNvSpPr>
          <p:nvPr>
            <p:ph type="body" idx="4"/>
          </p:nvPr>
        </p:nvSpPr>
        <p:spPr>
          <a:xfrm>
            <a:off x="7239003" y="2413000"/>
            <a:ext cx="4114797" cy="49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3" name="Google Shape;153;p65"/>
          <p:cNvSpPr txBox="1">
            <a:spLocks noGrp="1"/>
          </p:cNvSpPr>
          <p:nvPr>
            <p:ph type="ftr" idx="11"/>
          </p:nvPr>
        </p:nvSpPr>
        <p:spPr>
          <a:xfrm>
            <a:off x="7239002" y="6356350"/>
            <a:ext cx="303846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scalando">
  <p:cSld name="Escalando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6"/>
          <p:cNvSpPr txBox="1">
            <a:spLocks noGrp="1"/>
          </p:cNvSpPr>
          <p:nvPr>
            <p:ph type="body" idx="1"/>
          </p:nvPr>
        </p:nvSpPr>
        <p:spPr>
          <a:xfrm>
            <a:off x="8157335" y="182200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66"/>
          <p:cNvSpPr txBox="1">
            <a:spLocks noGrp="1"/>
          </p:cNvSpPr>
          <p:nvPr>
            <p:ph type="body" idx="2"/>
          </p:nvPr>
        </p:nvSpPr>
        <p:spPr>
          <a:xfrm>
            <a:off x="8157335" y="216748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60" name="Google Shape;160;p66"/>
          <p:cNvSpPr txBox="1">
            <a:spLocks noGrp="1"/>
          </p:cNvSpPr>
          <p:nvPr>
            <p:ph type="body" idx="3"/>
          </p:nvPr>
        </p:nvSpPr>
        <p:spPr>
          <a:xfrm>
            <a:off x="7080795" y="333998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66"/>
          <p:cNvSpPr txBox="1">
            <a:spLocks noGrp="1"/>
          </p:cNvSpPr>
          <p:nvPr>
            <p:ph type="body" idx="4"/>
          </p:nvPr>
        </p:nvSpPr>
        <p:spPr>
          <a:xfrm>
            <a:off x="7080795" y="368546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66"/>
          <p:cNvSpPr txBox="1">
            <a:spLocks noGrp="1"/>
          </p:cNvSpPr>
          <p:nvPr>
            <p:ph type="body" idx="5"/>
          </p:nvPr>
        </p:nvSpPr>
        <p:spPr>
          <a:xfrm>
            <a:off x="6231710" y="485796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66"/>
          <p:cNvSpPr txBox="1">
            <a:spLocks noGrp="1"/>
          </p:cNvSpPr>
          <p:nvPr>
            <p:ph type="body" idx="6"/>
          </p:nvPr>
        </p:nvSpPr>
        <p:spPr>
          <a:xfrm>
            <a:off x="6231710" y="520344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4" name="Google Shape;164;p66"/>
          <p:cNvCxnSpPr/>
          <p:nvPr/>
        </p:nvCxnSpPr>
        <p:spPr>
          <a:xfrm rot="10800000" flipH="1">
            <a:off x="4369950" y="805543"/>
            <a:ext cx="3648352" cy="60521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lg" len="lg"/>
          </a:ln>
        </p:spPr>
      </p:cxnSp>
      <p:sp>
        <p:nvSpPr>
          <p:cNvPr id="165" name="Google Shape;165;p66"/>
          <p:cNvSpPr txBox="1"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6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8"/>
          <p:cNvSpPr txBox="1"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5" name="Google Shape;175;p68"/>
          <p:cNvSpPr txBox="1">
            <a:spLocks noGrp="1"/>
          </p:cNvSpPr>
          <p:nvPr>
            <p:ph type="body" idx="2"/>
          </p:nvPr>
        </p:nvSpPr>
        <p:spPr>
          <a:xfrm>
            <a:off x="1034142" y="3162300"/>
            <a:ext cx="5544458" cy="302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68"/>
          <p:cNvSpPr txBox="1">
            <a:spLocks noGrp="1"/>
          </p:cNvSpPr>
          <p:nvPr>
            <p:ph type="body" idx="3"/>
          </p:nvPr>
        </p:nvSpPr>
        <p:spPr>
          <a:xfrm>
            <a:off x="7240588" y="2046288"/>
            <a:ext cx="41148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7" name="Google Shape;177;p68"/>
          <p:cNvSpPr txBox="1">
            <a:spLocks noGrp="1"/>
          </p:cNvSpPr>
          <p:nvPr>
            <p:ph type="body" idx="4"/>
          </p:nvPr>
        </p:nvSpPr>
        <p:spPr>
          <a:xfrm>
            <a:off x="7240588" y="3162300"/>
            <a:ext cx="4114800" cy="302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81" name="Google Shape;181;p68"/>
          <p:cNvSpPr txBox="1"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2" name="Google Shape;182;p68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>
  <p:cSld name="Título y contenido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9"/>
          <p:cNvSpPr txBox="1">
            <a:spLocks noGrp="1"/>
          </p:cNvSpPr>
          <p:nvPr>
            <p:ph type="body" idx="1"/>
          </p:nvPr>
        </p:nvSpPr>
        <p:spPr>
          <a:xfrm>
            <a:off x="1034142" y="1850572"/>
            <a:ext cx="10134601" cy="40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88" name="Google Shape;188;p69"/>
          <p:cNvSpPr txBox="1"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quipo - 4 arriba">
  <p:cSld name="Equipo - 4 arriba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0"/>
          <p:cNvSpPr>
            <a:spLocks noGrp="1"/>
          </p:cNvSpPr>
          <p:nvPr>
            <p:ph type="pic" idx="2"/>
          </p:nvPr>
        </p:nvSpPr>
        <p:spPr>
          <a:xfrm>
            <a:off x="8804817" y="2233881"/>
            <a:ext cx="3387182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70"/>
          <p:cNvSpPr>
            <a:spLocks noGrp="1"/>
          </p:cNvSpPr>
          <p:nvPr>
            <p:ph type="pic" idx="3"/>
          </p:nvPr>
        </p:nvSpPr>
        <p:spPr>
          <a:xfrm>
            <a:off x="5690016" y="2233881"/>
            <a:ext cx="3917851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70"/>
          <p:cNvSpPr>
            <a:spLocks noGrp="1"/>
          </p:cNvSpPr>
          <p:nvPr>
            <p:ph type="pic" idx="4"/>
          </p:nvPr>
        </p:nvSpPr>
        <p:spPr>
          <a:xfrm>
            <a:off x="2575215" y="2233881"/>
            <a:ext cx="3917851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70"/>
          <p:cNvSpPr>
            <a:spLocks noGrp="1"/>
          </p:cNvSpPr>
          <p:nvPr>
            <p:ph type="pic" idx="5"/>
          </p:nvPr>
        </p:nvSpPr>
        <p:spPr>
          <a:xfrm>
            <a:off x="0" y="2233881"/>
            <a:ext cx="3378263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97" name="Google Shape;197;p70"/>
          <p:cNvSpPr txBox="1"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70"/>
          <p:cNvSpPr txBox="1">
            <a:spLocks noGrp="1"/>
          </p:cNvSpPr>
          <p:nvPr>
            <p:ph type="body" idx="1"/>
          </p:nvPr>
        </p:nvSpPr>
        <p:spPr>
          <a:xfrm>
            <a:off x="3554933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70"/>
          <p:cNvSpPr txBox="1">
            <a:spLocks noGrp="1"/>
          </p:cNvSpPr>
          <p:nvPr>
            <p:ph type="body" idx="6"/>
          </p:nvPr>
        </p:nvSpPr>
        <p:spPr>
          <a:xfrm>
            <a:off x="3554932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70"/>
          <p:cNvSpPr txBox="1">
            <a:spLocks noGrp="1"/>
          </p:cNvSpPr>
          <p:nvPr>
            <p:ph type="body" idx="7"/>
          </p:nvPr>
        </p:nvSpPr>
        <p:spPr>
          <a:xfrm>
            <a:off x="931476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70"/>
          <p:cNvSpPr txBox="1">
            <a:spLocks noGrp="1"/>
          </p:cNvSpPr>
          <p:nvPr>
            <p:ph type="body" idx="8"/>
          </p:nvPr>
        </p:nvSpPr>
        <p:spPr>
          <a:xfrm>
            <a:off x="931475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70"/>
          <p:cNvSpPr txBox="1">
            <a:spLocks noGrp="1"/>
          </p:cNvSpPr>
          <p:nvPr>
            <p:ph type="body" idx="9"/>
          </p:nvPr>
        </p:nvSpPr>
        <p:spPr>
          <a:xfrm>
            <a:off x="6177835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70"/>
          <p:cNvSpPr txBox="1">
            <a:spLocks noGrp="1"/>
          </p:cNvSpPr>
          <p:nvPr>
            <p:ph type="body" idx="13"/>
          </p:nvPr>
        </p:nvSpPr>
        <p:spPr>
          <a:xfrm>
            <a:off x="6177834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70"/>
          <p:cNvSpPr txBox="1">
            <a:spLocks noGrp="1"/>
          </p:cNvSpPr>
          <p:nvPr>
            <p:ph type="body" idx="14"/>
          </p:nvPr>
        </p:nvSpPr>
        <p:spPr>
          <a:xfrm>
            <a:off x="8800181" y="5057897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70"/>
          <p:cNvSpPr txBox="1">
            <a:spLocks noGrp="1"/>
          </p:cNvSpPr>
          <p:nvPr>
            <p:ph type="body" idx="15"/>
          </p:nvPr>
        </p:nvSpPr>
        <p:spPr>
          <a:xfrm>
            <a:off x="8800180" y="5403373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quipo - 8 arriba">
  <p:cSld name="Equipo - 8 arriba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1"/>
          <p:cNvSpPr>
            <a:spLocks noGrp="1"/>
          </p:cNvSpPr>
          <p:nvPr>
            <p:ph type="pic" idx="2"/>
          </p:nvPr>
        </p:nvSpPr>
        <p:spPr>
          <a:xfrm>
            <a:off x="10383802" y="3121794"/>
            <a:ext cx="1808198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71"/>
          <p:cNvSpPr>
            <a:spLocks noGrp="1"/>
          </p:cNvSpPr>
          <p:nvPr>
            <p:ph type="pic" idx="3"/>
          </p:nvPr>
        </p:nvSpPr>
        <p:spPr>
          <a:xfrm>
            <a:off x="8900427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71"/>
          <p:cNvSpPr>
            <a:spLocks noGrp="1"/>
          </p:cNvSpPr>
          <p:nvPr>
            <p:ph type="pic" idx="4"/>
          </p:nvPr>
        </p:nvSpPr>
        <p:spPr>
          <a:xfrm>
            <a:off x="7416963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71"/>
          <p:cNvSpPr>
            <a:spLocks noGrp="1"/>
          </p:cNvSpPr>
          <p:nvPr>
            <p:ph type="pic" idx="5"/>
          </p:nvPr>
        </p:nvSpPr>
        <p:spPr>
          <a:xfrm>
            <a:off x="5933589" y="3121794"/>
            <a:ext cx="1799125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71"/>
          <p:cNvSpPr>
            <a:spLocks noGrp="1"/>
          </p:cNvSpPr>
          <p:nvPr>
            <p:ph type="pic" idx="6"/>
          </p:nvPr>
        </p:nvSpPr>
        <p:spPr>
          <a:xfrm>
            <a:off x="4450214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71"/>
          <p:cNvSpPr>
            <a:spLocks noGrp="1"/>
          </p:cNvSpPr>
          <p:nvPr>
            <p:ph type="pic" idx="7"/>
          </p:nvPr>
        </p:nvSpPr>
        <p:spPr>
          <a:xfrm>
            <a:off x="2966838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71"/>
          <p:cNvSpPr>
            <a:spLocks noGrp="1"/>
          </p:cNvSpPr>
          <p:nvPr>
            <p:ph type="pic" idx="8"/>
          </p:nvPr>
        </p:nvSpPr>
        <p:spPr>
          <a:xfrm>
            <a:off x="1483375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71"/>
          <p:cNvSpPr>
            <a:spLocks noGrp="1"/>
          </p:cNvSpPr>
          <p:nvPr>
            <p:ph type="pic" idx="9"/>
          </p:nvPr>
        </p:nvSpPr>
        <p:spPr>
          <a:xfrm>
            <a:off x="1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218" name="Google Shape;218;p71"/>
          <p:cNvSpPr txBox="1"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71"/>
          <p:cNvSpPr txBox="1">
            <a:spLocks noGrp="1"/>
          </p:cNvSpPr>
          <p:nvPr>
            <p:ph type="body" idx="1"/>
          </p:nvPr>
        </p:nvSpPr>
        <p:spPr>
          <a:xfrm>
            <a:off x="0" y="2325820"/>
            <a:ext cx="1799279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71"/>
          <p:cNvSpPr txBox="1">
            <a:spLocks noGrp="1"/>
          </p:cNvSpPr>
          <p:nvPr>
            <p:ph type="body" idx="13"/>
          </p:nvPr>
        </p:nvSpPr>
        <p:spPr>
          <a:xfrm>
            <a:off x="409" y="2586626"/>
            <a:ext cx="1798870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71"/>
          <p:cNvSpPr txBox="1">
            <a:spLocks noGrp="1"/>
          </p:cNvSpPr>
          <p:nvPr>
            <p:ph type="body" idx="14"/>
          </p:nvPr>
        </p:nvSpPr>
        <p:spPr>
          <a:xfrm>
            <a:off x="3429000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71"/>
          <p:cNvSpPr txBox="1">
            <a:spLocks noGrp="1"/>
          </p:cNvSpPr>
          <p:nvPr>
            <p:ph type="body" idx="15"/>
          </p:nvPr>
        </p:nvSpPr>
        <p:spPr>
          <a:xfrm>
            <a:off x="3429005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71"/>
          <p:cNvSpPr txBox="1">
            <a:spLocks noGrp="1"/>
          </p:cNvSpPr>
          <p:nvPr>
            <p:ph type="body" idx="16"/>
          </p:nvPr>
        </p:nvSpPr>
        <p:spPr>
          <a:xfrm>
            <a:off x="6395597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71"/>
          <p:cNvSpPr txBox="1">
            <a:spLocks noGrp="1"/>
          </p:cNvSpPr>
          <p:nvPr>
            <p:ph type="body" idx="17"/>
          </p:nvPr>
        </p:nvSpPr>
        <p:spPr>
          <a:xfrm>
            <a:off x="6395602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71"/>
          <p:cNvSpPr txBox="1">
            <a:spLocks noGrp="1"/>
          </p:cNvSpPr>
          <p:nvPr>
            <p:ph type="body" idx="18"/>
          </p:nvPr>
        </p:nvSpPr>
        <p:spPr>
          <a:xfrm>
            <a:off x="9371508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71"/>
          <p:cNvSpPr txBox="1">
            <a:spLocks noGrp="1"/>
          </p:cNvSpPr>
          <p:nvPr>
            <p:ph type="body" idx="19"/>
          </p:nvPr>
        </p:nvSpPr>
        <p:spPr>
          <a:xfrm>
            <a:off x="9371513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71"/>
          <p:cNvSpPr txBox="1">
            <a:spLocks noGrp="1"/>
          </p:cNvSpPr>
          <p:nvPr>
            <p:ph type="body" idx="20"/>
          </p:nvPr>
        </p:nvSpPr>
        <p:spPr>
          <a:xfrm>
            <a:off x="1483375" y="450748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71"/>
          <p:cNvSpPr txBox="1">
            <a:spLocks noGrp="1"/>
          </p:cNvSpPr>
          <p:nvPr>
            <p:ph type="body" idx="21"/>
          </p:nvPr>
        </p:nvSpPr>
        <p:spPr>
          <a:xfrm>
            <a:off x="1483380" y="476828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71"/>
          <p:cNvSpPr txBox="1">
            <a:spLocks noGrp="1"/>
          </p:cNvSpPr>
          <p:nvPr>
            <p:ph type="body" idx="22"/>
          </p:nvPr>
        </p:nvSpPr>
        <p:spPr>
          <a:xfrm>
            <a:off x="4457493" y="450748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71"/>
          <p:cNvSpPr txBox="1">
            <a:spLocks noGrp="1"/>
          </p:cNvSpPr>
          <p:nvPr>
            <p:ph type="body" idx="23"/>
          </p:nvPr>
        </p:nvSpPr>
        <p:spPr>
          <a:xfrm>
            <a:off x="4457498" y="476828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71"/>
          <p:cNvSpPr txBox="1">
            <a:spLocks noGrp="1"/>
          </p:cNvSpPr>
          <p:nvPr>
            <p:ph type="body" idx="24"/>
          </p:nvPr>
        </p:nvSpPr>
        <p:spPr>
          <a:xfrm>
            <a:off x="7416963" y="4502202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71"/>
          <p:cNvSpPr txBox="1">
            <a:spLocks noGrp="1"/>
          </p:cNvSpPr>
          <p:nvPr>
            <p:ph type="body" idx="25"/>
          </p:nvPr>
        </p:nvSpPr>
        <p:spPr>
          <a:xfrm>
            <a:off x="7416968" y="4763008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71"/>
          <p:cNvSpPr txBox="1">
            <a:spLocks noGrp="1"/>
          </p:cNvSpPr>
          <p:nvPr>
            <p:ph type="body" idx="26"/>
          </p:nvPr>
        </p:nvSpPr>
        <p:spPr>
          <a:xfrm>
            <a:off x="10376433" y="4527297"/>
            <a:ext cx="1799279" cy="32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71"/>
          <p:cNvSpPr txBox="1">
            <a:spLocks noGrp="1"/>
          </p:cNvSpPr>
          <p:nvPr>
            <p:ph type="body" idx="27"/>
          </p:nvPr>
        </p:nvSpPr>
        <p:spPr>
          <a:xfrm>
            <a:off x="10376438" y="4788103"/>
            <a:ext cx="1798870" cy="36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contenido 4 con iconos">
  <p:cSld name="Columna de contenido 4 con icono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2"/>
          <p:cNvSpPr txBox="1"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240" name="Google Shape;240;p72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241;p72"/>
          <p:cNvSpPr txBox="1"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2" name="Google Shape;242;p72"/>
          <p:cNvSpPr txBox="1">
            <a:spLocks noGrp="1"/>
          </p:cNvSpPr>
          <p:nvPr>
            <p:ph type="body" idx="2"/>
          </p:nvPr>
        </p:nvSpPr>
        <p:spPr>
          <a:xfrm>
            <a:off x="838200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72"/>
          <p:cNvSpPr txBox="1">
            <a:spLocks noGrp="1"/>
          </p:cNvSpPr>
          <p:nvPr>
            <p:ph type="body" idx="3"/>
          </p:nvPr>
        </p:nvSpPr>
        <p:spPr>
          <a:xfrm>
            <a:off x="3562665" y="3788813"/>
            <a:ext cx="2342205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4" name="Google Shape;244;p72"/>
          <p:cNvSpPr txBox="1">
            <a:spLocks noGrp="1"/>
          </p:cNvSpPr>
          <p:nvPr>
            <p:ph type="body" idx="4"/>
          </p:nvPr>
        </p:nvSpPr>
        <p:spPr>
          <a:xfrm>
            <a:off x="3562665" y="5120722"/>
            <a:ext cx="2342205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72"/>
          <p:cNvSpPr txBox="1">
            <a:spLocks noGrp="1"/>
          </p:cNvSpPr>
          <p:nvPr>
            <p:ph type="body" idx="5"/>
          </p:nvPr>
        </p:nvSpPr>
        <p:spPr>
          <a:xfrm>
            <a:off x="6298609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6" name="Google Shape;246;p72"/>
          <p:cNvSpPr txBox="1">
            <a:spLocks noGrp="1"/>
          </p:cNvSpPr>
          <p:nvPr>
            <p:ph type="body" idx="6"/>
          </p:nvPr>
        </p:nvSpPr>
        <p:spPr>
          <a:xfrm>
            <a:off x="6298609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72"/>
          <p:cNvSpPr txBox="1">
            <a:spLocks noGrp="1"/>
          </p:cNvSpPr>
          <p:nvPr>
            <p:ph type="body" idx="7"/>
          </p:nvPr>
        </p:nvSpPr>
        <p:spPr>
          <a:xfrm>
            <a:off x="9023074" y="3788457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8" name="Google Shape;248;p72"/>
          <p:cNvSpPr txBox="1">
            <a:spLocks noGrp="1"/>
          </p:cNvSpPr>
          <p:nvPr>
            <p:ph type="body" idx="8"/>
          </p:nvPr>
        </p:nvSpPr>
        <p:spPr>
          <a:xfrm>
            <a:off x="9023074" y="5120366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72"/>
          <p:cNvSpPr txBox="1">
            <a:spLocks noGrp="1"/>
          </p:cNvSpPr>
          <p:nvPr>
            <p:ph type="body" idx="9"/>
          </p:nvPr>
        </p:nvSpPr>
        <p:spPr>
          <a:xfrm>
            <a:off x="838200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0" name="Google Shape;250;p72"/>
          <p:cNvSpPr txBox="1">
            <a:spLocks noGrp="1"/>
          </p:cNvSpPr>
          <p:nvPr>
            <p:ph type="body" idx="13"/>
          </p:nvPr>
        </p:nvSpPr>
        <p:spPr>
          <a:xfrm>
            <a:off x="6298609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1" name="Google Shape;251;p72"/>
          <p:cNvSpPr txBox="1">
            <a:spLocks noGrp="1"/>
          </p:cNvSpPr>
          <p:nvPr>
            <p:ph type="body" idx="14"/>
          </p:nvPr>
        </p:nvSpPr>
        <p:spPr>
          <a:xfrm>
            <a:off x="9023074" y="4464454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2" name="Google Shape;252;p72"/>
          <p:cNvSpPr txBox="1">
            <a:spLocks noGrp="1"/>
          </p:cNvSpPr>
          <p:nvPr>
            <p:ph type="body" idx="15"/>
          </p:nvPr>
        </p:nvSpPr>
        <p:spPr>
          <a:xfrm>
            <a:off x="3568700" y="4464453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 con la imagen M">
  <p:cSld name="Título y contenido con la imagen 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3"/>
          <p:cNvSpPr>
            <a:spLocks noGrp="1"/>
          </p:cNvSpPr>
          <p:nvPr>
            <p:ph type="pic" idx="2"/>
          </p:nvPr>
        </p:nvSpPr>
        <p:spPr>
          <a:xfrm>
            <a:off x="0" y="0"/>
            <a:ext cx="650804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73"/>
          <p:cNvSpPr txBox="1">
            <a:spLocks noGrp="1"/>
          </p:cNvSpPr>
          <p:nvPr>
            <p:ph type="body" idx="1"/>
          </p:nvPr>
        </p:nvSpPr>
        <p:spPr>
          <a:xfrm>
            <a:off x="7260771" y="4136571"/>
            <a:ext cx="3907972" cy="188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6437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73"/>
          <p:cNvSpPr txBox="1">
            <a:spLocks noGrp="1"/>
          </p:cNvSpPr>
          <p:nvPr>
            <p:ph type="ftr" idx="11"/>
          </p:nvPr>
        </p:nvSpPr>
        <p:spPr>
          <a:xfrm>
            <a:off x="4332514" y="6356350"/>
            <a:ext cx="2175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259" name="Google Shape;259;p73"/>
          <p:cNvSpPr txBox="1"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60" name="Google Shape;260;p73"/>
          <p:cNvCxnSpPr/>
          <p:nvPr/>
        </p:nvCxnSpPr>
        <p:spPr>
          <a:xfrm>
            <a:off x="7271657" y="0"/>
            <a:ext cx="0" cy="3124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 blanco" type="blank">
  <p:cSld name="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2"/>
          <p:cNvSpPr txBox="1">
            <a:spLocks noGrp="1"/>
          </p:cNvSpPr>
          <p:nvPr>
            <p:ph type="dt" idx="10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52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273" name="Google Shape;273;p52"/>
          <p:cNvSpPr txBox="1">
            <a:spLocks noGrp="1"/>
          </p:cNvSpPr>
          <p:nvPr>
            <p:ph type="ftr" idx="11"/>
          </p:nvPr>
        </p:nvSpPr>
        <p:spPr>
          <a:xfrm>
            <a:off x="5850880" y="6658074"/>
            <a:ext cx="193040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" name="Google Shape;275;p53"/>
          <p:cNvGraphicFramePr/>
          <p:nvPr/>
        </p:nvGraphicFramePr>
        <p:xfrm>
          <a:off x="-25400" y="749300"/>
          <a:ext cx="12217400" cy="536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3" imgW="12217400" imgH="5360988" progId="">
                  <p:embed/>
                </p:oleObj>
              </mc:Choice>
              <mc:Fallback>
                <p:oleObj r:id="rId3" imgW="12217400" imgH="5360988" progId="">
                  <p:embed/>
                  <p:pic>
                    <p:nvPicPr>
                      <p:cNvPr id="275" name="Google Shape;275;p5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 r="2678"/>
                      <a:stretch/>
                    </p:blipFill>
                    <p:spPr>
                      <a:xfrm>
                        <a:off x="-25400" y="749300"/>
                        <a:ext cx="12217400" cy="536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Google Shape;276;p53"/>
          <p:cNvSpPr/>
          <p:nvPr/>
        </p:nvSpPr>
        <p:spPr>
          <a:xfrm>
            <a:off x="4095751" y="228600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53" descr="pie de pagina esp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864226"/>
            <a:ext cx="12192000" cy="106521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78" name="Google Shape;278;p53"/>
          <p:cNvSpPr txBox="1">
            <a:spLocks noGrp="1"/>
          </p:cNvSpPr>
          <p:nvPr>
            <p:ph type="dt" idx="10"/>
          </p:nvPr>
        </p:nvSpPr>
        <p:spPr>
          <a:xfrm>
            <a:off x="513589" y="5661248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53"/>
          <p:cNvSpPr txBox="1">
            <a:spLocks noGrp="1"/>
          </p:cNvSpPr>
          <p:nvPr>
            <p:ph type="ftr" idx="11"/>
          </p:nvPr>
        </p:nvSpPr>
        <p:spPr>
          <a:xfrm>
            <a:off x="5850880" y="5662451"/>
            <a:ext cx="193040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53"/>
          <p:cNvSpPr txBox="1">
            <a:spLocks noGrp="1"/>
          </p:cNvSpPr>
          <p:nvPr>
            <p:ph type="sldNum" idx="12"/>
          </p:nvPr>
        </p:nvSpPr>
        <p:spPr>
          <a:xfrm>
            <a:off x="10416480" y="5662451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VERSIÓN: </a:t>
            </a:r>
            <a:r>
              <a:rPr lang="es-ES" b="0"/>
              <a:t>1.1</a:t>
            </a:r>
            <a:endParaRPr/>
          </a:p>
        </p:txBody>
      </p:sp>
      <p:pic>
        <p:nvPicPr>
          <p:cNvPr id="281" name="Google Shape;281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469" y="222164"/>
            <a:ext cx="2976000" cy="576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" name="Google Shape;284;p7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" name="Google Shape;287;p7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7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76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7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7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7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7" name="Google Shape;297;p7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8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8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7" name="Google Shape;307;p8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8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1" name="Google Shape;311;p82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3"/>
          <p:cNvSpPr txBox="1">
            <a:spLocks noGrp="1"/>
          </p:cNvSpPr>
          <p:nvPr>
            <p:ph type="title"/>
          </p:nvPr>
        </p:nvSpPr>
        <p:spPr>
          <a:xfrm rot="5400000">
            <a:off x="7285039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Google Shape;314;p83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1"/>
          <p:cNvSpPr/>
          <p:nvPr/>
        </p:nvSpPr>
        <p:spPr>
          <a:xfrm>
            <a:off x="0" y="1"/>
            <a:ext cx="12192000" cy="620713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EB78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1"/>
          <p:cNvSpPr/>
          <p:nvPr/>
        </p:nvSpPr>
        <p:spPr>
          <a:xfrm rot="10800000">
            <a:off x="1" y="6308726"/>
            <a:ext cx="10513484" cy="549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EB78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51"/>
          <p:cNvCxnSpPr/>
          <p:nvPr/>
        </p:nvCxnSpPr>
        <p:spPr>
          <a:xfrm>
            <a:off x="33868" y="6235700"/>
            <a:ext cx="8879417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51"/>
          <p:cNvCxnSpPr/>
          <p:nvPr/>
        </p:nvCxnSpPr>
        <p:spPr>
          <a:xfrm>
            <a:off x="33868" y="6283325"/>
            <a:ext cx="8879417" cy="0"/>
          </a:xfrm>
          <a:prstGeom prst="straightConnector1">
            <a:avLst/>
          </a:prstGeom>
          <a:noFill/>
          <a:ln w="38100" cap="flat" cmpd="sng">
            <a:solidFill>
              <a:srgbClr val="0066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51"/>
          <p:cNvSpPr txBox="1">
            <a:spLocks noGrp="1"/>
          </p:cNvSpPr>
          <p:nvPr>
            <p:ph type="dt" idx="10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51"/>
          <p:cNvSpPr txBox="1">
            <a:spLocks noGrp="1"/>
          </p:cNvSpPr>
          <p:nvPr>
            <p:ph type="ftr" idx="11"/>
          </p:nvPr>
        </p:nvSpPr>
        <p:spPr>
          <a:xfrm>
            <a:off x="5850880" y="6658074"/>
            <a:ext cx="193040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51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VERSIÓN: </a:t>
            </a:r>
            <a:r>
              <a:rPr lang="es-ES" b="0"/>
              <a:t>1.1</a:t>
            </a:r>
            <a:endParaRPr sz="1400" b="0">
              <a:solidFill>
                <a:srgbClr val="000000"/>
              </a:solidFill>
            </a:endParaRPr>
          </a:p>
        </p:txBody>
      </p:sp>
      <p:pic>
        <p:nvPicPr>
          <p:cNvPr id="269" name="Google Shape;269;p5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933619" y="5981170"/>
            <a:ext cx="2976000" cy="57644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5.xml"/><Relationship Id="rId3" Type="http://schemas.openxmlformats.org/officeDocument/2006/relationships/slide" Target="slide3.xml"/><Relationship Id="rId7" Type="http://schemas.openxmlformats.org/officeDocument/2006/relationships/slide" Target="slide13.xml"/><Relationship Id="rId12" Type="http://schemas.openxmlformats.org/officeDocument/2006/relationships/slide" Target="slide29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2.xml"/><Relationship Id="rId6" Type="http://schemas.openxmlformats.org/officeDocument/2006/relationships/slide" Target="slide7.xml"/><Relationship Id="rId11" Type="http://schemas.openxmlformats.org/officeDocument/2006/relationships/slide" Target="slide28.xml"/><Relationship Id="rId5" Type="http://schemas.openxmlformats.org/officeDocument/2006/relationships/slide" Target="slide5.xml"/><Relationship Id="rId15" Type="http://schemas.openxmlformats.org/officeDocument/2006/relationships/slide" Target="slide44.xml"/><Relationship Id="rId10" Type="http://schemas.openxmlformats.org/officeDocument/2006/relationships/slide" Target="slide27.xml"/><Relationship Id="rId4" Type="http://schemas.openxmlformats.org/officeDocument/2006/relationships/slide" Target="slide4.xml"/><Relationship Id="rId9" Type="http://schemas.openxmlformats.org/officeDocument/2006/relationships/slide" Target="slide18.xml"/><Relationship Id="rId14" Type="http://schemas.openxmlformats.org/officeDocument/2006/relationships/slide" Target="slide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office.com/es-es/article/mensajes-de-correo-0f123521-20ce-4aa8-8b62-ac211dedefa4" TargetMode="External"/><Relationship Id="rId3" Type="http://schemas.openxmlformats.org/officeDocument/2006/relationships/image" Target="../media/image44.png"/><Relationship Id="rId7" Type="http://schemas.openxmlformats.org/officeDocument/2006/relationships/hyperlink" Target="https://support.office.com/es-es/article/sobres-654d563e-e9d6-47b5-b7bd-539064938b9d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support.office.com/es-es/article/cartas-d7686bb1-3077-4af3-926b-8c825e9505a3" TargetMode="External"/><Relationship Id="rId5" Type="http://schemas.openxmlformats.org/officeDocument/2006/relationships/hyperlink" Target="https://support.office.com/es-es/article/etiquetas-276a2cd1-74d2-43d0-ab5a-b90460358ad5" TargetMode="Externa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" descr="primer plano de una niña escribiendo&#10;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9775"/>
            <a:ext cx="1219200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"/>
          <p:cNvSpPr txBox="1">
            <a:spLocks noGrp="1"/>
          </p:cNvSpPr>
          <p:nvPr>
            <p:ph type="ctrTitle"/>
          </p:nvPr>
        </p:nvSpPr>
        <p:spPr>
          <a:xfrm>
            <a:off x="1169152" y="2330200"/>
            <a:ext cx="110811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ES"/>
              <a:t>UNIVERSIDAD DE LAS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ES"/>
              <a:t> FUERZAS ARMADAS  ESPE</a:t>
            </a:r>
            <a:endParaRPr/>
          </a:p>
        </p:txBody>
      </p:sp>
      <p:cxnSp>
        <p:nvCxnSpPr>
          <p:cNvPr id="322" name="Google Shape;322;p1"/>
          <p:cNvCxnSpPr/>
          <p:nvPr/>
        </p:nvCxnSpPr>
        <p:spPr>
          <a:xfrm>
            <a:off x="965821" y="1902810"/>
            <a:ext cx="0" cy="1534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3" name="Google Shape;323;p1"/>
          <p:cNvCxnSpPr/>
          <p:nvPr/>
        </p:nvCxnSpPr>
        <p:spPr>
          <a:xfrm rot="10800000">
            <a:off x="4245428" y="5655432"/>
            <a:ext cx="3318888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4" name="Google Shape;324;p1"/>
          <p:cNvSpPr txBox="1"/>
          <p:nvPr/>
        </p:nvSpPr>
        <p:spPr>
          <a:xfrm>
            <a:off x="8672666" y="5375700"/>
            <a:ext cx="6006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NIVELACIÓN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Asignatura OFIMÁTICA 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"/>
          <p:cNvPicPr preferRelativeResize="0"/>
          <p:nvPr/>
        </p:nvPicPr>
        <p:blipFill rotWithShape="1">
          <a:blip r:embed="rId4">
            <a:alphaModFix/>
          </a:blip>
          <a:srcRect t="9614" b="8492"/>
          <a:stretch/>
        </p:blipFill>
        <p:spPr>
          <a:xfrm>
            <a:off x="7564325" y="0"/>
            <a:ext cx="4627674" cy="976675"/>
          </a:xfrm>
          <a:prstGeom prst="rect">
            <a:avLst/>
          </a:prstGeom>
          <a:noFill/>
          <a:ln>
            <a:noFill/>
          </a:ln>
          <a:effectLst>
            <a:outerShdw blurRad="442913" dist="18097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332" name="Google Shape;332;p3"/>
          <p:cNvSpPr txBox="1"/>
          <p:nvPr/>
        </p:nvSpPr>
        <p:spPr>
          <a:xfrm>
            <a:off x="2913355" y="2324641"/>
            <a:ext cx="63654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36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TEMA </a:t>
            </a:r>
            <a:r>
              <a:rPr lang="es-ES" sz="3600" b="1" i="0" u="none" strike="noStrike" cap="none" dirty="0" smtClean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C" sz="3600" b="1" i="0" u="none" strike="noStrike" cap="none" dirty="0" smtClean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TABLAS Y GRÁFICOS DINÁMICOS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"/>
          <p:cNvSpPr txBox="1">
            <a:spLocks noGrp="1"/>
          </p:cNvSpPr>
          <p:nvPr>
            <p:ph type="body" idx="1"/>
          </p:nvPr>
        </p:nvSpPr>
        <p:spPr>
          <a:xfrm flipH="1">
            <a:off x="12145963" y="3059113"/>
            <a:ext cx="4603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"/>
          <p:cNvSpPr txBox="1"/>
          <p:nvPr/>
        </p:nvSpPr>
        <p:spPr>
          <a:xfrm>
            <a:off x="2940800" y="106025"/>
            <a:ext cx="5062200" cy="9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0. CONTENIDOS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1" name="Google Shape;341;p4"/>
          <p:cNvGraphicFramePr/>
          <p:nvPr/>
        </p:nvGraphicFramePr>
        <p:xfrm>
          <a:off x="2163490" y="716247"/>
          <a:ext cx="6604750" cy="5425580"/>
        </p:xfrm>
        <a:graphic>
          <a:graphicData uri="http://schemas.openxmlformats.org/drawingml/2006/table">
            <a:tbl>
              <a:tblPr firstRow="1" bandRow="1">
                <a:noFill/>
                <a:tableStyleId>{4E668A3A-43F3-486C-AC8A-883A90ED3EB0}</a:tableStyleId>
              </a:tblPr>
              <a:tblGrid>
                <a:gridCol w="4381850"/>
                <a:gridCol w="2222900"/>
              </a:tblGrid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>
                          <a:solidFill>
                            <a:schemeClr val="dk1"/>
                          </a:solidFill>
                        </a:rPr>
                        <a:t>Componente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>
                          <a:solidFill>
                            <a:schemeClr val="dk1"/>
                          </a:solidFill>
                        </a:rPr>
                        <a:t>Diapositiva</a:t>
                      </a:r>
                      <a:endParaRPr sz="17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/>
                        <a:t>0. Contenidos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>
                          <a:solidFill>
                            <a:schemeClr val="hlink"/>
                          </a:solidFill>
                          <a:hlinkClick r:id="rId3" action="ppaction://hlinksldjump"/>
                        </a:rPr>
                        <a:t>3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>
                          <a:solidFill>
                            <a:schemeClr val="dk1"/>
                          </a:solidFill>
                        </a:rPr>
                        <a:t>1. Procesador de Texto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>
                          <a:solidFill>
                            <a:schemeClr val="hlink"/>
                          </a:solidFill>
                          <a:hlinkClick r:id="rId4" action="ppaction://hlinksldjump"/>
                        </a:rPr>
                        <a:t>4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>
                          <a:solidFill>
                            <a:schemeClr val="dk1"/>
                          </a:solidFill>
                        </a:rPr>
                        <a:t>2. Pestañas de Word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>
                          <a:solidFill>
                            <a:schemeClr val="hlink"/>
                          </a:solidFill>
                          <a:hlinkClick r:id="rId5" action="ppaction://hlinksldjump"/>
                        </a:rPr>
                        <a:t>5</a:t>
                      </a:r>
                      <a:endParaRPr sz="17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3</a:t>
                      </a:r>
                      <a:r>
                        <a:rPr lang="es-ES" sz="1700" u="none" strike="noStrike" cap="none">
                          <a:solidFill>
                            <a:schemeClr val="dk1"/>
                          </a:solidFill>
                        </a:rPr>
                        <a:t>. Diseño y configuración de página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6" action="ppaction://hlinksldjump"/>
                        </a:rPr>
                        <a:t>7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4</a:t>
                      </a:r>
                      <a:r>
                        <a:rPr lang="es-ES" sz="1700" u="none" strike="noStrike" cap="none">
                          <a:solidFill>
                            <a:schemeClr val="dk1"/>
                          </a:solidFill>
                        </a:rPr>
                        <a:t>. Estilos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7" action="ppaction://hlinksldjump"/>
                        </a:rPr>
                        <a:t>13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5. Estilos de Diseño 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8" action="ppaction://hlinksldjump"/>
                        </a:rPr>
                        <a:t>17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/>
                        <a:t>6. Inserción de Objetos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9" action="ppaction://hlinksldjump"/>
                        </a:rPr>
                        <a:t>18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7. Ejercicio 1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10" action="ppaction://hlinksldjump"/>
                        </a:rPr>
                        <a:t>27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8. Ejercicio 2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11" action="ppaction://hlinksldjump"/>
                        </a:rPr>
                        <a:t>28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9. Combinación de Correspondencia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12" action="ppaction://hlinksldjump"/>
                        </a:rPr>
                        <a:t>29</a:t>
                      </a:r>
                      <a:endParaRPr sz="1700" u="none" strike="noStrike" cap="none"/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/>
                        <a:t>10. Formularios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13" action="ppaction://hlinksldjump"/>
                        </a:rPr>
                        <a:t>35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strike="noStrike" cap="none"/>
                        <a:t>11. Ejercicio 3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14" action="ppaction://hlinksldjump"/>
                        </a:rPr>
                        <a:t>43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strike="noStrike" cap="none"/>
                        <a:t>12. Ejercicio 4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strike="noStrike" cap="none">
                          <a:solidFill>
                            <a:schemeClr val="hlink"/>
                          </a:solidFill>
                          <a:hlinkClick r:id="rId15" action="ppaction://hlinksldjump"/>
                        </a:rPr>
                        <a:t>44</a:t>
                      </a:r>
                      <a:endParaRPr sz="17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50" name="Picture 2" descr="Archivo:Microsoft Excel 2013-2019 logo.svg - Wikipedia, la enciclopedia  libre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357" y="4371976"/>
            <a:ext cx="1546508" cy="146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"/>
          <p:cNvSpPr txBox="1">
            <a:spLocks noGrp="1"/>
          </p:cNvSpPr>
          <p:nvPr>
            <p:ph type="title"/>
          </p:nvPr>
        </p:nvSpPr>
        <p:spPr>
          <a:xfrm>
            <a:off x="2944085" y="0"/>
            <a:ext cx="6303830" cy="92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34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s-ES" sz="3400" b="1" i="0" u="none" strike="noStrike" cap="none" dirty="0" smtClean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TABLAS DINÁMICAS</a:t>
            </a:r>
            <a:endParaRPr sz="3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45114">
            <a:off x="7127580" y="1524237"/>
            <a:ext cx="1562753" cy="930211"/>
          </a:xfrm>
          <a:prstGeom prst="rect">
            <a:avLst/>
          </a:prstGeom>
          <a:noFill/>
          <a:ln>
            <a:noFill/>
          </a:ln>
          <a:effectLst>
            <a:outerShdw blurRad="2857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49" name="Google Shape;34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58387">
            <a:off x="8453766" y="1074431"/>
            <a:ext cx="1626880" cy="1084587"/>
          </a:xfrm>
          <a:prstGeom prst="rect">
            <a:avLst/>
          </a:prstGeom>
          <a:noFill/>
          <a:ln>
            <a:noFill/>
          </a:ln>
          <a:effectLst>
            <a:outerShdw blurRad="357188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50" name="Google Shape;35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7151" y="925497"/>
            <a:ext cx="1815550" cy="1209754"/>
          </a:xfrm>
          <a:prstGeom prst="rect">
            <a:avLst/>
          </a:prstGeom>
          <a:noFill/>
          <a:ln>
            <a:noFill/>
          </a:ln>
          <a:effectLst>
            <a:outerShdw blurRad="22860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51" name="Google Shape;35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753750">
            <a:off x="6539649" y="2592974"/>
            <a:ext cx="5244276" cy="2951177"/>
          </a:xfrm>
          <a:prstGeom prst="rect">
            <a:avLst/>
          </a:prstGeom>
          <a:noFill/>
          <a:ln>
            <a:noFill/>
          </a:ln>
          <a:effectLst>
            <a:outerShdw blurRad="185738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52" name="Google Shape;352;p5"/>
          <p:cNvSpPr txBox="1"/>
          <p:nvPr/>
        </p:nvSpPr>
        <p:spPr>
          <a:xfrm>
            <a:off x="556266" y="1897030"/>
            <a:ext cx="61731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software que permite: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crear,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documentos con formatos y objetos,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almacenarlos electrónicamente en la computadora.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4"/>
          <p:cNvSpPr txBox="1"/>
          <p:nvPr/>
        </p:nvSpPr>
        <p:spPr>
          <a:xfrm>
            <a:off x="3958711" y="0"/>
            <a:ext cx="6814064" cy="103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3400" b="1" i="0" u="none" strike="noStrike" cap="none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s-ES" sz="3400" b="1" i="0" u="none" strike="noStrike" cap="none" dirty="0" smtClean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CAMBIOS EN UNA TABLA DINÁMICA</a:t>
            </a:r>
            <a:endParaRPr sz="3400" b="1" i="0" u="none" strike="noStrike" cap="none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" name="Google Shape;358;p84"/>
          <p:cNvGrpSpPr/>
          <p:nvPr/>
        </p:nvGrpSpPr>
        <p:grpSpPr>
          <a:xfrm>
            <a:off x="842696" y="924738"/>
            <a:ext cx="2113581" cy="4617884"/>
            <a:chOff x="478930" y="74"/>
            <a:chExt cx="1718498" cy="4157634"/>
          </a:xfrm>
        </p:grpSpPr>
        <p:sp>
          <p:nvSpPr>
            <p:cNvPr id="359" name="Google Shape;359;p84"/>
            <p:cNvSpPr/>
            <p:nvPr/>
          </p:nvSpPr>
          <p:spPr>
            <a:xfrm>
              <a:off x="531942" y="74"/>
              <a:ext cx="1612368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4"/>
            <p:cNvSpPr txBox="1"/>
            <p:nvPr/>
          </p:nvSpPr>
          <p:spPr>
            <a:xfrm>
              <a:off x="763428" y="85"/>
              <a:ext cx="1434000" cy="441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50" tIns="6975" rIns="0" bIns="69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Archivo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4"/>
            <p:cNvSpPr/>
            <p:nvPr/>
          </p:nvSpPr>
          <p:spPr>
            <a:xfrm>
              <a:off x="531942" y="527880"/>
              <a:ext cx="1583709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4"/>
            <p:cNvSpPr txBox="1"/>
            <p:nvPr/>
          </p:nvSpPr>
          <p:spPr>
            <a:xfrm>
              <a:off x="763428" y="527883"/>
              <a:ext cx="1434000" cy="46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Inicio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84"/>
            <p:cNvSpPr/>
            <p:nvPr/>
          </p:nvSpPr>
          <p:spPr>
            <a:xfrm>
              <a:off x="531942" y="1055687"/>
              <a:ext cx="1641050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4"/>
            <p:cNvSpPr txBox="1"/>
            <p:nvPr/>
          </p:nvSpPr>
          <p:spPr>
            <a:xfrm>
              <a:off x="763428" y="1055681"/>
              <a:ext cx="1434000" cy="50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Insertar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4"/>
            <p:cNvSpPr/>
            <p:nvPr/>
          </p:nvSpPr>
          <p:spPr>
            <a:xfrm>
              <a:off x="531942" y="1583494"/>
              <a:ext cx="1585873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4"/>
            <p:cNvSpPr txBox="1"/>
            <p:nvPr/>
          </p:nvSpPr>
          <p:spPr>
            <a:xfrm>
              <a:off x="763428" y="1583501"/>
              <a:ext cx="1434000" cy="4629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Disposición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4"/>
            <p:cNvSpPr/>
            <p:nvPr/>
          </p:nvSpPr>
          <p:spPr>
            <a:xfrm>
              <a:off x="531942" y="2111300"/>
              <a:ext cx="1585873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4"/>
            <p:cNvSpPr txBox="1"/>
            <p:nvPr/>
          </p:nvSpPr>
          <p:spPr>
            <a:xfrm>
              <a:off x="763428" y="2111299"/>
              <a:ext cx="1409700" cy="4629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Referencias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4"/>
            <p:cNvSpPr/>
            <p:nvPr/>
          </p:nvSpPr>
          <p:spPr>
            <a:xfrm>
              <a:off x="478930" y="2639107"/>
              <a:ext cx="1718392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4"/>
            <p:cNvSpPr txBox="1"/>
            <p:nvPr/>
          </p:nvSpPr>
          <p:spPr>
            <a:xfrm>
              <a:off x="763428" y="2660209"/>
              <a:ext cx="1409700" cy="4419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Correspondencia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4"/>
            <p:cNvSpPr/>
            <p:nvPr/>
          </p:nvSpPr>
          <p:spPr>
            <a:xfrm>
              <a:off x="531942" y="3166913"/>
              <a:ext cx="1641050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84"/>
            <p:cNvSpPr txBox="1"/>
            <p:nvPr/>
          </p:nvSpPr>
          <p:spPr>
            <a:xfrm>
              <a:off x="763428" y="3166917"/>
              <a:ext cx="1409700" cy="4629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Revisar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84"/>
            <p:cNvSpPr/>
            <p:nvPr/>
          </p:nvSpPr>
          <p:spPr>
            <a:xfrm>
              <a:off x="531942" y="3694720"/>
              <a:ext cx="1634545" cy="462988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84"/>
            <p:cNvSpPr txBox="1"/>
            <p:nvPr/>
          </p:nvSpPr>
          <p:spPr>
            <a:xfrm>
              <a:off x="763428" y="3694715"/>
              <a:ext cx="1409700" cy="4419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txBody>
            <a:bodyPr spcFirstLastPara="1" wrap="square" lIns="15225" tIns="7600" rIns="0" bIns="76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6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Vista</a:t>
              </a:r>
              <a:endPara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6a831723d_0_0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800" cy="21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382" name="Google Shape;382;g356a831723d_0_0"/>
          <p:cNvSpPr txBox="1"/>
          <p:nvPr/>
        </p:nvSpPr>
        <p:spPr>
          <a:xfrm>
            <a:off x="3263861" y="48175"/>
            <a:ext cx="5664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PESTAÑAS DE WORD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56a831723d_0_0"/>
          <p:cNvSpPr txBox="1"/>
          <p:nvPr/>
        </p:nvSpPr>
        <p:spPr>
          <a:xfrm>
            <a:off x="3263850" y="611575"/>
            <a:ext cx="56643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2400" b="1">
                <a:solidFill>
                  <a:srgbClr val="00B050"/>
                </a:solidFill>
              </a:rPr>
              <a:t>FICHA CONTEXTUAL Y OPCIONES</a:t>
            </a:r>
            <a:endParaRPr sz="2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56a831723d_0_0"/>
          <p:cNvSpPr txBox="1"/>
          <p:nvPr/>
        </p:nvSpPr>
        <p:spPr>
          <a:xfrm>
            <a:off x="8021475" y="1036375"/>
            <a:ext cx="3560700" cy="48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/>
              <a:t>Una ficha contextual aparece cuando se crean objetos como: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Imágenes,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Tablas,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Formas,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Gráficos,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Smart Art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Encabezados y pie de página.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Ecuaciones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Videos, entre otros.</a:t>
            </a:r>
            <a:endParaRPr sz="2000"/>
          </a:p>
        </p:txBody>
      </p:sp>
      <p:pic>
        <p:nvPicPr>
          <p:cNvPr id="385" name="Google Shape;385;g356a831723d_0_0"/>
          <p:cNvPicPr preferRelativeResize="0"/>
          <p:nvPr/>
        </p:nvPicPr>
        <p:blipFill rotWithShape="1">
          <a:blip r:embed="rId3">
            <a:alphaModFix/>
          </a:blip>
          <a:srcRect t="12319" r="-2019"/>
          <a:stretch/>
        </p:blipFill>
        <p:spPr>
          <a:xfrm>
            <a:off x="0" y="964875"/>
            <a:ext cx="7921224" cy="58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>
            <a:spLocks noGrp="1"/>
          </p:cNvSpPr>
          <p:nvPr>
            <p:ph type="dt" idx="10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7/01/20XX</a:t>
            </a:r>
            <a:endParaRPr/>
          </a:p>
        </p:txBody>
      </p:sp>
      <p:sp>
        <p:nvSpPr>
          <p:cNvPr id="392" name="Google Shape;392;p7"/>
          <p:cNvSpPr txBox="1"/>
          <p:nvPr/>
        </p:nvSpPr>
        <p:spPr>
          <a:xfrm>
            <a:off x="1415143" y="90771"/>
            <a:ext cx="10479314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7"/>
          <p:cNvPicPr preferRelativeResize="0"/>
          <p:nvPr/>
        </p:nvPicPr>
        <p:blipFill rotWithShape="1">
          <a:blip r:embed="rId3">
            <a:alphaModFix/>
          </a:blip>
          <a:srcRect b="35139"/>
          <a:stretch/>
        </p:blipFill>
        <p:spPr>
          <a:xfrm>
            <a:off x="6995631" y="3831448"/>
            <a:ext cx="3661587" cy="1034188"/>
          </a:xfrm>
          <a:prstGeom prst="rect">
            <a:avLst/>
          </a:prstGeom>
          <a:noFill/>
          <a:ln>
            <a:noFill/>
          </a:ln>
          <a:effectLst>
            <a:outerShdw blurRad="2794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94" name="Google Shape;394;p7"/>
          <p:cNvSpPr/>
          <p:nvPr/>
        </p:nvSpPr>
        <p:spPr>
          <a:xfrm>
            <a:off x="6970025" y="2850850"/>
            <a:ext cx="3712800" cy="8421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Nota : En versiones antiguas de Word, se conocía como Diseño de página o Formato, quedando desactualizadas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5632" y="4865616"/>
            <a:ext cx="3661586" cy="103418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"/>
          <p:cNvSpPr/>
          <p:nvPr/>
        </p:nvSpPr>
        <p:spPr>
          <a:xfrm>
            <a:off x="584840" y="2850856"/>
            <a:ext cx="4620000" cy="47280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 : Versión actual</a:t>
            </a:r>
            <a:r>
              <a:rPr lang="es-ES" sz="2000" b="1">
                <a:solidFill>
                  <a:schemeClr val="dk1"/>
                </a:solidFill>
              </a:rPr>
              <a:t> es</a:t>
            </a: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Disposición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50" y="1148675"/>
            <a:ext cx="11003099" cy="1375375"/>
          </a:xfrm>
          <a:prstGeom prst="rect">
            <a:avLst/>
          </a:prstGeom>
          <a:noFill/>
          <a:ln>
            <a:noFill/>
          </a:ln>
          <a:effectLst>
            <a:outerShdw blurRad="585788" dist="952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98" name="Google Shape;398;p7"/>
          <p:cNvSpPr txBox="1"/>
          <p:nvPr/>
        </p:nvSpPr>
        <p:spPr>
          <a:xfrm>
            <a:off x="657125" y="3415425"/>
            <a:ext cx="58656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disposición podemos modificar todos los parámetros de configuración de página como: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Márgenes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Orientación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Tamaño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Saltos de página y saltos de sección.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Números de línea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Guiones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 txBox="1"/>
          <p:nvPr/>
        </p:nvSpPr>
        <p:spPr>
          <a:xfrm>
            <a:off x="2598718" y="641684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DISPOSICIÓN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05" name="Google Shape;405;p8"/>
          <p:cNvSpPr txBox="1"/>
          <p:nvPr/>
        </p:nvSpPr>
        <p:spPr>
          <a:xfrm>
            <a:off x="4712118" y="1546935"/>
            <a:ext cx="6096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cada opción del grupo de Configuración de Página se puede modificar las dimensiones específicas a nivel de márgenes, orientación, tamaño, columnas, números de línea, guiones.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98061" y="61556"/>
            <a:ext cx="9710057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807" y="1107334"/>
            <a:ext cx="3266699" cy="497354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8"/>
          <p:cNvSpPr txBox="1"/>
          <p:nvPr/>
        </p:nvSpPr>
        <p:spPr>
          <a:xfrm>
            <a:off x="2546118" y="641684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MÁRGENES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12" y="1044880"/>
            <a:ext cx="4136958" cy="4768240"/>
          </a:xfrm>
          <a:prstGeom prst="rect">
            <a:avLst/>
          </a:prstGeom>
          <a:noFill/>
          <a:ln>
            <a:noFill/>
          </a:ln>
          <a:effectLst>
            <a:outerShdw blurRad="428625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15" name="Google Shape;415;p9"/>
          <p:cNvSpPr txBox="1"/>
          <p:nvPr/>
        </p:nvSpPr>
        <p:spPr>
          <a:xfrm>
            <a:off x="5614738" y="1085448"/>
            <a:ext cx="6209193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margen de una página es el espacio en blanco que se deja en los bordes de la página, separando el contenido de los límites de la página.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establece automáticamente un margen de página de una pulgada alrededor de cada página.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 txBox="1"/>
          <p:nvPr/>
        </p:nvSpPr>
        <p:spPr>
          <a:xfrm>
            <a:off x="1168399" y="57798"/>
            <a:ext cx="9971315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 DISEÑO Y CONFIGURACIÓN DE PÁGINAS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2430825" y="641677"/>
            <a:ext cx="73302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MÁRGENES</a:t>
            </a:r>
            <a:endParaRPr sz="2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pic>
        <p:nvPicPr>
          <p:cNvPr id="423" name="Google Shape;42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75" y="1026563"/>
            <a:ext cx="4574369" cy="4781306"/>
          </a:xfrm>
          <a:prstGeom prst="rect">
            <a:avLst/>
          </a:prstGeom>
          <a:noFill/>
          <a:ln>
            <a:noFill/>
          </a:ln>
          <a:effectLst>
            <a:outerShdw blurRad="400050" dist="7620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24" name="Google Shape;424;p10"/>
          <p:cNvSpPr txBox="1"/>
          <p:nvPr/>
        </p:nvSpPr>
        <p:spPr>
          <a:xfrm>
            <a:off x="5486400" y="1157149"/>
            <a:ext cx="6096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orientación vertical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cuando la página se encuentra en posición vertical, con una altura mayor que el ancho.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orientación horizontal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cuando la página se encuentra en posición horizontal, con un ancho mayor que la altura.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tamaño de papel estándar más comúnmente utilizado es el formato A4, que tiene dimensiones de 210 x 297 mm.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1219201" y="9428"/>
            <a:ext cx="10479314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2430827" y="670259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PAPEL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5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pic>
        <p:nvPicPr>
          <p:cNvPr id="432" name="Google Shape;432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388" y="1250387"/>
            <a:ext cx="4284168" cy="4731570"/>
          </a:xfrm>
          <a:prstGeom prst="rect">
            <a:avLst/>
          </a:prstGeom>
          <a:noFill/>
          <a:ln>
            <a:noFill/>
          </a:ln>
          <a:effectLst>
            <a:outerShdw blurRad="1270000" dist="38100" dir="2700000" sx="108000" sy="108000" algn="tl" rotWithShape="0">
              <a:srgbClr val="000000">
                <a:alpha val="40000"/>
              </a:srgbClr>
            </a:outerShdw>
          </a:effectLst>
        </p:spPr>
      </p:pic>
      <p:sp>
        <p:nvSpPr>
          <p:cNvPr id="433" name="Google Shape;433;p85"/>
          <p:cNvSpPr txBox="1"/>
          <p:nvPr/>
        </p:nvSpPr>
        <p:spPr>
          <a:xfrm>
            <a:off x="5595825" y="1377800"/>
            <a:ext cx="5512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tamaño de papel estándar más comúnmente utilizado es el formato A4, que tiene dimensiones de 210 x 297 mm.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5"/>
          <p:cNvSpPr txBox="1"/>
          <p:nvPr/>
        </p:nvSpPr>
        <p:spPr>
          <a:xfrm>
            <a:off x="2086950" y="670259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DISPOSICIÓN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85"/>
          <p:cNvSpPr txBox="1"/>
          <p:nvPr/>
        </p:nvSpPr>
        <p:spPr>
          <a:xfrm>
            <a:off x="1219201" y="9428"/>
            <a:ext cx="104793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41" name="Google Shape;441;p11"/>
          <p:cNvSpPr txBox="1"/>
          <p:nvPr/>
        </p:nvSpPr>
        <p:spPr>
          <a:xfrm>
            <a:off x="2430828" y="657348"/>
            <a:ext cx="7330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539923" y="1118476"/>
            <a:ext cx="10972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columnas son divisiones verticales en una página que permiten organizar el contenido en secciones paralelas, ayudan a mejorar la legibilidad y la organización 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0184" y="2524370"/>
            <a:ext cx="4672278" cy="3604069"/>
          </a:xfrm>
          <a:prstGeom prst="rect">
            <a:avLst/>
          </a:prstGeom>
          <a:noFill/>
          <a:ln>
            <a:noFill/>
          </a:ln>
          <a:effectLst>
            <a:outerShdw blurRad="371475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44" name="Google Shape;444;p11"/>
          <p:cNvSpPr/>
          <p:nvPr/>
        </p:nvSpPr>
        <p:spPr>
          <a:xfrm>
            <a:off x="2503468" y="5535086"/>
            <a:ext cx="943852" cy="6742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8176665" y="2816882"/>
            <a:ext cx="3888375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Columnas equilibradas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son las columnas que tienen igual ancho.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Columnas desequilibradas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tienen longitud diferente, pueden ajustarse mejor al contenido.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11"/>
          <p:cNvPicPr preferRelativeResize="0"/>
          <p:nvPr/>
        </p:nvPicPr>
        <p:blipFill rotWithShape="1">
          <a:blip r:embed="rId4">
            <a:alphaModFix/>
          </a:blip>
          <a:srcRect r="36083"/>
          <a:stretch/>
        </p:blipFill>
        <p:spPr>
          <a:xfrm>
            <a:off x="459245" y="1828423"/>
            <a:ext cx="2162966" cy="4391662"/>
          </a:xfrm>
          <a:prstGeom prst="rect">
            <a:avLst/>
          </a:prstGeom>
          <a:noFill/>
          <a:ln>
            <a:noFill/>
          </a:ln>
          <a:effectLst>
            <a:outerShdw blurRad="500063" dist="57150" dir="702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47" name="Google Shape;447;p11"/>
          <p:cNvSpPr txBox="1"/>
          <p:nvPr/>
        </p:nvSpPr>
        <p:spPr>
          <a:xfrm>
            <a:off x="1219201" y="9428"/>
            <a:ext cx="10479314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 APLICACIÓN DE ESTILOS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609599" y="648630"/>
            <a:ext cx="10972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Hace referencia a la forma en que se presenta visualmente el contenido de una página, utilizando elementos como colores, fuentes, tamaños, espaciado y otros atributos visuales. Ahorran tiempo y mejoran la presentación con un solo clic.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4652" y="3335215"/>
            <a:ext cx="6271195" cy="25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72" y="1664252"/>
            <a:ext cx="10953727" cy="15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625225" y="614700"/>
            <a:ext cx="59427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000" b="1">
                <a:solidFill>
                  <a:schemeClr val="dk1"/>
                </a:solidFill>
              </a:rPr>
              <a:t>Modificación de estilos de título</a:t>
            </a:r>
            <a:r>
              <a:rPr lang="es-ES" sz="2000" b="1" i="0" u="none" strike="noStrike" cap="none">
                <a:solidFill>
                  <a:schemeClr val="dk1"/>
                </a:solidFill>
              </a:rPr>
              <a:t>:</a:t>
            </a:r>
            <a:endParaRPr sz="2000" b="1" i="0" u="none" strike="noStrike" cap="none">
              <a:solidFill>
                <a:srgbClr val="000000"/>
              </a:solidFill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un estilo.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 derecho.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modificar.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2508" y="1304561"/>
            <a:ext cx="5079251" cy="440946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3"/>
          <p:cNvSpPr/>
          <p:nvPr/>
        </p:nvSpPr>
        <p:spPr>
          <a:xfrm>
            <a:off x="5624074" y="3091858"/>
            <a:ext cx="943852" cy="6742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APLICACIÓN DE ESTILOS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13"/>
          <p:cNvPicPr preferRelativeResize="0"/>
          <p:nvPr/>
        </p:nvPicPr>
        <p:blipFill rotWithShape="1">
          <a:blip r:embed="rId4">
            <a:alphaModFix/>
          </a:blip>
          <a:srcRect l="45433"/>
          <a:stretch/>
        </p:blipFill>
        <p:spPr>
          <a:xfrm>
            <a:off x="609605" y="2456090"/>
            <a:ext cx="4768969" cy="3546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72" name="Google Shape;472;p14"/>
          <p:cNvSpPr txBox="1"/>
          <p:nvPr/>
        </p:nvSpPr>
        <p:spPr>
          <a:xfrm>
            <a:off x="2430828" y="9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APLICACIÓN DE ESTILOS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p14"/>
          <p:cNvPicPr preferRelativeResize="0"/>
          <p:nvPr/>
        </p:nvPicPr>
        <p:blipFill rotWithShape="1">
          <a:blip r:embed="rId3">
            <a:alphaModFix/>
          </a:blip>
          <a:srcRect b="18994"/>
          <a:stretch/>
        </p:blipFill>
        <p:spPr>
          <a:xfrm>
            <a:off x="3438049" y="753712"/>
            <a:ext cx="5440230" cy="5295396"/>
          </a:xfrm>
          <a:prstGeom prst="rect">
            <a:avLst/>
          </a:prstGeom>
          <a:noFill/>
          <a:ln>
            <a:noFill/>
          </a:ln>
          <a:effectLst>
            <a:outerShdw blurRad="800100" dist="520700" dir="5400000" algn="ctr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867507" y="876926"/>
            <a:ext cx="104571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chemeClr val="dk1"/>
                </a:solidFill>
              </a:rPr>
              <a:t>El uso de estilos de </a:t>
            </a:r>
            <a:r>
              <a:rPr lang="es-ES" sz="2000" b="1">
                <a:solidFill>
                  <a:schemeClr val="dk1"/>
                </a:solidFill>
              </a:rPr>
              <a:t>Títulos</a:t>
            </a:r>
            <a:r>
              <a:rPr lang="es-ES" sz="2000">
                <a:solidFill>
                  <a:schemeClr val="dk1"/>
                </a:solidFill>
              </a:rPr>
              <a:t> facilitan la navegabilidad en </a:t>
            </a:r>
            <a:r>
              <a:rPr lang="es-ES" sz="2000" b="1">
                <a:solidFill>
                  <a:schemeClr val="dk1"/>
                </a:solidFill>
              </a:rPr>
              <a:t>Vista &gt; Panel de navegación</a:t>
            </a:r>
            <a:r>
              <a:rPr lang="es-ES" sz="2000">
                <a:solidFill>
                  <a:schemeClr val="dk1"/>
                </a:solidFill>
              </a:rPr>
              <a:t> al desplazarse a lo largo de los títulos. También se puede realizar un proceso similar en una tabla de contenido, vínculos, referencias cruzadas.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480" name="Google Shape;48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8111" y="2077255"/>
            <a:ext cx="7285351" cy="4000847"/>
          </a:xfrm>
          <a:prstGeom prst="rect">
            <a:avLst/>
          </a:prstGeom>
          <a:noFill/>
          <a:ln>
            <a:noFill/>
          </a:ln>
          <a:effectLst>
            <a:outerShdw blurRad="714375" dist="104775" dir="522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81" name="Google Shape;481;p15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APLICACIÓN DE ESTILOS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87" name="Google Shape;487;p16"/>
          <p:cNvSpPr txBox="1"/>
          <p:nvPr/>
        </p:nvSpPr>
        <p:spPr>
          <a:xfrm>
            <a:off x="875322" y="865225"/>
            <a:ext cx="10707000" cy="17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Los estilos de la pestaña Diseño, son un conjunto de características predefinidas de formato con un nombre específico con varios estilos predefinidos a elegir, esta misma definición se pudiese adoptar a los estilos de la pestaña Inicio.</a:t>
            </a:r>
            <a:endParaRPr sz="2000">
              <a:solidFill>
                <a:schemeClr val="dk1"/>
              </a:solidFill>
            </a:endParaRPr>
          </a:p>
          <a:p>
            <a:pPr marL="342900" marR="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sz="2000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6"/>
          <p:cNvSpPr txBox="1"/>
          <p:nvPr/>
        </p:nvSpPr>
        <p:spPr>
          <a:xfrm>
            <a:off x="3056254" y="45075"/>
            <a:ext cx="60795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892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5. ESTILOS DE DISEÑO 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887" y="2026410"/>
            <a:ext cx="10507900" cy="2805172"/>
          </a:xfrm>
          <a:prstGeom prst="rect">
            <a:avLst/>
          </a:prstGeom>
          <a:noFill/>
          <a:ln>
            <a:noFill/>
          </a:ln>
          <a:effectLst>
            <a:outerShdw blurRad="57150" dist="571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 txBox="1"/>
          <p:nvPr/>
        </p:nvSpPr>
        <p:spPr>
          <a:xfrm>
            <a:off x="336884" y="3459144"/>
            <a:ext cx="9851627" cy="1286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1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7"/>
          <p:cNvSpPr txBox="1"/>
          <p:nvPr/>
        </p:nvSpPr>
        <p:spPr>
          <a:xfrm>
            <a:off x="2858168" y="38294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 txBox="1"/>
          <p:nvPr/>
        </p:nvSpPr>
        <p:spPr>
          <a:xfrm>
            <a:off x="501563" y="641951"/>
            <a:ext cx="1060671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insertar elementos gráficos o multimedia que permiten mostrar información variada con diseños agradables a la vista.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 txBox="1"/>
          <p:nvPr/>
        </p:nvSpPr>
        <p:spPr>
          <a:xfrm>
            <a:off x="2579208" y="3168177"/>
            <a:ext cx="3085200" cy="3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Portada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en blanco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Salto de página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Imágenes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SmartArt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 txBox="1"/>
          <p:nvPr/>
        </p:nvSpPr>
        <p:spPr>
          <a:xfrm>
            <a:off x="5390422" y="3168174"/>
            <a:ext cx="27432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Videos​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Vínculos​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Comentarios​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Cuadro de texto​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WordArt​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 capital​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 y hora​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563" y="1485467"/>
            <a:ext cx="11095210" cy="1451637"/>
          </a:xfrm>
          <a:prstGeom prst="rect">
            <a:avLst/>
          </a:prstGeom>
          <a:noFill/>
          <a:ln>
            <a:noFill/>
          </a:ln>
          <a:effectLst>
            <a:outerShdw blurRad="514350" dist="10477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 txBox="1"/>
          <p:nvPr/>
        </p:nvSpPr>
        <p:spPr>
          <a:xfrm>
            <a:off x="788696" y="572599"/>
            <a:ext cx="1095933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Además, en la pestaña Insertar se pueden encontrar opciones útiles como: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p18"/>
          <p:cNvGrpSpPr/>
          <p:nvPr/>
        </p:nvGrpSpPr>
        <p:grpSpPr>
          <a:xfrm>
            <a:off x="224817" y="1320657"/>
            <a:ext cx="11924527" cy="1065136"/>
            <a:chOff x="52" y="581467"/>
            <a:chExt cx="11924527" cy="1065136"/>
          </a:xfrm>
        </p:grpSpPr>
        <p:sp>
          <p:nvSpPr>
            <p:cNvPr id="508" name="Google Shape;508;p18"/>
            <p:cNvSpPr/>
            <p:nvPr/>
          </p:nvSpPr>
          <p:spPr>
            <a:xfrm>
              <a:off x="52" y="581467"/>
              <a:ext cx="2712050" cy="1065136"/>
            </a:xfrm>
            <a:prstGeom prst="chevron">
              <a:avLst>
                <a:gd name="adj" fmla="val 50000"/>
              </a:avLst>
            </a:prstGeom>
            <a:solidFill>
              <a:srgbClr val="30309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8"/>
            <p:cNvSpPr txBox="1"/>
            <p:nvPr/>
          </p:nvSpPr>
          <p:spPr>
            <a:xfrm>
              <a:off x="532620" y="581467"/>
              <a:ext cx="1646914" cy="10651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000" tIns="28000" rIns="28000" bIns="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s-E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Formas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2456200" y="602231"/>
              <a:ext cx="2559021" cy="1023608"/>
            </a:xfrm>
            <a:prstGeom prst="chevron">
              <a:avLst>
                <a:gd name="adj" fmla="val 50000"/>
              </a:avLst>
            </a:prstGeom>
            <a:solidFill>
              <a:srgbClr val="30309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8"/>
            <p:cNvSpPr txBox="1"/>
            <p:nvPr/>
          </p:nvSpPr>
          <p:spPr>
            <a:xfrm>
              <a:off x="2968004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000" tIns="28000" rIns="28000" bIns="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s-E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SmartArt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4759320" y="602231"/>
              <a:ext cx="2559021" cy="1023608"/>
            </a:xfrm>
            <a:prstGeom prst="chevron">
              <a:avLst>
                <a:gd name="adj" fmla="val 50000"/>
              </a:avLst>
            </a:prstGeom>
            <a:solidFill>
              <a:srgbClr val="30309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8"/>
            <p:cNvSpPr txBox="1"/>
            <p:nvPr/>
          </p:nvSpPr>
          <p:spPr>
            <a:xfrm>
              <a:off x="5271124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000" tIns="28000" rIns="28000" bIns="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s-E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Gráficos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7062439" y="602231"/>
              <a:ext cx="2559021" cy="1023608"/>
            </a:xfrm>
            <a:prstGeom prst="chevron">
              <a:avLst>
                <a:gd name="adj" fmla="val 50000"/>
              </a:avLst>
            </a:prstGeom>
            <a:solidFill>
              <a:srgbClr val="30309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8"/>
            <p:cNvSpPr txBox="1"/>
            <p:nvPr/>
          </p:nvSpPr>
          <p:spPr>
            <a:xfrm>
              <a:off x="7574243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000" tIns="28000" rIns="28000" bIns="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s-E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Ecuaciones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9365558" y="602231"/>
              <a:ext cx="2559021" cy="1023608"/>
            </a:xfrm>
            <a:prstGeom prst="chevron">
              <a:avLst>
                <a:gd name="adj" fmla="val 50000"/>
              </a:avLst>
            </a:prstGeom>
            <a:solidFill>
              <a:srgbClr val="30309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8"/>
            <p:cNvSpPr txBox="1"/>
            <p:nvPr/>
          </p:nvSpPr>
          <p:spPr>
            <a:xfrm>
              <a:off x="9877362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000" tIns="28000" rIns="28000" bIns="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s-ES" sz="2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Portada</a:t>
              </a:r>
              <a:endPara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8" name="Google Shape;5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426" y="3513221"/>
            <a:ext cx="1862526" cy="81838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8"/>
          <p:cNvSpPr/>
          <p:nvPr/>
        </p:nvSpPr>
        <p:spPr>
          <a:xfrm>
            <a:off x="1323474" y="2538663"/>
            <a:ext cx="577043" cy="7579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3521243" y="2546006"/>
            <a:ext cx="577043" cy="7579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5719012" y="2507363"/>
            <a:ext cx="577043" cy="7579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7916781" y="2507363"/>
            <a:ext cx="577043" cy="7579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10411328" y="2546006"/>
            <a:ext cx="577043" cy="7579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14662" y="3431052"/>
            <a:ext cx="2290349" cy="950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85502" y="3428999"/>
            <a:ext cx="1862526" cy="237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2428" y="3346787"/>
            <a:ext cx="1751460" cy="2091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52212" y="3346787"/>
            <a:ext cx="2848376" cy="191101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 txBox="1"/>
          <p:nvPr/>
        </p:nvSpPr>
        <p:spPr>
          <a:xfrm>
            <a:off x="0" y="691189"/>
            <a:ext cx="11942283" cy="1595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000" b="1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imágenes: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insertar imágenes prediseñadas o desde un archivo.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Sección ilustraciones – Imágenes.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127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20"/>
          <p:cNvPicPr preferRelativeResize="0"/>
          <p:nvPr/>
        </p:nvPicPr>
        <p:blipFill rotWithShape="1">
          <a:blip r:embed="rId3">
            <a:alphaModFix/>
          </a:blip>
          <a:srcRect l="8737" r="9535" b="40752"/>
          <a:stretch/>
        </p:blipFill>
        <p:spPr>
          <a:xfrm>
            <a:off x="1926486" y="2020789"/>
            <a:ext cx="7670807" cy="3175117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0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1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542" name="Google Shape;542;p21"/>
          <p:cNvSpPr txBox="1"/>
          <p:nvPr/>
        </p:nvSpPr>
        <p:spPr>
          <a:xfrm>
            <a:off x="227325" y="691189"/>
            <a:ext cx="11964675" cy="233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000" b="1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videos: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insertar videos desde en línea o desde un archivo local.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la URL del video.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cinta de opciones, seleccione video </a:t>
            </a: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línea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cuadro de diálogo peque la dirección URL y seleccione </a:t>
            </a: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101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253" y="2292732"/>
            <a:ext cx="7806024" cy="357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1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2"/>
          <p:cNvSpPr txBox="1"/>
          <p:nvPr/>
        </p:nvSpPr>
        <p:spPr>
          <a:xfrm>
            <a:off x="6158523" y="787441"/>
            <a:ext cx="6096000" cy="317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000" b="1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WordArt: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usa para resaltar el comienzo de un párrafo como en libros, revistas, periódicos, entre otros.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Sección texto – WordArt.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101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831" y="787441"/>
            <a:ext cx="5281554" cy="3987759"/>
          </a:xfrm>
          <a:prstGeom prst="rect">
            <a:avLst/>
          </a:prstGeom>
          <a:noFill/>
          <a:ln>
            <a:noFill/>
          </a:ln>
          <a:effectLst>
            <a:outerShdw blurRad="723900" dist="622300" dir="5400000" algn="ctr" rotWithShape="0">
              <a:srgbClr val="000000">
                <a:alpha val="42352"/>
              </a:srgbClr>
            </a:outerShdw>
          </a:effectLst>
        </p:spPr>
      </p:pic>
      <p:sp>
        <p:nvSpPr>
          <p:cNvPr id="552" name="Google Shape;552;p22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3"/>
          <p:cNvSpPr txBox="1"/>
          <p:nvPr/>
        </p:nvSpPr>
        <p:spPr>
          <a:xfrm>
            <a:off x="177975" y="870888"/>
            <a:ext cx="11836050" cy="175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000" b="1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Letra Capital: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usa para resaltar el comienzo de un párrafo como en libros, revistas, periódicos, entre otros.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o ubicarse en el párrafo.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Sección texto – Letra Capital.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101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292" y="3094893"/>
            <a:ext cx="2571261" cy="139041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60" name="Google Shape;56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8976" y="2955012"/>
            <a:ext cx="8465049" cy="25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3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"/>
          <p:cNvSpPr txBox="1"/>
          <p:nvPr/>
        </p:nvSpPr>
        <p:spPr>
          <a:xfrm>
            <a:off x="368969" y="657108"/>
            <a:ext cx="10922611" cy="233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000" b="1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Objeto: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 un objeto incrustado proveniente de otra aplicación que se incrusta en un documento de Word. Al pulsar dos veces sobre ellos se abre la aplicación original y </a:t>
            </a:r>
            <a:r>
              <a:rPr lang="es-ES" sz="2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es posible modificarlos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5113" marR="0" lvl="1" indent="-2651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Objeto.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101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8" name="Google Shape;568;p24"/>
          <p:cNvGraphicFramePr/>
          <p:nvPr/>
        </p:nvGraphicFramePr>
        <p:xfrm>
          <a:off x="9304343" y="2747952"/>
          <a:ext cx="2717225" cy="188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69" name="Google Shape;56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4649" y="2616877"/>
            <a:ext cx="5123429" cy="306172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4"/>
          <p:cNvSpPr/>
          <p:nvPr/>
        </p:nvSpPr>
        <p:spPr>
          <a:xfrm rot="1533438">
            <a:off x="2940774" y="3757774"/>
            <a:ext cx="666038" cy="5704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8638305" y="3642014"/>
            <a:ext cx="666038" cy="5704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p24" descr="Interfaz de usuario gráfica, Aplicación, Word&#10;&#10;Descripción generada automá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567" y="2616877"/>
            <a:ext cx="3215680" cy="1119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"/>
          <p:cNvSpPr txBox="1"/>
          <p:nvPr/>
        </p:nvSpPr>
        <p:spPr>
          <a:xfrm>
            <a:off x="5767471" y="588855"/>
            <a:ext cx="2025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ES" sz="2400" b="1" i="0" u="none" strike="noStrike" cap="non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SÍMBOLOS</a:t>
            </a:r>
            <a:endParaRPr sz="2400" b="1" i="0" u="none" strike="noStrike" cap="non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5"/>
          <p:cNvSpPr txBox="1"/>
          <p:nvPr/>
        </p:nvSpPr>
        <p:spPr>
          <a:xfrm>
            <a:off x="7943162" y="1271317"/>
            <a:ext cx="3921900" cy="44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teclado no contiene todos los caracteres que tal vez se desee incluir en los documentos.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permite insertar estos símbolos y caracteres especiales, e incluso ecuaciones, separadamente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5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5"/>
          <p:cNvSpPr txBox="1"/>
          <p:nvPr/>
        </p:nvSpPr>
        <p:spPr>
          <a:xfrm>
            <a:off x="3242185" y="99198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176" y="1102975"/>
            <a:ext cx="6479000" cy="4796850"/>
          </a:xfrm>
          <a:prstGeom prst="rect">
            <a:avLst/>
          </a:prstGeom>
          <a:noFill/>
          <a:ln>
            <a:noFill/>
          </a:ln>
          <a:effectLst>
            <a:outerShdw blurRad="328613" dist="19050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6"/>
          <p:cNvSpPr txBox="1">
            <a:spLocks noGrp="1"/>
          </p:cNvSpPr>
          <p:nvPr>
            <p:ph type="dt" idx="10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88" name="Google Shape;588;p26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  <p:sp>
        <p:nvSpPr>
          <p:cNvPr id="589" name="Google Shape;589;p26"/>
          <p:cNvSpPr txBox="1">
            <a:spLocks noGrp="1"/>
          </p:cNvSpPr>
          <p:nvPr>
            <p:ph type="title"/>
          </p:nvPr>
        </p:nvSpPr>
        <p:spPr>
          <a:xfrm>
            <a:off x="3883980" y="598209"/>
            <a:ext cx="4203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COMENTARIOS</a:t>
            </a:r>
            <a:endParaRPr sz="2400" b="1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6"/>
          <p:cNvSpPr txBox="1">
            <a:spLocks noGrp="1"/>
          </p:cNvSpPr>
          <p:nvPr>
            <p:ph type="body" idx="1"/>
          </p:nvPr>
        </p:nvSpPr>
        <p:spPr>
          <a:xfrm>
            <a:off x="867325" y="3764225"/>
            <a:ext cx="10229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realizar acotaciones, aclaraciones o comentarios a partes específicas de un documento de manera que se facilite la comprensión del mismo.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331" y="1539344"/>
            <a:ext cx="10277408" cy="1571836"/>
          </a:xfrm>
          <a:prstGeom prst="rect">
            <a:avLst/>
          </a:prstGeom>
          <a:noFill/>
          <a:ln>
            <a:noFill/>
          </a:ln>
          <a:effectLst>
            <a:outerShdw blurRad="642938" dist="85725" dir="63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92" name="Google Shape;592;p26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sz="3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9"/>
          <p:cNvSpPr txBox="1">
            <a:spLocks noGrp="1"/>
          </p:cNvSpPr>
          <p:nvPr>
            <p:ph type="dt" idx="10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8" name="Google Shape;598;p29"/>
          <p:cNvSpPr txBox="1">
            <a:spLocks noGrp="1"/>
          </p:cNvSpPr>
          <p:nvPr>
            <p:ph type="sldNum" idx="12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  <p:sp>
        <p:nvSpPr>
          <p:cNvPr id="599" name="Google Shape;599;p29"/>
          <p:cNvSpPr txBox="1"/>
          <p:nvPr/>
        </p:nvSpPr>
        <p:spPr>
          <a:xfrm>
            <a:off x="4230000" y="60450"/>
            <a:ext cx="37320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7. EJERCICIO 1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977746" y="1106905"/>
            <a:ext cx="8617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Genere un texto Randomico de 10 párrafos, utilizando la fórmula =rand(10).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Aplique la configuración de página que se adjunta en la diapositiva siguiente.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4 primero párrafos establecer como columna Izquierda de 2 columnas.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Escriba un título para el párrafo 5, y utilice el Estilo “TítuloPersonal” y modifique este estilo con fuente </a:t>
            </a:r>
            <a:r>
              <a:rPr lang="es-E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 NEW ROMAN, </a:t>
            </a: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tamaño 20 ptos. con negrita y cursiva, alineado al centro.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Inserte al final del texto un gráfico SmartArt de Jerarquía.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Inserte una ecuación que contenga el símbolo Alpha “ɑ”.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0"/>
          <p:cNvSpPr txBox="1">
            <a:spLocks noGrp="1"/>
          </p:cNvSpPr>
          <p:nvPr>
            <p:ph type="dt" idx="10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7/01/20XX</a:t>
            </a:r>
            <a:endParaRPr/>
          </a:p>
        </p:txBody>
      </p:sp>
      <p:sp>
        <p:nvSpPr>
          <p:cNvPr id="607" name="Google Shape;607;p30"/>
          <p:cNvSpPr txBox="1"/>
          <p:nvPr/>
        </p:nvSpPr>
        <p:spPr>
          <a:xfrm>
            <a:off x="1718388" y="80125"/>
            <a:ext cx="8566871" cy="56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8. EJERCICIO 2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859" y="1012455"/>
            <a:ext cx="10661563" cy="451163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0"/>
          <p:cNvSpPr txBox="1"/>
          <p:nvPr/>
        </p:nvSpPr>
        <p:spPr>
          <a:xfrm>
            <a:off x="701940" y="659250"/>
            <a:ext cx="10473212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Configure un formato de las Normas APA en su séptima edición: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0"/>
          <p:cNvSpPr txBox="1"/>
          <p:nvPr/>
        </p:nvSpPr>
        <p:spPr>
          <a:xfrm>
            <a:off x="779443" y="5918703"/>
            <a:ext cx="6097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Guía APA aquí: https://normasapa.in/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1"/>
          <p:cNvSpPr txBox="1"/>
          <p:nvPr/>
        </p:nvSpPr>
        <p:spPr>
          <a:xfrm>
            <a:off x="1320800" y="132630"/>
            <a:ext cx="9724571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5426802" y="956499"/>
            <a:ext cx="649166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3763" marR="0" lvl="0" indent="-35718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combinación de correspondencia se usa para crear varios documentos a la vez con diseño, formato, texto y gráficos idénticos.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3763" marR="0" lvl="0" indent="-35718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Solo varían secciones específicas del documento, que se personalizan.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1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31"/>
          <p:cNvPicPr preferRelativeResize="0"/>
          <p:nvPr/>
        </p:nvPicPr>
        <p:blipFill rotWithShape="1">
          <a:blip r:embed="rId3">
            <a:alphaModFix/>
          </a:blip>
          <a:srcRect r="58494" b="59118"/>
          <a:stretch/>
        </p:blipFill>
        <p:spPr>
          <a:xfrm>
            <a:off x="775135" y="3429000"/>
            <a:ext cx="4765972" cy="2544691"/>
          </a:xfrm>
          <a:prstGeom prst="rect">
            <a:avLst/>
          </a:prstGeom>
          <a:noFill/>
          <a:ln>
            <a:noFill/>
          </a:ln>
          <a:effectLst>
            <a:outerShdw blurRad="314325" dist="1333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19" name="Google Shape;61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5134" y="775054"/>
            <a:ext cx="4651667" cy="2418720"/>
          </a:xfrm>
          <a:prstGeom prst="rect">
            <a:avLst/>
          </a:prstGeom>
          <a:noFill/>
          <a:ln>
            <a:noFill/>
          </a:ln>
          <a:effectLst>
            <a:outerShdw blurRad="285750" dist="123825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20" name="Google Shape;620;p31"/>
          <p:cNvSpPr txBox="1"/>
          <p:nvPr/>
        </p:nvSpPr>
        <p:spPr>
          <a:xfrm>
            <a:off x="6002215" y="2947354"/>
            <a:ext cx="5822462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 crear: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etiquetas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cartas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ES" sz="20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sobres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oficios, directorios,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invitaciones y </a:t>
            </a:r>
            <a:r>
              <a:rPr lang="es-ES" sz="20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mensajes de correo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"/>
          <p:cNvSpPr txBox="1"/>
          <p:nvPr/>
        </p:nvSpPr>
        <p:spPr>
          <a:xfrm>
            <a:off x="2066189" y="59622"/>
            <a:ext cx="9436698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2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2"/>
          <p:cNvSpPr txBox="1"/>
          <p:nvPr/>
        </p:nvSpPr>
        <p:spPr>
          <a:xfrm>
            <a:off x="2540438" y="945300"/>
            <a:ext cx="84882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Para comenzar el proceso de combinar correo, primero es necesario elegir qué tipo de documento se desea crear: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Hacer clic en la </a:t>
            </a:r>
            <a:r>
              <a:rPr lang="es-ES" sz="2000" b="1">
                <a:solidFill>
                  <a:schemeClr val="dk1"/>
                </a:solidFill>
              </a:rPr>
              <a:t>pestaña Correspondencia</a:t>
            </a:r>
            <a:r>
              <a:rPr lang="es-ES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Hacer clic en el botón </a:t>
            </a:r>
            <a:r>
              <a:rPr lang="es-ES" sz="2000" b="1">
                <a:solidFill>
                  <a:schemeClr val="dk1"/>
                </a:solidFill>
              </a:rPr>
              <a:t>Iniciar combinación de correspondencia</a:t>
            </a:r>
            <a:r>
              <a:rPr lang="es-ES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Seleccionar Paso a paso por el asistente para combinar correspondencia. 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3.1. Nota: El panel Combinar correspondencia aparece a la derecha, listo para guiarnos por la combinación de correspondencia.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Seleccionar un tipo de documento a crear.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Hacer clic en Siguiente: Inicie el documento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3"/>
          <p:cNvSpPr txBox="1"/>
          <p:nvPr/>
        </p:nvSpPr>
        <p:spPr>
          <a:xfrm>
            <a:off x="1453851" y="0"/>
            <a:ext cx="9284298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3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4455" y="664866"/>
            <a:ext cx="6808903" cy="5252830"/>
          </a:xfrm>
          <a:prstGeom prst="rect">
            <a:avLst/>
          </a:prstGeom>
          <a:noFill/>
          <a:ln>
            <a:noFill/>
          </a:ln>
          <a:effectLst>
            <a:outerShdw blurRad="342900" dist="16192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4"/>
          <p:cNvSpPr txBox="1"/>
          <p:nvPr/>
        </p:nvSpPr>
        <p:spPr>
          <a:xfrm>
            <a:off x="1504122" y="99379"/>
            <a:ext cx="9594573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1" name="Google Shape;64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0452" y="1390325"/>
            <a:ext cx="6317672" cy="44823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4"/>
          <p:cNvSpPr txBox="1"/>
          <p:nvPr/>
        </p:nvSpPr>
        <p:spPr>
          <a:xfrm>
            <a:off x="8192532" y="1317699"/>
            <a:ext cx="35682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s-ES" sz="2000" b="1" i="0" u="none" strike="noStrike" cap="none">
                <a:solidFill>
                  <a:schemeClr val="dk1"/>
                </a:solidFill>
              </a:rPr>
              <a:t>base de datos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puede ser una tabla en un archivo en Word o Excel u otra base de datos, cuyas cabeceras de columna se relacionen con los campos calculados junto a datos con un orden establecido.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34"/>
          <p:cNvPicPr preferRelativeResize="0"/>
          <p:nvPr/>
        </p:nvPicPr>
        <p:blipFill rotWithShape="1">
          <a:blip r:embed="rId4">
            <a:alphaModFix/>
          </a:blip>
          <a:srcRect t="-9360" b="9360"/>
          <a:stretch/>
        </p:blipFill>
        <p:spPr>
          <a:xfrm>
            <a:off x="8141345" y="3872796"/>
            <a:ext cx="3670566" cy="175329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4"/>
          <p:cNvSpPr txBox="1"/>
          <p:nvPr/>
        </p:nvSpPr>
        <p:spPr>
          <a:xfrm>
            <a:off x="2086950" y="737509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5"/>
          <p:cNvSpPr txBox="1"/>
          <p:nvPr/>
        </p:nvSpPr>
        <p:spPr>
          <a:xfrm>
            <a:off x="1244554" y="124139"/>
            <a:ext cx="10755290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5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5"/>
          <p:cNvSpPr txBox="1"/>
          <p:nvPr/>
        </p:nvSpPr>
        <p:spPr>
          <a:xfrm>
            <a:off x="1730488" y="689625"/>
            <a:ext cx="95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VISTA PREVIA DE LA CORRESPONDENCIA COMBINADA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1193" y="1151320"/>
            <a:ext cx="6309630" cy="470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6"/>
          <p:cNvSpPr txBox="1"/>
          <p:nvPr/>
        </p:nvSpPr>
        <p:spPr>
          <a:xfrm>
            <a:off x="1854153" y="86127"/>
            <a:ext cx="9615603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6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4050" y="1119450"/>
            <a:ext cx="6463674" cy="480827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6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endParaRPr sz="1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7"/>
          <p:cNvSpPr txBox="1"/>
          <p:nvPr/>
        </p:nvSpPr>
        <p:spPr>
          <a:xfrm>
            <a:off x="3959658" y="122617"/>
            <a:ext cx="7920880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 txBox="1"/>
          <p:nvPr/>
        </p:nvSpPr>
        <p:spPr>
          <a:xfrm>
            <a:off x="1210625" y="864375"/>
            <a:ext cx="10522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formulario, puede empezar con una plantilla y agregar controles de contenido, como casillas, cuadros de texto, selectores de fecha y listas desplegables.</a:t>
            </a:r>
            <a:b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7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8" name="Google Shape;668;p37" descr="Interfaz de usuario gráfica, Aplicación, Word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9788" y="1610788"/>
            <a:ext cx="6983625" cy="3775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9"/>
          <p:cNvSpPr txBox="1"/>
          <p:nvPr/>
        </p:nvSpPr>
        <p:spPr>
          <a:xfrm>
            <a:off x="4211955" y="99379"/>
            <a:ext cx="7920880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9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9"/>
          <p:cNvSpPr txBox="1"/>
          <p:nvPr/>
        </p:nvSpPr>
        <p:spPr>
          <a:xfrm>
            <a:off x="2614800" y="664875"/>
            <a:ext cx="696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ACTIVAR PESTAÑA DE PROGRAMADOR</a:t>
            </a:r>
            <a:endParaRPr sz="2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6" name="Google Shape;6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3760" y="1126566"/>
            <a:ext cx="5924502" cy="434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"/>
          <p:cNvSpPr txBox="1"/>
          <p:nvPr/>
        </p:nvSpPr>
        <p:spPr>
          <a:xfrm>
            <a:off x="3584698" y="0"/>
            <a:ext cx="50226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451" y="1248656"/>
            <a:ext cx="66189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0"/>
          <p:cNvSpPr txBox="1"/>
          <p:nvPr/>
        </p:nvSpPr>
        <p:spPr>
          <a:xfrm>
            <a:off x="7971600" y="1622610"/>
            <a:ext cx="3801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vez creado el diseño y estructura del formulario, es posible comenzar a agregar campos de formularios al documento con Control de contenidos.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0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CREAR FORMULARIOS</a:t>
            </a:r>
            <a:endParaRPr sz="1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1"/>
          <p:cNvSpPr txBox="1"/>
          <p:nvPr/>
        </p:nvSpPr>
        <p:spPr>
          <a:xfrm>
            <a:off x="3874902" y="105629"/>
            <a:ext cx="444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892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1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0418" y="1085850"/>
            <a:ext cx="8772525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1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TIPOS DE CONTROLES</a:t>
            </a:r>
            <a:endParaRPr sz="1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2"/>
          <p:cNvSpPr txBox="1"/>
          <p:nvPr/>
        </p:nvSpPr>
        <p:spPr>
          <a:xfrm>
            <a:off x="4375761" y="56411"/>
            <a:ext cx="7920880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2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TIPOS DE CONTROLES</a:t>
            </a:r>
            <a:endParaRPr sz="1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42"/>
          <p:cNvPicPr preferRelativeResize="0"/>
          <p:nvPr/>
        </p:nvPicPr>
        <p:blipFill rotWithShape="1">
          <a:blip r:embed="rId3">
            <a:alphaModFix/>
          </a:blip>
          <a:srcRect b="2099"/>
          <a:stretch/>
        </p:blipFill>
        <p:spPr>
          <a:xfrm>
            <a:off x="401853" y="937772"/>
            <a:ext cx="3973908" cy="3724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2"/>
          <p:cNvPicPr preferRelativeResize="0"/>
          <p:nvPr/>
        </p:nvPicPr>
        <p:blipFill rotWithShape="1">
          <a:blip r:embed="rId4">
            <a:alphaModFix/>
          </a:blip>
          <a:srcRect r="43774"/>
          <a:stretch/>
        </p:blipFill>
        <p:spPr>
          <a:xfrm>
            <a:off x="719905" y="4662630"/>
            <a:ext cx="3572055" cy="123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2"/>
          <p:cNvPicPr preferRelativeResize="0"/>
          <p:nvPr/>
        </p:nvPicPr>
        <p:blipFill rotWithShape="1">
          <a:blip r:embed="rId5">
            <a:alphaModFix/>
          </a:blip>
          <a:srcRect l="30306" r="28124" b="29238"/>
          <a:stretch/>
        </p:blipFill>
        <p:spPr>
          <a:xfrm>
            <a:off x="6994809" y="1021175"/>
            <a:ext cx="3176234" cy="3262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6695" y="4349774"/>
            <a:ext cx="3889030" cy="1420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3"/>
          <p:cNvSpPr txBox="1"/>
          <p:nvPr/>
        </p:nvSpPr>
        <p:spPr>
          <a:xfrm>
            <a:off x="2135563" y="-1"/>
            <a:ext cx="7920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ES" sz="3400" b="1">
                <a:solidFill>
                  <a:srgbClr val="00B050"/>
                </a:solidFill>
              </a:rPr>
              <a:t>0.</a:t>
            </a: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3"/>
          <p:cNvSpPr txBox="1"/>
          <p:nvPr/>
        </p:nvSpPr>
        <p:spPr>
          <a:xfrm>
            <a:off x="6213365" y="2849569"/>
            <a:ext cx="5861269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Terminar el Formulario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un formulario esté listo para ser distribuido y ser llenado por otros, es posible restringirlo para que los controles de contenido no sean eliminados o cambiados por quienes lo llenen.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3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243" y="2227626"/>
            <a:ext cx="4506219" cy="38214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p43"/>
          <p:cNvGrpSpPr/>
          <p:nvPr/>
        </p:nvGrpSpPr>
        <p:grpSpPr>
          <a:xfrm>
            <a:off x="344324" y="744317"/>
            <a:ext cx="8924241" cy="1267989"/>
            <a:chOff x="690240" y="2680256"/>
            <a:chExt cx="6890774" cy="861347"/>
          </a:xfrm>
        </p:grpSpPr>
        <p:pic>
          <p:nvPicPr>
            <p:cNvPr id="714" name="Google Shape;714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0240" y="2680256"/>
              <a:ext cx="6890774" cy="86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43"/>
            <p:cNvSpPr/>
            <p:nvPr/>
          </p:nvSpPr>
          <p:spPr>
            <a:xfrm>
              <a:off x="6522720" y="2844800"/>
              <a:ext cx="416560" cy="563880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43"/>
          <p:cNvSpPr/>
          <p:nvPr/>
        </p:nvSpPr>
        <p:spPr>
          <a:xfrm rot="8942759">
            <a:off x="5104846" y="2205098"/>
            <a:ext cx="1514126" cy="5704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4"/>
          <p:cNvSpPr txBox="1"/>
          <p:nvPr/>
        </p:nvSpPr>
        <p:spPr>
          <a:xfrm>
            <a:off x="2135557" y="0"/>
            <a:ext cx="7920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4"/>
          <p:cNvSpPr txBox="1"/>
          <p:nvPr/>
        </p:nvSpPr>
        <p:spPr>
          <a:xfrm>
            <a:off x="3451952" y="658712"/>
            <a:ext cx="528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RESTRICCIONES DE EDICIÓN</a:t>
            </a:r>
            <a:endParaRPr sz="2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4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668" y="1301040"/>
            <a:ext cx="7284040" cy="449016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4"/>
          <p:cNvSpPr txBox="1"/>
          <p:nvPr/>
        </p:nvSpPr>
        <p:spPr>
          <a:xfrm>
            <a:off x="8584274" y="1301052"/>
            <a:ext cx="23493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Para proteger un formulario, agrupe todo el contenido del formulario.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5"/>
          <p:cNvSpPr txBox="1"/>
          <p:nvPr/>
        </p:nvSpPr>
        <p:spPr>
          <a:xfrm>
            <a:off x="3934359" y="130783"/>
            <a:ext cx="4323280" cy="56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3751384" y="696270"/>
            <a:ext cx="468923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DEFINIR CONTRASEÑA</a:t>
            </a:r>
            <a:endParaRPr sz="2400" b="0" i="0" u="none" strike="noStrike" cap="non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3" name="Google Shape;73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010" y="1157894"/>
            <a:ext cx="6451978" cy="4642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"/>
          <p:cNvSpPr txBox="1"/>
          <p:nvPr/>
        </p:nvSpPr>
        <p:spPr>
          <a:xfrm>
            <a:off x="3948036" y="-8"/>
            <a:ext cx="4296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6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11. EJERCICIO 3</a:t>
            </a:r>
            <a:endParaRPr sz="36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756355" y="1041136"/>
            <a:ext cx="102201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Genere una lista con 3 destinatarios que debe contener Tratamiento, Nombre, Apellido, Dirección. (debe usar su información personal y de dos familiares)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Guarde el archivo de destinatarios con el nombre Ejercicio3.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Cree una invitación de cumpleaños para los 3 destinatarios. Utilizando estos campos y que estén resaltados.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Genere sobres utilizando la Dirección de la ESPE y el nombre del docente como Remitente.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las Invitaciones con la opción editar documentos individuales.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7"/>
          <p:cNvSpPr txBox="1"/>
          <p:nvPr/>
        </p:nvSpPr>
        <p:spPr>
          <a:xfrm>
            <a:off x="3723226" y="79750"/>
            <a:ext cx="40893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lang="es-ES" sz="3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12. EJERCICIO 4</a:t>
            </a:r>
            <a:endParaRPr sz="3400" b="1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7" name="Google Shape;747;p47"/>
          <p:cNvPicPr preferRelativeResize="0"/>
          <p:nvPr/>
        </p:nvPicPr>
        <p:blipFill rotWithShape="1">
          <a:blip r:embed="rId3">
            <a:alphaModFix/>
          </a:blip>
          <a:srcRect t="10314" r="11381" b="7861"/>
          <a:stretch/>
        </p:blipFill>
        <p:spPr>
          <a:xfrm>
            <a:off x="2408826" y="2726827"/>
            <a:ext cx="7504575" cy="31053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1749778" y="645227"/>
            <a:ext cx="10174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Cree un formulario de Información Personal.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texto Utilice Cuadros de Texto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La ciudad utilice Lista desplegable con 3 opciones de ciudad.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Fecha de nacimiento Utilice el selector de fecha.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Estado Civil utilice el Botón de Opción.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Finalmente utilice Casillas para las Materias.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48" descr="primer plano de una placa de circuito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26578" y="0"/>
            <a:ext cx="57654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48" descr="persona joven escribiendo en pizarra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-11657" y="-16298"/>
            <a:ext cx="5555640" cy="68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ES"/>
              <a:t>45</a:t>
            </a:fld>
            <a:endParaRPr/>
          </a:p>
        </p:txBody>
      </p:sp>
      <p:sp>
        <p:nvSpPr>
          <p:cNvPr id="757" name="Google Shape;757;p48"/>
          <p:cNvSpPr txBox="1">
            <a:spLocks noGrp="1"/>
          </p:cNvSpPr>
          <p:nvPr>
            <p:ph type="title"/>
          </p:nvPr>
        </p:nvSpPr>
        <p:spPr>
          <a:xfrm>
            <a:off x="5031605" y="2373365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lang="es-ES" sz="4000"/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74">
      <a:dk1>
        <a:srgbClr val="1E1E1E"/>
      </a:dk1>
      <a:lt1>
        <a:srgbClr val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redeterminado">
  <a:themeElements>
    <a:clrScheme name="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3333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1860</Words>
  <Application>Microsoft Office PowerPoint</Application>
  <PresentationFormat>Panorámica</PresentationFormat>
  <Paragraphs>285</Paragraphs>
  <Slides>45</Slides>
  <Notes>45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45</vt:i4>
      </vt:variant>
    </vt:vector>
  </HeadingPairs>
  <TitlesOfParts>
    <vt:vector size="49" baseType="lpstr">
      <vt:lpstr>Arial</vt:lpstr>
      <vt:lpstr>Calibri</vt:lpstr>
      <vt:lpstr>Tema de Office</vt:lpstr>
      <vt:lpstr>Diseño predeterminado</vt:lpstr>
      <vt:lpstr>UNIVERSIDAD DE LAS  FUERZAS ARMADAS  ESPE</vt:lpstr>
      <vt:lpstr>Presentación de PowerPoint</vt:lpstr>
      <vt:lpstr>Presentación de PowerPoint</vt:lpstr>
      <vt:lpstr>1. TABLAS DINÁMICAS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COMENTARIOS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DE LAS  FUERZAS ARMADAS  ESPE</dc:title>
  <dc:creator>RQUISPE</dc:creator>
  <cp:lastModifiedBy>Cuenta Microsoft</cp:lastModifiedBy>
  <cp:revision>2</cp:revision>
  <dcterms:created xsi:type="dcterms:W3CDTF">2022-11-23T18:28:43Z</dcterms:created>
  <dcterms:modified xsi:type="dcterms:W3CDTF">2025-05-01T16:23:23Z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