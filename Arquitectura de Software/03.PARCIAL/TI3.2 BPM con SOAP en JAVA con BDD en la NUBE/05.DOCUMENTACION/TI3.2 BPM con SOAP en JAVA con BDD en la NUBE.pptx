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79"/>
  </p:notesMasterIdLst>
  <p:sldIdLst>
    <p:sldId id="256" r:id="rId2"/>
    <p:sldId id="301" r:id="rId3"/>
    <p:sldId id="258" r:id="rId4"/>
    <p:sldId id="305" r:id="rId5"/>
    <p:sldId id="306" r:id="rId6"/>
    <p:sldId id="375" r:id="rId7"/>
    <p:sldId id="396" r:id="rId8"/>
    <p:sldId id="398" r:id="rId9"/>
    <p:sldId id="399" r:id="rId10"/>
    <p:sldId id="397" r:id="rId11"/>
    <p:sldId id="402" r:id="rId12"/>
    <p:sldId id="400" r:id="rId13"/>
    <p:sldId id="404" r:id="rId14"/>
    <p:sldId id="403" r:id="rId15"/>
    <p:sldId id="405" r:id="rId16"/>
    <p:sldId id="328" r:id="rId17"/>
    <p:sldId id="335" r:id="rId18"/>
    <p:sldId id="336" r:id="rId19"/>
    <p:sldId id="337" r:id="rId20"/>
    <p:sldId id="338" r:id="rId21"/>
    <p:sldId id="325" r:id="rId22"/>
    <p:sldId id="339" r:id="rId23"/>
    <p:sldId id="327" r:id="rId24"/>
    <p:sldId id="340" r:id="rId25"/>
    <p:sldId id="329" r:id="rId26"/>
    <p:sldId id="341" r:id="rId27"/>
    <p:sldId id="342" r:id="rId28"/>
    <p:sldId id="343" r:id="rId29"/>
    <p:sldId id="344" r:id="rId30"/>
    <p:sldId id="345" r:id="rId31"/>
    <p:sldId id="346" r:id="rId32"/>
    <p:sldId id="347" r:id="rId33"/>
    <p:sldId id="348" r:id="rId34"/>
    <p:sldId id="350" r:id="rId35"/>
    <p:sldId id="351" r:id="rId36"/>
    <p:sldId id="352" r:id="rId37"/>
    <p:sldId id="354" r:id="rId38"/>
    <p:sldId id="355" r:id="rId39"/>
    <p:sldId id="356" r:id="rId40"/>
    <p:sldId id="357" r:id="rId41"/>
    <p:sldId id="358" r:id="rId42"/>
    <p:sldId id="359" r:id="rId43"/>
    <p:sldId id="360" r:id="rId44"/>
    <p:sldId id="361" r:id="rId45"/>
    <p:sldId id="362" r:id="rId46"/>
    <p:sldId id="363" r:id="rId47"/>
    <p:sldId id="349" r:id="rId48"/>
    <p:sldId id="334" r:id="rId49"/>
    <p:sldId id="364" r:id="rId50"/>
    <p:sldId id="365" r:id="rId51"/>
    <p:sldId id="366" r:id="rId52"/>
    <p:sldId id="367" r:id="rId53"/>
    <p:sldId id="368" r:id="rId54"/>
    <p:sldId id="283" r:id="rId55"/>
    <p:sldId id="317" r:id="rId56"/>
    <p:sldId id="291" r:id="rId57"/>
    <p:sldId id="303" r:id="rId58"/>
    <p:sldId id="369" r:id="rId59"/>
    <p:sldId id="376" r:id="rId60"/>
    <p:sldId id="377" r:id="rId61"/>
    <p:sldId id="378" r:id="rId62"/>
    <p:sldId id="379" r:id="rId63"/>
    <p:sldId id="380" r:id="rId64"/>
    <p:sldId id="381" r:id="rId65"/>
    <p:sldId id="382" r:id="rId66"/>
    <p:sldId id="383" r:id="rId67"/>
    <p:sldId id="384" r:id="rId68"/>
    <p:sldId id="372" r:id="rId69"/>
    <p:sldId id="312" r:id="rId70"/>
    <p:sldId id="318" r:id="rId71"/>
    <p:sldId id="319" r:id="rId72"/>
    <p:sldId id="370" r:id="rId73"/>
    <p:sldId id="371" r:id="rId74"/>
    <p:sldId id="373" r:id="rId75"/>
    <p:sldId id="374" r:id="rId76"/>
    <p:sldId id="333" r:id="rId77"/>
    <p:sldId id="326"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17" autoAdjust="0"/>
    <p:restoredTop sz="94592"/>
  </p:normalViewPr>
  <p:slideViewPr>
    <p:cSldViewPr snapToGrid="0">
      <p:cViewPr varScale="1">
        <p:scale>
          <a:sx n="70" d="100"/>
          <a:sy n="70" d="100"/>
        </p:scale>
        <p:origin x="5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800085-A782-DD41-B81D-ECF09AC62B78}" type="doc">
      <dgm:prSet loTypeId="urn:microsoft.com/office/officeart/2005/8/layout/chevron1" loCatId="" qsTypeId="urn:microsoft.com/office/officeart/2005/8/quickstyle/simple1" qsCatId="simple" csTypeId="urn:microsoft.com/office/officeart/2005/8/colors/colorful2" csCatId="colorful" phldr="1"/>
      <dgm:spPr/>
    </dgm:pt>
    <dgm:pt modelId="{7A5390DC-5744-994F-B43A-EFCA495EB3F1}">
      <dgm:prSet phldrT="[Texto]"/>
      <dgm:spPr/>
      <dgm:t>
        <a:bodyPr/>
        <a:lstStyle/>
        <a:p>
          <a:r>
            <a:rPr lang="es-EC" b="1" i="0" u="none" dirty="0"/>
            <a:t>Transparencia en todas las etapas del proceso</a:t>
          </a:r>
          <a:endParaRPr lang="es-MX" dirty="0"/>
        </a:p>
      </dgm:t>
    </dgm:pt>
    <dgm:pt modelId="{458D43ED-2B05-7E42-A141-743480C100F7}" type="parTrans" cxnId="{0F156EB6-A231-0749-A6FF-CF9ECE15E628}">
      <dgm:prSet/>
      <dgm:spPr/>
      <dgm:t>
        <a:bodyPr/>
        <a:lstStyle/>
        <a:p>
          <a:endParaRPr lang="es-MX"/>
        </a:p>
      </dgm:t>
    </dgm:pt>
    <dgm:pt modelId="{19F275C5-AA31-0E43-B14D-EAFB40318A47}" type="sibTrans" cxnId="{0F156EB6-A231-0749-A6FF-CF9ECE15E628}">
      <dgm:prSet/>
      <dgm:spPr/>
      <dgm:t>
        <a:bodyPr/>
        <a:lstStyle/>
        <a:p>
          <a:endParaRPr lang="es-MX"/>
        </a:p>
      </dgm:t>
    </dgm:pt>
    <dgm:pt modelId="{86C83194-D055-6C45-8E5E-2EB07E20E67B}">
      <dgm:prSet phldrT="[Texto]"/>
      <dgm:spPr/>
      <dgm:t>
        <a:bodyPr/>
        <a:lstStyle/>
        <a:p>
          <a:r>
            <a:rPr lang="es-EC" b="1" i="0" u="none" dirty="0"/>
            <a:t>Mayor control administrativo</a:t>
          </a:r>
          <a:endParaRPr lang="es-MX" dirty="0"/>
        </a:p>
      </dgm:t>
    </dgm:pt>
    <dgm:pt modelId="{206FC955-BE98-2E41-A65C-A16923A9E1E7}" type="parTrans" cxnId="{5D4A9C2A-E4D2-FD45-89A1-CDFA7A7A6C06}">
      <dgm:prSet/>
      <dgm:spPr/>
      <dgm:t>
        <a:bodyPr/>
        <a:lstStyle/>
        <a:p>
          <a:endParaRPr lang="es-MX"/>
        </a:p>
      </dgm:t>
    </dgm:pt>
    <dgm:pt modelId="{98A3F0F3-E645-7449-B63F-FF07584EB403}" type="sibTrans" cxnId="{5D4A9C2A-E4D2-FD45-89A1-CDFA7A7A6C06}">
      <dgm:prSet/>
      <dgm:spPr/>
      <dgm:t>
        <a:bodyPr/>
        <a:lstStyle/>
        <a:p>
          <a:endParaRPr lang="es-MX"/>
        </a:p>
      </dgm:t>
    </dgm:pt>
    <dgm:pt modelId="{177350EE-F83E-B247-ACF4-95D994541831}">
      <dgm:prSet phldrT="[Texto]"/>
      <dgm:spPr/>
      <dgm:t>
        <a:bodyPr/>
        <a:lstStyle/>
        <a:p>
          <a:r>
            <a:rPr lang="es-EC" b="1" i="0" u="none" dirty="0"/>
            <a:t>Aumento de productividad</a:t>
          </a:r>
          <a:endParaRPr lang="es-MX" dirty="0"/>
        </a:p>
      </dgm:t>
    </dgm:pt>
    <dgm:pt modelId="{A5665325-6427-7546-90B6-3B7E1C06E7E8}" type="parTrans" cxnId="{AD707341-0920-F844-9C4E-B8EA8FD4BFFE}">
      <dgm:prSet/>
      <dgm:spPr/>
      <dgm:t>
        <a:bodyPr/>
        <a:lstStyle/>
        <a:p>
          <a:endParaRPr lang="es-MX"/>
        </a:p>
      </dgm:t>
    </dgm:pt>
    <dgm:pt modelId="{CDA2FB86-DC1B-E642-9316-CB9F13313FC1}" type="sibTrans" cxnId="{AD707341-0920-F844-9C4E-B8EA8FD4BFFE}">
      <dgm:prSet/>
      <dgm:spPr/>
      <dgm:t>
        <a:bodyPr/>
        <a:lstStyle/>
        <a:p>
          <a:endParaRPr lang="es-MX"/>
        </a:p>
      </dgm:t>
    </dgm:pt>
    <dgm:pt modelId="{9C2AB892-ACDD-B647-AB3A-94F999B3DA74}">
      <dgm:prSet/>
      <dgm:spPr/>
      <dgm:t>
        <a:bodyPr/>
        <a:lstStyle/>
        <a:p>
          <a:r>
            <a:rPr lang="es-EC" b="1" i="0" u="none"/>
            <a:t>Reducción de costos</a:t>
          </a:r>
          <a:endParaRPr lang="es-EC"/>
        </a:p>
      </dgm:t>
    </dgm:pt>
    <dgm:pt modelId="{5E2CCAC7-6823-D141-A0A4-7859829A8CBB}" type="parTrans" cxnId="{51A540AE-C879-8649-9F15-7502B49CF9E3}">
      <dgm:prSet/>
      <dgm:spPr/>
      <dgm:t>
        <a:bodyPr/>
        <a:lstStyle/>
        <a:p>
          <a:endParaRPr lang="es-MX"/>
        </a:p>
      </dgm:t>
    </dgm:pt>
    <dgm:pt modelId="{BD407415-ACEE-6A40-8714-467497AD2AF7}" type="sibTrans" cxnId="{51A540AE-C879-8649-9F15-7502B49CF9E3}">
      <dgm:prSet/>
      <dgm:spPr/>
      <dgm:t>
        <a:bodyPr/>
        <a:lstStyle/>
        <a:p>
          <a:endParaRPr lang="es-MX"/>
        </a:p>
      </dgm:t>
    </dgm:pt>
    <dgm:pt modelId="{9E030C07-3063-0048-9D07-DFA38616A615}">
      <dgm:prSet/>
      <dgm:spPr/>
      <dgm:t>
        <a:bodyPr/>
        <a:lstStyle/>
        <a:p>
          <a:r>
            <a:rPr lang="es-EC" b="1" i="0" u="none"/>
            <a:t>Automatización de procesos y generación de evidencias</a:t>
          </a:r>
          <a:endParaRPr lang="es-EC"/>
        </a:p>
      </dgm:t>
    </dgm:pt>
    <dgm:pt modelId="{95B4AF6D-C103-9B46-B319-D5F68A6E296C}" type="parTrans" cxnId="{F6D1842F-B9C3-C14C-B22A-B4A1F593A325}">
      <dgm:prSet/>
      <dgm:spPr/>
      <dgm:t>
        <a:bodyPr/>
        <a:lstStyle/>
        <a:p>
          <a:endParaRPr lang="es-MX"/>
        </a:p>
      </dgm:t>
    </dgm:pt>
    <dgm:pt modelId="{41B35640-04D5-D549-BEE6-C358FE62BA91}" type="sibTrans" cxnId="{F6D1842F-B9C3-C14C-B22A-B4A1F593A325}">
      <dgm:prSet/>
      <dgm:spPr/>
      <dgm:t>
        <a:bodyPr/>
        <a:lstStyle/>
        <a:p>
          <a:endParaRPr lang="es-MX"/>
        </a:p>
      </dgm:t>
    </dgm:pt>
    <dgm:pt modelId="{23E0E051-1C61-7241-AD78-B4ED418081AD}" type="pres">
      <dgm:prSet presAssocID="{73800085-A782-DD41-B81D-ECF09AC62B78}" presName="Name0" presStyleCnt="0">
        <dgm:presLayoutVars>
          <dgm:dir/>
          <dgm:animLvl val="lvl"/>
          <dgm:resizeHandles val="exact"/>
        </dgm:presLayoutVars>
      </dgm:prSet>
      <dgm:spPr/>
    </dgm:pt>
    <dgm:pt modelId="{627A0D1C-F438-5942-A5CB-03C41E8A6369}" type="pres">
      <dgm:prSet presAssocID="{7A5390DC-5744-994F-B43A-EFCA495EB3F1}" presName="parTxOnly" presStyleLbl="node1" presStyleIdx="0" presStyleCnt="5">
        <dgm:presLayoutVars>
          <dgm:chMax val="0"/>
          <dgm:chPref val="0"/>
          <dgm:bulletEnabled val="1"/>
        </dgm:presLayoutVars>
      </dgm:prSet>
      <dgm:spPr/>
    </dgm:pt>
    <dgm:pt modelId="{2E9074E6-0ED2-444C-A7D4-E4C2B531EE36}" type="pres">
      <dgm:prSet presAssocID="{19F275C5-AA31-0E43-B14D-EAFB40318A47}" presName="parTxOnlySpace" presStyleCnt="0"/>
      <dgm:spPr/>
    </dgm:pt>
    <dgm:pt modelId="{BF3AF68B-6BDC-5047-8ACF-A6CB2CFEF6FE}" type="pres">
      <dgm:prSet presAssocID="{86C83194-D055-6C45-8E5E-2EB07E20E67B}" presName="parTxOnly" presStyleLbl="node1" presStyleIdx="1" presStyleCnt="5">
        <dgm:presLayoutVars>
          <dgm:chMax val="0"/>
          <dgm:chPref val="0"/>
          <dgm:bulletEnabled val="1"/>
        </dgm:presLayoutVars>
      </dgm:prSet>
      <dgm:spPr/>
    </dgm:pt>
    <dgm:pt modelId="{6BAB2AB7-EC19-E243-9ED2-AA6DD6A95F44}" type="pres">
      <dgm:prSet presAssocID="{98A3F0F3-E645-7449-B63F-FF07584EB403}" presName="parTxOnlySpace" presStyleCnt="0"/>
      <dgm:spPr/>
    </dgm:pt>
    <dgm:pt modelId="{6F315EDB-BF49-B141-85EA-D2C271110F75}" type="pres">
      <dgm:prSet presAssocID="{177350EE-F83E-B247-ACF4-95D994541831}" presName="parTxOnly" presStyleLbl="node1" presStyleIdx="2" presStyleCnt="5">
        <dgm:presLayoutVars>
          <dgm:chMax val="0"/>
          <dgm:chPref val="0"/>
          <dgm:bulletEnabled val="1"/>
        </dgm:presLayoutVars>
      </dgm:prSet>
      <dgm:spPr/>
    </dgm:pt>
    <dgm:pt modelId="{D4DFCBA8-3346-0D45-BE4F-D8A93C85F32E}" type="pres">
      <dgm:prSet presAssocID="{CDA2FB86-DC1B-E642-9316-CB9F13313FC1}" presName="parTxOnlySpace" presStyleCnt="0"/>
      <dgm:spPr/>
    </dgm:pt>
    <dgm:pt modelId="{F79AA3E1-F183-6245-AD4C-878F8FDF8BB3}" type="pres">
      <dgm:prSet presAssocID="{9C2AB892-ACDD-B647-AB3A-94F999B3DA74}" presName="parTxOnly" presStyleLbl="node1" presStyleIdx="3" presStyleCnt="5">
        <dgm:presLayoutVars>
          <dgm:chMax val="0"/>
          <dgm:chPref val="0"/>
          <dgm:bulletEnabled val="1"/>
        </dgm:presLayoutVars>
      </dgm:prSet>
      <dgm:spPr/>
    </dgm:pt>
    <dgm:pt modelId="{F7ED029A-D91D-EB4C-8C15-E5EF7CE9BDE1}" type="pres">
      <dgm:prSet presAssocID="{BD407415-ACEE-6A40-8714-467497AD2AF7}" presName="parTxOnlySpace" presStyleCnt="0"/>
      <dgm:spPr/>
    </dgm:pt>
    <dgm:pt modelId="{1BF71548-DC1F-8A44-8774-C4152AD6D4C1}" type="pres">
      <dgm:prSet presAssocID="{9E030C07-3063-0048-9D07-DFA38616A615}" presName="parTxOnly" presStyleLbl="node1" presStyleIdx="4" presStyleCnt="5">
        <dgm:presLayoutVars>
          <dgm:chMax val="0"/>
          <dgm:chPref val="0"/>
          <dgm:bulletEnabled val="1"/>
        </dgm:presLayoutVars>
      </dgm:prSet>
      <dgm:spPr/>
    </dgm:pt>
  </dgm:ptLst>
  <dgm:cxnLst>
    <dgm:cxn modelId="{A1C51E09-DC30-9D4B-BF3A-C08426FAB8F7}" type="presOf" srcId="{73800085-A782-DD41-B81D-ECF09AC62B78}" destId="{23E0E051-1C61-7241-AD78-B4ED418081AD}" srcOrd="0" destOrd="0" presId="urn:microsoft.com/office/officeart/2005/8/layout/chevron1"/>
    <dgm:cxn modelId="{5D4A9C2A-E4D2-FD45-89A1-CDFA7A7A6C06}" srcId="{73800085-A782-DD41-B81D-ECF09AC62B78}" destId="{86C83194-D055-6C45-8E5E-2EB07E20E67B}" srcOrd="1" destOrd="0" parTransId="{206FC955-BE98-2E41-A65C-A16923A9E1E7}" sibTransId="{98A3F0F3-E645-7449-B63F-FF07584EB403}"/>
    <dgm:cxn modelId="{F6D1842F-B9C3-C14C-B22A-B4A1F593A325}" srcId="{73800085-A782-DD41-B81D-ECF09AC62B78}" destId="{9E030C07-3063-0048-9D07-DFA38616A615}" srcOrd="4" destOrd="0" parTransId="{95B4AF6D-C103-9B46-B319-D5F68A6E296C}" sibTransId="{41B35640-04D5-D549-BEE6-C358FE62BA91}"/>
    <dgm:cxn modelId="{84A6683E-EAE2-7C43-A0DC-279BA311E53E}" type="presOf" srcId="{7A5390DC-5744-994F-B43A-EFCA495EB3F1}" destId="{627A0D1C-F438-5942-A5CB-03C41E8A6369}" srcOrd="0" destOrd="0" presId="urn:microsoft.com/office/officeart/2005/8/layout/chevron1"/>
    <dgm:cxn modelId="{AD707341-0920-F844-9C4E-B8EA8FD4BFFE}" srcId="{73800085-A782-DD41-B81D-ECF09AC62B78}" destId="{177350EE-F83E-B247-ACF4-95D994541831}" srcOrd="2" destOrd="0" parTransId="{A5665325-6427-7546-90B6-3B7E1C06E7E8}" sibTransId="{CDA2FB86-DC1B-E642-9316-CB9F13313FC1}"/>
    <dgm:cxn modelId="{3DBB5058-58C4-3246-87FA-14638CC88645}" type="presOf" srcId="{9E030C07-3063-0048-9D07-DFA38616A615}" destId="{1BF71548-DC1F-8A44-8774-C4152AD6D4C1}" srcOrd="0" destOrd="0" presId="urn:microsoft.com/office/officeart/2005/8/layout/chevron1"/>
    <dgm:cxn modelId="{1A4E5986-C4AB-284A-9EBB-38B6A44CCE84}" type="presOf" srcId="{177350EE-F83E-B247-ACF4-95D994541831}" destId="{6F315EDB-BF49-B141-85EA-D2C271110F75}" srcOrd="0" destOrd="0" presId="urn:microsoft.com/office/officeart/2005/8/layout/chevron1"/>
    <dgm:cxn modelId="{51A540AE-C879-8649-9F15-7502B49CF9E3}" srcId="{73800085-A782-DD41-B81D-ECF09AC62B78}" destId="{9C2AB892-ACDD-B647-AB3A-94F999B3DA74}" srcOrd="3" destOrd="0" parTransId="{5E2CCAC7-6823-D141-A0A4-7859829A8CBB}" sibTransId="{BD407415-ACEE-6A40-8714-467497AD2AF7}"/>
    <dgm:cxn modelId="{0F156EB6-A231-0749-A6FF-CF9ECE15E628}" srcId="{73800085-A782-DD41-B81D-ECF09AC62B78}" destId="{7A5390DC-5744-994F-B43A-EFCA495EB3F1}" srcOrd="0" destOrd="0" parTransId="{458D43ED-2B05-7E42-A141-743480C100F7}" sibTransId="{19F275C5-AA31-0E43-B14D-EAFB40318A47}"/>
    <dgm:cxn modelId="{537AF9CB-289E-A240-9DA1-3B5FEB8FC4C1}" type="presOf" srcId="{86C83194-D055-6C45-8E5E-2EB07E20E67B}" destId="{BF3AF68B-6BDC-5047-8ACF-A6CB2CFEF6FE}" srcOrd="0" destOrd="0" presId="urn:microsoft.com/office/officeart/2005/8/layout/chevron1"/>
    <dgm:cxn modelId="{373027DA-7FCD-214D-8A9E-6C2B225294E2}" type="presOf" srcId="{9C2AB892-ACDD-B647-AB3A-94F999B3DA74}" destId="{F79AA3E1-F183-6245-AD4C-878F8FDF8BB3}" srcOrd="0" destOrd="0" presId="urn:microsoft.com/office/officeart/2005/8/layout/chevron1"/>
    <dgm:cxn modelId="{2A5CC585-9F1F-EF48-BABF-04C22134C15A}" type="presParOf" srcId="{23E0E051-1C61-7241-AD78-B4ED418081AD}" destId="{627A0D1C-F438-5942-A5CB-03C41E8A6369}" srcOrd="0" destOrd="0" presId="urn:microsoft.com/office/officeart/2005/8/layout/chevron1"/>
    <dgm:cxn modelId="{3B59DD1B-E8D9-2548-AB12-EFB3EDCEED54}" type="presParOf" srcId="{23E0E051-1C61-7241-AD78-B4ED418081AD}" destId="{2E9074E6-0ED2-444C-A7D4-E4C2B531EE36}" srcOrd="1" destOrd="0" presId="urn:microsoft.com/office/officeart/2005/8/layout/chevron1"/>
    <dgm:cxn modelId="{D108E904-44C3-5D40-BC0E-BDC344654F17}" type="presParOf" srcId="{23E0E051-1C61-7241-AD78-B4ED418081AD}" destId="{BF3AF68B-6BDC-5047-8ACF-A6CB2CFEF6FE}" srcOrd="2" destOrd="0" presId="urn:microsoft.com/office/officeart/2005/8/layout/chevron1"/>
    <dgm:cxn modelId="{905D76D2-1188-B242-A388-2C51B5492F2E}" type="presParOf" srcId="{23E0E051-1C61-7241-AD78-B4ED418081AD}" destId="{6BAB2AB7-EC19-E243-9ED2-AA6DD6A95F44}" srcOrd="3" destOrd="0" presId="urn:microsoft.com/office/officeart/2005/8/layout/chevron1"/>
    <dgm:cxn modelId="{8389FF99-3BBC-E145-8E07-AC365FD6E1FD}" type="presParOf" srcId="{23E0E051-1C61-7241-AD78-B4ED418081AD}" destId="{6F315EDB-BF49-B141-85EA-D2C271110F75}" srcOrd="4" destOrd="0" presId="urn:microsoft.com/office/officeart/2005/8/layout/chevron1"/>
    <dgm:cxn modelId="{A354E809-2C47-3E48-B217-A1188371D19B}" type="presParOf" srcId="{23E0E051-1C61-7241-AD78-B4ED418081AD}" destId="{D4DFCBA8-3346-0D45-BE4F-D8A93C85F32E}" srcOrd="5" destOrd="0" presId="urn:microsoft.com/office/officeart/2005/8/layout/chevron1"/>
    <dgm:cxn modelId="{B522A533-C2E2-EE45-9AF7-0F2555D343D4}" type="presParOf" srcId="{23E0E051-1C61-7241-AD78-B4ED418081AD}" destId="{F79AA3E1-F183-6245-AD4C-878F8FDF8BB3}" srcOrd="6" destOrd="0" presId="urn:microsoft.com/office/officeart/2005/8/layout/chevron1"/>
    <dgm:cxn modelId="{612B894B-8D6A-604E-AF9F-8DBE407B76F1}" type="presParOf" srcId="{23E0E051-1C61-7241-AD78-B4ED418081AD}" destId="{F7ED029A-D91D-EB4C-8C15-E5EF7CE9BDE1}" srcOrd="7" destOrd="0" presId="urn:microsoft.com/office/officeart/2005/8/layout/chevron1"/>
    <dgm:cxn modelId="{A164EBB0-AA8B-0D43-9E5C-485DE85519F7}" type="presParOf" srcId="{23E0E051-1C61-7241-AD78-B4ED418081AD}" destId="{1BF71548-DC1F-8A44-8774-C4152AD6D4C1}"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7A0D1C-F438-5942-A5CB-03C41E8A6369}">
      <dsp:nvSpPr>
        <dsp:cNvPr id="0" name=""/>
        <dsp:cNvSpPr/>
      </dsp:nvSpPr>
      <dsp:spPr>
        <a:xfrm>
          <a:off x="2138" y="1886805"/>
          <a:ext cx="1903183" cy="761273"/>
        </a:xfrm>
        <a:prstGeom prst="chevron">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s-EC" sz="1100" b="1" i="0" u="none" kern="1200" dirty="0"/>
            <a:t>Transparencia en todas las etapas del proceso</a:t>
          </a:r>
          <a:endParaRPr lang="es-MX" sz="1100" kern="1200" dirty="0"/>
        </a:p>
      </dsp:txBody>
      <dsp:txXfrm>
        <a:off x="382775" y="1886805"/>
        <a:ext cx="1141910" cy="761273"/>
      </dsp:txXfrm>
    </dsp:sp>
    <dsp:sp modelId="{BF3AF68B-6BDC-5047-8ACF-A6CB2CFEF6FE}">
      <dsp:nvSpPr>
        <dsp:cNvPr id="0" name=""/>
        <dsp:cNvSpPr/>
      </dsp:nvSpPr>
      <dsp:spPr>
        <a:xfrm>
          <a:off x="1715003" y="1886805"/>
          <a:ext cx="1903183" cy="761273"/>
        </a:xfrm>
        <a:prstGeom prst="chevron">
          <a:avLst/>
        </a:prstGeom>
        <a:solidFill>
          <a:schemeClr val="accent2">
            <a:hueOff val="-152927"/>
            <a:satOff val="8134"/>
            <a:lumOff val="235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s-EC" sz="1100" b="1" i="0" u="none" kern="1200" dirty="0"/>
            <a:t>Mayor control administrativo</a:t>
          </a:r>
          <a:endParaRPr lang="es-MX" sz="1100" kern="1200" dirty="0"/>
        </a:p>
      </dsp:txBody>
      <dsp:txXfrm>
        <a:off x="2095640" y="1886805"/>
        <a:ext cx="1141910" cy="761273"/>
      </dsp:txXfrm>
    </dsp:sp>
    <dsp:sp modelId="{6F315EDB-BF49-B141-85EA-D2C271110F75}">
      <dsp:nvSpPr>
        <dsp:cNvPr id="0" name=""/>
        <dsp:cNvSpPr/>
      </dsp:nvSpPr>
      <dsp:spPr>
        <a:xfrm>
          <a:off x="3427867" y="1886805"/>
          <a:ext cx="1903183" cy="761273"/>
        </a:xfrm>
        <a:prstGeom prst="chevron">
          <a:avLst/>
        </a:prstGeom>
        <a:solidFill>
          <a:schemeClr val="accent2">
            <a:hueOff val="-305854"/>
            <a:satOff val="16268"/>
            <a:lumOff val="4705"/>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s-EC" sz="1100" b="1" i="0" u="none" kern="1200" dirty="0"/>
            <a:t>Aumento de productividad</a:t>
          </a:r>
          <a:endParaRPr lang="es-MX" sz="1100" kern="1200" dirty="0"/>
        </a:p>
      </dsp:txBody>
      <dsp:txXfrm>
        <a:off x="3808504" y="1886805"/>
        <a:ext cx="1141910" cy="761273"/>
      </dsp:txXfrm>
    </dsp:sp>
    <dsp:sp modelId="{F79AA3E1-F183-6245-AD4C-878F8FDF8BB3}">
      <dsp:nvSpPr>
        <dsp:cNvPr id="0" name=""/>
        <dsp:cNvSpPr/>
      </dsp:nvSpPr>
      <dsp:spPr>
        <a:xfrm>
          <a:off x="5140732" y="1886805"/>
          <a:ext cx="1903183" cy="761273"/>
        </a:xfrm>
        <a:prstGeom prst="chevron">
          <a:avLst/>
        </a:prstGeom>
        <a:solidFill>
          <a:schemeClr val="accent2">
            <a:hueOff val="-458782"/>
            <a:satOff val="24401"/>
            <a:lumOff val="705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s-EC" sz="1100" b="1" i="0" u="none" kern="1200"/>
            <a:t>Reducción de costos</a:t>
          </a:r>
          <a:endParaRPr lang="es-EC" sz="1100" kern="1200"/>
        </a:p>
      </dsp:txBody>
      <dsp:txXfrm>
        <a:off x="5521369" y="1886805"/>
        <a:ext cx="1141910" cy="761273"/>
      </dsp:txXfrm>
    </dsp:sp>
    <dsp:sp modelId="{1BF71548-DC1F-8A44-8774-C4152AD6D4C1}">
      <dsp:nvSpPr>
        <dsp:cNvPr id="0" name=""/>
        <dsp:cNvSpPr/>
      </dsp:nvSpPr>
      <dsp:spPr>
        <a:xfrm>
          <a:off x="6853597" y="1886805"/>
          <a:ext cx="1903183" cy="761273"/>
        </a:xfrm>
        <a:prstGeom prst="chevron">
          <a:avLst/>
        </a:prstGeom>
        <a:solidFill>
          <a:schemeClr val="accent2">
            <a:hueOff val="-611709"/>
            <a:satOff val="32535"/>
            <a:lumOff val="941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s-EC" sz="1100" b="1" i="0" u="none" kern="1200"/>
            <a:t>Automatización de procesos y generación de evidencias</a:t>
          </a:r>
          <a:endParaRPr lang="es-EC" sz="1100" kern="1200"/>
        </a:p>
      </dsp:txBody>
      <dsp:txXfrm>
        <a:off x="7234234" y="1886805"/>
        <a:ext cx="1141910" cy="76127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C8E4AC-800E-4E5A-9514-3A26B66E8976}" type="datetimeFigureOut">
              <a:rPr lang="es-EC" smtClean="0"/>
              <a:t>28/1/2026</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F5C8F-6051-4832-917A-F6DD74C87E7E}" type="slidenum">
              <a:rPr lang="es-EC" smtClean="0"/>
              <a:t>‹Nº›</a:t>
            </a:fld>
            <a:endParaRPr lang="es-EC"/>
          </a:p>
        </p:txBody>
      </p:sp>
    </p:spTree>
    <p:extLst>
      <p:ext uri="{BB962C8B-B14F-4D97-AF65-F5344CB8AC3E}">
        <p14:creationId xmlns:p14="http://schemas.microsoft.com/office/powerpoint/2010/main" val="3727085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3</a:t>
            </a:fld>
            <a:endParaRPr lang="es-ES"/>
          </a:p>
        </p:txBody>
      </p:sp>
    </p:spTree>
    <p:extLst>
      <p:ext uri="{BB962C8B-B14F-4D97-AF65-F5344CB8AC3E}">
        <p14:creationId xmlns:p14="http://schemas.microsoft.com/office/powerpoint/2010/main" val="2663268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C" sz="1200" kern="1200" dirty="0">
                <a:solidFill>
                  <a:schemeClr val="tx1"/>
                </a:solidFill>
                <a:effectLst/>
                <a:latin typeface="+mn-lt"/>
                <a:ea typeface="+mn-ea"/>
                <a:cs typeface="+mn-cs"/>
              </a:rPr>
              <a:t>BPM abarca personas, sistemas, funciones, negocios, clientes, proveedores y socios. Como mucha gente, puede que encuentre este concepto algo confuso. ¿Qué son “procesos de negocio operacionales”? O ¿qué es un enfoque “centrado en los procesos”? ¿Y desde cuándo “colaboran” las personas de negocio con las de tecnología? No se preocupe, vamos a explicarlo todo. </a:t>
            </a:r>
          </a:p>
          <a:p>
            <a:endParaRPr lang="es-EC" dirty="0"/>
          </a:p>
        </p:txBody>
      </p:sp>
      <p:sp>
        <p:nvSpPr>
          <p:cNvPr id="4" name="Marcador de número de diapositiva 3"/>
          <p:cNvSpPr>
            <a:spLocks noGrp="1"/>
          </p:cNvSpPr>
          <p:nvPr>
            <p:ph type="sldNum" sz="quarter" idx="5"/>
          </p:nvPr>
        </p:nvSpPr>
        <p:spPr/>
        <p:txBody>
          <a:bodyPr/>
          <a:lstStyle/>
          <a:p>
            <a:fld id="{D37F5C8F-6051-4832-917A-F6DD74C87E7E}" type="slidenum">
              <a:rPr lang="es-EC" smtClean="0"/>
              <a:t>7</a:t>
            </a:fld>
            <a:endParaRPr lang="es-EC"/>
          </a:p>
        </p:txBody>
      </p:sp>
    </p:spTree>
    <p:extLst>
      <p:ext uri="{BB962C8B-B14F-4D97-AF65-F5344CB8AC3E}">
        <p14:creationId xmlns:p14="http://schemas.microsoft.com/office/powerpoint/2010/main" val="1805549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BPM combina métodos ya probados y establecidos de gestión de procesos con una nueva clase de herramientas de software empresarial. Ha posibilitado adelantos muy importantes en cuanto a la velocidad y agilidad con que las organizaciones mejoran el rendimiento de negocio. Con BPM: </a:t>
            </a:r>
          </a:p>
          <a:p>
            <a:r>
              <a:rPr lang="es-EC" sz="1200" kern="1200" dirty="0">
                <a:solidFill>
                  <a:schemeClr val="tx1"/>
                </a:solidFill>
                <a:effectLst/>
                <a:latin typeface="+mn-lt"/>
                <a:ea typeface="+mn-ea"/>
                <a:cs typeface="+mn-cs"/>
              </a:rPr>
              <a:t>_ Los directores de negocio pueden, de forma más directa, medir, controlar y responder a todos los aspectos y elementos de sus procesos operacionales.</a:t>
            </a:r>
            <a:br>
              <a:rPr lang="es-EC" sz="1200" kern="1200" dirty="0">
                <a:solidFill>
                  <a:schemeClr val="tx1"/>
                </a:solidFill>
                <a:effectLst/>
                <a:latin typeface="+mn-lt"/>
                <a:ea typeface="+mn-ea"/>
                <a:cs typeface="+mn-cs"/>
              </a:rPr>
            </a:br>
            <a:r>
              <a:rPr lang="es-EC" sz="1200" kern="1200" dirty="0">
                <a:solidFill>
                  <a:schemeClr val="tx1"/>
                </a:solidFill>
                <a:effectLst/>
                <a:latin typeface="+mn-lt"/>
                <a:ea typeface="+mn-ea"/>
                <a:cs typeface="+mn-cs"/>
              </a:rPr>
              <a:t>_ Los directores de tecnologías de la información pueden aplicar sus habilidades y recursos de forma más directa en las operaciones de negocio. </a:t>
            </a:r>
          </a:p>
          <a:p>
            <a:r>
              <a:rPr lang="es-EC" sz="1200" kern="1200" dirty="0">
                <a:solidFill>
                  <a:schemeClr val="tx1"/>
                </a:solidFill>
                <a:effectLst/>
                <a:latin typeface="+mn-lt"/>
                <a:ea typeface="+mn-ea"/>
                <a:cs typeface="+mn-cs"/>
              </a:rPr>
              <a:t>_ La dirección y los empleados de la organización pueden alinear mejor sus esfuerzos y mejorar la productividad y el rendimiento personal.</a:t>
            </a:r>
            <a:br>
              <a:rPr lang="es-EC" sz="1200" kern="1200" dirty="0">
                <a:solidFill>
                  <a:schemeClr val="tx1"/>
                </a:solidFill>
                <a:effectLst/>
                <a:latin typeface="+mn-lt"/>
                <a:ea typeface="+mn-ea"/>
                <a:cs typeface="+mn-cs"/>
              </a:rPr>
            </a:br>
            <a:r>
              <a:rPr lang="es-EC" sz="1200" kern="1200" dirty="0">
                <a:solidFill>
                  <a:schemeClr val="tx1"/>
                </a:solidFill>
                <a:effectLst/>
                <a:latin typeface="+mn-lt"/>
                <a:ea typeface="+mn-ea"/>
                <a:cs typeface="+mn-cs"/>
              </a:rPr>
              <a:t>_ La empresa, como un todo, puede responder de forma más rápida a cambios y desafíos a la hora de cumplir sus fines y objetivos. </a:t>
            </a:r>
          </a:p>
          <a:p>
            <a:endParaRPr lang="es-EC" dirty="0"/>
          </a:p>
        </p:txBody>
      </p:sp>
      <p:sp>
        <p:nvSpPr>
          <p:cNvPr id="4" name="Marcador de número de diapositiva 3"/>
          <p:cNvSpPr>
            <a:spLocks noGrp="1"/>
          </p:cNvSpPr>
          <p:nvPr>
            <p:ph type="sldNum" sz="quarter" idx="5"/>
          </p:nvPr>
        </p:nvSpPr>
        <p:spPr/>
        <p:txBody>
          <a:bodyPr/>
          <a:lstStyle/>
          <a:p>
            <a:fld id="{D37F5C8F-6051-4832-917A-F6DD74C87E7E}" type="slidenum">
              <a:rPr lang="es-EC" smtClean="0"/>
              <a:t>9</a:t>
            </a:fld>
            <a:endParaRPr lang="es-EC"/>
          </a:p>
        </p:txBody>
      </p:sp>
    </p:spTree>
    <p:extLst>
      <p:ext uri="{BB962C8B-B14F-4D97-AF65-F5344CB8AC3E}">
        <p14:creationId xmlns:p14="http://schemas.microsoft.com/office/powerpoint/2010/main" val="337590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16</a:t>
            </a:fld>
            <a:endParaRPr lang="es-ES"/>
          </a:p>
        </p:txBody>
      </p:sp>
    </p:spTree>
    <p:extLst>
      <p:ext uri="{BB962C8B-B14F-4D97-AF65-F5344CB8AC3E}">
        <p14:creationId xmlns:p14="http://schemas.microsoft.com/office/powerpoint/2010/main" val="2703961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47</a:t>
            </a:fld>
            <a:endParaRPr lang="es-ES"/>
          </a:p>
        </p:txBody>
      </p:sp>
    </p:spTree>
    <p:extLst>
      <p:ext uri="{BB962C8B-B14F-4D97-AF65-F5344CB8AC3E}">
        <p14:creationId xmlns:p14="http://schemas.microsoft.com/office/powerpoint/2010/main" val="1350792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68</a:t>
            </a:fld>
            <a:endParaRPr lang="es-ES"/>
          </a:p>
        </p:txBody>
      </p:sp>
    </p:spTree>
    <p:extLst>
      <p:ext uri="{BB962C8B-B14F-4D97-AF65-F5344CB8AC3E}">
        <p14:creationId xmlns:p14="http://schemas.microsoft.com/office/powerpoint/2010/main" val="827430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74</a:t>
            </a:fld>
            <a:endParaRPr lang="es-ES"/>
          </a:p>
        </p:txBody>
      </p:sp>
    </p:spTree>
    <p:extLst>
      <p:ext uri="{BB962C8B-B14F-4D97-AF65-F5344CB8AC3E}">
        <p14:creationId xmlns:p14="http://schemas.microsoft.com/office/powerpoint/2010/main" val="1663563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76</a:t>
            </a:fld>
            <a:endParaRPr lang="es-ES"/>
          </a:p>
        </p:txBody>
      </p:sp>
    </p:spTree>
    <p:extLst>
      <p:ext uri="{BB962C8B-B14F-4D97-AF65-F5344CB8AC3E}">
        <p14:creationId xmlns:p14="http://schemas.microsoft.com/office/powerpoint/2010/main" val="2760513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1/28/2026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523297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3271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24182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869452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195371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757342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08608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062019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55315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4814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1/28/2026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635006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1/28/2026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34774352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jpe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6B0BF5-C717-4C6D-BE72-28539E5423DA}"/>
              </a:ext>
            </a:extLst>
          </p:cNvPr>
          <p:cNvSpPr>
            <a:spLocks noGrp="1"/>
          </p:cNvSpPr>
          <p:nvPr>
            <p:ph type="ctrTitle"/>
          </p:nvPr>
        </p:nvSpPr>
        <p:spPr/>
        <p:txBody>
          <a:bodyPr/>
          <a:lstStyle/>
          <a:p>
            <a:r>
              <a:rPr lang="es-EC" dirty="0"/>
              <a:t>ARQUITECTURA DE SOFTWARE</a:t>
            </a:r>
          </a:p>
        </p:txBody>
      </p:sp>
      <p:sp>
        <p:nvSpPr>
          <p:cNvPr id="3" name="Subtítulo 2">
            <a:extLst>
              <a:ext uri="{FF2B5EF4-FFF2-40B4-BE49-F238E27FC236}">
                <a16:creationId xmlns:a16="http://schemas.microsoft.com/office/drawing/2014/main" id="{EB7EEBFB-897A-4372-B748-F7109C0F10BA}"/>
              </a:ext>
            </a:extLst>
          </p:cNvPr>
          <p:cNvSpPr>
            <a:spLocks noGrp="1"/>
          </p:cNvSpPr>
          <p:nvPr>
            <p:ph type="subTitle" idx="1"/>
          </p:nvPr>
        </p:nvSpPr>
        <p:spPr/>
        <p:txBody>
          <a:bodyPr>
            <a:normAutofit/>
          </a:bodyPr>
          <a:lstStyle/>
          <a:p>
            <a:r>
              <a:rPr lang="es-EC" sz="2000" b="1" dirty="0"/>
              <a:t>bpm SOAP CON JAVA</a:t>
            </a:r>
          </a:p>
        </p:txBody>
      </p:sp>
      <p:sp>
        <p:nvSpPr>
          <p:cNvPr id="8" name="Subtítulo 2">
            <a:extLst>
              <a:ext uri="{FF2B5EF4-FFF2-40B4-BE49-F238E27FC236}">
                <a16:creationId xmlns:a16="http://schemas.microsoft.com/office/drawing/2014/main" id="{35225507-49CA-4762-9A53-34495C1CAC94}"/>
              </a:ext>
            </a:extLst>
          </p:cNvPr>
          <p:cNvSpPr txBox="1">
            <a:spLocks/>
          </p:cNvSpPr>
          <p:nvPr/>
        </p:nvSpPr>
        <p:spPr>
          <a:xfrm>
            <a:off x="1824478" y="5617541"/>
            <a:ext cx="5888287" cy="59032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MX" sz="1800" dirty="0">
                <a:solidFill>
                  <a:schemeClr val="bg1"/>
                </a:solidFill>
              </a:rPr>
              <a:t>I</a:t>
            </a:r>
            <a:r>
              <a:rPr lang="es-EC" sz="1800" dirty="0">
                <a:solidFill>
                  <a:schemeClr val="bg1"/>
                </a:solidFill>
              </a:rPr>
              <a:t>NG. EDUARDO MAURICIO CAMPAÑA ORTEGA</a:t>
            </a:r>
          </a:p>
          <a:p>
            <a:endParaRPr lang="es-EC" sz="1800" dirty="0">
              <a:solidFill>
                <a:schemeClr val="bg1"/>
              </a:solidFill>
            </a:endParaRPr>
          </a:p>
        </p:txBody>
      </p:sp>
      <p:sp>
        <p:nvSpPr>
          <p:cNvPr id="9" name="Subtítulo 2">
            <a:extLst>
              <a:ext uri="{FF2B5EF4-FFF2-40B4-BE49-F238E27FC236}">
                <a16:creationId xmlns:a16="http://schemas.microsoft.com/office/drawing/2014/main" id="{1F1A67C5-901C-4E3E-99CC-3031CABE9724}"/>
              </a:ext>
            </a:extLst>
          </p:cNvPr>
          <p:cNvSpPr txBox="1">
            <a:spLocks/>
          </p:cNvSpPr>
          <p:nvPr/>
        </p:nvSpPr>
        <p:spPr>
          <a:xfrm>
            <a:off x="599227" y="5627480"/>
            <a:ext cx="10993546" cy="59032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EC" sz="2000" dirty="0">
                <a:solidFill>
                  <a:schemeClr val="bg1"/>
                </a:solidFill>
              </a:rPr>
              <a:t>TUTOR</a:t>
            </a:r>
            <a:r>
              <a:rPr lang="es-EC" dirty="0">
                <a:solidFill>
                  <a:schemeClr val="bg1"/>
                </a:solidFill>
              </a:rPr>
              <a:t>:</a:t>
            </a:r>
          </a:p>
        </p:txBody>
      </p:sp>
      <p:pic>
        <p:nvPicPr>
          <p:cNvPr id="4" name="Picture 2" descr="Resultado de imagen para espe">
            <a:extLst>
              <a:ext uri="{FF2B5EF4-FFF2-40B4-BE49-F238E27FC236}">
                <a16:creationId xmlns:a16="http://schemas.microsoft.com/office/drawing/2014/main" id="{A085E7F5-D97F-409D-913F-278A9DA93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939" y="629123"/>
            <a:ext cx="6469823" cy="1218657"/>
          </a:xfrm>
          <a:prstGeom prst="rect">
            <a:avLst/>
          </a:prstGeom>
          <a:noFill/>
          <a:extLst>
            <a:ext uri="{909E8E84-426E-40DD-AFC4-6F175D3DCCD1}">
              <a14:hiddenFill xmlns:a14="http://schemas.microsoft.com/office/drawing/2010/main">
                <a:solidFill>
                  <a:srgbClr val="FFFFFF"/>
                </a:solidFill>
              </a14:hiddenFill>
            </a:ext>
          </a:extLst>
        </p:spPr>
      </p:pic>
      <p:sp>
        <p:nvSpPr>
          <p:cNvPr id="7" name="Subtítulo 2">
            <a:extLst>
              <a:ext uri="{FF2B5EF4-FFF2-40B4-BE49-F238E27FC236}">
                <a16:creationId xmlns:a16="http://schemas.microsoft.com/office/drawing/2014/main" id="{F78B9B89-9D2E-4EAB-8526-3BFFD2910A51}"/>
              </a:ext>
            </a:extLst>
          </p:cNvPr>
          <p:cNvSpPr txBox="1">
            <a:spLocks/>
          </p:cNvSpPr>
          <p:nvPr/>
        </p:nvSpPr>
        <p:spPr>
          <a:xfrm>
            <a:off x="3151856" y="2962699"/>
            <a:ext cx="5888287" cy="1619072"/>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15000"/>
              </a:lnSpc>
              <a:spcAft>
                <a:spcPts val="1000"/>
              </a:spcAft>
            </a:pPr>
            <a:endParaRPr lang="es-ES" dirty="0">
              <a:solidFill>
                <a:schemeClr val="bg1"/>
              </a:solidFill>
              <a:ea typeface="MS UI Gothic" panose="020B0600070205080204" pitchFamily="34" charset="-128"/>
              <a:cs typeface="Times New Roman" panose="02020603050405020304" pitchFamily="18" charset="0"/>
            </a:endParaRPr>
          </a:p>
          <a:p>
            <a:pPr algn="ctr">
              <a:lnSpc>
                <a:spcPct val="115000"/>
              </a:lnSpc>
              <a:spcAft>
                <a:spcPts val="1000"/>
              </a:spcAft>
            </a:pPr>
            <a:r>
              <a:rPr lang="es-ES" dirty="0">
                <a:solidFill>
                  <a:schemeClr val="bg1"/>
                </a:solidFill>
                <a:ea typeface="MS UI Gothic" panose="020B0600070205080204" pitchFamily="34" charset="-128"/>
                <a:cs typeface="Times New Roman" panose="02020603050405020304" pitchFamily="18" charset="0"/>
              </a:rPr>
              <a:t>Autores:</a:t>
            </a:r>
          </a:p>
          <a:p>
            <a:pPr algn="ctr"/>
            <a:r>
              <a:rPr lang="es-ES" dirty="0">
                <a:solidFill>
                  <a:schemeClr val="bg1"/>
                </a:solidFill>
              </a:rPr>
              <a:t>Almeida Marlyn </a:t>
            </a:r>
            <a:endParaRPr lang="es-MX" dirty="0">
              <a:solidFill>
                <a:schemeClr val="bg1"/>
              </a:solidFill>
            </a:endParaRPr>
          </a:p>
          <a:p>
            <a:pPr algn="ctr"/>
            <a:r>
              <a:rPr lang="es-ES" dirty="0">
                <a:solidFill>
                  <a:schemeClr val="bg1"/>
                </a:solidFill>
              </a:rPr>
              <a:t>Merino </a:t>
            </a:r>
            <a:r>
              <a:rPr lang="es-ES" dirty="0" err="1">
                <a:solidFill>
                  <a:schemeClr val="bg1"/>
                </a:solidFill>
              </a:rPr>
              <a:t>Josue</a:t>
            </a:r>
            <a:endParaRPr lang="es-MX" dirty="0">
              <a:solidFill>
                <a:schemeClr val="bg1"/>
              </a:solidFill>
            </a:endParaRPr>
          </a:p>
          <a:p>
            <a:pPr algn="ctr"/>
            <a:r>
              <a:rPr lang="es-ES" dirty="0" err="1">
                <a:solidFill>
                  <a:schemeClr val="bg1"/>
                </a:solidFill>
              </a:rPr>
              <a:t>Paez</a:t>
            </a:r>
            <a:r>
              <a:rPr lang="es-ES" dirty="0">
                <a:solidFill>
                  <a:schemeClr val="bg1"/>
                </a:solidFill>
              </a:rPr>
              <a:t> Diego</a:t>
            </a:r>
            <a:endParaRPr lang="es-MX" dirty="0">
              <a:solidFill>
                <a:schemeClr val="bg1"/>
              </a:solidFill>
            </a:endParaRPr>
          </a:p>
        </p:txBody>
      </p:sp>
    </p:spTree>
    <p:extLst>
      <p:ext uri="{BB962C8B-B14F-4D97-AF65-F5344CB8AC3E}">
        <p14:creationId xmlns:p14="http://schemas.microsoft.com/office/powerpoint/2010/main" val="3178769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8E96387-12F1-45E4-9322-ABBF2EE04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73" name="Rectangle 72">
            <a:extLst>
              <a:ext uri="{FF2B5EF4-FFF2-40B4-BE49-F238E27FC236}">
                <a16:creationId xmlns:a16="http://schemas.microsoft.com/office/drawing/2014/main" id="{A9F421DD-DE4E-4547-A904-3F80E25E3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75" name="Rectangle 74">
            <a:extLst>
              <a:ext uri="{FF2B5EF4-FFF2-40B4-BE49-F238E27FC236}">
                <a16:creationId xmlns:a16="http://schemas.microsoft.com/office/drawing/2014/main" id="{09985DEC-1215-4209-9708-B45CC9774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77" name="Rectangle 76">
            <a:extLst>
              <a:ext uri="{FF2B5EF4-FFF2-40B4-BE49-F238E27FC236}">
                <a16:creationId xmlns:a16="http://schemas.microsoft.com/office/drawing/2014/main" id="{A926A64B-3BCB-44CC-892E-C791C324B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useBgFill="1">
        <p:nvSpPr>
          <p:cNvPr id="79" name="Rectangle 78">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ítulo 1">
            <a:extLst>
              <a:ext uri="{FF2B5EF4-FFF2-40B4-BE49-F238E27FC236}">
                <a16:creationId xmlns:a16="http://schemas.microsoft.com/office/drawing/2014/main" id="{45D42A1D-10AF-477D-BFF5-4E8843EC8BCB}"/>
              </a:ext>
            </a:extLst>
          </p:cNvPr>
          <p:cNvSpPr>
            <a:spLocks noGrp="1"/>
          </p:cNvSpPr>
          <p:nvPr>
            <p:ph type="title"/>
          </p:nvPr>
        </p:nvSpPr>
        <p:spPr>
          <a:xfrm>
            <a:off x="601255" y="702156"/>
            <a:ext cx="3409783" cy="1013800"/>
          </a:xfrm>
        </p:spPr>
        <p:txBody>
          <a:bodyPr vert="horz" lIns="91440" tIns="45720" rIns="91440" bIns="45720" rtlCol="0" anchor="b">
            <a:normAutofit/>
          </a:bodyPr>
          <a:lstStyle/>
          <a:p>
            <a:r>
              <a:rPr lang="en-US"/>
              <a:t>AGENDA</a:t>
            </a:r>
          </a:p>
        </p:txBody>
      </p:sp>
      <p:sp>
        <p:nvSpPr>
          <p:cNvPr id="3" name="Marcador de contenido 2">
            <a:extLst>
              <a:ext uri="{FF2B5EF4-FFF2-40B4-BE49-F238E27FC236}">
                <a16:creationId xmlns:a16="http://schemas.microsoft.com/office/drawing/2014/main" id="{DB510464-1CDF-401B-A8F3-6ED57E943404}"/>
              </a:ext>
            </a:extLst>
          </p:cNvPr>
          <p:cNvSpPr>
            <a:spLocks noGrp="1"/>
          </p:cNvSpPr>
          <p:nvPr>
            <p:ph sz="half" idx="1"/>
          </p:nvPr>
        </p:nvSpPr>
        <p:spPr>
          <a:xfrm>
            <a:off x="601255" y="1964168"/>
            <a:ext cx="3409782" cy="4036582"/>
          </a:xfrm>
        </p:spPr>
        <p:txBody>
          <a:bodyPr vert="horz" lIns="91440" tIns="45720" rIns="91440" bIns="45720" rtlCol="0" anchor="ctr">
            <a:normAutofit/>
          </a:bodyPr>
          <a:lstStyle/>
          <a:p>
            <a:pPr>
              <a:lnSpc>
                <a:spcPct val="90000"/>
              </a:lnSpc>
            </a:pPr>
            <a:r>
              <a:rPr lang="en-US" sz="1500" b="1" dirty="0">
                <a:solidFill>
                  <a:schemeClr val="bg1"/>
                </a:solidFill>
              </a:rPr>
              <a:t>Marco </a:t>
            </a:r>
            <a:r>
              <a:rPr lang="en-US" sz="1500" b="1" dirty="0" err="1">
                <a:solidFill>
                  <a:schemeClr val="bg1"/>
                </a:solidFill>
              </a:rPr>
              <a:t>Teórico</a:t>
            </a:r>
            <a:endParaRPr lang="en-US" sz="1500" b="1" dirty="0">
              <a:solidFill>
                <a:schemeClr val="bg1"/>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a:p>
            <a:pPr>
              <a:lnSpc>
                <a:spcPct val="90000"/>
              </a:lnSpc>
            </a:pPr>
            <a:endParaRPr lang="en-US" sz="1500" b="1" dirty="0">
              <a:solidFill>
                <a:schemeClr val="bg1"/>
              </a:solidFill>
            </a:endParaRPr>
          </a:p>
        </p:txBody>
      </p:sp>
      <p:pic>
        <p:nvPicPr>
          <p:cNvPr id="1026" name="Picture 2" descr="Resultado de imagen para agenda png">
            <a:extLst>
              <a:ext uri="{FF2B5EF4-FFF2-40B4-BE49-F238E27FC236}">
                <a16:creationId xmlns:a16="http://schemas.microsoft.com/office/drawing/2014/main" id="{B40ACCFA-74BA-43E9-B918-7A45C8EFB1C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200327"/>
            <a:ext cx="6489819" cy="447797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7353E213-2E29-5132-AEFE-321DA7C655ED}"/>
              </a:ext>
            </a:extLst>
          </p:cNvPr>
          <p:cNvPicPr>
            <a:picLocks noChangeAspect="1"/>
          </p:cNvPicPr>
          <p:nvPr/>
        </p:nvPicPr>
        <p:blipFill>
          <a:blip r:embed="rId3"/>
          <a:srcRect l="6332"/>
          <a:stretch>
            <a:fillRect/>
          </a:stretch>
        </p:blipFill>
        <p:spPr>
          <a:xfrm>
            <a:off x="6679515" y="1964168"/>
            <a:ext cx="2531269" cy="3147236"/>
          </a:xfrm>
          <a:prstGeom prst="rect">
            <a:avLst/>
          </a:prstGeom>
        </p:spPr>
      </p:pic>
    </p:spTree>
    <p:extLst>
      <p:ext uri="{BB962C8B-B14F-4D97-AF65-F5344CB8AC3E}">
        <p14:creationId xmlns:p14="http://schemas.microsoft.com/office/powerpoint/2010/main" val="1070294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30704934-9DAD-3AC9-E9E3-308027B26421}"/>
              </a:ext>
            </a:extLst>
          </p:cNvPr>
          <p:cNvPicPr>
            <a:picLocks noChangeAspect="1"/>
          </p:cNvPicPr>
          <p:nvPr/>
        </p:nvPicPr>
        <p:blipFill>
          <a:blip r:embed="rId3"/>
          <a:stretch>
            <a:fillRect/>
          </a:stretch>
        </p:blipFill>
        <p:spPr>
          <a:xfrm>
            <a:off x="369455" y="55099"/>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345642" y="1209644"/>
            <a:ext cx="5785860" cy="1082693"/>
          </a:xfrm>
        </p:spPr>
        <p:txBody>
          <a:bodyPr rtlCol="0">
            <a:normAutofit fontScale="90000"/>
          </a:bodyPr>
          <a:lstStyle/>
          <a:p>
            <a:pPr algn="ctr" rtl="0"/>
            <a:r>
              <a:rPr lang="es-ES" sz="6600" dirty="0">
                <a:solidFill>
                  <a:srgbClr val="002060"/>
                </a:solidFill>
                <a:latin typeface="Rockwell" panose="02060603020205020403" pitchFamily="18" charset="0"/>
              </a:rPr>
              <a:t>MARCO TEÓRICO</a:t>
            </a:r>
          </a:p>
        </p:txBody>
      </p:sp>
      <p:sp>
        <p:nvSpPr>
          <p:cNvPr id="8" name="Marcador de contenido 7">
            <a:extLst>
              <a:ext uri="{FF2B5EF4-FFF2-40B4-BE49-F238E27FC236}">
                <a16:creationId xmlns:a16="http://schemas.microsoft.com/office/drawing/2014/main" id="{9E2EFCFF-17FC-A578-5E31-DB77D8783D7A}"/>
              </a:ext>
            </a:extLst>
          </p:cNvPr>
          <p:cNvSpPr>
            <a:spLocks noGrp="1"/>
          </p:cNvSpPr>
          <p:nvPr>
            <p:ph idx="1"/>
          </p:nvPr>
        </p:nvSpPr>
        <p:spPr/>
        <p:txBody>
          <a:bodyPr/>
          <a:lstStyle/>
          <a:p>
            <a:endParaRPr lang="es-MX" dirty="0"/>
          </a:p>
        </p:txBody>
      </p:sp>
    </p:spTree>
    <p:extLst>
      <p:ext uri="{BB962C8B-B14F-4D97-AF65-F5344CB8AC3E}">
        <p14:creationId xmlns:p14="http://schemas.microsoft.com/office/powerpoint/2010/main" val="217217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11">
            <a:extLst>
              <a:ext uri="{FF2B5EF4-FFF2-40B4-BE49-F238E27FC236}">
                <a16:creationId xmlns:a16="http://schemas.microsoft.com/office/drawing/2014/main" id="{48E96387-12F1-45E4-9322-ABBF2EE04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1" name="Rectangle 13">
            <a:extLst>
              <a:ext uri="{FF2B5EF4-FFF2-40B4-BE49-F238E27FC236}">
                <a16:creationId xmlns:a16="http://schemas.microsoft.com/office/drawing/2014/main" id="{A9F421DD-DE4E-4547-A904-3F80E25E3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2" name="Rectangle 15">
            <a:extLst>
              <a:ext uri="{FF2B5EF4-FFF2-40B4-BE49-F238E27FC236}">
                <a16:creationId xmlns:a16="http://schemas.microsoft.com/office/drawing/2014/main" id="{09985DEC-1215-4209-9708-B45CC9774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3" name="Rectangle 17">
            <a:extLst>
              <a:ext uri="{FF2B5EF4-FFF2-40B4-BE49-F238E27FC236}">
                <a16:creationId xmlns:a16="http://schemas.microsoft.com/office/drawing/2014/main" id="{A926A64B-3BCB-44CC-892E-C791C324B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ítulo 1">
            <a:extLst>
              <a:ext uri="{FF2B5EF4-FFF2-40B4-BE49-F238E27FC236}">
                <a16:creationId xmlns:a16="http://schemas.microsoft.com/office/drawing/2014/main" id="{FF95E2A3-04F9-485B-8AF3-419BBB1825C1}"/>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t>SERVICIO WEB SOAP</a:t>
            </a:r>
          </a:p>
        </p:txBody>
      </p:sp>
      <p:sp>
        <p:nvSpPr>
          <p:cNvPr id="34" name="Rectangle 19">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contenido 3">
            <a:extLst>
              <a:ext uri="{FF2B5EF4-FFF2-40B4-BE49-F238E27FC236}">
                <a16:creationId xmlns:a16="http://schemas.microsoft.com/office/drawing/2014/main" id="{35888B61-7280-45F0-B421-503EBFC316A8}"/>
              </a:ext>
            </a:extLst>
          </p:cNvPr>
          <p:cNvSpPr>
            <a:spLocks noGrp="1"/>
          </p:cNvSpPr>
          <p:nvPr>
            <p:ph sz="half" idx="1"/>
          </p:nvPr>
        </p:nvSpPr>
        <p:spPr>
          <a:xfrm>
            <a:off x="5956519" y="2153987"/>
            <a:ext cx="3344414" cy="4063355"/>
          </a:xfrm>
        </p:spPr>
        <p:txBody>
          <a:bodyPr vert="horz" lIns="91440" tIns="45720" rIns="91440" bIns="45720" rtlCol="0" anchor="ctr">
            <a:normAutofit fontScale="70000" lnSpcReduction="20000"/>
          </a:bodyPr>
          <a:lstStyle/>
          <a:p>
            <a:pPr algn="just"/>
            <a:r>
              <a:rPr lang="es-CO" sz="1800" dirty="0"/>
              <a:t>Un servicio web es un sistema software diseñado para soportar la interacción máquina-a-máquina, a través de una red, de forma interoperable. Cuenta con una interfaz descrita en un formato procesable por un equipo informático (específicamente en WSDL), a través de la que es posible interactuar con el mismo mediante el intercambio de mensajes SOAP, típicamente transmitidos usando serialización XML sobre HTTP conjuntamente con otros estándares web.</a:t>
            </a:r>
          </a:p>
          <a:p>
            <a:pPr algn="just"/>
            <a:r>
              <a:rPr lang="es-ES" sz="1800" dirty="0"/>
              <a:t>En la arquitectura de servicios web existen tres partes: proveedor de servicios web, el que pide el servicio web y el publicador. El proveedor de servicios envía al publicador del servicio un fichero WSDL con la definición del servicio web. El que pide el servicio contacta con el publicador y descubre quién es el proveedor (protocolo WSDL) y contacta con el proveedor (protocolo SOAP). </a:t>
            </a:r>
            <a:endParaRPr lang="en-US" sz="1800" dirty="0"/>
          </a:p>
        </p:txBody>
      </p:sp>
      <p:sp>
        <p:nvSpPr>
          <p:cNvPr id="8" name="Rectángulo 7">
            <a:extLst>
              <a:ext uri="{FF2B5EF4-FFF2-40B4-BE49-F238E27FC236}">
                <a16:creationId xmlns:a16="http://schemas.microsoft.com/office/drawing/2014/main" id="{7A9BD3E7-0B1C-4A51-8C7C-7B4D20D0EE04}"/>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3" name="Imagen 2" descr="The image depicts a service-oriented architecture diagram showing a broker connected to UDDI, which interfaces with WSDL, SOAP, and includes a service requester and provider.&#10;&#10;El contenido generado por IA puede ser incorrecto.">
            <a:extLst>
              <a:ext uri="{FF2B5EF4-FFF2-40B4-BE49-F238E27FC236}">
                <a16:creationId xmlns:a16="http://schemas.microsoft.com/office/drawing/2014/main" id="{2EEFB770-96CE-BC1C-1670-89B6AA9E8474}"/>
              </a:ext>
            </a:extLst>
          </p:cNvPr>
          <p:cNvPicPr>
            <a:picLocks noChangeAspect="1"/>
          </p:cNvPicPr>
          <p:nvPr/>
        </p:nvPicPr>
        <p:blipFill>
          <a:blip r:embed="rId2"/>
          <a:stretch>
            <a:fillRect/>
          </a:stretch>
        </p:blipFill>
        <p:spPr>
          <a:xfrm>
            <a:off x="1352590" y="2487554"/>
            <a:ext cx="3517121" cy="3255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28714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sv-SE" dirty="0"/>
              <a:t>CARACTERISTICA SOAP</a:t>
            </a:r>
            <a:endParaRPr lang="es-EC" dirty="0"/>
          </a:p>
        </p:txBody>
      </p:sp>
      <p:sp>
        <p:nvSpPr>
          <p:cNvPr id="3" name="Marcador de contenido 2">
            <a:extLst>
              <a:ext uri="{FF2B5EF4-FFF2-40B4-BE49-F238E27FC236}">
                <a16:creationId xmlns:a16="http://schemas.microsoft.com/office/drawing/2014/main" id="{819CCC4C-91D2-4F28-A939-BE0C6AD95E99}"/>
              </a:ext>
            </a:extLst>
          </p:cNvPr>
          <p:cNvSpPr>
            <a:spLocks noGrp="1"/>
          </p:cNvSpPr>
          <p:nvPr>
            <p:ph sz="half" idx="1"/>
          </p:nvPr>
        </p:nvSpPr>
        <p:spPr>
          <a:xfrm>
            <a:off x="581193" y="2228004"/>
            <a:ext cx="8417033" cy="1681388"/>
          </a:xfrm>
        </p:spPr>
        <p:txBody>
          <a:bodyPr>
            <a:normAutofit/>
          </a:bodyPr>
          <a:lstStyle/>
          <a:p>
            <a:pPr lvl="0"/>
            <a:r>
              <a:rPr lang="es-ES" sz="1800" dirty="0"/>
              <a:t>Los servicios SOAP funcionan por lo general por el protocolo HTTP que es lo más común cuando invocamos un Web </a:t>
            </a:r>
            <a:r>
              <a:rPr lang="es-ES" sz="1800" dirty="0" err="1"/>
              <a:t>Services</a:t>
            </a:r>
            <a:r>
              <a:rPr lang="es-ES" sz="1800" dirty="0"/>
              <a:t>, sin embargo, SOAP no está limitado a este protocolo, si no que puede ser enviado por FTP, POP3, TCP, Colas de mensajería (JMS, MQ, etc). Pero como comentaba, HTTP es el protocolo principal.</a:t>
            </a:r>
          </a:p>
        </p:txBody>
      </p:sp>
      <p:pic>
        <p:nvPicPr>
          <p:cNvPr id="10" name="Imagen 9" descr="SOAP vs REST">
            <a:extLst>
              <a:ext uri="{FF2B5EF4-FFF2-40B4-BE49-F238E27FC236}">
                <a16:creationId xmlns:a16="http://schemas.microsoft.com/office/drawing/2014/main" id="{36690273-1751-42F8-8CC5-B2D7E122602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0785" y="3773336"/>
            <a:ext cx="6995795" cy="2223770"/>
          </a:xfrm>
          <a:prstGeom prst="rect">
            <a:avLst/>
          </a:prstGeom>
          <a:noFill/>
          <a:ln w="19050">
            <a:solidFill>
              <a:schemeClr val="tx1"/>
            </a:solidFill>
          </a:ln>
        </p:spPr>
      </p:pic>
      <p:sp>
        <p:nvSpPr>
          <p:cNvPr id="7" name="Rectángulo 6">
            <a:extLst>
              <a:ext uri="{FF2B5EF4-FFF2-40B4-BE49-F238E27FC236}">
                <a16:creationId xmlns:a16="http://schemas.microsoft.com/office/drawing/2014/main" id="{D7999F0A-10C0-42A4-B471-0093C85A37E6}"/>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232387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sv-SE"/>
              <a:t>CARACTERISTICAS </a:t>
            </a:r>
            <a:r>
              <a:rPr lang="sv-SE" dirty="0"/>
              <a:t>SOAP</a:t>
            </a:r>
            <a:endParaRPr lang="es-EC" dirty="0"/>
          </a:p>
        </p:txBody>
      </p:sp>
      <p:sp>
        <p:nvSpPr>
          <p:cNvPr id="3" name="Marcador de contenido 2">
            <a:extLst>
              <a:ext uri="{FF2B5EF4-FFF2-40B4-BE49-F238E27FC236}">
                <a16:creationId xmlns:a16="http://schemas.microsoft.com/office/drawing/2014/main" id="{819CCC4C-91D2-4F28-A939-BE0C6AD95E99}"/>
              </a:ext>
            </a:extLst>
          </p:cNvPr>
          <p:cNvSpPr>
            <a:spLocks noGrp="1"/>
          </p:cNvSpPr>
          <p:nvPr>
            <p:ph sz="half" idx="1"/>
          </p:nvPr>
        </p:nvSpPr>
        <p:spPr>
          <a:xfrm>
            <a:off x="581193" y="2228004"/>
            <a:ext cx="8417033" cy="4040274"/>
          </a:xfrm>
        </p:spPr>
        <p:txBody>
          <a:bodyPr>
            <a:normAutofit fontScale="77500" lnSpcReduction="20000"/>
          </a:bodyPr>
          <a:lstStyle/>
          <a:p>
            <a:pPr marR="335280" algn="just">
              <a:lnSpc>
                <a:spcPct val="115000"/>
              </a:lnSpc>
              <a:spcAft>
                <a:spcPts val="1000"/>
              </a:spcAft>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Todo sistema usa recursos. Estos recursos pueden ser imágenes, archivos de video, páginas web, información comercial o cualquier cosa que pueda representarse en un sistema basado en computadora. El propósito de un servicio es proporcionar una ventana a sus clientes para que puedan acceder a estos recursos. Los arquitectos y desarrolladores de servicios quieren que este servicio sea fácil de implementar, fácil de mantener, extensible y escalable. Un diseño SOAP promete eso y más. En general, los servicios </a:t>
            </a:r>
            <a:r>
              <a:rPr lang="es-ES" sz="18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SOAPdeben</a:t>
            </a: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tener las siguientes propiedades y características, que describiré en detalle:</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35280" lvl="0" indent="-342900" algn="just">
              <a:lnSpc>
                <a:spcPct val="115000"/>
              </a:lnSpc>
              <a:buFont typeface="Wingdings" panose="05000000000000000000" pitchFamily="2" charset="2"/>
              <a:buChar char=""/>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Representaciones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35280" lvl="0" indent="-342900" algn="just">
              <a:lnSpc>
                <a:spcPct val="115000"/>
              </a:lnSpc>
              <a:buFont typeface="Wingdings" panose="05000000000000000000" pitchFamily="2" charset="2"/>
              <a:buChar char=""/>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Mensajes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35280" lvl="0" indent="-342900" algn="just">
              <a:lnSpc>
                <a:spcPct val="115000"/>
              </a:lnSpc>
              <a:buFont typeface="Wingdings" panose="05000000000000000000" pitchFamily="2" charset="2"/>
              <a:buChar char=""/>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URI</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35280" lvl="0" indent="-342900" algn="just">
              <a:lnSpc>
                <a:spcPct val="115000"/>
              </a:lnSpc>
              <a:buFont typeface="Wingdings" panose="05000000000000000000" pitchFamily="2" charset="2"/>
              <a:buChar char=""/>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Interfaz uniforme</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35280" lvl="0" indent="-342900" algn="just">
              <a:lnSpc>
                <a:spcPct val="115000"/>
              </a:lnSpc>
              <a:buFont typeface="Wingdings" panose="05000000000000000000" pitchFamily="2" charset="2"/>
              <a:buChar char=""/>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Apátrida</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35280" lvl="0" indent="-342900" algn="just">
              <a:lnSpc>
                <a:spcPct val="115000"/>
              </a:lnSpc>
              <a:buFont typeface="Wingdings" panose="05000000000000000000" pitchFamily="2" charset="2"/>
              <a:buChar char=""/>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Enlaces entre recursos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35280" lvl="0" indent="-342900" algn="just">
              <a:lnSpc>
                <a:spcPct val="115000"/>
              </a:lnSpc>
              <a:spcAft>
                <a:spcPts val="1000"/>
              </a:spcAft>
              <a:buFont typeface="Wingdings" panose="05000000000000000000" pitchFamily="2" charset="2"/>
              <a:buChar char=""/>
            </a:pPr>
            <a:r>
              <a:rPr lang="es-E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Almacenamiento en caché</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96482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en-US" b="1" dirty="0" err="1"/>
              <a:t>Definición</a:t>
            </a:r>
            <a:r>
              <a:rPr lang="en-US" b="1" dirty="0"/>
              <a:t> de Business Process Management (BPM)</a:t>
            </a:r>
            <a:endParaRPr lang="es-EC" dirty="0"/>
          </a:p>
        </p:txBody>
      </p:sp>
      <p:sp>
        <p:nvSpPr>
          <p:cNvPr id="3" name="Marcador de contenido 2">
            <a:extLst>
              <a:ext uri="{FF2B5EF4-FFF2-40B4-BE49-F238E27FC236}">
                <a16:creationId xmlns:a16="http://schemas.microsoft.com/office/drawing/2014/main" id="{819CCC4C-91D2-4F28-A939-BE0C6AD95E99}"/>
              </a:ext>
            </a:extLst>
          </p:cNvPr>
          <p:cNvSpPr>
            <a:spLocks noGrp="1"/>
          </p:cNvSpPr>
          <p:nvPr>
            <p:ph sz="half" idx="1"/>
          </p:nvPr>
        </p:nvSpPr>
        <p:spPr>
          <a:xfrm>
            <a:off x="581193" y="2228004"/>
            <a:ext cx="8170921" cy="1734396"/>
          </a:xfrm>
        </p:spPr>
        <p:txBody>
          <a:bodyPr>
            <a:normAutofit fontScale="92500" lnSpcReduction="10000"/>
          </a:bodyPr>
          <a:lstStyle/>
          <a:p>
            <a:pPr algn="just">
              <a:lnSpc>
                <a:spcPct val="115000"/>
              </a:lnSpc>
              <a:spcAft>
                <a:spcPts val="1000"/>
              </a:spcAft>
            </a:pPr>
            <a:r>
              <a:rPr lang="es-US" dirty="0"/>
              <a:t>B</a:t>
            </a:r>
            <a:r>
              <a:rPr lang="es-EC" dirty="0"/>
              <a:t>usiness Process Management (BPM) es un conjunto de métodos, herramientas y tecnologías utilizados para diseñar, representar, analizar y controlar procesos de negocio operacionales. BPM es un enfoque centrado en los procesos para mejorar el rendimiento que combina las tecnologías de la información con metodologías de proceso y gobierno. BPM es una colaboración entre personas de negocio y tecnólogos para fomentar procesos de negocio efectivos, ágiles y transparentes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1026" name="Picture 2" descr="Internet Marketing And Mobile Application Development - Business Process  Outsourcing Png - Free Transparent PNG Download - PNGkey">
            <a:extLst>
              <a:ext uri="{FF2B5EF4-FFF2-40B4-BE49-F238E27FC236}">
                <a16:creationId xmlns:a16="http://schemas.microsoft.com/office/drawing/2014/main" id="{4E723722-8887-6148-B81C-BC8DEB64CE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8184" y="4049486"/>
            <a:ext cx="3436937" cy="2531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873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sv-SE" dirty="0"/>
              <a:t>BENEFICIOS DE BPM</a:t>
            </a:r>
            <a:endParaRPr lang="es-EC" dirty="0"/>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graphicFrame>
        <p:nvGraphicFramePr>
          <p:cNvPr id="8" name="Marcador de contenido 7">
            <a:extLst>
              <a:ext uri="{FF2B5EF4-FFF2-40B4-BE49-F238E27FC236}">
                <a16:creationId xmlns:a16="http://schemas.microsoft.com/office/drawing/2014/main" id="{D70E4E70-3F6F-2142-8361-A03E45BBBA13}"/>
              </a:ext>
            </a:extLst>
          </p:cNvPr>
          <p:cNvGraphicFramePr>
            <a:graphicFrameLocks noGrp="1"/>
          </p:cNvGraphicFramePr>
          <p:nvPr>
            <p:ph sz="half" idx="1"/>
            <p:extLst>
              <p:ext uri="{D42A27DB-BD31-4B8C-83A1-F6EECF244321}">
                <p14:modId xmlns:p14="http://schemas.microsoft.com/office/powerpoint/2010/main" val="1314606475"/>
              </p:ext>
            </p:extLst>
          </p:nvPr>
        </p:nvGraphicFramePr>
        <p:xfrm>
          <a:off x="581191" y="729658"/>
          <a:ext cx="8758919" cy="4534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descr="Cómo rediseñar los procesos usando el Business Process Management (BPM)? |  Procesos | Apuntes empresariales | ESAN">
            <a:extLst>
              <a:ext uri="{FF2B5EF4-FFF2-40B4-BE49-F238E27FC236}">
                <a16:creationId xmlns:a16="http://schemas.microsoft.com/office/drawing/2014/main" id="{A572F7E4-C124-3D4A-8EE3-26FEF4D319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1272" y="3522829"/>
            <a:ext cx="4918755" cy="2767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852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sv-SE" dirty="0"/>
              <a:t>MASHUP</a:t>
            </a:r>
            <a:endParaRPr lang="es-EC" dirty="0"/>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2050" name="Picture 2" descr="Business Process Management (BPM) | InovaPrime">
            <a:extLst>
              <a:ext uri="{FF2B5EF4-FFF2-40B4-BE49-F238E27FC236}">
                <a16:creationId xmlns:a16="http://schemas.microsoft.com/office/drawing/2014/main" id="{A7406E6C-806F-904A-BB73-A5276407D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284" y="1964850"/>
            <a:ext cx="4527323" cy="460297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C1A0E83-87A6-3545-99A6-CF76AB781F8F}"/>
              </a:ext>
            </a:extLst>
          </p:cNvPr>
          <p:cNvSpPr/>
          <p:nvPr/>
        </p:nvSpPr>
        <p:spPr>
          <a:xfrm>
            <a:off x="5742709" y="2420167"/>
            <a:ext cx="3374571" cy="3893438"/>
          </a:xfrm>
          <a:prstGeom prst="rect">
            <a:avLst/>
          </a:prstGeom>
        </p:spPr>
        <p:txBody>
          <a:bodyPr wrap="square">
            <a:spAutoFit/>
          </a:bodyPr>
          <a:lstStyle/>
          <a:p>
            <a:pPr>
              <a:lnSpc>
                <a:spcPct val="115000"/>
              </a:lnSpc>
              <a:spcAft>
                <a:spcPts val="1000"/>
              </a:spcAft>
            </a:pPr>
            <a:r>
              <a:rPr lang="es-EC" dirty="0">
                <a:latin typeface="Verdana" panose="020B0604030504040204" pitchFamily="34" charset="0"/>
                <a:ea typeface="Times New Roman" panose="02020603050405020304" pitchFamily="18" charset="0"/>
                <a:cs typeface="Times New Roman" panose="02020603050405020304" pitchFamily="18" charset="0"/>
              </a:rPr>
              <a:t>BPM combina métodos ya probados y establecidos de gestión de procesos con una nueva clase de herramientas de software empresarial. Ha posibilitado adelantos muy importantes en cuanto a la velocidad y agilidad con que las organizaciones mejoran el rendimiento de negocio. Con BPM: </a:t>
            </a:r>
            <a:endParaRPr lang="es-EC"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651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es-EC" dirty="0"/>
              <a:t>Ciclo</a:t>
            </a:r>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7" name="Marcador de contenido 6">
            <a:extLst>
              <a:ext uri="{FF2B5EF4-FFF2-40B4-BE49-F238E27FC236}">
                <a16:creationId xmlns:a16="http://schemas.microsoft.com/office/drawing/2014/main" id="{89A119D3-EFC5-6A40-8F39-1E635F6BD1DF}"/>
              </a:ext>
            </a:extLst>
          </p:cNvPr>
          <p:cNvSpPr>
            <a:spLocks noGrp="1"/>
          </p:cNvSpPr>
          <p:nvPr>
            <p:ph sz="half" idx="1"/>
          </p:nvPr>
        </p:nvSpPr>
        <p:spPr/>
        <p:txBody>
          <a:bodyPr/>
          <a:lstStyle/>
          <a:p>
            <a:pPr marL="0" indent="0">
              <a:buNone/>
            </a:pPr>
            <a:endParaRPr lang="es-EC" dirty="0"/>
          </a:p>
        </p:txBody>
      </p:sp>
      <p:pic>
        <p:nvPicPr>
          <p:cNvPr id="8" name="Imagen 7">
            <a:extLst>
              <a:ext uri="{FF2B5EF4-FFF2-40B4-BE49-F238E27FC236}">
                <a16:creationId xmlns:a16="http://schemas.microsoft.com/office/drawing/2014/main" id="{9EEA298E-8617-3D4A-89DD-14F553A24923}"/>
              </a:ext>
            </a:extLst>
          </p:cNvPr>
          <p:cNvPicPr>
            <a:picLocks noChangeAspect="1"/>
          </p:cNvPicPr>
          <p:nvPr/>
        </p:nvPicPr>
        <p:blipFill>
          <a:blip r:embed="rId2"/>
          <a:stretch>
            <a:fillRect/>
          </a:stretch>
        </p:blipFill>
        <p:spPr>
          <a:xfrm>
            <a:off x="446533" y="1865915"/>
            <a:ext cx="9108286" cy="4800845"/>
          </a:xfrm>
          <a:prstGeom prst="rect">
            <a:avLst/>
          </a:prstGeom>
        </p:spPr>
      </p:pic>
    </p:spTree>
    <p:extLst>
      <p:ext uri="{BB962C8B-B14F-4D97-AF65-F5344CB8AC3E}">
        <p14:creationId xmlns:p14="http://schemas.microsoft.com/office/powerpoint/2010/main" val="2594783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sv-SE" dirty="0" err="1"/>
              <a:t>Dimensiones</a:t>
            </a:r>
            <a:endParaRPr lang="es-EC" dirty="0"/>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7" name="Marcador de contenido 6">
            <a:extLst>
              <a:ext uri="{FF2B5EF4-FFF2-40B4-BE49-F238E27FC236}">
                <a16:creationId xmlns:a16="http://schemas.microsoft.com/office/drawing/2014/main" id="{89A119D3-EFC5-6A40-8F39-1E635F6BD1DF}"/>
              </a:ext>
            </a:extLst>
          </p:cNvPr>
          <p:cNvSpPr>
            <a:spLocks noGrp="1"/>
          </p:cNvSpPr>
          <p:nvPr>
            <p:ph sz="half" idx="1"/>
          </p:nvPr>
        </p:nvSpPr>
        <p:spPr/>
        <p:txBody>
          <a:bodyPr/>
          <a:lstStyle/>
          <a:p>
            <a:pPr marL="0" indent="0">
              <a:buNone/>
            </a:pPr>
            <a:endParaRPr lang="es-EC" dirty="0"/>
          </a:p>
        </p:txBody>
      </p:sp>
      <p:pic>
        <p:nvPicPr>
          <p:cNvPr id="6" name="Imagen 5">
            <a:extLst>
              <a:ext uri="{FF2B5EF4-FFF2-40B4-BE49-F238E27FC236}">
                <a16:creationId xmlns:a16="http://schemas.microsoft.com/office/drawing/2014/main" id="{45A33617-E958-AE46-86DB-F6E4FB5C2760}"/>
              </a:ext>
            </a:extLst>
          </p:cNvPr>
          <p:cNvPicPr>
            <a:picLocks noChangeAspect="1"/>
          </p:cNvPicPr>
          <p:nvPr/>
        </p:nvPicPr>
        <p:blipFill>
          <a:blip r:embed="rId2"/>
          <a:stretch>
            <a:fillRect/>
          </a:stretch>
        </p:blipFill>
        <p:spPr>
          <a:xfrm>
            <a:off x="446532" y="1865915"/>
            <a:ext cx="9085822" cy="4845004"/>
          </a:xfrm>
          <a:prstGeom prst="rect">
            <a:avLst/>
          </a:prstGeom>
        </p:spPr>
      </p:pic>
    </p:spTree>
    <p:extLst>
      <p:ext uri="{BB962C8B-B14F-4D97-AF65-F5344CB8AC3E}">
        <p14:creationId xmlns:p14="http://schemas.microsoft.com/office/powerpoint/2010/main" val="1006666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es-EC" b="1" dirty="0"/>
              <a:t>La arquitectura tecnológica de BPM </a:t>
            </a:r>
          </a:p>
        </p:txBody>
      </p:sp>
      <p:sp>
        <p:nvSpPr>
          <p:cNvPr id="3" name="Marcador de contenido 2">
            <a:extLst>
              <a:ext uri="{FF2B5EF4-FFF2-40B4-BE49-F238E27FC236}">
                <a16:creationId xmlns:a16="http://schemas.microsoft.com/office/drawing/2014/main" id="{819CCC4C-91D2-4F28-A939-BE0C6AD95E99}"/>
              </a:ext>
            </a:extLst>
          </p:cNvPr>
          <p:cNvSpPr>
            <a:spLocks noGrp="1"/>
          </p:cNvSpPr>
          <p:nvPr>
            <p:ph sz="half" idx="1"/>
          </p:nvPr>
        </p:nvSpPr>
        <p:spPr>
          <a:xfrm>
            <a:off x="590313" y="2011654"/>
            <a:ext cx="8225350" cy="1777940"/>
          </a:xfrm>
        </p:spPr>
        <p:txBody>
          <a:bodyPr>
            <a:normAutofit fontScale="92500"/>
          </a:bodyPr>
          <a:lstStyle/>
          <a:p>
            <a:r>
              <a:rPr lang="es-EC" dirty="0"/>
              <a:t>BPMM proporciona el enfoque centrado en los procesos sobre la infraestructura empresarial operacional más completo y flexible jamás ideado. La arquitectura tecnológica conecta las arquitecturas de negocio, de procesos y de gestión para satisfacer las necesidades y objetivos del negocio. La arquitectura tecnológica de BPM incluye el conjunto de tecnologías componente que se combinan para respaldar los objetivos funcionales y condicionantes empresariales. En concreto, la arquitectura: </a:t>
            </a:r>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4098" name="Picture 2" descr="BPMM | SoftExpert Software">
            <a:extLst>
              <a:ext uri="{FF2B5EF4-FFF2-40B4-BE49-F238E27FC236}">
                <a16:creationId xmlns:a16="http://schemas.microsoft.com/office/drawing/2014/main" id="{BD7F9B10-1522-394D-ACC3-58F822776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286" y="3881176"/>
            <a:ext cx="6284686" cy="2900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371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es-EC" b="1" dirty="0"/>
              <a:t>La arquitectura tecnológica de BPM </a:t>
            </a:r>
          </a:p>
        </p:txBody>
      </p:sp>
      <p:sp>
        <p:nvSpPr>
          <p:cNvPr id="3" name="Marcador de contenido 2">
            <a:extLst>
              <a:ext uri="{FF2B5EF4-FFF2-40B4-BE49-F238E27FC236}">
                <a16:creationId xmlns:a16="http://schemas.microsoft.com/office/drawing/2014/main" id="{819CCC4C-91D2-4F28-A939-BE0C6AD95E99}"/>
              </a:ext>
            </a:extLst>
          </p:cNvPr>
          <p:cNvSpPr>
            <a:spLocks noGrp="1"/>
          </p:cNvSpPr>
          <p:nvPr>
            <p:ph sz="half" idx="1"/>
          </p:nvPr>
        </p:nvSpPr>
        <p:spPr>
          <a:xfrm>
            <a:off x="581193" y="2012146"/>
            <a:ext cx="8562807" cy="1571494"/>
          </a:xfrm>
        </p:spPr>
        <p:txBody>
          <a:bodyPr>
            <a:normAutofit fontScale="85000" lnSpcReduction="20000"/>
          </a:bodyPr>
          <a:lstStyle/>
          <a:p>
            <a:r>
              <a:rPr lang="es-EC" dirty="0"/>
              <a:t>Respalda de manera rentable el cambio rápido y la innovación continua</a:t>
            </a:r>
          </a:p>
          <a:p>
            <a:r>
              <a:rPr lang="es-EC" dirty="0"/>
              <a:t>Alinea constantemente los recursos de TI con los objetivos de negocio</a:t>
            </a:r>
          </a:p>
          <a:p>
            <a:r>
              <a:rPr lang="es-EC" dirty="0"/>
              <a:t>Permite la gestión de los activos de TI existentes como un porfolio para alcanzar la máxima eficiencia y productividad</a:t>
            </a:r>
          </a:p>
          <a:p>
            <a:r>
              <a:rPr lang="es-EC" dirty="0"/>
              <a:t>Permite compartir la responsabilidad en la creación y cambio de las aplicaciones centradas en los procesos entre la empresa y TI </a:t>
            </a:r>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1026" name="Picture 2" descr="BPM es clave para conseguir la Transformación Digital - Albatian">
            <a:extLst>
              <a:ext uri="{FF2B5EF4-FFF2-40B4-BE49-F238E27FC236}">
                <a16:creationId xmlns:a16="http://schemas.microsoft.com/office/drawing/2014/main" id="{7B6465B3-05D5-2B31-21BB-E1EB3B2E46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5180" y="3999276"/>
            <a:ext cx="3961016" cy="2507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5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es-EC" b="1" dirty="0"/>
              <a:t>La arquitectura tecnológica de BPM </a:t>
            </a:r>
          </a:p>
        </p:txBody>
      </p:sp>
      <p:sp>
        <p:nvSpPr>
          <p:cNvPr id="3" name="Marcador de contenido 2">
            <a:extLst>
              <a:ext uri="{FF2B5EF4-FFF2-40B4-BE49-F238E27FC236}">
                <a16:creationId xmlns:a16="http://schemas.microsoft.com/office/drawing/2014/main" id="{819CCC4C-91D2-4F28-A939-BE0C6AD95E99}"/>
              </a:ext>
            </a:extLst>
          </p:cNvPr>
          <p:cNvSpPr>
            <a:spLocks noGrp="1"/>
          </p:cNvSpPr>
          <p:nvPr>
            <p:ph sz="half" idx="1"/>
          </p:nvPr>
        </p:nvSpPr>
        <p:spPr>
          <a:xfrm>
            <a:off x="581193" y="2228003"/>
            <a:ext cx="8867607" cy="4205454"/>
          </a:xfrm>
        </p:spPr>
        <p:txBody>
          <a:bodyPr>
            <a:normAutofit fontScale="92500" lnSpcReduction="10000"/>
          </a:bodyPr>
          <a:lstStyle/>
          <a:p>
            <a:pPr marL="0" indent="0">
              <a:buNone/>
            </a:pPr>
            <a:r>
              <a:rPr lang="es-EC" dirty="0"/>
              <a:t>Los componentes principales de la arquitectura técnica son: </a:t>
            </a:r>
          </a:p>
          <a:p>
            <a:r>
              <a:rPr lang="es-EC" b="1" dirty="0"/>
              <a:t>El espacio de trabajo unificado: </a:t>
            </a:r>
            <a:r>
              <a:rPr lang="es-EC" dirty="0"/>
              <a:t>interfaces de usuario, supervisión y paneles, y bandejas de entrada de tareas</a:t>
            </a:r>
          </a:p>
          <a:p>
            <a:r>
              <a:rPr lang="es-EC" b="1" dirty="0"/>
              <a:t>El entorno de ejecución: </a:t>
            </a:r>
            <a:r>
              <a:rPr lang="es-EC" dirty="0"/>
              <a:t>el motor de reglas de negocio, el motor de procesos y el motor de análisis </a:t>
            </a:r>
          </a:p>
          <a:p>
            <a:r>
              <a:rPr lang="es-EC" b="1" dirty="0"/>
              <a:t>El motor de simulación</a:t>
            </a:r>
          </a:p>
          <a:p>
            <a:r>
              <a:rPr lang="es-EC" b="1" dirty="0"/>
              <a:t>La caja de herramientas de diseño de los procesos: </a:t>
            </a:r>
            <a:r>
              <a:rPr lang="es-EC" dirty="0"/>
              <a:t>creación de modelos de procesos, definición de reglas, definición de indicadores clave de desempeño (KPI, Key Performance Indicators), desarrollo de procesos y diseño de interfaces de usuario</a:t>
            </a:r>
          </a:p>
          <a:p>
            <a:r>
              <a:rPr lang="es-EC" b="1" dirty="0"/>
              <a:t>El repositorio de metadatos: </a:t>
            </a:r>
            <a:r>
              <a:rPr lang="es-EC" dirty="0"/>
              <a:t>el “contenedor” de las descripciones, relaciones y políticas de los activos de los procesos</a:t>
            </a:r>
          </a:p>
          <a:p>
            <a:r>
              <a:rPr lang="es-EC" b="1" dirty="0"/>
              <a:t>Adaptadores de servicios web y nuevo entorno de desarrollo de servicios: </a:t>
            </a:r>
            <a:r>
              <a:rPr lang="es-EC" dirty="0"/>
              <a:t>proporciona conexiones con las funciones y herramientas existentes para la creación de nuevos servicios </a:t>
            </a:r>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847668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es-EC" b="1" dirty="0"/>
              <a:t>La arquitectura tecnológica de BPM </a:t>
            </a:r>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6" name="Marcador de contenido 5">
            <a:extLst>
              <a:ext uri="{FF2B5EF4-FFF2-40B4-BE49-F238E27FC236}">
                <a16:creationId xmlns:a16="http://schemas.microsoft.com/office/drawing/2014/main" id="{FA994584-6A3D-C74F-988F-6EAF7BE78C7A}"/>
              </a:ext>
            </a:extLst>
          </p:cNvPr>
          <p:cNvSpPr>
            <a:spLocks noGrp="1"/>
          </p:cNvSpPr>
          <p:nvPr>
            <p:ph sz="half" idx="1"/>
          </p:nvPr>
        </p:nvSpPr>
        <p:spPr/>
        <p:txBody>
          <a:bodyPr/>
          <a:lstStyle/>
          <a:p>
            <a:endParaRPr lang="es-EC"/>
          </a:p>
        </p:txBody>
      </p:sp>
      <p:pic>
        <p:nvPicPr>
          <p:cNvPr id="7" name="Picture 2" descr="Business Process Management Model (BPMM)">
            <a:extLst>
              <a:ext uri="{FF2B5EF4-FFF2-40B4-BE49-F238E27FC236}">
                <a16:creationId xmlns:a16="http://schemas.microsoft.com/office/drawing/2014/main" id="{6F228E4F-1E22-BA49-8C88-0185F1012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476" y="1945061"/>
            <a:ext cx="7369410" cy="4912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774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0DE5E330-D662-0961-9406-71D306A286C5}"/>
              </a:ext>
            </a:extLst>
          </p:cNvPr>
          <p:cNvPicPr>
            <a:picLocks noChangeAspect="1"/>
          </p:cNvPicPr>
          <p:nvPr/>
        </p:nvPicPr>
        <p:blipFill>
          <a:blip r:embed="rId3"/>
          <a:stretch>
            <a:fillRect/>
          </a:stretch>
        </p:blipFill>
        <p:spPr>
          <a:xfrm>
            <a:off x="227013" y="0"/>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633413" y="1403608"/>
            <a:ext cx="10170054" cy="2497215"/>
          </a:xfrm>
        </p:spPr>
        <p:txBody>
          <a:bodyPr rtlCol="0">
            <a:normAutofit/>
          </a:bodyPr>
          <a:lstStyle/>
          <a:p>
            <a:pPr algn="ctr" rtl="0"/>
            <a:r>
              <a:rPr lang="es-ES" sz="6600" dirty="0">
                <a:solidFill>
                  <a:srgbClr val="002060"/>
                </a:solidFill>
                <a:latin typeface="Rockwell" panose="02060603020205020403" pitchFamily="18" charset="0"/>
              </a:rPr>
              <a:t>INSTALACIÓN DE HERRAMIENTAS</a:t>
            </a:r>
          </a:p>
        </p:txBody>
      </p:sp>
    </p:spTree>
    <p:extLst>
      <p:ext uri="{BB962C8B-B14F-4D97-AF65-F5344CB8AC3E}">
        <p14:creationId xmlns:p14="http://schemas.microsoft.com/office/powerpoint/2010/main" val="2644745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383-2DFC-4686-91B2-1DCF96600851}"/>
              </a:ext>
            </a:extLst>
          </p:cNvPr>
          <p:cNvSpPr>
            <a:spLocks noGrp="1"/>
          </p:cNvSpPr>
          <p:nvPr>
            <p:ph type="title"/>
          </p:nvPr>
        </p:nvSpPr>
        <p:spPr>
          <a:xfrm>
            <a:off x="621380" y="706685"/>
            <a:ext cx="10396882" cy="1151965"/>
          </a:xfrm>
        </p:spPr>
        <p:txBody>
          <a:bodyPr>
            <a:noAutofit/>
          </a:bodyPr>
          <a:lstStyle/>
          <a:p>
            <a:r>
              <a:rPr lang="es-MX" sz="4400" b="1" dirty="0"/>
              <a:t>Instalación de herramientas (</a:t>
            </a:r>
            <a:r>
              <a:rPr lang="es-MX" sz="4400" b="1" dirty="0" err="1"/>
              <a:t>Power</a:t>
            </a:r>
            <a:r>
              <a:rPr lang="es-MX" sz="4400" b="1" dirty="0"/>
              <a:t> Designer)</a:t>
            </a:r>
            <a:endParaRPr lang="en-GB" sz="4400" b="1" dirty="0"/>
          </a:p>
        </p:txBody>
      </p:sp>
      <p:pic>
        <p:nvPicPr>
          <p:cNvPr id="4" name="Picture 3">
            <a:extLst>
              <a:ext uri="{FF2B5EF4-FFF2-40B4-BE49-F238E27FC236}">
                <a16:creationId xmlns:a16="http://schemas.microsoft.com/office/drawing/2014/main" id="{BCC21CDD-B6B7-4530-9428-A31CC4025B6D}"/>
              </a:ext>
            </a:extLst>
          </p:cNvPr>
          <p:cNvPicPr/>
          <p:nvPr/>
        </p:nvPicPr>
        <p:blipFill>
          <a:blip r:embed="rId2"/>
          <a:stretch>
            <a:fillRect/>
          </a:stretch>
        </p:blipFill>
        <p:spPr>
          <a:xfrm>
            <a:off x="621380" y="1987778"/>
            <a:ext cx="4578304" cy="25391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6FF7807D-9EBF-44FF-A55C-106510237AA5}"/>
              </a:ext>
            </a:extLst>
          </p:cNvPr>
          <p:cNvPicPr/>
          <p:nvPr/>
        </p:nvPicPr>
        <p:blipFill>
          <a:blip r:embed="rId3"/>
          <a:stretch>
            <a:fillRect/>
          </a:stretch>
        </p:blipFill>
        <p:spPr>
          <a:xfrm>
            <a:off x="6360392" y="2773137"/>
            <a:ext cx="2734608" cy="30998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6475AC5C-1288-4265-B8BD-9CCA3B5B4DE5}"/>
              </a:ext>
            </a:extLst>
          </p:cNvPr>
          <p:cNvSpPr/>
          <p:nvPr/>
        </p:nvSpPr>
        <p:spPr>
          <a:xfrm>
            <a:off x="0" y="5005100"/>
            <a:ext cx="574490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3 Página principal de instalación </a:t>
            </a:r>
            <a:r>
              <a:rPr lang="es-ES" i="1" dirty="0" err="1">
                <a:solidFill>
                  <a:srgbClr val="44546A"/>
                </a:solidFill>
                <a:latin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35A1227-B37F-438B-9DAA-8B2943EA8C0D}"/>
              </a:ext>
            </a:extLst>
          </p:cNvPr>
          <p:cNvSpPr/>
          <p:nvPr/>
        </p:nvSpPr>
        <p:spPr>
          <a:xfrm>
            <a:off x="4922009" y="6197165"/>
            <a:ext cx="459709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4 Página de registro </a:t>
            </a:r>
            <a:r>
              <a:rPr lang="es-ES" i="1" dirty="0" err="1">
                <a:solidFill>
                  <a:srgbClr val="44546A"/>
                </a:solidFill>
                <a:latin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cs typeface="Times New Roman" panose="02020603050405020304" pitchFamily="18" charset="0"/>
            </a:endParaRPr>
          </a:p>
        </p:txBody>
      </p:sp>
      <p:sp>
        <p:nvSpPr>
          <p:cNvPr id="7" name="Rectángulo 6">
            <a:extLst>
              <a:ext uri="{FF2B5EF4-FFF2-40B4-BE49-F238E27FC236}">
                <a16:creationId xmlns:a16="http://schemas.microsoft.com/office/drawing/2014/main" id="{2DEF4E82-A2BC-4C8D-9B21-EDE6DADE7A1B}"/>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864021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A81AD-C7D7-43E8-8622-2EC2460C76A8}"/>
              </a:ext>
            </a:extLst>
          </p:cNvPr>
          <p:cNvSpPr>
            <a:spLocks noGrp="1"/>
          </p:cNvSpPr>
          <p:nvPr>
            <p:ph type="title"/>
          </p:nvPr>
        </p:nvSpPr>
        <p:spPr>
          <a:xfrm>
            <a:off x="897432" y="397042"/>
            <a:ext cx="10396882" cy="1151965"/>
          </a:xfrm>
        </p:spPr>
        <p:txBody>
          <a:bodyPr>
            <a:normAutofit/>
          </a:bodyPr>
          <a:lstStyle/>
          <a:p>
            <a:r>
              <a:rPr lang="es-MX" sz="5400" b="1" dirty="0"/>
              <a:t>Power Designer</a:t>
            </a:r>
            <a:endParaRPr lang="en-GB" sz="5400" b="1" dirty="0"/>
          </a:p>
        </p:txBody>
      </p:sp>
      <p:pic>
        <p:nvPicPr>
          <p:cNvPr id="4" name="Picture 3">
            <a:extLst>
              <a:ext uri="{FF2B5EF4-FFF2-40B4-BE49-F238E27FC236}">
                <a16:creationId xmlns:a16="http://schemas.microsoft.com/office/drawing/2014/main" id="{5D0E0EC6-1946-45EF-B6D9-61062BF240EA}"/>
              </a:ext>
            </a:extLst>
          </p:cNvPr>
          <p:cNvPicPr/>
          <p:nvPr/>
        </p:nvPicPr>
        <p:blipFill>
          <a:blip r:embed="rId2"/>
          <a:stretch>
            <a:fillRect/>
          </a:stretch>
        </p:blipFill>
        <p:spPr>
          <a:xfrm>
            <a:off x="255777" y="2082821"/>
            <a:ext cx="4872814" cy="34698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2FBAA73F-2E00-41C9-884F-71F988B1C88E}"/>
              </a:ext>
            </a:extLst>
          </p:cNvPr>
          <p:cNvPicPr/>
          <p:nvPr/>
        </p:nvPicPr>
        <p:blipFill>
          <a:blip r:embed="rId3"/>
          <a:stretch>
            <a:fillRect/>
          </a:stretch>
        </p:blipFill>
        <p:spPr>
          <a:xfrm>
            <a:off x="5706130" y="2312968"/>
            <a:ext cx="3729290" cy="17156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0C4D8738-E753-42EA-8CA2-DB8333094097}"/>
              </a:ext>
            </a:extLst>
          </p:cNvPr>
          <p:cNvSpPr/>
          <p:nvPr/>
        </p:nvSpPr>
        <p:spPr>
          <a:xfrm>
            <a:off x="1265042" y="5785686"/>
            <a:ext cx="444108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5 Página descarga </a:t>
            </a:r>
            <a:r>
              <a:rPr lang="es-ES" i="1" dirty="0" err="1">
                <a:solidFill>
                  <a:srgbClr val="44546A"/>
                </a:solidFill>
                <a:latin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1D4218F9-203E-41BF-88CF-158398DDEF34}"/>
              </a:ext>
            </a:extLst>
          </p:cNvPr>
          <p:cNvSpPr/>
          <p:nvPr/>
        </p:nvSpPr>
        <p:spPr>
          <a:xfrm>
            <a:off x="5706130" y="4166074"/>
            <a:ext cx="372929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6 Ventana Guardar archivo</a:t>
            </a:r>
            <a:endParaRPr lang="en-US" i="1" dirty="0">
              <a:solidFill>
                <a:srgbClr val="44546A"/>
              </a:solidFill>
              <a:latin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7677CAB9-BBEE-47B1-8044-8605F330C63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03960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1E89-FE87-4D9A-B772-A227FC3428BC}"/>
              </a:ext>
            </a:extLst>
          </p:cNvPr>
          <p:cNvSpPr>
            <a:spLocks noGrp="1"/>
          </p:cNvSpPr>
          <p:nvPr>
            <p:ph type="title"/>
          </p:nvPr>
        </p:nvSpPr>
        <p:spPr>
          <a:xfrm>
            <a:off x="525379" y="413085"/>
            <a:ext cx="10396882" cy="1151965"/>
          </a:xfrm>
        </p:spPr>
        <p:txBody>
          <a:bodyPr/>
          <a:lstStyle/>
          <a:p>
            <a:r>
              <a:rPr lang="es-MX" b="1" dirty="0"/>
              <a:t>Power Designer</a:t>
            </a:r>
            <a:endParaRPr lang="en-GB" b="1" dirty="0"/>
          </a:p>
        </p:txBody>
      </p:sp>
      <p:pic>
        <p:nvPicPr>
          <p:cNvPr id="5" name="Picture 4">
            <a:extLst>
              <a:ext uri="{FF2B5EF4-FFF2-40B4-BE49-F238E27FC236}">
                <a16:creationId xmlns:a16="http://schemas.microsoft.com/office/drawing/2014/main" id="{F744CB36-DEF1-47EE-91E6-637A4F4A3D3B}"/>
              </a:ext>
            </a:extLst>
          </p:cNvPr>
          <p:cNvPicPr/>
          <p:nvPr/>
        </p:nvPicPr>
        <p:blipFill>
          <a:blip r:embed="rId2"/>
          <a:stretch>
            <a:fillRect/>
          </a:stretch>
        </p:blipFill>
        <p:spPr>
          <a:xfrm>
            <a:off x="327346" y="2210332"/>
            <a:ext cx="3963927" cy="14605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25C2002E-6753-436D-BFA6-3C0B1C3502C4}"/>
              </a:ext>
            </a:extLst>
          </p:cNvPr>
          <p:cNvPicPr/>
          <p:nvPr/>
        </p:nvPicPr>
        <p:blipFill>
          <a:blip r:embed="rId3"/>
          <a:stretch>
            <a:fillRect/>
          </a:stretch>
        </p:blipFill>
        <p:spPr>
          <a:xfrm>
            <a:off x="5336810" y="2160140"/>
            <a:ext cx="3630417" cy="3114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a:extLst>
              <a:ext uri="{FF2B5EF4-FFF2-40B4-BE49-F238E27FC236}">
                <a16:creationId xmlns:a16="http://schemas.microsoft.com/office/drawing/2014/main" id="{1107C5F1-FE29-4ABA-89F8-FB30144B1FB0}"/>
              </a:ext>
            </a:extLst>
          </p:cNvPr>
          <p:cNvSpPr/>
          <p:nvPr/>
        </p:nvSpPr>
        <p:spPr>
          <a:xfrm>
            <a:off x="525379" y="3981408"/>
            <a:ext cx="327544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 Selección del idioma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DEA6FBFA-22EE-4AAA-8677-1E38E4B6976D}"/>
              </a:ext>
            </a:extLst>
          </p:cNvPr>
          <p:cNvSpPr/>
          <p:nvPr/>
        </p:nvSpPr>
        <p:spPr>
          <a:xfrm>
            <a:off x="5502800" y="5432604"/>
            <a:ext cx="3630417"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8 Ventana instalación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F987C02C-58B7-4333-BDFD-23B097A24286}"/>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897553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E6852-15D9-40CE-9939-91D15DFCF8C7}"/>
              </a:ext>
            </a:extLst>
          </p:cNvPr>
          <p:cNvSpPr>
            <a:spLocks noGrp="1"/>
          </p:cNvSpPr>
          <p:nvPr>
            <p:ph type="title"/>
          </p:nvPr>
        </p:nvSpPr>
        <p:spPr>
          <a:xfrm>
            <a:off x="541422" y="236621"/>
            <a:ext cx="10396882" cy="1151965"/>
          </a:xfrm>
        </p:spPr>
        <p:txBody>
          <a:bodyPr/>
          <a:lstStyle/>
          <a:p>
            <a:r>
              <a:rPr lang="es-MX" b="1" dirty="0"/>
              <a:t>Power Designer</a:t>
            </a:r>
            <a:endParaRPr lang="en-GB" b="1" dirty="0"/>
          </a:p>
        </p:txBody>
      </p:sp>
      <p:pic>
        <p:nvPicPr>
          <p:cNvPr id="4" name="Picture 3">
            <a:extLst>
              <a:ext uri="{FF2B5EF4-FFF2-40B4-BE49-F238E27FC236}">
                <a16:creationId xmlns:a16="http://schemas.microsoft.com/office/drawing/2014/main" id="{924DDB56-B423-4866-8E5D-E734F816F626}"/>
              </a:ext>
            </a:extLst>
          </p:cNvPr>
          <p:cNvPicPr/>
          <p:nvPr/>
        </p:nvPicPr>
        <p:blipFill>
          <a:blip r:embed="rId2"/>
          <a:stretch>
            <a:fillRect/>
          </a:stretch>
        </p:blipFill>
        <p:spPr>
          <a:xfrm>
            <a:off x="541422" y="2096536"/>
            <a:ext cx="3679416" cy="26649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404E0C6B-B59C-483E-8CCA-947A21FA64BB}"/>
              </a:ext>
            </a:extLst>
          </p:cNvPr>
          <p:cNvPicPr/>
          <p:nvPr/>
        </p:nvPicPr>
        <p:blipFill>
          <a:blip r:embed="rId3"/>
          <a:stretch>
            <a:fillRect/>
          </a:stretch>
        </p:blipFill>
        <p:spPr>
          <a:xfrm>
            <a:off x="5492321" y="1917012"/>
            <a:ext cx="3564835" cy="26649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07074770-0073-477C-87CB-F3DE2B8E55D6}"/>
              </a:ext>
            </a:extLst>
          </p:cNvPr>
          <p:cNvSpPr/>
          <p:nvPr/>
        </p:nvSpPr>
        <p:spPr>
          <a:xfrm>
            <a:off x="399140" y="4922842"/>
            <a:ext cx="2996821"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9 Selección tipo de licencia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D2EC6254-6E49-4FAE-9EF8-DF38984BFD17}"/>
              </a:ext>
            </a:extLst>
          </p:cNvPr>
          <p:cNvSpPr/>
          <p:nvPr/>
        </p:nvSpPr>
        <p:spPr>
          <a:xfrm>
            <a:off x="5739863" y="5110365"/>
            <a:ext cx="2507755"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10 Acuerdo licencia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91846524-AA80-456D-BA9D-62BAD471ABDC}"/>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01333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6019-A2A5-4AD5-879C-F811590AAB8B}"/>
              </a:ext>
            </a:extLst>
          </p:cNvPr>
          <p:cNvSpPr>
            <a:spLocks noGrp="1"/>
          </p:cNvSpPr>
          <p:nvPr>
            <p:ph type="title"/>
          </p:nvPr>
        </p:nvSpPr>
        <p:spPr>
          <a:xfrm>
            <a:off x="780486" y="211053"/>
            <a:ext cx="10396882" cy="1151965"/>
          </a:xfrm>
        </p:spPr>
        <p:txBody>
          <a:bodyPr/>
          <a:lstStyle/>
          <a:p>
            <a:r>
              <a:rPr lang="es-MX" b="1" dirty="0"/>
              <a:t>Power Designer</a:t>
            </a:r>
            <a:endParaRPr lang="en-GB" b="1" dirty="0"/>
          </a:p>
        </p:txBody>
      </p:sp>
      <p:pic>
        <p:nvPicPr>
          <p:cNvPr id="4" name="Picture 3">
            <a:extLst>
              <a:ext uri="{FF2B5EF4-FFF2-40B4-BE49-F238E27FC236}">
                <a16:creationId xmlns:a16="http://schemas.microsoft.com/office/drawing/2014/main" id="{318E39AD-09FA-402B-8143-8578725EB967}"/>
              </a:ext>
            </a:extLst>
          </p:cNvPr>
          <p:cNvPicPr/>
          <p:nvPr/>
        </p:nvPicPr>
        <p:blipFill>
          <a:blip r:embed="rId2"/>
          <a:stretch>
            <a:fillRect/>
          </a:stretch>
        </p:blipFill>
        <p:spPr>
          <a:xfrm>
            <a:off x="698553" y="1963096"/>
            <a:ext cx="3740926" cy="31124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36C765DA-55E8-427E-B15E-E02C7DC3800C}"/>
              </a:ext>
            </a:extLst>
          </p:cNvPr>
          <p:cNvPicPr/>
          <p:nvPr/>
        </p:nvPicPr>
        <p:blipFill>
          <a:blip r:embed="rId3"/>
          <a:stretch>
            <a:fillRect/>
          </a:stretch>
        </p:blipFill>
        <p:spPr>
          <a:xfrm>
            <a:off x="5160976" y="1963096"/>
            <a:ext cx="4414717" cy="31124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905FAF65-3001-4975-8BF5-DA30ABFEC4FC}"/>
              </a:ext>
            </a:extLst>
          </p:cNvPr>
          <p:cNvSpPr/>
          <p:nvPr/>
        </p:nvSpPr>
        <p:spPr>
          <a:xfrm>
            <a:off x="170169" y="5453611"/>
            <a:ext cx="426931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11 Selección carpeta destino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EF5C8D-7386-453D-897C-2EA9EC3B7E93}"/>
              </a:ext>
            </a:extLst>
          </p:cNvPr>
          <p:cNvSpPr/>
          <p:nvPr/>
        </p:nvSpPr>
        <p:spPr>
          <a:xfrm>
            <a:off x="4837114" y="5267042"/>
            <a:ext cx="4681987"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12 Selección características a instalar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44ACED03-0929-4B95-A02A-7E2C1C08BB0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434879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547F-E144-4890-A401-855EF4A47E19}"/>
              </a:ext>
            </a:extLst>
          </p:cNvPr>
          <p:cNvSpPr>
            <a:spLocks noGrp="1"/>
          </p:cNvSpPr>
          <p:nvPr>
            <p:ph type="title"/>
          </p:nvPr>
        </p:nvSpPr>
        <p:spPr>
          <a:xfrm>
            <a:off x="834191" y="390525"/>
            <a:ext cx="10396882" cy="1151965"/>
          </a:xfrm>
        </p:spPr>
        <p:txBody>
          <a:bodyPr/>
          <a:lstStyle/>
          <a:p>
            <a:r>
              <a:rPr lang="es-MX" b="1" dirty="0"/>
              <a:t>Power Designer</a:t>
            </a:r>
            <a:endParaRPr lang="en-GB" b="1" dirty="0"/>
          </a:p>
        </p:txBody>
      </p:sp>
      <p:pic>
        <p:nvPicPr>
          <p:cNvPr id="4" name="Picture 3">
            <a:extLst>
              <a:ext uri="{FF2B5EF4-FFF2-40B4-BE49-F238E27FC236}">
                <a16:creationId xmlns:a16="http://schemas.microsoft.com/office/drawing/2014/main" id="{7A41AC4E-CFBF-4450-B582-0A1E065F6523}"/>
              </a:ext>
            </a:extLst>
          </p:cNvPr>
          <p:cNvPicPr/>
          <p:nvPr/>
        </p:nvPicPr>
        <p:blipFill>
          <a:blip r:embed="rId2"/>
          <a:stretch>
            <a:fillRect/>
          </a:stretch>
        </p:blipFill>
        <p:spPr>
          <a:xfrm>
            <a:off x="604435" y="1988941"/>
            <a:ext cx="4069113" cy="30601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7ADFBB53-A842-44FD-A797-10A95742DF36}"/>
              </a:ext>
            </a:extLst>
          </p:cNvPr>
          <p:cNvPicPr/>
          <p:nvPr/>
        </p:nvPicPr>
        <p:blipFill>
          <a:blip r:embed="rId3"/>
          <a:stretch>
            <a:fillRect/>
          </a:stretch>
        </p:blipFill>
        <p:spPr>
          <a:xfrm>
            <a:off x="5314903" y="2274977"/>
            <a:ext cx="4069113" cy="27741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99FB90AD-8EC6-4624-9EE0-2D6BD076F5D4}"/>
              </a:ext>
            </a:extLst>
          </p:cNvPr>
          <p:cNvSpPr/>
          <p:nvPr/>
        </p:nvSpPr>
        <p:spPr>
          <a:xfrm>
            <a:off x="127378" y="5310863"/>
            <a:ext cx="4959435"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13 Ventana selección perfiles a importar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90893812-EEC2-4EC3-9FEE-C498342700D9}"/>
              </a:ext>
            </a:extLst>
          </p:cNvPr>
          <p:cNvSpPr/>
          <p:nvPr/>
        </p:nvSpPr>
        <p:spPr>
          <a:xfrm>
            <a:off x="5451468" y="5495529"/>
            <a:ext cx="3625344"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14 Selección nombre de la carpeta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225FDCBF-6689-418B-8E60-DB0429E5819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459723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717AA-5FED-4C41-A6DF-07D9BE1FD21C}"/>
              </a:ext>
            </a:extLst>
          </p:cNvPr>
          <p:cNvSpPr>
            <a:spLocks noGrp="1"/>
          </p:cNvSpPr>
          <p:nvPr>
            <p:ph type="title"/>
          </p:nvPr>
        </p:nvSpPr>
        <p:spPr>
          <a:xfrm>
            <a:off x="332874" y="461327"/>
            <a:ext cx="10396882" cy="1151965"/>
          </a:xfrm>
        </p:spPr>
        <p:txBody>
          <a:bodyPr/>
          <a:lstStyle/>
          <a:p>
            <a:r>
              <a:rPr lang="es-MX" b="1" dirty="0"/>
              <a:t>Power</a:t>
            </a:r>
            <a:r>
              <a:rPr lang="es-MX" dirty="0"/>
              <a:t> </a:t>
            </a:r>
            <a:r>
              <a:rPr lang="es-MX" b="1" dirty="0"/>
              <a:t>Designer</a:t>
            </a:r>
            <a:endParaRPr lang="en-GB" b="1" dirty="0"/>
          </a:p>
        </p:txBody>
      </p:sp>
      <p:pic>
        <p:nvPicPr>
          <p:cNvPr id="4" name="Picture 3">
            <a:extLst>
              <a:ext uri="{FF2B5EF4-FFF2-40B4-BE49-F238E27FC236}">
                <a16:creationId xmlns:a16="http://schemas.microsoft.com/office/drawing/2014/main" id="{6BA348D5-5658-40AB-A017-5FC3318891C4}"/>
              </a:ext>
            </a:extLst>
          </p:cNvPr>
          <p:cNvPicPr/>
          <p:nvPr/>
        </p:nvPicPr>
        <p:blipFill>
          <a:blip r:embed="rId2"/>
          <a:stretch>
            <a:fillRect/>
          </a:stretch>
        </p:blipFill>
        <p:spPr>
          <a:xfrm>
            <a:off x="349034" y="2066845"/>
            <a:ext cx="4225736" cy="30352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E40AF3D6-0687-498E-9D31-EA20BDE1D791}"/>
              </a:ext>
            </a:extLst>
          </p:cNvPr>
          <p:cNvPicPr/>
          <p:nvPr/>
        </p:nvPicPr>
        <p:blipFill>
          <a:blip r:embed="rId3"/>
          <a:stretch>
            <a:fillRect/>
          </a:stretch>
        </p:blipFill>
        <p:spPr>
          <a:xfrm>
            <a:off x="4969020" y="2066845"/>
            <a:ext cx="4311180" cy="30352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8940F171-17A7-479C-986B-33691D3C698A}"/>
              </a:ext>
            </a:extLst>
          </p:cNvPr>
          <p:cNvSpPr/>
          <p:nvPr/>
        </p:nvSpPr>
        <p:spPr>
          <a:xfrm>
            <a:off x="97336" y="5555218"/>
            <a:ext cx="4477434"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15 Ventana revisión de las opciones seleccionadas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77762F08-E16E-403F-9DC3-4179094C3857}"/>
              </a:ext>
            </a:extLst>
          </p:cNvPr>
          <p:cNvSpPr/>
          <p:nvPr/>
        </p:nvSpPr>
        <p:spPr>
          <a:xfrm>
            <a:off x="4813671" y="5509051"/>
            <a:ext cx="431118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16 Instalación de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61D9DE3F-DA93-400C-AD79-1168458D681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4267856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72DEE-4397-4886-BDE4-54E1102E7186}"/>
              </a:ext>
            </a:extLst>
          </p:cNvPr>
          <p:cNvSpPr>
            <a:spLocks noGrp="1"/>
          </p:cNvSpPr>
          <p:nvPr>
            <p:ph type="title"/>
          </p:nvPr>
        </p:nvSpPr>
        <p:spPr>
          <a:xfrm>
            <a:off x="694825" y="377992"/>
            <a:ext cx="10396882" cy="1151965"/>
          </a:xfrm>
        </p:spPr>
        <p:txBody>
          <a:bodyPr/>
          <a:lstStyle/>
          <a:p>
            <a:r>
              <a:rPr lang="es-MX" b="1" dirty="0"/>
              <a:t>Power Designer</a:t>
            </a:r>
            <a:endParaRPr lang="en-GB" b="1" dirty="0"/>
          </a:p>
        </p:txBody>
      </p:sp>
      <p:pic>
        <p:nvPicPr>
          <p:cNvPr id="5" name="Picture 4">
            <a:extLst>
              <a:ext uri="{FF2B5EF4-FFF2-40B4-BE49-F238E27FC236}">
                <a16:creationId xmlns:a16="http://schemas.microsoft.com/office/drawing/2014/main" id="{0554B010-75FC-4E03-B4B9-2EF2E5D8F317}"/>
              </a:ext>
            </a:extLst>
          </p:cNvPr>
          <p:cNvPicPr/>
          <p:nvPr/>
        </p:nvPicPr>
        <p:blipFill>
          <a:blip r:embed="rId2"/>
          <a:stretch>
            <a:fillRect/>
          </a:stretch>
        </p:blipFill>
        <p:spPr>
          <a:xfrm>
            <a:off x="3184353" y="1856065"/>
            <a:ext cx="5124651" cy="38090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1BFB5E02-295D-49F5-A277-E226485EC3EA}"/>
              </a:ext>
            </a:extLst>
          </p:cNvPr>
          <p:cNvSpPr/>
          <p:nvPr/>
        </p:nvSpPr>
        <p:spPr>
          <a:xfrm>
            <a:off x="3504750" y="5806563"/>
            <a:ext cx="420211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17 Página inicio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ángulo 5">
            <a:extLst>
              <a:ext uri="{FF2B5EF4-FFF2-40B4-BE49-F238E27FC236}">
                <a16:creationId xmlns:a16="http://schemas.microsoft.com/office/drawing/2014/main" id="{05791288-0E57-4DD3-A99F-BF6388283A1C}"/>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334179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0B1A4-9A00-48FB-83B1-03263ABF33B3}"/>
              </a:ext>
            </a:extLst>
          </p:cNvPr>
          <p:cNvSpPr>
            <a:spLocks noGrp="1"/>
          </p:cNvSpPr>
          <p:nvPr>
            <p:ph type="title"/>
          </p:nvPr>
        </p:nvSpPr>
        <p:spPr>
          <a:xfrm>
            <a:off x="525380" y="397042"/>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EA29F55E-BA6D-4EC8-817E-F1E261EDB464}"/>
              </a:ext>
            </a:extLst>
          </p:cNvPr>
          <p:cNvPicPr/>
          <p:nvPr/>
        </p:nvPicPr>
        <p:blipFill>
          <a:blip r:embed="rId2"/>
          <a:stretch>
            <a:fillRect/>
          </a:stretch>
        </p:blipFill>
        <p:spPr>
          <a:xfrm>
            <a:off x="321715" y="2014301"/>
            <a:ext cx="3814082" cy="28293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873BBA7F-A7F7-445E-8F80-5016E1DBDBD1}"/>
              </a:ext>
            </a:extLst>
          </p:cNvPr>
          <p:cNvPicPr/>
          <p:nvPr/>
        </p:nvPicPr>
        <p:blipFill>
          <a:blip r:embed="rId3"/>
          <a:stretch>
            <a:fillRect/>
          </a:stretch>
        </p:blipFill>
        <p:spPr>
          <a:xfrm>
            <a:off x="4695286" y="2014301"/>
            <a:ext cx="4608094" cy="37624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574EF856-369E-4F03-BDC0-4121D5638904}"/>
              </a:ext>
            </a:extLst>
          </p:cNvPr>
          <p:cNvSpPr/>
          <p:nvPr/>
        </p:nvSpPr>
        <p:spPr>
          <a:xfrm>
            <a:off x="140601" y="4945086"/>
            <a:ext cx="399519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18 Página descarga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7BD0EF1F-0C11-4CA1-8A82-0758092A6E9F}"/>
              </a:ext>
            </a:extLst>
          </p:cNvPr>
          <p:cNvSpPr/>
          <p:nvPr/>
        </p:nvSpPr>
        <p:spPr>
          <a:xfrm>
            <a:off x="4695286" y="6057404"/>
            <a:ext cx="426572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19 Página descarga imagen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E8B4D5CE-A5D6-46A6-B409-4C62552526F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891995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A99AF-422A-4D76-8995-F8F44360212B}"/>
              </a:ext>
            </a:extLst>
          </p:cNvPr>
          <p:cNvSpPr>
            <a:spLocks noGrp="1"/>
          </p:cNvSpPr>
          <p:nvPr>
            <p:ph type="title"/>
          </p:nvPr>
        </p:nvSpPr>
        <p:spPr>
          <a:xfrm>
            <a:off x="762502" y="422609"/>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8150621D-3878-4894-806F-083CC6373B62}"/>
              </a:ext>
            </a:extLst>
          </p:cNvPr>
          <p:cNvPicPr/>
          <p:nvPr/>
        </p:nvPicPr>
        <p:blipFill>
          <a:blip r:embed="rId2"/>
          <a:stretch>
            <a:fillRect/>
          </a:stretch>
        </p:blipFill>
        <p:spPr>
          <a:xfrm>
            <a:off x="437134" y="2417165"/>
            <a:ext cx="3246970" cy="14201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BFC573FE-6054-476F-BFE3-A06F751A8CEB}"/>
              </a:ext>
            </a:extLst>
          </p:cNvPr>
          <p:cNvPicPr/>
          <p:nvPr/>
        </p:nvPicPr>
        <p:blipFill>
          <a:blip r:embed="rId3"/>
          <a:stretch>
            <a:fillRect/>
          </a:stretch>
        </p:blipFill>
        <p:spPr>
          <a:xfrm>
            <a:off x="4865248" y="2072204"/>
            <a:ext cx="4270893" cy="24070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827D9316-ACC5-4C12-866F-C05570DD7B4E}"/>
              </a:ext>
            </a:extLst>
          </p:cNvPr>
          <p:cNvSpPr/>
          <p:nvPr/>
        </p:nvSpPr>
        <p:spPr>
          <a:xfrm>
            <a:off x="0" y="4310586"/>
            <a:ext cx="4492897"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20 Guardar archivo en computador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B43587F-35C0-4E61-B4E6-A5F06318AB70}"/>
              </a:ext>
            </a:extLst>
          </p:cNvPr>
          <p:cNvSpPr/>
          <p:nvPr/>
        </p:nvSpPr>
        <p:spPr>
          <a:xfrm>
            <a:off x="5147702" y="4976866"/>
            <a:ext cx="3716595"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21 Ventana instalador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E8E4E2E8-713C-4687-92B9-25691139EBE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921457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D2F-2974-4CB3-85BD-B42246984482}"/>
              </a:ext>
            </a:extLst>
          </p:cNvPr>
          <p:cNvSpPr>
            <a:spLocks noGrp="1"/>
          </p:cNvSpPr>
          <p:nvPr>
            <p:ph type="title"/>
          </p:nvPr>
        </p:nvSpPr>
        <p:spPr>
          <a:xfrm>
            <a:off x="768490" y="317333"/>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4103E24E-B8E2-4256-A866-867CA95E35ED}"/>
              </a:ext>
            </a:extLst>
          </p:cNvPr>
          <p:cNvPicPr/>
          <p:nvPr/>
        </p:nvPicPr>
        <p:blipFill>
          <a:blip r:embed="rId2"/>
          <a:stretch>
            <a:fillRect/>
          </a:stretch>
        </p:blipFill>
        <p:spPr>
          <a:xfrm>
            <a:off x="342661" y="2099453"/>
            <a:ext cx="3924539" cy="33736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900E653C-465F-4733-A1D6-14F6A8D5C42D}"/>
              </a:ext>
            </a:extLst>
          </p:cNvPr>
          <p:cNvPicPr/>
          <p:nvPr/>
        </p:nvPicPr>
        <p:blipFill>
          <a:blip r:embed="rId3"/>
          <a:stretch>
            <a:fillRect/>
          </a:stretch>
        </p:blipFill>
        <p:spPr>
          <a:xfrm>
            <a:off x="4880308" y="2099451"/>
            <a:ext cx="4328236" cy="34824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587D0E3D-AF8E-4C30-81BB-2DE89A45D751}"/>
              </a:ext>
            </a:extLst>
          </p:cNvPr>
          <p:cNvSpPr/>
          <p:nvPr/>
        </p:nvSpPr>
        <p:spPr>
          <a:xfrm>
            <a:off x="0" y="5581910"/>
            <a:ext cx="456746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22 Selección características JDK, JRE</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EEE584B-5C3F-4186-BC68-FBD52893CC1C}"/>
              </a:ext>
            </a:extLst>
          </p:cNvPr>
          <p:cNvSpPr/>
          <p:nvPr/>
        </p:nvSpPr>
        <p:spPr>
          <a:xfrm>
            <a:off x="5035587" y="5766576"/>
            <a:ext cx="432823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23 Selección carpeta destino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49FCC83C-8F7F-478D-9560-20E3019EBC9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280989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86798-CA88-491D-B041-7D0D6C16CB08}"/>
              </a:ext>
            </a:extLst>
          </p:cNvPr>
          <p:cNvSpPr>
            <a:spLocks noGrp="1"/>
          </p:cNvSpPr>
          <p:nvPr>
            <p:ph type="title"/>
          </p:nvPr>
        </p:nvSpPr>
        <p:spPr>
          <a:xfrm>
            <a:off x="381001" y="316832"/>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D64B3FD3-A6D1-4254-896B-7D5D449CD14E}"/>
              </a:ext>
            </a:extLst>
          </p:cNvPr>
          <p:cNvPicPr/>
          <p:nvPr/>
        </p:nvPicPr>
        <p:blipFill>
          <a:blip r:embed="rId2"/>
          <a:stretch>
            <a:fillRect/>
          </a:stretch>
        </p:blipFill>
        <p:spPr>
          <a:xfrm>
            <a:off x="459786" y="2049041"/>
            <a:ext cx="4753610" cy="3619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D8DD9ABF-DBD7-42EA-B0B5-B18290A973B8}"/>
              </a:ext>
            </a:extLst>
          </p:cNvPr>
          <p:cNvPicPr/>
          <p:nvPr/>
        </p:nvPicPr>
        <p:blipFill>
          <a:blip r:embed="rId3"/>
          <a:stretch>
            <a:fillRect/>
          </a:stretch>
        </p:blipFill>
        <p:spPr>
          <a:xfrm>
            <a:off x="5520306" y="2099650"/>
            <a:ext cx="3791953" cy="41328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2374B6CF-9FB8-4FFA-BABE-26BDA767D3FD}"/>
              </a:ext>
            </a:extLst>
          </p:cNvPr>
          <p:cNvSpPr/>
          <p:nvPr/>
        </p:nvSpPr>
        <p:spPr>
          <a:xfrm>
            <a:off x="381001" y="5879453"/>
            <a:ext cx="4040273"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24 Finalizar la instalación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BB7789B2-1824-4801-BDCD-95158AFE4B6F}"/>
              </a:ext>
            </a:extLst>
          </p:cNvPr>
          <p:cNvSpPr/>
          <p:nvPr/>
        </p:nvSpPr>
        <p:spPr>
          <a:xfrm>
            <a:off x="5639276" y="6248785"/>
            <a:ext cx="3466141"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25 Instalación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5C2C77B2-CBE6-4715-8C90-D0325388936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873770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5D143-8AAC-4C1F-9500-5666D8F72D1E}"/>
              </a:ext>
            </a:extLst>
          </p:cNvPr>
          <p:cNvSpPr>
            <a:spLocks noGrp="1"/>
          </p:cNvSpPr>
          <p:nvPr>
            <p:ph type="title"/>
          </p:nvPr>
        </p:nvSpPr>
        <p:spPr>
          <a:xfrm>
            <a:off x="316833" y="268706"/>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77C261D5-60CC-4A7C-8A99-552170F028B2}"/>
              </a:ext>
            </a:extLst>
          </p:cNvPr>
          <p:cNvPicPr/>
          <p:nvPr/>
        </p:nvPicPr>
        <p:blipFill>
          <a:blip r:embed="rId2"/>
          <a:stretch>
            <a:fillRect/>
          </a:stretch>
        </p:blipFill>
        <p:spPr>
          <a:xfrm>
            <a:off x="224983" y="2238993"/>
            <a:ext cx="4067175" cy="18859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D87E65F9-5A7B-4426-8030-83F64272E9EA}"/>
              </a:ext>
            </a:extLst>
          </p:cNvPr>
          <p:cNvPicPr/>
          <p:nvPr/>
        </p:nvPicPr>
        <p:blipFill>
          <a:blip r:embed="rId3"/>
          <a:stretch>
            <a:fillRect/>
          </a:stretch>
        </p:blipFill>
        <p:spPr>
          <a:xfrm>
            <a:off x="4565483" y="1928191"/>
            <a:ext cx="4607410" cy="39855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2B4C1B05-EE15-435E-A9F3-947AE52B7776}"/>
              </a:ext>
            </a:extLst>
          </p:cNvPr>
          <p:cNvSpPr/>
          <p:nvPr/>
        </p:nvSpPr>
        <p:spPr>
          <a:xfrm>
            <a:off x="420276" y="4402055"/>
            <a:ext cx="3233193"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26 Guardar el archivo</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A1F12D1-F00E-4155-A820-D59153001028}"/>
              </a:ext>
            </a:extLst>
          </p:cNvPr>
          <p:cNvSpPr/>
          <p:nvPr/>
        </p:nvSpPr>
        <p:spPr>
          <a:xfrm>
            <a:off x="4420525" y="6089187"/>
            <a:ext cx="5080365"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27 Configuración del instalador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7724FF7B-092D-4B12-AE5D-0B3189207B8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748677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F1E4-A241-46D3-B19A-B53AD67B8ED1}"/>
              </a:ext>
            </a:extLst>
          </p:cNvPr>
          <p:cNvSpPr>
            <a:spLocks noGrp="1"/>
          </p:cNvSpPr>
          <p:nvPr>
            <p:ph type="title"/>
          </p:nvPr>
        </p:nvSpPr>
        <p:spPr>
          <a:xfrm>
            <a:off x="364959" y="364958"/>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27CA1606-F630-4F89-9158-3C254395FAD1}"/>
              </a:ext>
            </a:extLst>
          </p:cNvPr>
          <p:cNvPicPr/>
          <p:nvPr/>
        </p:nvPicPr>
        <p:blipFill>
          <a:blip r:embed="rId2"/>
          <a:stretch>
            <a:fillRect/>
          </a:stretch>
        </p:blipFill>
        <p:spPr>
          <a:xfrm>
            <a:off x="459786" y="1996446"/>
            <a:ext cx="3452495" cy="28651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68CC4D4E-7F52-4A70-81A9-977C595965E7}"/>
              </a:ext>
            </a:extLst>
          </p:cNvPr>
          <p:cNvPicPr/>
          <p:nvPr/>
        </p:nvPicPr>
        <p:blipFill>
          <a:blip r:embed="rId3"/>
          <a:stretch>
            <a:fillRect/>
          </a:stretch>
        </p:blipFill>
        <p:spPr>
          <a:xfrm>
            <a:off x="5096324" y="1931159"/>
            <a:ext cx="3819967" cy="31693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48A36156-2EDD-493A-9040-F6081C1C3F8E}"/>
              </a:ext>
            </a:extLst>
          </p:cNvPr>
          <p:cNvSpPr/>
          <p:nvPr/>
        </p:nvSpPr>
        <p:spPr>
          <a:xfrm>
            <a:off x="0" y="5156411"/>
            <a:ext cx="474681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28 Características a instalar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F3255CA-150F-4043-B8A1-8E23123CFE56}"/>
              </a:ext>
            </a:extLst>
          </p:cNvPr>
          <p:cNvSpPr/>
          <p:nvPr/>
        </p:nvSpPr>
        <p:spPr>
          <a:xfrm>
            <a:off x="4985075" y="5349265"/>
            <a:ext cx="4304699"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29 Selección de paquetes y servidores a instalar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61CE40AE-9B3D-47BC-9887-84F60E252DE5}"/>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629630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DE81-8F73-41B1-942D-7588C58B3370}"/>
              </a:ext>
            </a:extLst>
          </p:cNvPr>
          <p:cNvSpPr>
            <a:spLocks noGrp="1"/>
          </p:cNvSpPr>
          <p:nvPr>
            <p:ph type="title"/>
          </p:nvPr>
        </p:nvSpPr>
        <p:spPr>
          <a:xfrm>
            <a:off x="364959" y="284747"/>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9EA4ED16-E66C-45E8-BE2F-E397B9A228A6}"/>
              </a:ext>
            </a:extLst>
          </p:cNvPr>
          <p:cNvPicPr/>
          <p:nvPr/>
        </p:nvPicPr>
        <p:blipFill>
          <a:blip r:embed="rId2"/>
          <a:stretch>
            <a:fillRect/>
          </a:stretch>
        </p:blipFill>
        <p:spPr>
          <a:xfrm>
            <a:off x="459786" y="2245249"/>
            <a:ext cx="3553682" cy="26877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D1B5E356-4844-4AA6-93A8-97CD3A223A04}"/>
              </a:ext>
            </a:extLst>
          </p:cNvPr>
          <p:cNvPicPr/>
          <p:nvPr/>
        </p:nvPicPr>
        <p:blipFill>
          <a:blip r:embed="rId3"/>
          <a:stretch>
            <a:fillRect/>
          </a:stretch>
        </p:blipFill>
        <p:spPr>
          <a:xfrm>
            <a:off x="4896948" y="2245248"/>
            <a:ext cx="3841474" cy="26877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E76E6854-23A9-4B73-8A88-8C44BD10C2F8}"/>
              </a:ext>
            </a:extLst>
          </p:cNvPr>
          <p:cNvSpPr/>
          <p:nvPr/>
        </p:nvSpPr>
        <p:spPr>
          <a:xfrm>
            <a:off x="364959" y="4933011"/>
            <a:ext cx="3697359"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30 Aceptación de términos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A17B6297-6EA2-4939-AB00-0011B971BC26}"/>
              </a:ext>
            </a:extLst>
          </p:cNvPr>
          <p:cNvSpPr/>
          <p:nvPr/>
        </p:nvSpPr>
        <p:spPr>
          <a:xfrm>
            <a:off x="4767607" y="5117677"/>
            <a:ext cx="475149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31 Selección de carpeta de instalación</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C34BBED7-7813-4EA8-AB05-02240BCE3C90}"/>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126774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B1C4F-8DAC-4CCA-BA77-22BD12B66B4A}"/>
              </a:ext>
            </a:extLst>
          </p:cNvPr>
          <p:cNvSpPr>
            <a:spLocks noGrp="1"/>
          </p:cNvSpPr>
          <p:nvPr>
            <p:ph type="title"/>
          </p:nvPr>
        </p:nvSpPr>
        <p:spPr>
          <a:xfrm>
            <a:off x="300791" y="124326"/>
            <a:ext cx="10396882" cy="1151965"/>
          </a:xfrm>
        </p:spPr>
        <p:txBody>
          <a:bodyPr/>
          <a:lstStyle/>
          <a:p>
            <a:r>
              <a:rPr lang="es-MX" b="1" dirty="0"/>
              <a:t>NetBeans</a:t>
            </a:r>
            <a:endParaRPr lang="en-GB" b="1" dirty="0"/>
          </a:p>
        </p:txBody>
      </p:sp>
      <p:pic>
        <p:nvPicPr>
          <p:cNvPr id="4" name="Picture 3">
            <a:extLst>
              <a:ext uri="{FF2B5EF4-FFF2-40B4-BE49-F238E27FC236}">
                <a16:creationId xmlns:a16="http://schemas.microsoft.com/office/drawing/2014/main" id="{458A64F4-D22C-4E84-8678-554CC5674F79}"/>
              </a:ext>
            </a:extLst>
          </p:cNvPr>
          <p:cNvPicPr/>
          <p:nvPr/>
        </p:nvPicPr>
        <p:blipFill>
          <a:blip r:embed="rId2"/>
          <a:stretch>
            <a:fillRect/>
          </a:stretch>
        </p:blipFill>
        <p:spPr>
          <a:xfrm>
            <a:off x="3316087" y="1879821"/>
            <a:ext cx="4451350" cy="37147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4189886A-F6B4-47B5-A7AD-E18CDE5BC088}"/>
              </a:ext>
            </a:extLst>
          </p:cNvPr>
          <p:cNvSpPr/>
          <p:nvPr/>
        </p:nvSpPr>
        <p:spPr>
          <a:xfrm>
            <a:off x="2834826" y="5704730"/>
            <a:ext cx="505176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32 Instalación de paquetes seleccionados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ángulo 5">
            <a:extLst>
              <a:ext uri="{FF2B5EF4-FFF2-40B4-BE49-F238E27FC236}">
                <a16:creationId xmlns:a16="http://schemas.microsoft.com/office/drawing/2014/main" id="{6C71E362-F53E-4691-9068-278AE119C8E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30561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AAC8D995-F2B3-4E30-85D1-60F659117308}"/>
              </a:ext>
            </a:extLst>
          </p:cNvPr>
          <p:cNvPicPr/>
          <p:nvPr/>
        </p:nvPicPr>
        <p:blipFill>
          <a:blip r:embed="rId2"/>
          <a:stretch>
            <a:fillRect/>
          </a:stretch>
        </p:blipFill>
        <p:spPr>
          <a:xfrm>
            <a:off x="531354" y="2122912"/>
            <a:ext cx="4163704" cy="33454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C10595B7-0C26-4000-A2BA-4CBEBA4BDB85}"/>
              </a:ext>
            </a:extLst>
          </p:cNvPr>
          <p:cNvPicPr/>
          <p:nvPr/>
        </p:nvPicPr>
        <p:blipFill rotWithShape="1">
          <a:blip r:embed="rId3"/>
          <a:srcRect r="1119" b="6638"/>
          <a:stretch/>
        </p:blipFill>
        <p:spPr bwMode="auto">
          <a:xfrm>
            <a:off x="5025227" y="2651779"/>
            <a:ext cx="4163705" cy="19885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a:ext>
          </a:extLst>
        </p:spPr>
      </p:pic>
      <p:sp>
        <p:nvSpPr>
          <p:cNvPr id="5" name="Rectangle 4">
            <a:extLst>
              <a:ext uri="{FF2B5EF4-FFF2-40B4-BE49-F238E27FC236}">
                <a16:creationId xmlns:a16="http://schemas.microsoft.com/office/drawing/2014/main" id="{7347AD06-4BA6-4DFE-BB47-BEEA406D1A2B}"/>
              </a:ext>
            </a:extLst>
          </p:cNvPr>
          <p:cNvSpPr/>
          <p:nvPr/>
        </p:nvSpPr>
        <p:spPr>
          <a:xfrm>
            <a:off x="1120119" y="5903996"/>
            <a:ext cx="416370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33 Finalización de la instalación</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319D28DB-1EA8-4820-8320-C211CAB77F1A}"/>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354501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3013471" y="5426917"/>
            <a:ext cx="3806170"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26: Ingreso a </a:t>
            </a:r>
            <a:r>
              <a:rPr lang="es-ES" sz="1800" i="1" dirty="0" err="1">
                <a:solidFill>
                  <a:srgbClr val="1F497D"/>
                </a:solidFill>
                <a:effectLst/>
                <a:latin typeface="Arial" panose="020B0604020202020204" pitchFamily="34" charset="0"/>
                <a:ea typeface="Calibri" panose="020F0502020204030204" pitchFamily="34" charset="0"/>
                <a:cs typeface="Times New Roman" panose="02020603050405020304" pitchFamily="18" charset="0"/>
              </a:rPr>
              <a:t>CPanel</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52D5DF74-AE63-46C9-B1C6-999FFE6FBFA6}"/>
              </a:ext>
            </a:extLst>
          </p:cNvPr>
          <p:cNvPicPr/>
          <p:nvPr/>
        </p:nvPicPr>
        <p:blipFill>
          <a:blip r:embed="rId2"/>
          <a:stretch>
            <a:fillRect/>
          </a:stretch>
        </p:blipFill>
        <p:spPr>
          <a:xfrm>
            <a:off x="2810172" y="2388107"/>
            <a:ext cx="4723130" cy="25527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0543B8B0-7E0A-4E3D-8F6D-93267E162DF3}"/>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965725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776226" y="5426917"/>
            <a:ext cx="4280660"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27: Selección del servidor</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
            <a:extLst>
              <a:ext uri="{FF2B5EF4-FFF2-40B4-BE49-F238E27FC236}">
                <a16:creationId xmlns:a16="http://schemas.microsoft.com/office/drawing/2014/main" id="{855ED4DF-A8E9-40E9-9861-7D287D5DC774}"/>
              </a:ext>
            </a:extLst>
          </p:cNvPr>
          <p:cNvPicPr/>
          <p:nvPr/>
        </p:nvPicPr>
        <p:blipFill>
          <a:blip r:embed="rId2"/>
          <a:stretch>
            <a:fillRect/>
          </a:stretch>
        </p:blipFill>
        <p:spPr>
          <a:xfrm>
            <a:off x="2386426" y="2411675"/>
            <a:ext cx="4848225" cy="24587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8C8E9607-44AC-4503-8848-F6026AA7F60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111435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115789" y="5426917"/>
            <a:ext cx="5601534"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28: Ingreso de propiedades de MySQL</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2">
            <a:extLst>
              <a:ext uri="{FF2B5EF4-FFF2-40B4-BE49-F238E27FC236}">
                <a16:creationId xmlns:a16="http://schemas.microsoft.com/office/drawing/2014/main" id="{40936B7A-ACC5-4A63-A308-C624F4977F63}"/>
              </a:ext>
            </a:extLst>
          </p:cNvPr>
          <p:cNvPicPr/>
          <p:nvPr/>
        </p:nvPicPr>
        <p:blipFill>
          <a:blip r:embed="rId2"/>
          <a:stretch>
            <a:fillRect/>
          </a:stretch>
        </p:blipFill>
        <p:spPr>
          <a:xfrm>
            <a:off x="2404037" y="2374618"/>
            <a:ext cx="4876800" cy="2463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DE8B74AB-DBF9-4BBE-AD6F-8C0F22CCE985}"/>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967116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917290" y="5426917"/>
            <a:ext cx="3998532"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30: Nombre de MySQL</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4">
            <a:extLst>
              <a:ext uri="{FF2B5EF4-FFF2-40B4-BE49-F238E27FC236}">
                <a16:creationId xmlns:a16="http://schemas.microsoft.com/office/drawing/2014/main" id="{E2215A88-C0FD-4525-A8AF-32EBD8833422}"/>
              </a:ext>
            </a:extLst>
          </p:cNvPr>
          <p:cNvPicPr/>
          <p:nvPr/>
        </p:nvPicPr>
        <p:blipFill>
          <a:blip r:embed="rId2"/>
          <a:stretch>
            <a:fillRect/>
          </a:stretch>
        </p:blipFill>
        <p:spPr>
          <a:xfrm>
            <a:off x="2406718" y="2866265"/>
            <a:ext cx="5019675" cy="14700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F4E1BC89-024C-4A2D-BCD9-403DA657646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095557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814699" y="5426917"/>
            <a:ext cx="4203715"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31: Creacion de usuarios</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6">
            <a:extLst>
              <a:ext uri="{FF2B5EF4-FFF2-40B4-BE49-F238E27FC236}">
                <a16:creationId xmlns:a16="http://schemas.microsoft.com/office/drawing/2014/main" id="{F2B03799-A9C0-4A64-AD42-614E89AD4DEC}"/>
              </a:ext>
            </a:extLst>
          </p:cNvPr>
          <p:cNvPicPr/>
          <p:nvPr/>
        </p:nvPicPr>
        <p:blipFill>
          <a:blip r:embed="rId2"/>
          <a:stretch>
            <a:fillRect/>
          </a:stretch>
        </p:blipFill>
        <p:spPr>
          <a:xfrm>
            <a:off x="2255975" y="2493382"/>
            <a:ext cx="5244755" cy="22508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F972A886-5BB2-49BC-A3DE-E2DCA9E8CC1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676089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524042" y="5426917"/>
            <a:ext cx="4785029"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32: Actualización de privilegios</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7">
            <a:extLst>
              <a:ext uri="{FF2B5EF4-FFF2-40B4-BE49-F238E27FC236}">
                <a16:creationId xmlns:a16="http://schemas.microsoft.com/office/drawing/2014/main" id="{EFF57816-3C2C-4874-9A5B-E0993C5DE697}"/>
              </a:ext>
            </a:extLst>
          </p:cNvPr>
          <p:cNvPicPr/>
          <p:nvPr/>
        </p:nvPicPr>
        <p:blipFill>
          <a:blip r:embed="rId2"/>
          <a:stretch>
            <a:fillRect/>
          </a:stretch>
        </p:blipFill>
        <p:spPr>
          <a:xfrm>
            <a:off x="2339928" y="2277924"/>
            <a:ext cx="4772025" cy="27527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F26A8850-1DF3-45F0-B3DB-D68B3D3E19D6}"/>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42926246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088025" y="5426917"/>
            <a:ext cx="5657062"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33: Verificación de la creación de la BD</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8">
            <a:extLst>
              <a:ext uri="{FF2B5EF4-FFF2-40B4-BE49-F238E27FC236}">
                <a16:creationId xmlns:a16="http://schemas.microsoft.com/office/drawing/2014/main" id="{BC6383AF-EEEA-4FA6-8508-47B7D9BF9268}"/>
              </a:ext>
            </a:extLst>
          </p:cNvPr>
          <p:cNvPicPr/>
          <p:nvPr/>
        </p:nvPicPr>
        <p:blipFill>
          <a:blip r:embed="rId2"/>
          <a:stretch>
            <a:fillRect/>
          </a:stretch>
        </p:blipFill>
        <p:spPr>
          <a:xfrm>
            <a:off x="2433853" y="2781300"/>
            <a:ext cx="5734879" cy="15124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88B474B3-3460-431B-A5DC-4507C48A9B2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13290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782639" y="5426917"/>
            <a:ext cx="4267835"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34: Conexión con </a:t>
            </a:r>
            <a:r>
              <a:rPr lang="es-ES" sz="1800" i="1" dirty="0" err="1">
                <a:solidFill>
                  <a:srgbClr val="1F497D"/>
                </a:solidFill>
                <a:effectLst/>
                <a:latin typeface="Arial" panose="020B0604020202020204" pitchFamily="34" charset="0"/>
                <a:ea typeface="Calibri" panose="020F0502020204030204" pitchFamily="34" charset="0"/>
                <a:cs typeface="Times New Roman" panose="02020603050405020304" pitchFamily="18" charset="0"/>
              </a:rPr>
              <a:t>Navicat</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9">
            <a:extLst>
              <a:ext uri="{FF2B5EF4-FFF2-40B4-BE49-F238E27FC236}">
                <a16:creationId xmlns:a16="http://schemas.microsoft.com/office/drawing/2014/main" id="{A671DC7B-8A4E-4CA9-8A61-CAB57D5663C5}"/>
              </a:ext>
            </a:extLst>
          </p:cNvPr>
          <p:cNvPicPr/>
          <p:nvPr/>
        </p:nvPicPr>
        <p:blipFill>
          <a:blip r:embed="rId2"/>
          <a:stretch>
            <a:fillRect/>
          </a:stretch>
        </p:blipFill>
        <p:spPr>
          <a:xfrm>
            <a:off x="2229471" y="2284371"/>
            <a:ext cx="4791075" cy="26073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369B49C0-75B6-418C-B527-6A9AF3C8065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511437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1492111" y="6252548"/>
            <a:ext cx="6742873"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35: Ingreso de propiedades para conexión remota</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0">
            <a:extLst>
              <a:ext uri="{FF2B5EF4-FFF2-40B4-BE49-F238E27FC236}">
                <a16:creationId xmlns:a16="http://schemas.microsoft.com/office/drawing/2014/main" id="{DFB11BCC-2430-4D19-913C-9A1DBCF24276}"/>
              </a:ext>
            </a:extLst>
          </p:cNvPr>
          <p:cNvPicPr/>
          <p:nvPr/>
        </p:nvPicPr>
        <p:blipFill>
          <a:blip r:embed="rId2"/>
          <a:stretch>
            <a:fillRect/>
          </a:stretch>
        </p:blipFill>
        <p:spPr>
          <a:xfrm>
            <a:off x="3125986" y="2001092"/>
            <a:ext cx="3475121" cy="42514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5A469057-8B2B-4093-AD9E-8B92937310DA}"/>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274534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658695" y="5426917"/>
            <a:ext cx="4515723"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36: Verificación de conexión</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1">
            <a:extLst>
              <a:ext uri="{FF2B5EF4-FFF2-40B4-BE49-F238E27FC236}">
                <a16:creationId xmlns:a16="http://schemas.microsoft.com/office/drawing/2014/main" id="{B5FCB74A-1128-45DC-9AF5-EA7416BF751C}"/>
              </a:ext>
            </a:extLst>
          </p:cNvPr>
          <p:cNvPicPr/>
          <p:nvPr/>
        </p:nvPicPr>
        <p:blipFill>
          <a:blip r:embed="rId2"/>
          <a:stretch>
            <a:fillRect/>
          </a:stretch>
        </p:blipFill>
        <p:spPr>
          <a:xfrm>
            <a:off x="3343275" y="1976314"/>
            <a:ext cx="2752725" cy="32499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B4E781BB-8528-4483-9F03-DB13A10AB67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5438521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667223" y="5426917"/>
            <a:ext cx="4498668"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37: Bases de datos creadas</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2">
            <a:extLst>
              <a:ext uri="{FF2B5EF4-FFF2-40B4-BE49-F238E27FC236}">
                <a16:creationId xmlns:a16="http://schemas.microsoft.com/office/drawing/2014/main" id="{33EFED9A-2762-465E-8FF1-5339FE86405E}"/>
              </a:ext>
            </a:extLst>
          </p:cNvPr>
          <p:cNvPicPr/>
          <p:nvPr/>
        </p:nvPicPr>
        <p:blipFill>
          <a:blip r:embed="rId2"/>
          <a:stretch>
            <a:fillRect/>
          </a:stretch>
        </p:blipFill>
        <p:spPr>
          <a:xfrm>
            <a:off x="4183070" y="2073219"/>
            <a:ext cx="1819275" cy="31356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1908D54B-B8D3-45FE-9423-0EE2BE745F2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73750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1814425" y="5426917"/>
            <a:ext cx="6204264"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40: Ingreso de propiedades para la conexión</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5">
            <a:extLst>
              <a:ext uri="{FF2B5EF4-FFF2-40B4-BE49-F238E27FC236}">
                <a16:creationId xmlns:a16="http://schemas.microsoft.com/office/drawing/2014/main" id="{F0E3C802-FF9F-41C5-A787-A78C1D89CBE2}"/>
              </a:ext>
            </a:extLst>
          </p:cNvPr>
          <p:cNvPicPr/>
          <p:nvPr/>
        </p:nvPicPr>
        <p:blipFill>
          <a:blip r:embed="rId2"/>
          <a:stretch>
            <a:fillRect/>
          </a:stretch>
        </p:blipFill>
        <p:spPr>
          <a:xfrm>
            <a:off x="3002031" y="2023869"/>
            <a:ext cx="3829050" cy="30753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4E712946-5DBE-4D05-962A-CD808F4B8D7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226224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738208" y="4963091"/>
            <a:ext cx="4515723"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41: Verificación de conexión</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16">
            <a:extLst>
              <a:ext uri="{FF2B5EF4-FFF2-40B4-BE49-F238E27FC236}">
                <a16:creationId xmlns:a16="http://schemas.microsoft.com/office/drawing/2014/main" id="{BD61269F-2D8E-493C-BD14-921398BC8DE5}"/>
              </a:ext>
            </a:extLst>
          </p:cNvPr>
          <p:cNvPicPr/>
          <p:nvPr/>
        </p:nvPicPr>
        <p:blipFill>
          <a:blip r:embed="rId2"/>
          <a:stretch>
            <a:fillRect/>
          </a:stretch>
        </p:blipFill>
        <p:spPr>
          <a:xfrm>
            <a:off x="1814425" y="2909348"/>
            <a:ext cx="6894237" cy="13445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78AEFD4A-87E6-4B0A-BA45-DE175908C950}"/>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5306011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D21AD212-BDAB-4F73-C9F5-C3ED49ED632C}"/>
              </a:ext>
            </a:extLst>
          </p:cNvPr>
          <p:cNvPicPr>
            <a:picLocks noChangeAspect="1"/>
          </p:cNvPicPr>
          <p:nvPr/>
        </p:nvPicPr>
        <p:blipFill>
          <a:blip r:embed="rId3"/>
          <a:stretch>
            <a:fillRect/>
          </a:stretch>
        </p:blipFill>
        <p:spPr>
          <a:xfrm>
            <a:off x="0" y="101600"/>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1723303" y="2101693"/>
            <a:ext cx="10170054" cy="2497215"/>
          </a:xfrm>
        </p:spPr>
        <p:txBody>
          <a:bodyPr rtlCol="0">
            <a:normAutofit/>
          </a:bodyPr>
          <a:lstStyle/>
          <a:p>
            <a:pPr algn="ctr" rtl="0"/>
            <a:r>
              <a:rPr lang="es-ES" sz="6600" dirty="0">
                <a:solidFill>
                  <a:srgbClr val="002060"/>
                </a:solidFill>
                <a:latin typeface="Rockwell" panose="02060603020205020403" pitchFamily="18" charset="0"/>
              </a:rPr>
              <a:t>DESARROLLO DE LA PRÁCTICA</a:t>
            </a:r>
          </a:p>
        </p:txBody>
      </p:sp>
    </p:spTree>
    <p:extLst>
      <p:ext uri="{BB962C8B-B14F-4D97-AF65-F5344CB8AC3E}">
        <p14:creationId xmlns:p14="http://schemas.microsoft.com/office/powerpoint/2010/main" val="24029575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DESCRIPCIÓN DEL PROYECTO</a:t>
            </a:r>
            <a:endParaRPr lang="es-EC" dirty="0"/>
          </a:p>
        </p:txBody>
      </p:sp>
      <p:sp>
        <p:nvSpPr>
          <p:cNvPr id="3" name="Marcador de contenido 2"/>
          <p:cNvSpPr>
            <a:spLocks noGrp="1"/>
          </p:cNvSpPr>
          <p:nvPr>
            <p:ph idx="1"/>
          </p:nvPr>
        </p:nvSpPr>
        <p:spPr>
          <a:xfrm>
            <a:off x="459786" y="2014889"/>
            <a:ext cx="8761590" cy="4551608"/>
          </a:xfrm>
        </p:spPr>
        <p:txBody>
          <a:bodyPr>
            <a:normAutofit fontScale="62500" lnSpcReduction="20000"/>
          </a:bodyPr>
          <a:lstStyle/>
          <a:p>
            <a:pPr algn="just">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El sistema de Core Bancario del Banco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BanQuito</a:t>
            </a:r>
            <a:r>
              <a:rPr lang="es-EC" sz="1800" dirty="0">
                <a:effectLst/>
                <a:latin typeface="Calibri" panose="020F0502020204030204" pitchFamily="34" charset="0"/>
                <a:ea typeface="Calibri" panose="020F0502020204030204" pitchFamily="34" charset="0"/>
                <a:cs typeface="Times New Roman" panose="02020603050405020304" pitchFamily="18" charset="0"/>
              </a:rPr>
              <a:t>, tiene almacenada la información referente a Clientes, Cuentas y Movimientos en tres diferente tablas relacionadas.</a:t>
            </a:r>
          </a:p>
          <a:p>
            <a:pPr algn="just">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Con motivo de su expansión el Banco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BanQuito</a:t>
            </a:r>
            <a:r>
              <a:rPr lang="es-EC" sz="1800" dirty="0">
                <a:effectLst/>
                <a:latin typeface="Calibri" panose="020F0502020204030204" pitchFamily="34" charset="0"/>
                <a:ea typeface="Calibri" panose="020F0502020204030204" pitchFamily="34" charset="0"/>
                <a:cs typeface="Times New Roman" panose="02020603050405020304" pitchFamily="18" charset="0"/>
              </a:rPr>
              <a:t>, desea implementar la aplicación de Banca Electrónica con las siguientes funcionalidades:</a:t>
            </a:r>
          </a:p>
          <a:p>
            <a:pPr algn="just">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Registro de Usuarios; esta funcionalidad permitirá a cada cliente del Banco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BanQuito</a:t>
            </a:r>
            <a:r>
              <a:rPr lang="es-EC" sz="1800" dirty="0">
                <a:effectLst/>
                <a:latin typeface="Calibri" panose="020F0502020204030204" pitchFamily="34" charset="0"/>
                <a:ea typeface="Calibri" panose="020F0502020204030204" pitchFamily="34" charset="0"/>
                <a:cs typeface="Times New Roman" panose="02020603050405020304" pitchFamily="18" charset="0"/>
              </a:rPr>
              <a:t> registrarse como usuario del Sistema de Banca Electrónica, para esto el usuario deberá ingresar su número de cédula y el número de una de sus cuentas; en caso de ser válida la información el sistema de Banca Electrónica automáticamente creará un usuario en su respectiva Base de Datos.  Importante: Los usuarios no se crean en la base de datos del Core Bancario del Banco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BanQuito</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Ingreso a la Banca Electrónica, esta funcionalidad permite iniciar una sesión en el sistema de Banca Electrónica con un usuario generado.</a:t>
            </a:r>
          </a:p>
          <a:p>
            <a:pPr algn="just">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Posición Consolidada; esta funcionalidad permitirá desplegar todas las cuentas de un cliente del Banco Banquito, el tipo de la misma (Ahorros, Corriente, Inversión) con su saldo actual.</a:t>
            </a:r>
          </a:p>
          <a:p>
            <a:pPr algn="just">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Detalle de Movimientos; esta funcionalidad permitirá desplegar todos los movimientos realizados en base a una cuenta seleccionada anteriormente en la pantalla de Posición Consolidada; los datos a desplegar son: Fecha Movimiento, Tipo Movimiento (Crédito, Débito), Valor y Saldo Final.</a:t>
            </a:r>
          </a:p>
          <a:p>
            <a:pPr algn="just">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Transferencias entre Clientes; esta funcionalidad permitirá la transferencia de dinero de una cuenta del cliente a otra cuenta del Banco; para esto el cliente deberá seleccionar la cuenta de la cual desea hacer la transferencia, ingresar el monto e ingresar el número de cuenta destino.  El sistema deberá validar que la cuenta destino exista.</a:t>
            </a:r>
          </a:p>
          <a:p>
            <a:r>
              <a:rPr lang="es-EC" sz="1800" dirty="0">
                <a:effectLst/>
                <a:latin typeface="Calibri" panose="020F0502020204030204" pitchFamily="34" charset="0"/>
                <a:ea typeface="Calibri" panose="020F0502020204030204" pitchFamily="34" charset="0"/>
                <a:cs typeface="Times New Roman" panose="02020603050405020304" pitchFamily="18" charset="0"/>
              </a:rPr>
              <a:t>Como parte del proyecto se pide a usted Señor/Señorita Estudiante que implemente el sistema de Banca Electrónica del Banco Banquito y adicionalmente implemente los Servicios Web necesarios en el Core Bancario para que los dos sistemas estén integrados; teniendo en cuenta las siguientes consideraciones: </a:t>
            </a:r>
            <a:endParaRPr lang="es-EC" dirty="0"/>
          </a:p>
        </p:txBody>
      </p:sp>
      <p:sp>
        <p:nvSpPr>
          <p:cNvPr id="4" name="Rectángulo 3">
            <a:extLst>
              <a:ext uri="{FF2B5EF4-FFF2-40B4-BE49-F238E27FC236}">
                <a16:creationId xmlns:a16="http://schemas.microsoft.com/office/drawing/2014/main" id="{8968F405-73B4-4A4A-98EA-93A2A8179C2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886724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88CD9DD7-BD58-4E4B-AA52-8359C83C2240}"/>
              </a:ext>
            </a:extLst>
          </p:cNvPr>
          <p:cNvSpPr/>
          <p:nvPr/>
        </p:nvSpPr>
        <p:spPr>
          <a:xfrm>
            <a:off x="3948390" y="6365668"/>
            <a:ext cx="397711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55 Agregar tablas al proyecto</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BC0E9BCD-D576-43D1-B3BA-1157BDAFDF7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844635" y="2141751"/>
            <a:ext cx="5734050" cy="39719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4D07D812-C486-4DB2-A9A6-48BBC566EEEC}"/>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8969801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70A7F542-EE56-40D8-8156-BD2CC7B8C23C}"/>
              </a:ext>
            </a:extLst>
          </p:cNvPr>
          <p:cNvSpPr/>
          <p:nvPr/>
        </p:nvSpPr>
        <p:spPr>
          <a:xfrm>
            <a:off x="1150762" y="5938567"/>
            <a:ext cx="365433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56 Ventana clases entidad</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20B787F6-2623-40C6-AD24-26AFE2FECEB3}"/>
              </a:ext>
            </a:extLst>
          </p:cNvPr>
          <p:cNvSpPr/>
          <p:nvPr/>
        </p:nvSpPr>
        <p:spPr>
          <a:xfrm>
            <a:off x="4805096" y="5171415"/>
            <a:ext cx="5052253"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57 Entidades creadas en el paquete modelo del proyecto</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n 9">
            <a:extLst>
              <a:ext uri="{FF2B5EF4-FFF2-40B4-BE49-F238E27FC236}">
                <a16:creationId xmlns:a16="http://schemas.microsoft.com/office/drawing/2014/main" id="{BD854C7F-0814-4C0F-AB87-147483A9B7C1}"/>
              </a:ext>
            </a:extLst>
          </p:cNvPr>
          <p:cNvPicPr/>
          <p:nvPr/>
        </p:nvPicPr>
        <p:blipFill rotWithShape="1">
          <a:blip r:embed="rId2"/>
          <a:srcRect l="38624" t="7567" r="33730" b="64857"/>
          <a:stretch/>
        </p:blipFill>
        <p:spPr bwMode="auto">
          <a:xfrm>
            <a:off x="530276" y="2131401"/>
            <a:ext cx="4274820" cy="356552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pic>
        <p:nvPicPr>
          <p:cNvPr id="11" name="Imagen 10">
            <a:extLst>
              <a:ext uri="{FF2B5EF4-FFF2-40B4-BE49-F238E27FC236}">
                <a16:creationId xmlns:a16="http://schemas.microsoft.com/office/drawing/2014/main" id="{CCAA4755-3FAF-4169-B6E7-61CE73489E6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310777" y="2621280"/>
            <a:ext cx="2446020" cy="16154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2C73E0A6-DD92-4C9F-ABF9-63223631787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9457230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p>
        </p:txBody>
      </p:sp>
      <p:sp>
        <p:nvSpPr>
          <p:cNvPr id="3" name="Marcador de contenido 2"/>
          <p:cNvSpPr>
            <a:spLocks noGrp="1"/>
          </p:cNvSpPr>
          <p:nvPr>
            <p:ph idx="1"/>
          </p:nvPr>
        </p:nvSpPr>
        <p:spPr>
          <a:xfrm>
            <a:off x="1097281" y="1845734"/>
            <a:ext cx="4508389" cy="711936"/>
          </a:xfrm>
        </p:spPr>
        <p:txBody>
          <a:bodyPr>
            <a:normAutofit/>
          </a:bodyPr>
          <a:lstStyle/>
          <a:p>
            <a:pPr marR="335280"/>
            <a:r>
              <a:rPr lang="es-MX" sz="1800" b="1" i="1" dirty="0">
                <a:effectLst/>
                <a:latin typeface="Arial" panose="020B0604020202020204" pitchFamily="34" charset="0"/>
                <a:ea typeface="Times New Roman" panose="02020603050405020304" pitchFamily="18" charset="0"/>
                <a:cs typeface="Arial" panose="020B0604020202020204" pitchFamily="34" charset="0"/>
              </a:rPr>
              <a:t>Creación del Servidor Soap</a:t>
            </a:r>
            <a:endParaRPr lang="es-ES" sz="1800" b="1" i="1" dirty="0">
              <a:effectLst/>
              <a:latin typeface="Arial" panose="020B0604020202020204" pitchFamily="34" charset="0"/>
              <a:ea typeface="Times New Roman" panose="02020603050405020304" pitchFamily="18" charset="0"/>
              <a:cs typeface="Times New Roman" panose="02020603050405020304" pitchFamily="18" charset="0"/>
            </a:endParaRPr>
          </a:p>
          <a:p>
            <a:pPr algn="just"/>
            <a:endParaRPr lang="es-EC" dirty="0"/>
          </a:p>
        </p:txBody>
      </p:sp>
      <p:sp>
        <p:nvSpPr>
          <p:cNvPr id="4" name="Rectangle 3">
            <a:extLst>
              <a:ext uri="{FF2B5EF4-FFF2-40B4-BE49-F238E27FC236}">
                <a16:creationId xmlns:a16="http://schemas.microsoft.com/office/drawing/2014/main" id="{234FBA9D-2416-4798-938D-C4F329765BAD}"/>
              </a:ext>
            </a:extLst>
          </p:cNvPr>
          <p:cNvSpPr/>
          <p:nvPr/>
        </p:nvSpPr>
        <p:spPr>
          <a:xfrm>
            <a:off x="1594618" y="5673443"/>
            <a:ext cx="3632593"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58 creación de la aplicación servidor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BE9E3939-840B-42ED-BB4F-8EAD1322FCA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22173" y="2288604"/>
            <a:ext cx="4410075" cy="3054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A25C1BA6-3DA6-4615-9515-B39CFDBECE5F}"/>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7238044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5" name="Marcador de contenido 2"/>
          <p:cNvSpPr>
            <a:spLocks noGrp="1"/>
          </p:cNvSpPr>
          <p:nvPr>
            <p:ph idx="1"/>
          </p:nvPr>
        </p:nvSpPr>
        <p:spPr>
          <a:xfrm>
            <a:off x="1097280" y="1845734"/>
            <a:ext cx="5860111" cy="751692"/>
          </a:xfrm>
        </p:spPr>
        <p:txBody>
          <a:bodyPr/>
          <a:lstStyle/>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Colocar el nombre respectivo del proyecto nuevo</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FEDE901-F671-46F7-9E10-732630D7B17F}"/>
              </a:ext>
            </a:extLst>
          </p:cNvPr>
          <p:cNvSpPr/>
          <p:nvPr/>
        </p:nvSpPr>
        <p:spPr>
          <a:xfrm>
            <a:off x="3922392" y="6418997"/>
            <a:ext cx="434721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59 Seleccionar entidades para JSF</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18">
            <a:extLst>
              <a:ext uri="{FF2B5EF4-FFF2-40B4-BE49-F238E27FC236}">
                <a16:creationId xmlns:a16="http://schemas.microsoft.com/office/drawing/2014/main" id="{7A8F179E-4EEB-415A-9C91-87E01DC39E4E}"/>
              </a:ext>
            </a:extLst>
          </p:cNvPr>
          <p:cNvPicPr/>
          <p:nvPr/>
        </p:nvPicPr>
        <p:blipFill>
          <a:blip r:embed="rId2"/>
          <a:stretch>
            <a:fillRect/>
          </a:stretch>
        </p:blipFill>
        <p:spPr>
          <a:xfrm>
            <a:off x="2207805" y="2729272"/>
            <a:ext cx="4457700" cy="30626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B728913F-1C87-484C-BBC5-4D9B643FBFF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824028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B9CE4086-F1FA-4DCE-B9F6-E0A45C4CA4B3}"/>
              </a:ext>
            </a:extLst>
          </p:cNvPr>
          <p:cNvSpPr/>
          <p:nvPr/>
        </p:nvSpPr>
        <p:spPr>
          <a:xfrm>
            <a:off x="3357145" y="6067862"/>
            <a:ext cx="436452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60 Generar JSF y clases en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Facade</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19">
            <a:extLst>
              <a:ext uri="{FF2B5EF4-FFF2-40B4-BE49-F238E27FC236}">
                <a16:creationId xmlns:a16="http://schemas.microsoft.com/office/drawing/2014/main" id="{E45AA5E1-FA92-466E-BD36-93332402E13A}"/>
              </a:ext>
            </a:extLst>
          </p:cNvPr>
          <p:cNvPicPr/>
          <p:nvPr/>
        </p:nvPicPr>
        <p:blipFill>
          <a:blip r:embed="rId2"/>
          <a:stretch>
            <a:fillRect/>
          </a:stretch>
        </p:blipFill>
        <p:spPr>
          <a:xfrm>
            <a:off x="3013635" y="2597426"/>
            <a:ext cx="4364527" cy="29942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Marcador de contenido 2">
            <a:extLst>
              <a:ext uri="{FF2B5EF4-FFF2-40B4-BE49-F238E27FC236}">
                <a16:creationId xmlns:a16="http://schemas.microsoft.com/office/drawing/2014/main" id="{69FCEAE0-545F-4688-9B62-4592F4A443CE}"/>
              </a:ext>
            </a:extLst>
          </p:cNvPr>
          <p:cNvSpPr>
            <a:spLocks noGrp="1"/>
          </p:cNvSpPr>
          <p:nvPr>
            <p:ph idx="1"/>
          </p:nvPr>
        </p:nvSpPr>
        <p:spPr>
          <a:xfrm>
            <a:off x="1097280" y="1845734"/>
            <a:ext cx="5860111" cy="751692"/>
          </a:xfrm>
        </p:spPr>
        <p:txBody>
          <a:bodyPr/>
          <a:lstStyle/>
          <a:p>
            <a:pPr indent="4495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Creado el proyecto vamos a crear el pool de conexiones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076EA80B-2FB4-4079-886F-9E46C82447E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933443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endParaRPr lang="es-EC" dirty="0"/>
          </a:p>
        </p:txBody>
      </p:sp>
      <p:sp>
        <p:nvSpPr>
          <p:cNvPr id="3" name="Marcador de contenido 2"/>
          <p:cNvSpPr>
            <a:spLocks noGrp="1"/>
          </p:cNvSpPr>
          <p:nvPr>
            <p:ph idx="1"/>
          </p:nvPr>
        </p:nvSpPr>
        <p:spPr>
          <a:xfrm>
            <a:off x="581192" y="1816827"/>
            <a:ext cx="7396617" cy="594799"/>
          </a:xfrm>
        </p:spPr>
        <p:txBody>
          <a:bodyPr>
            <a:normAutofit/>
          </a:bodyPr>
          <a:lstStyle/>
          <a:p>
            <a:pPr fontAlgn="base"/>
            <a:r>
              <a:rPr lang="es-EC" b="1" dirty="0"/>
              <a:t>Añadir el servicio web</a:t>
            </a:r>
          </a:p>
        </p:txBody>
      </p:sp>
      <p:sp>
        <p:nvSpPr>
          <p:cNvPr id="4" name="Rectangle 3">
            <a:extLst>
              <a:ext uri="{FF2B5EF4-FFF2-40B4-BE49-F238E27FC236}">
                <a16:creationId xmlns:a16="http://schemas.microsoft.com/office/drawing/2014/main" id="{1C3B6B0A-3ACB-43BB-9CDE-2998A7BAC2AF}"/>
              </a:ext>
            </a:extLst>
          </p:cNvPr>
          <p:cNvSpPr/>
          <p:nvPr/>
        </p:nvSpPr>
        <p:spPr>
          <a:xfrm>
            <a:off x="1554103" y="6090863"/>
            <a:ext cx="361624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61 Añadir un servicio web</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n 9">
            <a:extLst>
              <a:ext uri="{FF2B5EF4-FFF2-40B4-BE49-F238E27FC236}">
                <a16:creationId xmlns:a16="http://schemas.microsoft.com/office/drawing/2014/main" id="{9F8511F2-4046-4981-B55F-DD53A5B5B22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94733" y="2655136"/>
            <a:ext cx="5130630" cy="31922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3AB71570-160E-46BC-99DA-551C11AAACA5}"/>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3182713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endParaRPr lang="es-EC" dirty="0"/>
          </a:p>
        </p:txBody>
      </p:sp>
      <p:sp>
        <p:nvSpPr>
          <p:cNvPr id="3" name="Marcador de contenido 2"/>
          <p:cNvSpPr>
            <a:spLocks noGrp="1"/>
          </p:cNvSpPr>
          <p:nvPr>
            <p:ph idx="1"/>
          </p:nvPr>
        </p:nvSpPr>
        <p:spPr>
          <a:xfrm>
            <a:off x="968735" y="2027583"/>
            <a:ext cx="5470856" cy="1225566"/>
          </a:xfrm>
        </p:spPr>
        <p:txBody>
          <a:bodyPr>
            <a:normAutofit fontScale="92500" lnSpcReduction="20000"/>
          </a:bodyPr>
          <a:lstStyle/>
          <a:p>
            <a:r>
              <a:rPr lang="es-EC" b="1" dirty="0"/>
              <a:t>Testeo</a:t>
            </a:r>
          </a:p>
          <a:p>
            <a:pPr algn="just"/>
            <a:r>
              <a:rPr lang="es-ES" dirty="0"/>
              <a:t>Se realiza el test del servicio web haciendo clic derecho sobre el web </a:t>
            </a:r>
            <a:r>
              <a:rPr lang="es-ES" dirty="0" err="1"/>
              <a:t>service</a:t>
            </a:r>
            <a:r>
              <a:rPr lang="es-ES" dirty="0"/>
              <a:t> y seleccionando la opción test web </a:t>
            </a:r>
            <a:r>
              <a:rPr lang="es-ES" dirty="0" err="1"/>
              <a:t>service</a:t>
            </a:r>
            <a:r>
              <a:rPr lang="es-ES" dirty="0"/>
              <a:t>.</a:t>
            </a:r>
            <a:endParaRPr lang="es-EC" dirty="0"/>
          </a:p>
          <a:p>
            <a:endParaRPr lang="es-EC" b="1" dirty="0"/>
          </a:p>
        </p:txBody>
      </p:sp>
      <p:sp>
        <p:nvSpPr>
          <p:cNvPr id="4" name="Rectangle 3">
            <a:extLst>
              <a:ext uri="{FF2B5EF4-FFF2-40B4-BE49-F238E27FC236}">
                <a16:creationId xmlns:a16="http://schemas.microsoft.com/office/drawing/2014/main" id="{FF3DDF5C-189D-4BE0-8954-78B6442FF88B}"/>
              </a:ext>
            </a:extLst>
          </p:cNvPr>
          <p:cNvSpPr/>
          <p:nvPr/>
        </p:nvSpPr>
        <p:spPr>
          <a:xfrm>
            <a:off x="4598466" y="5566118"/>
            <a:ext cx="5470857"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64 Ingreso de datos para ejecutar las pruebas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59369DF8-3DF4-403E-BC30-967708AEFA7D}"/>
              </a:ext>
            </a:extLst>
          </p:cNvPr>
          <p:cNvSpPr/>
          <p:nvPr/>
        </p:nvSpPr>
        <p:spPr>
          <a:xfrm>
            <a:off x="-40232" y="5935450"/>
            <a:ext cx="460574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65 Corrida del web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service</a:t>
            </a: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con SOAP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n 7">
            <a:extLst>
              <a:ext uri="{FF2B5EF4-FFF2-40B4-BE49-F238E27FC236}">
                <a16:creationId xmlns:a16="http://schemas.microsoft.com/office/drawing/2014/main" id="{3707BA27-4200-41CE-8226-37B028DE093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8352" y="3429001"/>
            <a:ext cx="4083891" cy="2153572"/>
          </a:xfrm>
          <a:prstGeom prst="rect">
            <a:avLst/>
          </a:prstGeom>
          <a:noFill/>
          <a:ln w="28575">
            <a:solidFill>
              <a:schemeClr val="tx1"/>
            </a:solidFill>
          </a:ln>
        </p:spPr>
      </p:pic>
      <p:pic>
        <p:nvPicPr>
          <p:cNvPr id="10" name="Imagen 9">
            <a:extLst>
              <a:ext uri="{FF2B5EF4-FFF2-40B4-BE49-F238E27FC236}">
                <a16:creationId xmlns:a16="http://schemas.microsoft.com/office/drawing/2014/main" id="{4E3C7A99-C4BF-41C2-A0F3-12623B724EF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4876" y="3467775"/>
            <a:ext cx="4282520" cy="1959822"/>
          </a:xfrm>
          <a:prstGeom prst="rect">
            <a:avLst/>
          </a:prstGeom>
          <a:noFill/>
          <a:ln w="28575">
            <a:solidFill>
              <a:schemeClr val="tx1"/>
            </a:solidFill>
          </a:ln>
        </p:spPr>
      </p:pic>
      <p:sp>
        <p:nvSpPr>
          <p:cNvPr id="11" name="Rectángulo 10">
            <a:extLst>
              <a:ext uri="{FF2B5EF4-FFF2-40B4-BE49-F238E27FC236}">
                <a16:creationId xmlns:a16="http://schemas.microsoft.com/office/drawing/2014/main" id="{7772DDE1-6235-43A7-8119-D304F5365D90}"/>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0205175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endParaRPr lang="es-EC" dirty="0"/>
          </a:p>
        </p:txBody>
      </p:sp>
      <p:sp>
        <p:nvSpPr>
          <p:cNvPr id="3" name="Marcador de contenido 2"/>
          <p:cNvSpPr>
            <a:spLocks noGrp="1"/>
          </p:cNvSpPr>
          <p:nvPr>
            <p:ph idx="1"/>
          </p:nvPr>
        </p:nvSpPr>
        <p:spPr>
          <a:xfrm>
            <a:off x="1097281" y="2012199"/>
            <a:ext cx="4705004" cy="3142519"/>
          </a:xfrm>
        </p:spPr>
        <p:txBody>
          <a:bodyPr/>
          <a:lstStyle/>
          <a:p>
            <a:r>
              <a:rPr lang="es-EC" b="1" dirty="0"/>
              <a:t>CREACIÓN DEL CLIENTE.</a:t>
            </a:r>
          </a:p>
          <a:p>
            <a:r>
              <a:rPr lang="es-EC" dirty="0"/>
              <a:t>Se crea una aplicación JAVA</a:t>
            </a:r>
          </a:p>
          <a:p>
            <a:endParaRPr lang="es-EC" dirty="0"/>
          </a:p>
          <a:p>
            <a:endParaRPr lang="es-EC" dirty="0"/>
          </a:p>
          <a:p>
            <a:endParaRPr lang="es-EC" dirty="0"/>
          </a:p>
          <a:p>
            <a:pPr marL="0" indent="0">
              <a:buNone/>
            </a:pPr>
            <a:endParaRPr lang="es-EC" dirty="0"/>
          </a:p>
          <a:p>
            <a:pPr marL="0" indent="0">
              <a:buNone/>
            </a:pPr>
            <a:endParaRPr lang="es-EC" dirty="0"/>
          </a:p>
          <a:p>
            <a:endParaRPr lang="es-EC" dirty="0"/>
          </a:p>
        </p:txBody>
      </p:sp>
      <p:sp>
        <p:nvSpPr>
          <p:cNvPr id="4" name="Rectangle 3">
            <a:extLst>
              <a:ext uri="{FF2B5EF4-FFF2-40B4-BE49-F238E27FC236}">
                <a16:creationId xmlns:a16="http://schemas.microsoft.com/office/drawing/2014/main" id="{9B212EB4-9EE5-49E3-804E-7B7F5B47BF8A}"/>
              </a:ext>
            </a:extLst>
          </p:cNvPr>
          <p:cNvSpPr/>
          <p:nvPr/>
        </p:nvSpPr>
        <p:spPr>
          <a:xfrm>
            <a:off x="2868265" y="6381831"/>
            <a:ext cx="3858043"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66 Nueva Aplicación de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A3E828A0-176C-4422-94A4-B6C9B60E8B2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608752" y="3079904"/>
            <a:ext cx="4419600" cy="30759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507ED413-E2B8-411E-BBC5-904B778862F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7703382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endParaRPr lang="es-EC" dirty="0"/>
          </a:p>
        </p:txBody>
      </p:sp>
      <p:sp>
        <p:nvSpPr>
          <p:cNvPr id="13" name="Marcador de contenido 12"/>
          <p:cNvSpPr>
            <a:spLocks noGrp="1"/>
          </p:cNvSpPr>
          <p:nvPr>
            <p:ph idx="1"/>
          </p:nvPr>
        </p:nvSpPr>
        <p:spPr>
          <a:xfrm>
            <a:off x="459786" y="1715956"/>
            <a:ext cx="9490460" cy="1199523"/>
          </a:xfrm>
        </p:spPr>
        <p:txBody>
          <a:bodyPr/>
          <a:lstStyle/>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Escoger un Framework para trabajar con las vistas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8B489724-D193-4AC2-887E-6CB6DA8CA66E}"/>
              </a:ext>
            </a:extLst>
          </p:cNvPr>
          <p:cNvSpPr/>
          <p:nvPr/>
        </p:nvSpPr>
        <p:spPr>
          <a:xfrm>
            <a:off x="2377832" y="5869094"/>
            <a:ext cx="264752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70 Crear un JSP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E7723738-55D8-48B4-9323-4B868F430809}"/>
              </a:ext>
            </a:extLst>
          </p:cNvPr>
          <p:cNvPicPr/>
          <p:nvPr/>
        </p:nvPicPr>
        <p:blipFill>
          <a:blip r:embed="rId2">
            <a:extLst>
              <a:ext uri="{28A0092B-C50C-407E-A947-70E740481C1C}">
                <a14:useLocalDpi xmlns:a14="http://schemas.microsoft.com/office/drawing/2010/main" val="0"/>
              </a:ext>
            </a:extLst>
          </a:blip>
          <a:stretch>
            <a:fillRect/>
          </a:stretch>
        </p:blipFill>
        <p:spPr>
          <a:xfrm>
            <a:off x="2241754" y="2671601"/>
            <a:ext cx="4319905" cy="29889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254B8A94-5EF3-4CD4-B11B-2E24D5C5D9C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7712979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endParaRPr lang="es-EC" dirty="0"/>
          </a:p>
        </p:txBody>
      </p:sp>
      <p:sp>
        <p:nvSpPr>
          <p:cNvPr id="3" name="Marcador de contenido 2"/>
          <p:cNvSpPr>
            <a:spLocks noGrp="1"/>
          </p:cNvSpPr>
          <p:nvPr>
            <p:ph idx="1"/>
          </p:nvPr>
        </p:nvSpPr>
        <p:spPr>
          <a:xfrm>
            <a:off x="1097281" y="2012200"/>
            <a:ext cx="4996624" cy="2639314"/>
          </a:xfrm>
        </p:spPr>
        <p:txBody>
          <a:bodyPr/>
          <a:lstStyle/>
          <a:p>
            <a:r>
              <a:rPr lang="es-EC" b="1" dirty="0"/>
              <a:t>Creación de los paquetes.</a:t>
            </a:r>
          </a:p>
          <a:p>
            <a:endParaRPr lang="es-EC" dirty="0"/>
          </a:p>
          <a:p>
            <a:endParaRPr lang="es-EC" dirty="0"/>
          </a:p>
          <a:p>
            <a:endParaRPr lang="es-EC" dirty="0"/>
          </a:p>
          <a:p>
            <a:pPr marL="0" indent="0">
              <a:buNone/>
            </a:pPr>
            <a:endParaRPr lang="es-EC" dirty="0"/>
          </a:p>
          <a:p>
            <a:pPr marL="0" indent="0">
              <a:buNone/>
            </a:pPr>
            <a:endParaRPr lang="es-EC" dirty="0"/>
          </a:p>
          <a:p>
            <a:endParaRPr lang="es-EC" dirty="0"/>
          </a:p>
        </p:txBody>
      </p:sp>
      <p:sp>
        <p:nvSpPr>
          <p:cNvPr id="4" name="Rectangle 3">
            <a:extLst>
              <a:ext uri="{FF2B5EF4-FFF2-40B4-BE49-F238E27FC236}">
                <a16:creationId xmlns:a16="http://schemas.microsoft.com/office/drawing/2014/main" id="{0A9729D0-21B4-4E9A-996F-35FE0C372CAD}"/>
              </a:ext>
            </a:extLst>
          </p:cNvPr>
          <p:cNvSpPr/>
          <p:nvPr/>
        </p:nvSpPr>
        <p:spPr>
          <a:xfrm>
            <a:off x="226317" y="5817430"/>
            <a:ext cx="4306172"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72 Seleccionar el paquete para servicios web</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F51593A5-A047-437A-B190-662AB7E83A63}"/>
              </a:ext>
            </a:extLst>
          </p:cNvPr>
          <p:cNvSpPr/>
          <p:nvPr/>
        </p:nvSpPr>
        <p:spPr>
          <a:xfrm>
            <a:off x="5239602" y="2382829"/>
            <a:ext cx="4076676"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73 Referencia del servidor para el cliente</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n 9">
            <a:extLst>
              <a:ext uri="{FF2B5EF4-FFF2-40B4-BE49-F238E27FC236}">
                <a16:creationId xmlns:a16="http://schemas.microsoft.com/office/drawing/2014/main" id="{CBE6BA32-DC6B-4A6F-AF6A-529EFCB30A3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419233" y="3429000"/>
            <a:ext cx="2240280" cy="27660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Imagen 10">
            <a:extLst>
              <a:ext uri="{FF2B5EF4-FFF2-40B4-BE49-F238E27FC236}">
                <a16:creationId xmlns:a16="http://schemas.microsoft.com/office/drawing/2014/main" id="{4C31E267-EA02-48A1-85FA-33077DC238F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27949" y="3205038"/>
            <a:ext cx="3235369" cy="19220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Rectángulo 11">
            <a:extLst>
              <a:ext uri="{FF2B5EF4-FFF2-40B4-BE49-F238E27FC236}">
                <a16:creationId xmlns:a16="http://schemas.microsoft.com/office/drawing/2014/main" id="{D32BE693-0B01-4068-9DD7-9BDABC6B8A9B}"/>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3861287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Implementación BPMN</a:t>
            </a:r>
            <a:br>
              <a:rPr lang="es-EC" b="1" dirty="0"/>
            </a:br>
            <a:r>
              <a:rPr lang="es-EC" b="1" dirty="0"/>
              <a:t> </a:t>
            </a:r>
          </a:p>
        </p:txBody>
      </p:sp>
      <p:sp>
        <p:nvSpPr>
          <p:cNvPr id="13" name="CuadroTexto 12">
            <a:extLst>
              <a:ext uri="{FF2B5EF4-FFF2-40B4-BE49-F238E27FC236}">
                <a16:creationId xmlns:a16="http://schemas.microsoft.com/office/drawing/2014/main" id="{CE83125F-BA87-4004-9C2D-C87F07B2430B}"/>
              </a:ext>
            </a:extLst>
          </p:cNvPr>
          <p:cNvSpPr txBox="1"/>
          <p:nvPr/>
        </p:nvSpPr>
        <p:spPr>
          <a:xfrm>
            <a:off x="3285358" y="6204768"/>
            <a:ext cx="6096000" cy="369332"/>
          </a:xfrm>
          <a:prstGeom prst="rect">
            <a:avLst/>
          </a:prstGeom>
          <a:noFill/>
        </p:spPr>
        <p:txBody>
          <a:bodyPr wrap="square">
            <a:spAutoFit/>
          </a:bodyPr>
          <a:lstStyle/>
          <a:p>
            <a:r>
              <a:rPr lang="es-ES" i="1" dirty="0"/>
              <a:t>Ilustración Creación del proceso créditos</a:t>
            </a:r>
            <a:endParaRPr lang="es-EC" i="1" dirty="0"/>
          </a:p>
        </p:txBody>
      </p:sp>
      <p:sp>
        <p:nvSpPr>
          <p:cNvPr id="14" name="Rectángulo 13">
            <a:extLst>
              <a:ext uri="{FF2B5EF4-FFF2-40B4-BE49-F238E27FC236}">
                <a16:creationId xmlns:a16="http://schemas.microsoft.com/office/drawing/2014/main" id="{0F0B8A24-FE08-4025-9995-59F6FEFC5F78}"/>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5" name="Rectángulo 4">
            <a:extLst>
              <a:ext uri="{FF2B5EF4-FFF2-40B4-BE49-F238E27FC236}">
                <a16:creationId xmlns:a16="http://schemas.microsoft.com/office/drawing/2014/main" id="{41FFD819-1096-4540-BE85-50FC4B23AF4F}"/>
              </a:ext>
            </a:extLst>
          </p:cNvPr>
          <p:cNvSpPr/>
          <p:nvPr/>
        </p:nvSpPr>
        <p:spPr>
          <a:xfrm>
            <a:off x="459786" y="2010713"/>
            <a:ext cx="6096000" cy="390363"/>
          </a:xfrm>
          <a:prstGeom prst="rect">
            <a:avLst/>
          </a:prstGeom>
        </p:spPr>
        <p:txBody>
          <a:bodyPr>
            <a:spAutoFit/>
          </a:bodyPr>
          <a:lstStyle/>
          <a:p>
            <a:pPr algn="just">
              <a:lnSpc>
                <a:spcPct val="115000"/>
              </a:lnSpc>
              <a:spcAft>
                <a:spcPts val="1000"/>
              </a:spcAft>
            </a:pPr>
            <a:r>
              <a:rPr lang="es-ES" dirty="0">
                <a:latin typeface="Arial" panose="020B0604020202020204" pitchFamily="34" charset="0"/>
                <a:ea typeface="Calibri" panose="020F0502020204030204" pitchFamily="34" charset="0"/>
                <a:cs typeface="Times New Roman" panose="02020603050405020304" pitchFamily="18" charset="0"/>
              </a:rPr>
              <a:t>Creación del proceso créditos </a:t>
            </a:r>
            <a:endParaRPr lang="es-EC" dirty="0">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B0EA1439-A048-2542-9D9E-4BB4D024E65F}"/>
              </a:ext>
            </a:extLst>
          </p:cNvPr>
          <p:cNvPicPr/>
          <p:nvPr/>
        </p:nvPicPr>
        <p:blipFill>
          <a:blip r:embed="rId2"/>
          <a:stretch>
            <a:fillRect/>
          </a:stretch>
        </p:blipFill>
        <p:spPr>
          <a:xfrm>
            <a:off x="1070741" y="2450000"/>
            <a:ext cx="7532931" cy="37058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619043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Creación de tarea préstamo</a:t>
            </a:r>
            <a:endParaRPr lang="es-EC" dirty="0"/>
          </a:p>
        </p:txBody>
      </p:sp>
      <p:sp>
        <p:nvSpPr>
          <p:cNvPr id="9" name="Rectángulo 8">
            <a:extLst>
              <a:ext uri="{FF2B5EF4-FFF2-40B4-BE49-F238E27FC236}">
                <a16:creationId xmlns:a16="http://schemas.microsoft.com/office/drawing/2014/main" id="{F02F1597-2D6C-4DAB-AB25-B94DCAA15E5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1025" name="Imagen 24">
            <a:extLst>
              <a:ext uri="{FF2B5EF4-FFF2-40B4-BE49-F238E27FC236}">
                <a16:creationId xmlns:a16="http://schemas.microsoft.com/office/drawing/2014/main" id="{F5235AB0-0767-584C-8850-89D5D0D7A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6570" y="2262607"/>
            <a:ext cx="5320146" cy="37929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26DBFAC3-C993-0E49-87F9-C426ACE363BC}"/>
              </a:ext>
            </a:extLst>
          </p:cNvPr>
          <p:cNvSpPr>
            <a:spLocks noChangeArrowheads="1"/>
          </p:cNvSpPr>
          <p:nvPr/>
        </p:nvSpPr>
        <p:spPr bwMode="auto">
          <a:xfrm>
            <a:off x="3882673" y="5972431"/>
            <a:ext cx="232307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Times New Roman" panose="02020603050405020304" pitchFamily="18"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Times New Roman" panose="02020603050405020304" pitchFamily="18" charset="0"/>
              </a:rPr>
              <a:t>n 81 Creaci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Times New Roman" panose="02020603050405020304" pitchFamily="18"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Times New Roman" panose="02020603050405020304" pitchFamily="18" charset="0"/>
              </a:rPr>
              <a:t>n de tarea préstamo</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55382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Vista solicitar préstamo </a:t>
            </a:r>
            <a:endParaRPr lang="es-EC" dirty="0"/>
          </a:p>
        </p:txBody>
      </p:sp>
      <p:sp>
        <p:nvSpPr>
          <p:cNvPr id="10" name="Rectángulo 9">
            <a:extLst>
              <a:ext uri="{FF2B5EF4-FFF2-40B4-BE49-F238E27FC236}">
                <a16:creationId xmlns:a16="http://schemas.microsoft.com/office/drawing/2014/main" id="{289D1D53-4EF1-4FC7-B3D6-86CE43E1A95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4" name="Rectangle 2">
            <a:extLst>
              <a:ext uri="{FF2B5EF4-FFF2-40B4-BE49-F238E27FC236}">
                <a16:creationId xmlns:a16="http://schemas.microsoft.com/office/drawing/2014/main" id="{5DD7518C-B42D-1C41-A766-1AA56264944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2049" name="Imagen 121">
            <a:extLst>
              <a:ext uri="{FF2B5EF4-FFF2-40B4-BE49-F238E27FC236}">
                <a16:creationId xmlns:a16="http://schemas.microsoft.com/office/drawing/2014/main" id="{AAE6D878-88D5-F547-8528-B8D0DB53C0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528" y="2791136"/>
            <a:ext cx="8442777" cy="2358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D43E3F7D-3B75-6946-86F7-295BB17C7D4D}"/>
              </a:ext>
            </a:extLst>
          </p:cNvPr>
          <p:cNvSpPr>
            <a:spLocks noChangeArrowheads="1"/>
          </p:cNvSpPr>
          <p:nvPr/>
        </p:nvSpPr>
        <p:spPr bwMode="auto">
          <a:xfrm>
            <a:off x="3818122" y="5149872"/>
            <a:ext cx="221311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82 Vista solicitar pr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stamo</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277018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Confirmación de préstamo vista</a:t>
            </a:r>
            <a:endParaRPr lang="es-EC" dirty="0"/>
          </a:p>
        </p:txBody>
      </p:sp>
      <p:sp>
        <p:nvSpPr>
          <p:cNvPr id="10" name="Rectángulo 9">
            <a:extLst>
              <a:ext uri="{FF2B5EF4-FFF2-40B4-BE49-F238E27FC236}">
                <a16:creationId xmlns:a16="http://schemas.microsoft.com/office/drawing/2014/main" id="{7C1F07ED-39E1-4A7F-B474-53620C391856}"/>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4" name="Rectangle 2">
            <a:extLst>
              <a:ext uri="{FF2B5EF4-FFF2-40B4-BE49-F238E27FC236}">
                <a16:creationId xmlns:a16="http://schemas.microsoft.com/office/drawing/2014/main" id="{16233AC4-5E92-7D45-9ED0-B94C8A31828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3073" name="Imagen 123">
            <a:extLst>
              <a:ext uri="{FF2B5EF4-FFF2-40B4-BE49-F238E27FC236}">
                <a16:creationId xmlns:a16="http://schemas.microsoft.com/office/drawing/2014/main" id="{846272B7-F16C-2C4B-A0F9-7DB468D3C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835" y="2160452"/>
            <a:ext cx="7861476" cy="35733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9233E45-A80B-034F-80AF-408C086758A6}"/>
              </a:ext>
            </a:extLst>
          </p:cNvPr>
          <p:cNvSpPr>
            <a:spLocks noChangeArrowheads="1"/>
          </p:cNvSpPr>
          <p:nvPr/>
        </p:nvSpPr>
        <p:spPr bwMode="auto">
          <a:xfrm>
            <a:off x="4215021" y="4928793"/>
            <a:ext cx="250581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83 Confirmaci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de pr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stamo vista</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9602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Aprobar crédito</a:t>
            </a:r>
            <a:endParaRPr lang="es-EC" dirty="0"/>
          </a:p>
        </p:txBody>
      </p:sp>
      <p:sp>
        <p:nvSpPr>
          <p:cNvPr id="10" name="Rectángulo 9">
            <a:extLst>
              <a:ext uri="{FF2B5EF4-FFF2-40B4-BE49-F238E27FC236}">
                <a16:creationId xmlns:a16="http://schemas.microsoft.com/office/drawing/2014/main" id="{ECD4C980-E2B7-4A34-B6B9-C796A6FDD960}"/>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7" name="Rectangle 2">
            <a:extLst>
              <a:ext uri="{FF2B5EF4-FFF2-40B4-BE49-F238E27FC236}">
                <a16:creationId xmlns:a16="http://schemas.microsoft.com/office/drawing/2014/main" id="{FC350D30-3BE1-7842-9991-A8322FD1595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4097" name="Imagen 124">
            <a:extLst>
              <a:ext uri="{FF2B5EF4-FFF2-40B4-BE49-F238E27FC236}">
                <a16:creationId xmlns:a16="http://schemas.microsoft.com/office/drawing/2014/main" id="{FCFCFDDE-00BE-6346-8116-FF1A798432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502" y="2248365"/>
            <a:ext cx="7518462" cy="3617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10C8F20B-4258-4844-A697-428305EBC584}"/>
              </a:ext>
            </a:extLst>
          </p:cNvPr>
          <p:cNvSpPr>
            <a:spLocks noChangeArrowheads="1"/>
          </p:cNvSpPr>
          <p:nvPr/>
        </p:nvSpPr>
        <p:spPr bwMode="auto">
          <a:xfrm>
            <a:off x="-872836" y="601864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84 Aprobar cr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dito</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463343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Vista confirmación de aprobación de crédito</a:t>
            </a:r>
            <a:endParaRPr lang="es-EC" dirty="0"/>
          </a:p>
        </p:txBody>
      </p:sp>
      <p:sp>
        <p:nvSpPr>
          <p:cNvPr id="10" name="Rectángulo 9">
            <a:extLst>
              <a:ext uri="{FF2B5EF4-FFF2-40B4-BE49-F238E27FC236}">
                <a16:creationId xmlns:a16="http://schemas.microsoft.com/office/drawing/2014/main" id="{C7A0D633-EF1F-4CFC-B8E8-0A778B0AB749}"/>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7" name="Rectangle 2">
            <a:extLst>
              <a:ext uri="{FF2B5EF4-FFF2-40B4-BE49-F238E27FC236}">
                <a16:creationId xmlns:a16="http://schemas.microsoft.com/office/drawing/2014/main" id="{A664BE60-C931-CF48-8CD0-29EABC4313B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5121" name="Imagen 125">
            <a:extLst>
              <a:ext uri="{FF2B5EF4-FFF2-40B4-BE49-F238E27FC236}">
                <a16:creationId xmlns:a16="http://schemas.microsoft.com/office/drawing/2014/main" id="{2DDF237A-2BB4-4D46-A93A-C1883ECB9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665" y="2425268"/>
            <a:ext cx="8607436" cy="367529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16E8DAD0-15F8-7E43-841F-E5BACF4AA657}"/>
              </a:ext>
            </a:extLst>
          </p:cNvPr>
          <p:cNvSpPr>
            <a:spLocks noChangeArrowheads="1"/>
          </p:cNvSpPr>
          <p:nvPr/>
        </p:nvSpPr>
        <p:spPr bwMode="auto">
          <a:xfrm>
            <a:off x="-1055255" y="61502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85 Vista confirmaci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de aprobaci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de cr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dito</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99803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Tarea enviada</a:t>
            </a:r>
            <a:endParaRPr lang="es-EC" dirty="0"/>
          </a:p>
        </p:txBody>
      </p:sp>
      <p:sp>
        <p:nvSpPr>
          <p:cNvPr id="10" name="Rectángulo 9">
            <a:extLst>
              <a:ext uri="{FF2B5EF4-FFF2-40B4-BE49-F238E27FC236}">
                <a16:creationId xmlns:a16="http://schemas.microsoft.com/office/drawing/2014/main" id="{C71D855B-3C95-4877-B59F-17D767AA6408}"/>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6" name="Rectangle 2">
            <a:extLst>
              <a:ext uri="{FF2B5EF4-FFF2-40B4-BE49-F238E27FC236}">
                <a16:creationId xmlns:a16="http://schemas.microsoft.com/office/drawing/2014/main" id="{EB2D4DFD-9735-F94F-A0DE-E15C3CDB212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6145" name="Imagen 126">
            <a:extLst>
              <a:ext uri="{FF2B5EF4-FFF2-40B4-BE49-F238E27FC236}">
                <a16:creationId xmlns:a16="http://schemas.microsoft.com/office/drawing/2014/main" id="{D3C55B01-28C3-9F4D-87AE-3FEBE538F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40" y="1960912"/>
            <a:ext cx="9085761" cy="332405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CA25FB8E-932B-AB41-922B-6F8534652FAA}"/>
              </a:ext>
            </a:extLst>
          </p:cNvPr>
          <p:cNvSpPr>
            <a:spLocks noChangeArrowheads="1"/>
          </p:cNvSpPr>
          <p:nvPr/>
        </p:nvSpPr>
        <p:spPr bwMode="auto">
          <a:xfrm>
            <a:off x="-842241" y="606482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86 Tarea enviada</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4281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Tarea tasas de interés</a:t>
            </a:r>
            <a:endParaRPr lang="es-EC" dirty="0"/>
          </a:p>
        </p:txBody>
      </p:sp>
      <p:sp>
        <p:nvSpPr>
          <p:cNvPr id="10" name="Rectángulo 9">
            <a:extLst>
              <a:ext uri="{FF2B5EF4-FFF2-40B4-BE49-F238E27FC236}">
                <a16:creationId xmlns:a16="http://schemas.microsoft.com/office/drawing/2014/main" id="{44C9D976-0589-4AD6-98D0-610FEDE088B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6" name="Rectangle 2">
            <a:extLst>
              <a:ext uri="{FF2B5EF4-FFF2-40B4-BE49-F238E27FC236}">
                <a16:creationId xmlns:a16="http://schemas.microsoft.com/office/drawing/2014/main" id="{ED674506-8BAA-A340-AE1F-DEEAEA9A4B5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7169" name="Imagen 10">
            <a:extLst>
              <a:ext uri="{FF2B5EF4-FFF2-40B4-BE49-F238E27FC236}">
                <a16:creationId xmlns:a16="http://schemas.microsoft.com/office/drawing/2014/main" id="{BC5E45D8-47B0-6C4C-8F05-AD057F441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138" y="2042521"/>
            <a:ext cx="8250382" cy="35855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061B7AD3-6F39-944F-9E52-A782DD555530}"/>
              </a:ext>
            </a:extLst>
          </p:cNvPr>
          <p:cNvSpPr>
            <a:spLocks noChangeArrowheads="1"/>
          </p:cNvSpPr>
          <p:nvPr/>
        </p:nvSpPr>
        <p:spPr bwMode="auto">
          <a:xfrm>
            <a:off x="-893619" y="60221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87 Tarea tasas de inter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s</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93683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Confirmación de crédito</a:t>
            </a:r>
            <a:endParaRPr lang="es-EC" dirty="0"/>
          </a:p>
        </p:txBody>
      </p:sp>
      <p:sp>
        <p:nvSpPr>
          <p:cNvPr id="11" name="Rectángulo 10">
            <a:extLst>
              <a:ext uri="{FF2B5EF4-FFF2-40B4-BE49-F238E27FC236}">
                <a16:creationId xmlns:a16="http://schemas.microsoft.com/office/drawing/2014/main" id="{120DB7BE-3743-405C-A684-FC611B11610F}"/>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6" name="Rectangle 2">
            <a:extLst>
              <a:ext uri="{FF2B5EF4-FFF2-40B4-BE49-F238E27FC236}">
                <a16:creationId xmlns:a16="http://schemas.microsoft.com/office/drawing/2014/main" id="{95375B5E-3966-F84A-9A76-2978A33C75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pic>
        <p:nvPicPr>
          <p:cNvPr id="8193" name="Imagen 127">
            <a:extLst>
              <a:ext uri="{FF2B5EF4-FFF2-40B4-BE49-F238E27FC236}">
                <a16:creationId xmlns:a16="http://schemas.microsoft.com/office/drawing/2014/main" id="{133F68B3-CAEC-0E48-8D27-AF7B4655F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757" y="1982950"/>
            <a:ext cx="8779463" cy="350399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B46FE7FA-0C64-C64F-83FF-F30AA19EE0F4}"/>
              </a:ext>
            </a:extLst>
          </p:cNvPr>
          <p:cNvSpPr>
            <a:spLocks noChangeArrowheads="1"/>
          </p:cNvSpPr>
          <p:nvPr/>
        </p:nvSpPr>
        <p:spPr bwMode="auto">
          <a:xfrm>
            <a:off x="4676771" y="5911311"/>
            <a:ext cx="210185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88 Confirmaci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de cr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dito</a:t>
            </a:r>
            <a:endParaRPr kumimoji="0" lang="es-ES" altLang="es-EC" sz="1800"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6476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2A12A354-55E9-1D2A-58A8-B8E9E02BE269}"/>
              </a:ext>
            </a:extLst>
          </p:cNvPr>
          <p:cNvPicPr>
            <a:picLocks noChangeAspect="1"/>
          </p:cNvPicPr>
          <p:nvPr/>
        </p:nvPicPr>
        <p:blipFill>
          <a:blip r:embed="rId3"/>
          <a:stretch>
            <a:fillRect/>
          </a:stretch>
        </p:blipFill>
        <p:spPr>
          <a:xfrm>
            <a:off x="0" y="101600"/>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1351302" y="857389"/>
            <a:ext cx="10170054" cy="2497215"/>
          </a:xfrm>
        </p:spPr>
        <p:txBody>
          <a:bodyPr rtlCol="0">
            <a:normAutofit/>
          </a:bodyPr>
          <a:lstStyle/>
          <a:p>
            <a:pPr algn="ctr" rtl="0"/>
            <a:r>
              <a:rPr lang="es-ES" sz="6600" dirty="0">
                <a:solidFill>
                  <a:srgbClr val="002060"/>
                </a:solidFill>
                <a:latin typeface="Rockwell" panose="02060603020205020403" pitchFamily="18" charset="0"/>
              </a:rPr>
              <a:t>Funcionalidad</a:t>
            </a:r>
          </a:p>
        </p:txBody>
      </p:sp>
      <p:sp>
        <p:nvSpPr>
          <p:cNvPr id="6" name="Marcador de contenido 5">
            <a:extLst>
              <a:ext uri="{FF2B5EF4-FFF2-40B4-BE49-F238E27FC236}">
                <a16:creationId xmlns:a16="http://schemas.microsoft.com/office/drawing/2014/main" id="{DCFB565E-3AF7-5E01-B5F2-93744A7EF593}"/>
              </a:ext>
            </a:extLst>
          </p:cNvPr>
          <p:cNvSpPr>
            <a:spLocks noGrp="1"/>
          </p:cNvSpPr>
          <p:nvPr>
            <p:ph idx="1"/>
          </p:nvPr>
        </p:nvSpPr>
        <p:spPr/>
        <p:txBody>
          <a:bodyPr/>
          <a:lstStyle/>
          <a:p>
            <a:endParaRPr lang="es-MX" dirty="0"/>
          </a:p>
        </p:txBody>
      </p:sp>
    </p:spTree>
    <p:extLst>
      <p:ext uri="{BB962C8B-B14F-4D97-AF65-F5344CB8AC3E}">
        <p14:creationId xmlns:p14="http://schemas.microsoft.com/office/powerpoint/2010/main" val="14623703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EJECUCIÓN</a:t>
            </a:r>
            <a:endParaRPr lang="es-EC" dirty="0"/>
          </a:p>
        </p:txBody>
      </p:sp>
      <p:sp>
        <p:nvSpPr>
          <p:cNvPr id="3" name="Marcador de contenido 2"/>
          <p:cNvSpPr>
            <a:spLocks noGrp="1"/>
          </p:cNvSpPr>
          <p:nvPr>
            <p:ph idx="1"/>
          </p:nvPr>
        </p:nvSpPr>
        <p:spPr>
          <a:xfrm>
            <a:off x="1141413" y="1658143"/>
            <a:ext cx="9905999" cy="1770857"/>
          </a:xfrm>
        </p:spPr>
        <p:txBody>
          <a:bodyPr/>
          <a:lstStyle/>
          <a:p>
            <a:pPr algn="just"/>
            <a:r>
              <a:rPr lang="es-ES" dirty="0"/>
              <a:t>Se muestra los la pantalla de acceso.</a:t>
            </a:r>
            <a:endParaRPr lang="es-EC" dirty="0"/>
          </a:p>
        </p:txBody>
      </p:sp>
      <p:sp>
        <p:nvSpPr>
          <p:cNvPr id="4" name="Rectangle 3">
            <a:extLst>
              <a:ext uri="{FF2B5EF4-FFF2-40B4-BE49-F238E27FC236}">
                <a16:creationId xmlns:a16="http://schemas.microsoft.com/office/drawing/2014/main" id="{F6B37E1F-943D-4D73-AE74-3001FFCC22CC}"/>
              </a:ext>
            </a:extLst>
          </p:cNvPr>
          <p:cNvSpPr/>
          <p:nvPr/>
        </p:nvSpPr>
        <p:spPr>
          <a:xfrm>
            <a:off x="4632714" y="5792504"/>
            <a:ext cx="195502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75Login</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33A882BB-2272-40FA-AE71-6FDA1F3CC33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62213" y="3136713"/>
            <a:ext cx="4499099" cy="24345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ángulo 5">
            <a:extLst>
              <a:ext uri="{FF2B5EF4-FFF2-40B4-BE49-F238E27FC236}">
                <a16:creationId xmlns:a16="http://schemas.microsoft.com/office/drawing/2014/main" id="{EC088E0D-B0BB-47CD-A75C-64132BFE2AAF}"/>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2400" b="1" dirty="0" err="1">
                <a:solidFill>
                  <a:srgbClr val="FFFF00"/>
                </a:solidFill>
              </a:rPr>
              <a:t>Funcionalidad</a:t>
            </a:r>
            <a:endParaRPr lang="en-US" sz="1500" b="1" dirty="0">
              <a:solidFill>
                <a:srgbClr val="FFFF00"/>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6081327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3001" y="75050"/>
            <a:ext cx="9905998" cy="1478570"/>
          </a:xfrm>
        </p:spPr>
        <p:txBody>
          <a:bodyPr/>
          <a:lstStyle/>
          <a:p>
            <a:r>
              <a:rPr lang="es-EC" b="1" dirty="0"/>
              <a:t>EJECUCIÓN</a:t>
            </a:r>
            <a:endParaRPr lang="es-EC" dirty="0"/>
          </a:p>
        </p:txBody>
      </p:sp>
      <p:sp>
        <p:nvSpPr>
          <p:cNvPr id="3" name="Marcador de contenido 2"/>
          <p:cNvSpPr>
            <a:spLocks noGrp="1"/>
          </p:cNvSpPr>
          <p:nvPr>
            <p:ph idx="1"/>
          </p:nvPr>
        </p:nvSpPr>
        <p:spPr>
          <a:xfrm>
            <a:off x="573405" y="1628391"/>
            <a:ext cx="2408334" cy="4023360"/>
          </a:xfrm>
        </p:spPr>
        <p:txBody>
          <a:bodyPr>
            <a:normAutofit/>
          </a:bodyPr>
          <a:lstStyle/>
          <a:p>
            <a:pPr algn="just"/>
            <a:r>
              <a:rPr lang="es-ES" dirty="0"/>
              <a:t>Al seleccionar una de las secciones para transferencia de montos y creación de clientes .</a:t>
            </a:r>
            <a:endParaRPr lang="en-US" dirty="0"/>
          </a:p>
        </p:txBody>
      </p:sp>
      <p:sp>
        <p:nvSpPr>
          <p:cNvPr id="4" name="Rectangle 3">
            <a:extLst>
              <a:ext uri="{FF2B5EF4-FFF2-40B4-BE49-F238E27FC236}">
                <a16:creationId xmlns:a16="http://schemas.microsoft.com/office/drawing/2014/main" id="{D517A2C4-AF5D-4147-BFF3-432CFF2BD08E}"/>
              </a:ext>
            </a:extLst>
          </p:cNvPr>
          <p:cNvSpPr/>
          <p:nvPr/>
        </p:nvSpPr>
        <p:spPr>
          <a:xfrm>
            <a:off x="4110334" y="5651751"/>
            <a:ext cx="340452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76  menú de productos </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8789A1F1-F684-4B31-B77C-6514FDD37142}"/>
              </a:ext>
            </a:extLst>
          </p:cNvPr>
          <p:cNvPicPr/>
          <p:nvPr/>
        </p:nvPicPr>
        <p:blipFill>
          <a:blip r:embed="rId2">
            <a:extLst>
              <a:ext uri="{28A0092B-C50C-407E-A947-70E740481C1C}">
                <a14:useLocalDpi xmlns:a14="http://schemas.microsoft.com/office/drawing/2010/main" val="0"/>
              </a:ext>
            </a:extLst>
          </a:blip>
          <a:srcRect t="17381"/>
          <a:stretch>
            <a:fillRect/>
          </a:stretch>
        </p:blipFill>
        <p:spPr bwMode="auto">
          <a:xfrm>
            <a:off x="3230880" y="2761672"/>
            <a:ext cx="5730240" cy="26693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6980E7CB-D22A-46A7-BAA7-7C6F49F98C1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2400" b="1" dirty="0" err="1">
                <a:solidFill>
                  <a:srgbClr val="FFFF00"/>
                </a:solidFill>
              </a:rPr>
              <a:t>Funcionalidad</a:t>
            </a:r>
            <a:endParaRPr lang="en-US" sz="1500" b="1" dirty="0">
              <a:solidFill>
                <a:srgbClr val="FFFF00"/>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615719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EJECUCIÓN</a:t>
            </a:r>
            <a:endParaRPr lang="es-EC" dirty="0"/>
          </a:p>
        </p:txBody>
      </p:sp>
      <p:sp>
        <p:nvSpPr>
          <p:cNvPr id="3" name="Marcador de contenido 2"/>
          <p:cNvSpPr>
            <a:spLocks noGrp="1"/>
          </p:cNvSpPr>
          <p:nvPr>
            <p:ph idx="1"/>
          </p:nvPr>
        </p:nvSpPr>
        <p:spPr>
          <a:xfrm>
            <a:off x="1037717" y="1933953"/>
            <a:ext cx="9905999" cy="626368"/>
          </a:xfrm>
        </p:spPr>
        <p:txBody>
          <a:bodyPr/>
          <a:lstStyle/>
          <a:p>
            <a:r>
              <a:rPr lang="es-ES" dirty="0"/>
              <a:t>Cuando el cliente ingresa se le muestra el saldo de su cuenta.</a:t>
            </a:r>
            <a:endParaRPr lang="es-EC" dirty="0"/>
          </a:p>
        </p:txBody>
      </p:sp>
      <p:sp>
        <p:nvSpPr>
          <p:cNvPr id="7" name="Rectangle 6">
            <a:extLst>
              <a:ext uri="{FF2B5EF4-FFF2-40B4-BE49-F238E27FC236}">
                <a16:creationId xmlns:a16="http://schemas.microsoft.com/office/drawing/2014/main" id="{97344433-4350-4159-BA48-BE106AD700CB}"/>
              </a:ext>
            </a:extLst>
          </p:cNvPr>
          <p:cNvSpPr/>
          <p:nvPr/>
        </p:nvSpPr>
        <p:spPr>
          <a:xfrm>
            <a:off x="499543" y="4964588"/>
            <a:ext cx="3742851"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78 Selección forma de pago</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21CE3523-A286-4C54-9D28-FEC206941F46}"/>
              </a:ext>
            </a:extLst>
          </p:cNvPr>
          <p:cNvPicPr/>
          <p:nvPr/>
        </p:nvPicPr>
        <p:blipFill>
          <a:blip r:embed="rId2">
            <a:extLst>
              <a:ext uri="{28A0092B-C50C-407E-A947-70E740481C1C}">
                <a14:useLocalDpi xmlns:a14="http://schemas.microsoft.com/office/drawing/2010/main" val="0"/>
              </a:ext>
            </a:extLst>
          </a:blip>
          <a:srcRect t="15968"/>
          <a:stretch>
            <a:fillRect/>
          </a:stretch>
        </p:blipFill>
        <p:spPr bwMode="auto">
          <a:xfrm>
            <a:off x="297714" y="2676639"/>
            <a:ext cx="4503941" cy="20848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Imagen 8">
            <a:extLst>
              <a:ext uri="{FF2B5EF4-FFF2-40B4-BE49-F238E27FC236}">
                <a16:creationId xmlns:a16="http://schemas.microsoft.com/office/drawing/2014/main" id="{1FA605C2-00A7-4CC4-B895-AF52BE40E2E7}"/>
              </a:ext>
            </a:extLst>
          </p:cNvPr>
          <p:cNvPicPr/>
          <p:nvPr/>
        </p:nvPicPr>
        <p:blipFill>
          <a:blip r:embed="rId3">
            <a:extLst>
              <a:ext uri="{28A0092B-C50C-407E-A947-70E740481C1C}">
                <a14:useLocalDpi xmlns:a14="http://schemas.microsoft.com/office/drawing/2010/main" val="0"/>
              </a:ext>
            </a:extLst>
          </a:blip>
          <a:srcRect t="15968"/>
          <a:stretch>
            <a:fillRect/>
          </a:stretch>
        </p:blipFill>
        <p:spPr bwMode="auto">
          <a:xfrm>
            <a:off x="5402521" y="3540380"/>
            <a:ext cx="3975652" cy="20848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Rectangle 6">
            <a:extLst>
              <a:ext uri="{FF2B5EF4-FFF2-40B4-BE49-F238E27FC236}">
                <a16:creationId xmlns:a16="http://schemas.microsoft.com/office/drawing/2014/main" id="{94C864BF-C0AB-4D8E-BFA7-810C3962D16A}"/>
              </a:ext>
            </a:extLst>
          </p:cNvPr>
          <p:cNvSpPr/>
          <p:nvPr/>
        </p:nvSpPr>
        <p:spPr>
          <a:xfrm>
            <a:off x="5593718" y="5786512"/>
            <a:ext cx="3742851" cy="369332"/>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79 Transferencias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ángulo 10">
            <a:extLst>
              <a:ext uri="{FF2B5EF4-FFF2-40B4-BE49-F238E27FC236}">
                <a16:creationId xmlns:a16="http://schemas.microsoft.com/office/drawing/2014/main" id="{1D070612-37B0-45A7-9DF5-45967581FBF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2400" b="1" dirty="0" err="1">
                <a:solidFill>
                  <a:srgbClr val="FFFF00"/>
                </a:solidFill>
              </a:rPr>
              <a:t>Funcionalidad</a:t>
            </a:r>
            <a:endParaRPr lang="en-US" sz="1500" b="1" dirty="0">
              <a:solidFill>
                <a:srgbClr val="FFFF00"/>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5072192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EJECUCIÓN</a:t>
            </a:r>
            <a:endParaRPr lang="es-EC" dirty="0"/>
          </a:p>
        </p:txBody>
      </p:sp>
      <p:sp>
        <p:nvSpPr>
          <p:cNvPr id="3" name="Marcador de contenido 2"/>
          <p:cNvSpPr>
            <a:spLocks noGrp="1"/>
          </p:cNvSpPr>
          <p:nvPr>
            <p:ph idx="1"/>
          </p:nvPr>
        </p:nvSpPr>
        <p:spPr>
          <a:xfrm>
            <a:off x="1097280" y="2028614"/>
            <a:ext cx="3956858" cy="515804"/>
          </a:xfrm>
        </p:spPr>
        <p:txBody>
          <a:bodyPr>
            <a:normAutofit/>
          </a:bodyPr>
          <a:lstStyle/>
          <a:p>
            <a:pPr algn="just"/>
            <a:r>
              <a:rPr lang="es-ES" dirty="0"/>
              <a:t>Funcionalidad de creación de clientes</a:t>
            </a:r>
            <a:endParaRPr lang="es-EC" dirty="0"/>
          </a:p>
        </p:txBody>
      </p:sp>
      <p:sp>
        <p:nvSpPr>
          <p:cNvPr id="4" name="Rectangle 3">
            <a:extLst>
              <a:ext uri="{FF2B5EF4-FFF2-40B4-BE49-F238E27FC236}">
                <a16:creationId xmlns:a16="http://schemas.microsoft.com/office/drawing/2014/main" id="{0773724D-DF53-46FC-9C96-621D2F8DF37C}"/>
              </a:ext>
            </a:extLst>
          </p:cNvPr>
          <p:cNvSpPr/>
          <p:nvPr/>
        </p:nvSpPr>
        <p:spPr>
          <a:xfrm>
            <a:off x="3456977" y="5787729"/>
            <a:ext cx="348922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79 Facturación al cliente</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8D0EB2CF-4CB8-4E52-BFB3-5586F9107C9E}"/>
              </a:ext>
            </a:extLst>
          </p:cNvPr>
          <p:cNvPicPr/>
          <p:nvPr/>
        </p:nvPicPr>
        <p:blipFill>
          <a:blip r:embed="rId2" cstate="print">
            <a:extLst>
              <a:ext uri="{28A0092B-C50C-407E-A947-70E740481C1C}">
                <a14:useLocalDpi xmlns:a14="http://schemas.microsoft.com/office/drawing/2010/main" val="0"/>
              </a:ext>
            </a:extLst>
          </a:blip>
          <a:srcRect t="16331"/>
          <a:stretch>
            <a:fillRect/>
          </a:stretch>
        </p:blipFill>
        <p:spPr bwMode="auto">
          <a:xfrm>
            <a:off x="2573006" y="2857076"/>
            <a:ext cx="5257165" cy="24800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9F0F27B0-F8CB-4812-BB4D-ECCF804B4F39}"/>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2400" b="1" dirty="0" err="1">
                <a:solidFill>
                  <a:srgbClr val="FFFF00"/>
                </a:solidFill>
              </a:rPr>
              <a:t>Funcionalidad</a:t>
            </a:r>
            <a:endParaRPr lang="en-US" sz="1500" b="1" dirty="0">
              <a:solidFill>
                <a:srgbClr val="FFFF00"/>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7143473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B361-39CB-417D-AF6B-9615D0AAC011}"/>
              </a:ext>
            </a:extLst>
          </p:cNvPr>
          <p:cNvSpPr>
            <a:spLocks noGrp="1"/>
          </p:cNvSpPr>
          <p:nvPr>
            <p:ph type="title"/>
          </p:nvPr>
        </p:nvSpPr>
        <p:spPr/>
        <p:txBody>
          <a:bodyPr/>
          <a:lstStyle/>
          <a:p>
            <a:r>
              <a:rPr lang="es-EC" b="1" dirty="0"/>
              <a:t>EJECUCIÓN</a:t>
            </a:r>
            <a:endParaRPr lang="en-US" dirty="0"/>
          </a:p>
        </p:txBody>
      </p:sp>
      <p:sp>
        <p:nvSpPr>
          <p:cNvPr id="5" name="Rectangle 4">
            <a:extLst>
              <a:ext uri="{FF2B5EF4-FFF2-40B4-BE49-F238E27FC236}">
                <a16:creationId xmlns:a16="http://schemas.microsoft.com/office/drawing/2014/main" id="{6BCEF9AE-F1CA-44D0-83A8-C419430199AC}"/>
              </a:ext>
            </a:extLst>
          </p:cNvPr>
          <p:cNvSpPr/>
          <p:nvPr/>
        </p:nvSpPr>
        <p:spPr>
          <a:xfrm>
            <a:off x="3665977" y="5424432"/>
            <a:ext cx="3096425" cy="774571"/>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creación de clientes </a:t>
            </a:r>
          </a:p>
          <a:p>
            <a:pPr algn="ctr">
              <a:spcAft>
                <a:spcPts val="1000"/>
              </a:spcAft>
            </a:pP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5F99514F-4AC6-4016-A232-BEAA6EBCC946}"/>
              </a:ext>
            </a:extLst>
          </p:cNvPr>
          <p:cNvPicPr/>
          <p:nvPr/>
        </p:nvPicPr>
        <p:blipFill>
          <a:blip r:embed="rId2">
            <a:extLst>
              <a:ext uri="{28A0092B-C50C-407E-A947-70E740481C1C}">
                <a14:useLocalDpi xmlns:a14="http://schemas.microsoft.com/office/drawing/2010/main" val="0"/>
              </a:ext>
            </a:extLst>
          </a:blip>
          <a:srcRect t="16113"/>
          <a:stretch>
            <a:fillRect/>
          </a:stretch>
        </p:blipFill>
        <p:spPr bwMode="auto">
          <a:xfrm>
            <a:off x="2634532" y="2475344"/>
            <a:ext cx="5730240" cy="27102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5C856F31-34B4-4F32-AA72-1B54B10E94B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2400" b="1" dirty="0" err="1">
                <a:solidFill>
                  <a:srgbClr val="FFFF00"/>
                </a:solidFill>
              </a:rPr>
              <a:t>Funcionalidad</a:t>
            </a:r>
            <a:endParaRPr lang="en-US" sz="1500" b="1" dirty="0">
              <a:solidFill>
                <a:srgbClr val="FFFF00"/>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627454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5FEF93CF-CBDB-87A1-DF8E-371566AA6214}"/>
              </a:ext>
            </a:extLst>
          </p:cNvPr>
          <p:cNvPicPr>
            <a:picLocks noChangeAspect="1"/>
          </p:cNvPicPr>
          <p:nvPr/>
        </p:nvPicPr>
        <p:blipFill>
          <a:blip r:embed="rId3"/>
          <a:stretch>
            <a:fillRect/>
          </a:stretch>
        </p:blipFill>
        <p:spPr>
          <a:xfrm>
            <a:off x="0" y="-189157"/>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510793" y="1079063"/>
            <a:ext cx="10170054" cy="2497215"/>
          </a:xfrm>
        </p:spPr>
        <p:txBody>
          <a:bodyPr rtlCol="0">
            <a:normAutofit/>
          </a:bodyPr>
          <a:lstStyle/>
          <a:p>
            <a:pPr algn="ctr" rtl="0"/>
            <a:r>
              <a:rPr lang="es-ES" sz="6600" dirty="0">
                <a:solidFill>
                  <a:srgbClr val="002060"/>
                </a:solidFill>
                <a:latin typeface="Rockwell" panose="02060603020205020403" pitchFamily="18" charset="0"/>
              </a:rPr>
              <a:t>Conclusiones</a:t>
            </a:r>
          </a:p>
        </p:txBody>
      </p:sp>
      <p:sp>
        <p:nvSpPr>
          <p:cNvPr id="6" name="Marcador de contenido 5">
            <a:extLst>
              <a:ext uri="{FF2B5EF4-FFF2-40B4-BE49-F238E27FC236}">
                <a16:creationId xmlns:a16="http://schemas.microsoft.com/office/drawing/2014/main" id="{68C39FE6-76E2-B04F-7A81-05E44D3AE8A1}"/>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38931353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B361-39CB-417D-AF6B-9615D0AAC011}"/>
              </a:ext>
            </a:extLst>
          </p:cNvPr>
          <p:cNvSpPr>
            <a:spLocks noGrp="1"/>
          </p:cNvSpPr>
          <p:nvPr>
            <p:ph type="title"/>
          </p:nvPr>
        </p:nvSpPr>
        <p:spPr/>
        <p:txBody>
          <a:bodyPr/>
          <a:lstStyle/>
          <a:p>
            <a:r>
              <a:rPr lang="es-EC" b="1" dirty="0"/>
              <a:t>Conclusiones</a:t>
            </a:r>
            <a:endParaRPr lang="en-US" dirty="0"/>
          </a:p>
        </p:txBody>
      </p:sp>
      <p:sp>
        <p:nvSpPr>
          <p:cNvPr id="7" name="Rectángulo 6">
            <a:extLst>
              <a:ext uri="{FF2B5EF4-FFF2-40B4-BE49-F238E27FC236}">
                <a16:creationId xmlns:a16="http://schemas.microsoft.com/office/drawing/2014/main" id="{F71DC2F2-CF9C-4A23-AEEC-EE9B88BB7488}"/>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1600" b="1" dirty="0" err="1">
                <a:solidFill>
                  <a:schemeClr val="bg1"/>
                </a:solidFill>
              </a:rPr>
              <a:t>Funcionalidad</a:t>
            </a:r>
            <a:endParaRPr lang="en-US" sz="1100" b="1" dirty="0">
              <a:solidFill>
                <a:schemeClr val="bg1"/>
              </a:solidFill>
            </a:endParaRPr>
          </a:p>
          <a:p>
            <a:pPr>
              <a:lnSpc>
                <a:spcPct val="90000"/>
              </a:lnSpc>
            </a:pPr>
            <a:r>
              <a:rPr lang="en-US" sz="2400" b="1" dirty="0" err="1">
                <a:solidFill>
                  <a:srgbClr val="FFFF00"/>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8" name="Marcador de contenido 2">
            <a:extLst>
              <a:ext uri="{FF2B5EF4-FFF2-40B4-BE49-F238E27FC236}">
                <a16:creationId xmlns:a16="http://schemas.microsoft.com/office/drawing/2014/main" id="{818998CF-D20F-4FA4-9534-534B99C993A3}"/>
              </a:ext>
            </a:extLst>
          </p:cNvPr>
          <p:cNvSpPr>
            <a:spLocks noGrp="1"/>
          </p:cNvSpPr>
          <p:nvPr>
            <p:ph idx="1"/>
          </p:nvPr>
        </p:nvSpPr>
        <p:spPr>
          <a:xfrm>
            <a:off x="1097280" y="2028614"/>
            <a:ext cx="7914198" cy="4398690"/>
          </a:xfrm>
        </p:spPr>
        <p:txBody>
          <a:bodyPr>
            <a:normAutofit fontScale="85000" lnSpcReduction="10000"/>
          </a:bodyPr>
          <a:lstStyle/>
          <a:p>
            <a:pPr algn="just"/>
            <a:r>
              <a:rPr lang="es-MX" dirty="0"/>
              <a:t>SOAP es un patrón arquitectónico que se basa en HTTP y utiliza solicitudes y respuestas HTTP, así como verbos y códigos de estado, para permitir la comunicación entre sistemas. El hecho de que los servicios SOAP se apoyen en el protocolo HTTP hace posible que puedan ser consumidos por casi cualquier dispositivo o aplicación en línea, incluidos incluso dispositivos </a:t>
            </a:r>
            <a:r>
              <a:rPr lang="es-MX" dirty="0" err="1"/>
              <a:t>IoT</a:t>
            </a:r>
            <a:r>
              <a:rPr lang="es-MX" dirty="0"/>
              <a:t>, lo que favorece su interoperabilidad en distintos entornos tecnológicos.</a:t>
            </a:r>
          </a:p>
          <a:p>
            <a:pPr algn="just"/>
            <a:r>
              <a:rPr lang="es-MX" dirty="0"/>
              <a:t>Por otra parte, contar con una base de datos en la nube facilita significativamente el trabajo del equipo de desarrollo, ya que permite acceder a la información en cualquier momento y elimina la necesidad de realizar procesos locales de creación y configuración de bases de datos, optimizando así el tiempo y los recursos del desarrollo.</a:t>
            </a:r>
          </a:p>
          <a:p>
            <a:pPr algn="just"/>
            <a:r>
              <a:rPr lang="es-MX" dirty="0"/>
              <a:t>En cuanto a la gestión organizacional, BPM como metodología representa el futuro de la modelación de procesos de negocio. Independientemente del sector en el que se opere, las actividades se estructuran en procesos, y las Suites de BPM se consolidan como la mejor opción tecnológica para orquestarlos con niveles de agilidad y control nunca antes disponibles.</a:t>
            </a:r>
          </a:p>
          <a:p>
            <a:pPr algn="just"/>
            <a:r>
              <a:rPr lang="es-MX" dirty="0"/>
              <a:t>En este contexto, no se trata de decidir si implantar o no una solución BPM, sino cuándo hacerlo, ya que, como ocurre en todos los ciclos tecnológicos, son las organizaciones innovadoras las que primero adoptan estas soluciones y marcan la tendencia del mercado. Por ello, BPM está para quedarse y continuará siendo un tema central en las conversaciones sobre la mejora y optimización de procesos en los próximos años.</a:t>
            </a:r>
          </a:p>
        </p:txBody>
      </p:sp>
    </p:spTree>
    <p:extLst>
      <p:ext uri="{BB962C8B-B14F-4D97-AF65-F5344CB8AC3E}">
        <p14:creationId xmlns:p14="http://schemas.microsoft.com/office/powerpoint/2010/main" val="39496027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355CFA7E-3016-F1D7-0ACA-3581425CE26E}"/>
              </a:ext>
            </a:extLst>
          </p:cNvPr>
          <p:cNvPicPr>
            <a:picLocks noChangeAspect="1"/>
          </p:cNvPicPr>
          <p:nvPr/>
        </p:nvPicPr>
        <p:blipFill>
          <a:blip r:embed="rId3"/>
          <a:stretch>
            <a:fillRect/>
          </a:stretch>
        </p:blipFill>
        <p:spPr>
          <a:xfrm>
            <a:off x="0" y="-189157"/>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1813120" y="1642482"/>
            <a:ext cx="10170054" cy="2497215"/>
          </a:xfrm>
        </p:spPr>
        <p:txBody>
          <a:bodyPr rtlCol="0">
            <a:normAutofit/>
          </a:bodyPr>
          <a:lstStyle/>
          <a:p>
            <a:pPr algn="ctr" rtl="0"/>
            <a:r>
              <a:rPr lang="es-ES" sz="6600" dirty="0">
                <a:solidFill>
                  <a:srgbClr val="002060"/>
                </a:solidFill>
                <a:latin typeface="Rockwell" panose="02060603020205020403" pitchFamily="18" charset="0"/>
              </a:rPr>
              <a:t>REFERENCIAS BIBLIOGRÁFICAS</a:t>
            </a:r>
          </a:p>
        </p:txBody>
      </p:sp>
      <p:sp>
        <p:nvSpPr>
          <p:cNvPr id="3" name="Marcador de contenido 2">
            <a:extLst>
              <a:ext uri="{FF2B5EF4-FFF2-40B4-BE49-F238E27FC236}">
                <a16:creationId xmlns:a16="http://schemas.microsoft.com/office/drawing/2014/main" id="{473B33E2-1438-BAB5-1A09-33DA93AD784E}"/>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27037124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A8CA09-C32A-4499-A0C2-C719577682E3}"/>
              </a:ext>
            </a:extLst>
          </p:cNvPr>
          <p:cNvSpPr>
            <a:spLocks noGrp="1"/>
          </p:cNvSpPr>
          <p:nvPr>
            <p:ph type="title"/>
          </p:nvPr>
        </p:nvSpPr>
        <p:spPr/>
        <p:txBody>
          <a:bodyPr/>
          <a:lstStyle/>
          <a:p>
            <a:r>
              <a:rPr lang="en-US" sz="2800" dirty="0">
                <a:solidFill>
                  <a:srgbClr val="FFFFFF"/>
                </a:solidFill>
              </a:rPr>
              <a:t>REFERENCIAS BIBLIOGRÁFICAS</a:t>
            </a:r>
            <a:endParaRPr lang="es-EC" dirty="0"/>
          </a:p>
        </p:txBody>
      </p:sp>
      <p:sp>
        <p:nvSpPr>
          <p:cNvPr id="3" name="Marcador de contenido 2">
            <a:extLst>
              <a:ext uri="{FF2B5EF4-FFF2-40B4-BE49-F238E27FC236}">
                <a16:creationId xmlns:a16="http://schemas.microsoft.com/office/drawing/2014/main" id="{6BCAD803-E7BE-436C-99FE-D296D2DDC945}"/>
              </a:ext>
            </a:extLst>
          </p:cNvPr>
          <p:cNvSpPr>
            <a:spLocks noGrp="1"/>
          </p:cNvSpPr>
          <p:nvPr>
            <p:ph idx="1"/>
          </p:nvPr>
        </p:nvSpPr>
        <p:spPr>
          <a:xfrm>
            <a:off x="581192" y="2180496"/>
            <a:ext cx="7568895" cy="3678303"/>
          </a:xfrm>
        </p:spPr>
        <p:txBody>
          <a:bodyPr>
            <a:normAutofit fontScale="85000" lnSpcReduction="10000"/>
          </a:bodyPr>
          <a:lstStyle/>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[1] “Desarrollo y servicios Web”. [En línea]. Disponible en: http://www.eumed.net/tesis-doctorales/2007/cavl/Desarrollo%20y%20servicios%20Web.htm. [Consultado: 26-sep-2019].</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[2]   M. </a:t>
            </a:r>
            <a:r>
              <a:rPr lang="es-ES" sz="1800" dirty="0" err="1">
                <a:effectLst/>
                <a:latin typeface="Arial" panose="020B0604020202020204" pitchFamily="34" charset="0"/>
                <a:ea typeface="Calibri" panose="020F0502020204030204" pitchFamily="34" charset="0"/>
                <a:cs typeface="Times New Roman" panose="02020603050405020304" pitchFamily="18" charset="0"/>
              </a:rPr>
              <a:t>Arl</a:t>
            </a:r>
            <a:r>
              <a:rPr lang="es-ES" sz="1800" dirty="0">
                <a:effectLst/>
                <a:latin typeface="Arial" panose="020B0604020202020204" pitchFamily="34" charset="0"/>
                <a:ea typeface="Calibri" panose="020F0502020204030204" pitchFamily="34" charset="0"/>
                <a:cs typeface="Times New Roman" panose="02020603050405020304" pitchFamily="18" charset="0"/>
              </a:rPr>
              <a:t> y Rodríguez, “SOA vs. SOAP y REST”, Adictos al trabajo, 10-ene-2014.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R="335280" algn="just">
              <a:lnSpc>
                <a:spcPct val="115000"/>
              </a:lnSpc>
              <a:spcAft>
                <a:spcPts val="10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[3] “SOAP vs REST web services -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javatpoint</a:t>
            </a:r>
            <a:r>
              <a:rPr lang="en-US" sz="1800" dirty="0">
                <a:effectLst/>
                <a:latin typeface="Arial" panose="020B0604020202020204" pitchFamily="34" charset="0"/>
                <a:ea typeface="Calibri" panose="020F0502020204030204" pitchFamily="34" charset="0"/>
                <a:cs typeface="Times New Roman" panose="02020603050405020304" pitchFamily="18" charset="0"/>
              </a:rPr>
              <a:t>”, www.javatpoint.com.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En</a:t>
            </a:r>
            <a:r>
              <a:rPr lang="en-US" sz="1800" dirty="0">
                <a:effectLst/>
                <a:latin typeface="Arial" panose="020B0604020202020204" pitchFamily="34" charset="0"/>
                <a:ea typeface="Calibri" panose="020F0502020204030204" pitchFamily="34" charset="0"/>
                <a:cs typeface="Times New Roman" panose="02020603050405020304" pitchFamily="18" charset="0"/>
              </a:rPr>
              <a:t>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línea</a:t>
            </a:r>
            <a:r>
              <a:rPr lang="en-US" sz="1800" dirty="0">
                <a:effectLst/>
                <a:latin typeface="Arial" panose="020B0604020202020204" pitchFamily="34" charset="0"/>
                <a:ea typeface="Calibri" panose="020F0502020204030204" pitchFamily="34" charset="0"/>
                <a:cs typeface="Times New Roman" panose="02020603050405020304" pitchFamily="18" charset="0"/>
              </a:rPr>
              <a:t>]. </a:t>
            </a:r>
            <a:r>
              <a:rPr lang="es-ES" sz="1800" dirty="0">
                <a:effectLst/>
                <a:latin typeface="Arial" panose="020B0604020202020204" pitchFamily="34" charset="0"/>
                <a:ea typeface="Calibri" panose="020F0502020204030204" pitchFamily="34" charset="0"/>
                <a:cs typeface="Times New Roman" panose="02020603050405020304" pitchFamily="18" charset="0"/>
              </a:rPr>
              <a:t>Disponible en: https://www.javatpoint.com/soap-vs-rest-web-services. [Consultado: 26-sep-2019].</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[4] “TESIS - Santiago Martín Hidalgo Ubidia.pdf”.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r>
              <a:rPr lang="es-ES" sz="1800" dirty="0">
                <a:effectLst/>
                <a:latin typeface="Arial" panose="020B0604020202020204" pitchFamily="34" charset="0"/>
                <a:ea typeface="Calibri" panose="020F0502020204030204" pitchFamily="34" charset="0"/>
              </a:rPr>
              <a:t>[5]     L. M. Garriga, “Tesis Doctorado en Ciencias de la Computación”, p. 136.</a:t>
            </a:r>
            <a:endParaRPr lang="es-EC" dirty="0"/>
          </a:p>
          <a:p>
            <a:endParaRPr lang="es-EC" dirty="0"/>
          </a:p>
        </p:txBody>
      </p:sp>
      <p:sp>
        <p:nvSpPr>
          <p:cNvPr id="6" name="Rectángulo 5">
            <a:extLst>
              <a:ext uri="{FF2B5EF4-FFF2-40B4-BE49-F238E27FC236}">
                <a16:creationId xmlns:a16="http://schemas.microsoft.com/office/drawing/2014/main" id="{08F2CBE8-50B4-4F08-95A5-E6739A8A2CE5}"/>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1600" b="1" dirty="0" err="1">
                <a:solidFill>
                  <a:schemeClr val="bg1"/>
                </a:solidFill>
              </a:rPr>
              <a:t>Funcionalidad</a:t>
            </a:r>
            <a:endParaRPr lang="en-US" sz="1100" b="1" dirty="0">
              <a:solidFill>
                <a:schemeClr val="bg1"/>
              </a:solidFill>
            </a:endParaRPr>
          </a:p>
          <a:p>
            <a:pPr>
              <a:lnSpc>
                <a:spcPct val="90000"/>
              </a:lnSpc>
            </a:pPr>
            <a:r>
              <a:rPr lang="en-US" sz="1600" b="1" dirty="0" err="1">
                <a:solidFill>
                  <a:schemeClr val="bg1"/>
                </a:solidFill>
              </a:rPr>
              <a:t>Conclusiones</a:t>
            </a:r>
            <a:r>
              <a:rPr lang="en-US" sz="1500" b="1" dirty="0">
                <a:solidFill>
                  <a:schemeClr val="bg1"/>
                </a:solidFill>
              </a:rPr>
              <a:t> </a:t>
            </a:r>
          </a:p>
          <a:p>
            <a:pPr>
              <a:lnSpc>
                <a:spcPct val="90000"/>
              </a:lnSpc>
            </a:pPr>
            <a:r>
              <a:rPr lang="en-US" sz="2400" b="1" dirty="0" err="1">
                <a:solidFill>
                  <a:srgbClr val="FFFF00"/>
                </a:solidFill>
              </a:rPr>
              <a:t>Bibliografía</a:t>
            </a:r>
            <a:endParaRPr lang="en-US" sz="2400" b="1" dirty="0">
              <a:solidFill>
                <a:srgbClr val="FFFF00"/>
              </a:solidFill>
            </a:endParaRPr>
          </a:p>
        </p:txBody>
      </p:sp>
    </p:spTree>
    <p:extLst>
      <p:ext uri="{BB962C8B-B14F-4D97-AF65-F5344CB8AC3E}">
        <p14:creationId xmlns:p14="http://schemas.microsoft.com/office/powerpoint/2010/main" val="3398596474"/>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TotalTime>
  <Words>3104</Words>
  <Application>Microsoft Office PowerPoint</Application>
  <PresentationFormat>Panorámica</PresentationFormat>
  <Paragraphs>659</Paragraphs>
  <Slides>77</Slides>
  <Notes>8</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77</vt:i4>
      </vt:variant>
    </vt:vector>
  </HeadingPairs>
  <TitlesOfParts>
    <vt:vector size="86" baseType="lpstr">
      <vt:lpstr>MS UI Gothic</vt:lpstr>
      <vt:lpstr>Arial</vt:lpstr>
      <vt:lpstr>Calibri</vt:lpstr>
      <vt:lpstr>Gill Sans MT</vt:lpstr>
      <vt:lpstr>Rockwell</vt:lpstr>
      <vt:lpstr>Verdana</vt:lpstr>
      <vt:lpstr>Wingdings</vt:lpstr>
      <vt:lpstr>Wingdings 2</vt:lpstr>
      <vt:lpstr>Dividendo</vt:lpstr>
      <vt:lpstr>ARQUITECTURA DE SOFTWARE</vt:lpstr>
      <vt:lpstr>AGENDA</vt:lpstr>
      <vt:lpstr>MARCO TEÓRICO</vt:lpstr>
      <vt:lpstr>SERVICIO WEB SOAP</vt:lpstr>
      <vt:lpstr>CARACTERISTICA SOAP</vt:lpstr>
      <vt:lpstr>CARACTERISTICAS SOAP</vt:lpstr>
      <vt:lpstr>Definición de Business Process Management (BPM)</vt:lpstr>
      <vt:lpstr>BENEFICIOS DE BPM</vt:lpstr>
      <vt:lpstr>MASHUP</vt:lpstr>
      <vt:lpstr>Ciclo</vt:lpstr>
      <vt:lpstr>Dimensiones</vt:lpstr>
      <vt:lpstr>La arquitectura tecnológica de BPM </vt:lpstr>
      <vt:lpstr>La arquitectura tecnológica de BPM </vt:lpstr>
      <vt:lpstr>La arquitectura tecnológica de BPM </vt:lpstr>
      <vt:lpstr>La arquitectura tecnológica de BPM </vt:lpstr>
      <vt:lpstr>INSTALACIÓN DE HERRAMIENTAS</vt:lpstr>
      <vt:lpstr>Instalación de herramientas (Power Designer)</vt:lpstr>
      <vt:lpstr>Power Designer</vt:lpstr>
      <vt:lpstr>Power Designer</vt:lpstr>
      <vt:lpstr>Power Designer</vt:lpstr>
      <vt:lpstr>Power Designer</vt:lpstr>
      <vt:lpstr>Power Designer</vt:lpstr>
      <vt:lpstr>Power Designer</vt:lpstr>
      <vt:lpstr>Power Designer</vt:lpstr>
      <vt:lpstr>NetBeans</vt:lpstr>
      <vt:lpstr>NetBeans</vt:lpstr>
      <vt:lpstr>NetBeans</vt:lpstr>
      <vt:lpstr>NetBeans</vt:lpstr>
      <vt:lpstr>NetBeans</vt:lpstr>
      <vt:lpstr>NetBeans</vt:lpstr>
      <vt:lpstr>NetBeans</vt:lpstr>
      <vt:lpstr>NetBeans</vt:lpstr>
      <vt:lpstr>NetBeans</vt:lpstr>
      <vt:lpstr>MYSQL</vt:lpstr>
      <vt:lpstr>MYSQL</vt:lpstr>
      <vt:lpstr>MYSQL</vt:lpstr>
      <vt:lpstr>MYSQL</vt:lpstr>
      <vt:lpstr>MYSQL</vt:lpstr>
      <vt:lpstr>MYSQL</vt:lpstr>
      <vt:lpstr>MYSQL</vt:lpstr>
      <vt:lpstr>MYSQL</vt:lpstr>
      <vt:lpstr>MYSQL</vt:lpstr>
      <vt:lpstr>MYSQL</vt:lpstr>
      <vt:lpstr>MYSQL</vt:lpstr>
      <vt:lpstr>MYSQL</vt:lpstr>
      <vt:lpstr>MYSQL</vt:lpstr>
      <vt:lpstr>DESARROLLO DE LA PRÁCTICA</vt:lpstr>
      <vt:lpstr>DESCRIPCIÓN DEL PROYECTO</vt:lpstr>
      <vt:lpstr>Presentación de PowerPoint</vt:lpstr>
      <vt:lpstr>Presentación de PowerPoint</vt:lpstr>
      <vt:lpstr>DESARROLLO</vt:lpstr>
      <vt:lpstr>Presentación de PowerPoint</vt:lpstr>
      <vt:lpstr>Presentación de PowerPoint</vt:lpstr>
      <vt:lpstr>DESARROLLO</vt:lpstr>
      <vt:lpstr>DESARROLLO</vt:lpstr>
      <vt:lpstr>DESARROLLO</vt:lpstr>
      <vt:lpstr>DESARROLLO</vt:lpstr>
      <vt:lpstr>DESARROLLO</vt:lpstr>
      <vt:lpstr>Implementación BPMN  </vt:lpstr>
      <vt:lpstr>Creación de tarea préstamo</vt:lpstr>
      <vt:lpstr>Vista solicitar préstamo </vt:lpstr>
      <vt:lpstr>Confirmación de préstamo vista</vt:lpstr>
      <vt:lpstr>Aprobar crédito</vt:lpstr>
      <vt:lpstr>Vista confirmación de aprobación de crédito</vt:lpstr>
      <vt:lpstr>Tarea enviada</vt:lpstr>
      <vt:lpstr>Tarea tasas de interés</vt:lpstr>
      <vt:lpstr>Confirmación de crédito</vt:lpstr>
      <vt:lpstr>Funcionalidad</vt:lpstr>
      <vt:lpstr>EJECUCIÓN</vt:lpstr>
      <vt:lpstr>EJECUCIÓN</vt:lpstr>
      <vt:lpstr>EJECUCIÓN</vt:lpstr>
      <vt:lpstr>EJECUCIÓN</vt:lpstr>
      <vt:lpstr>EJECUCIÓN</vt:lpstr>
      <vt:lpstr>Conclusiones</vt:lpstr>
      <vt:lpstr>Conclusiones</vt:lpstr>
      <vt:lpstr>REFERENCIAS BIBLIOGRÁFICAS</vt:lpstr>
      <vt:lpstr>REFERENCIAS BIBLIOGRÁFICAS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DISTRIBUIDAS</dc:title>
  <dc:creator>FERNANDO RODRIGUEZ</dc:creator>
  <cp:lastModifiedBy>MARLYN SALOME ALMEIDA QUIROZ</cp:lastModifiedBy>
  <cp:revision>35</cp:revision>
  <dcterms:created xsi:type="dcterms:W3CDTF">2020-07-09T17:24:27Z</dcterms:created>
  <dcterms:modified xsi:type="dcterms:W3CDTF">2026-01-28T15:20:53Z</dcterms:modified>
</cp:coreProperties>
</file>