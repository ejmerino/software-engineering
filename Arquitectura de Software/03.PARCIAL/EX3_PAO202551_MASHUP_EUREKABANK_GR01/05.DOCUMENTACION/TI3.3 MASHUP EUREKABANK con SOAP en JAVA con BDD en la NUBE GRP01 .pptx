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58"/>
  </p:notesMasterIdLst>
  <p:sldIdLst>
    <p:sldId id="256" r:id="rId2"/>
    <p:sldId id="301" r:id="rId3"/>
    <p:sldId id="258" r:id="rId4"/>
    <p:sldId id="305" r:id="rId5"/>
    <p:sldId id="306" r:id="rId6"/>
    <p:sldId id="399" r:id="rId7"/>
    <p:sldId id="402" r:id="rId8"/>
    <p:sldId id="328" r:id="rId9"/>
    <p:sldId id="335" r:id="rId10"/>
    <p:sldId id="336" r:id="rId11"/>
    <p:sldId id="337" r:id="rId12"/>
    <p:sldId id="338" r:id="rId13"/>
    <p:sldId id="325" r:id="rId14"/>
    <p:sldId id="339" r:id="rId15"/>
    <p:sldId id="327" r:id="rId16"/>
    <p:sldId id="340" r:id="rId17"/>
    <p:sldId id="329" r:id="rId18"/>
    <p:sldId id="341" r:id="rId19"/>
    <p:sldId id="342" r:id="rId20"/>
    <p:sldId id="343" r:id="rId21"/>
    <p:sldId id="344" r:id="rId22"/>
    <p:sldId id="345" r:id="rId23"/>
    <p:sldId id="346" r:id="rId24"/>
    <p:sldId id="347" r:id="rId25"/>
    <p:sldId id="348" r:id="rId26"/>
    <p:sldId id="350" r:id="rId27"/>
    <p:sldId id="351" r:id="rId28"/>
    <p:sldId id="352" r:id="rId29"/>
    <p:sldId id="354" r:id="rId30"/>
    <p:sldId id="355" r:id="rId31"/>
    <p:sldId id="356" r:id="rId32"/>
    <p:sldId id="357" r:id="rId33"/>
    <p:sldId id="358" r:id="rId34"/>
    <p:sldId id="359" r:id="rId35"/>
    <p:sldId id="360" r:id="rId36"/>
    <p:sldId id="361" r:id="rId37"/>
    <p:sldId id="362" r:id="rId38"/>
    <p:sldId id="363" r:id="rId39"/>
    <p:sldId id="349" r:id="rId40"/>
    <p:sldId id="334" r:id="rId41"/>
    <p:sldId id="364" r:id="rId42"/>
    <p:sldId id="365" r:id="rId43"/>
    <p:sldId id="366" r:id="rId44"/>
    <p:sldId id="367" r:id="rId45"/>
    <p:sldId id="368" r:id="rId46"/>
    <p:sldId id="403" r:id="rId47"/>
    <p:sldId id="404" r:id="rId48"/>
    <p:sldId id="317" r:id="rId49"/>
    <p:sldId id="291" r:id="rId50"/>
    <p:sldId id="372" r:id="rId51"/>
    <p:sldId id="383" r:id="rId52"/>
    <p:sldId id="384" r:id="rId53"/>
    <p:sldId id="373" r:id="rId54"/>
    <p:sldId id="374" r:id="rId55"/>
    <p:sldId id="333" r:id="rId56"/>
    <p:sldId id="326"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17" autoAdjust="0"/>
    <p:restoredTop sz="94272" autoAdjust="0"/>
  </p:normalViewPr>
  <p:slideViewPr>
    <p:cSldViewPr snapToGrid="0">
      <p:cViewPr varScale="1">
        <p:scale>
          <a:sx n="81" d="100"/>
          <a:sy n="81" d="100"/>
        </p:scale>
        <p:origin x="5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C8E4AC-800E-4E5A-9514-3A26B66E8976}" type="datetimeFigureOut">
              <a:rPr lang="es-EC" smtClean="0"/>
              <a:t>4/2/2026</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F5C8F-6051-4832-917A-F6DD74C87E7E}" type="slidenum">
              <a:rPr lang="es-EC" smtClean="0"/>
              <a:t>‹Nº›</a:t>
            </a:fld>
            <a:endParaRPr lang="es-EC"/>
          </a:p>
        </p:txBody>
      </p:sp>
    </p:spTree>
    <p:extLst>
      <p:ext uri="{BB962C8B-B14F-4D97-AF65-F5344CB8AC3E}">
        <p14:creationId xmlns:p14="http://schemas.microsoft.com/office/powerpoint/2010/main" val="3727085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3</a:t>
            </a:fld>
            <a:endParaRPr lang="es-ES"/>
          </a:p>
        </p:txBody>
      </p:sp>
    </p:spTree>
    <p:extLst>
      <p:ext uri="{BB962C8B-B14F-4D97-AF65-F5344CB8AC3E}">
        <p14:creationId xmlns:p14="http://schemas.microsoft.com/office/powerpoint/2010/main" val="2663268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BPM combina métodos ya probados y establecidos de gestión de procesos con una nueva clase de herramientas de software empresarial. Ha posibilitado adelantos muy importantes en cuanto a la velocidad y agilidad con que las organizaciones mejoran el rendimiento de negocio. Con BPM: </a:t>
            </a:r>
          </a:p>
          <a:p>
            <a:r>
              <a:rPr lang="es-EC" sz="1200" kern="1200" dirty="0">
                <a:solidFill>
                  <a:schemeClr val="tx1"/>
                </a:solidFill>
                <a:effectLst/>
                <a:latin typeface="+mn-lt"/>
                <a:ea typeface="+mn-ea"/>
                <a:cs typeface="+mn-cs"/>
              </a:rPr>
              <a:t>_ Los directores de negocio pueden, de forma más directa, medir, controlar y responder a todos los aspectos y elementos de sus procesos operacionales.</a:t>
            </a:r>
            <a:br>
              <a:rPr lang="es-EC" sz="1200" kern="1200" dirty="0">
                <a:solidFill>
                  <a:schemeClr val="tx1"/>
                </a:solidFill>
                <a:effectLst/>
                <a:latin typeface="+mn-lt"/>
                <a:ea typeface="+mn-ea"/>
                <a:cs typeface="+mn-cs"/>
              </a:rPr>
            </a:br>
            <a:r>
              <a:rPr lang="es-EC" sz="1200" kern="1200" dirty="0">
                <a:solidFill>
                  <a:schemeClr val="tx1"/>
                </a:solidFill>
                <a:effectLst/>
                <a:latin typeface="+mn-lt"/>
                <a:ea typeface="+mn-ea"/>
                <a:cs typeface="+mn-cs"/>
              </a:rPr>
              <a:t>_ Los directores de tecnologías de la información pueden aplicar sus habilidades y recursos de forma más directa en las operaciones de negocio. </a:t>
            </a:r>
          </a:p>
          <a:p>
            <a:r>
              <a:rPr lang="es-EC" sz="1200" kern="1200" dirty="0">
                <a:solidFill>
                  <a:schemeClr val="tx1"/>
                </a:solidFill>
                <a:effectLst/>
                <a:latin typeface="+mn-lt"/>
                <a:ea typeface="+mn-ea"/>
                <a:cs typeface="+mn-cs"/>
              </a:rPr>
              <a:t>_ La dirección y los empleados de la organización pueden alinear mejor sus esfuerzos y mejorar la productividad y el rendimiento personal.</a:t>
            </a:r>
            <a:br>
              <a:rPr lang="es-EC" sz="1200" kern="1200" dirty="0">
                <a:solidFill>
                  <a:schemeClr val="tx1"/>
                </a:solidFill>
                <a:effectLst/>
                <a:latin typeface="+mn-lt"/>
                <a:ea typeface="+mn-ea"/>
                <a:cs typeface="+mn-cs"/>
              </a:rPr>
            </a:br>
            <a:r>
              <a:rPr lang="es-EC" sz="1200" kern="1200" dirty="0">
                <a:solidFill>
                  <a:schemeClr val="tx1"/>
                </a:solidFill>
                <a:effectLst/>
                <a:latin typeface="+mn-lt"/>
                <a:ea typeface="+mn-ea"/>
                <a:cs typeface="+mn-cs"/>
              </a:rPr>
              <a:t>_ La empresa, como un todo, puede responder de forma más rápida a cambios y desafíos a la hora de cumplir sus fines y objetivos. </a:t>
            </a:r>
          </a:p>
          <a:p>
            <a:endParaRPr lang="es-EC" dirty="0"/>
          </a:p>
        </p:txBody>
      </p:sp>
      <p:sp>
        <p:nvSpPr>
          <p:cNvPr id="4" name="Marcador de número de diapositiva 3"/>
          <p:cNvSpPr>
            <a:spLocks noGrp="1"/>
          </p:cNvSpPr>
          <p:nvPr>
            <p:ph type="sldNum" sz="quarter" idx="5"/>
          </p:nvPr>
        </p:nvSpPr>
        <p:spPr/>
        <p:txBody>
          <a:bodyPr/>
          <a:lstStyle/>
          <a:p>
            <a:fld id="{D37F5C8F-6051-4832-917A-F6DD74C87E7E}" type="slidenum">
              <a:rPr lang="es-EC" smtClean="0"/>
              <a:t>6</a:t>
            </a:fld>
            <a:endParaRPr lang="es-EC"/>
          </a:p>
        </p:txBody>
      </p:sp>
    </p:spTree>
    <p:extLst>
      <p:ext uri="{BB962C8B-B14F-4D97-AF65-F5344CB8AC3E}">
        <p14:creationId xmlns:p14="http://schemas.microsoft.com/office/powerpoint/2010/main" val="337590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8</a:t>
            </a:fld>
            <a:endParaRPr lang="es-ES"/>
          </a:p>
        </p:txBody>
      </p:sp>
    </p:spTree>
    <p:extLst>
      <p:ext uri="{BB962C8B-B14F-4D97-AF65-F5344CB8AC3E}">
        <p14:creationId xmlns:p14="http://schemas.microsoft.com/office/powerpoint/2010/main" val="2703961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39</a:t>
            </a:fld>
            <a:endParaRPr lang="es-ES"/>
          </a:p>
        </p:txBody>
      </p:sp>
    </p:spTree>
    <p:extLst>
      <p:ext uri="{BB962C8B-B14F-4D97-AF65-F5344CB8AC3E}">
        <p14:creationId xmlns:p14="http://schemas.microsoft.com/office/powerpoint/2010/main" val="1350792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50</a:t>
            </a:fld>
            <a:endParaRPr lang="es-ES"/>
          </a:p>
        </p:txBody>
      </p:sp>
    </p:spTree>
    <p:extLst>
      <p:ext uri="{BB962C8B-B14F-4D97-AF65-F5344CB8AC3E}">
        <p14:creationId xmlns:p14="http://schemas.microsoft.com/office/powerpoint/2010/main" val="827430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53</a:t>
            </a:fld>
            <a:endParaRPr lang="es-ES"/>
          </a:p>
        </p:txBody>
      </p:sp>
    </p:spTree>
    <p:extLst>
      <p:ext uri="{BB962C8B-B14F-4D97-AF65-F5344CB8AC3E}">
        <p14:creationId xmlns:p14="http://schemas.microsoft.com/office/powerpoint/2010/main" val="1663563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ECB58500-FC51-4538-819A-391D99492B7A}" type="slidenum">
              <a:rPr lang="es-ES" smtClean="0"/>
              <a:t>55</a:t>
            </a:fld>
            <a:endParaRPr lang="es-ES"/>
          </a:p>
        </p:txBody>
      </p:sp>
    </p:spTree>
    <p:extLst>
      <p:ext uri="{BB962C8B-B14F-4D97-AF65-F5344CB8AC3E}">
        <p14:creationId xmlns:p14="http://schemas.microsoft.com/office/powerpoint/2010/main" val="2760513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2/4/2026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523297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3271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2/4/2026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24182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869452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195371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757342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08608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2/4/2026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062019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55315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34814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2/4/2026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635006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2/4/2026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Tree>
    <p:extLst>
      <p:ext uri="{BB962C8B-B14F-4D97-AF65-F5344CB8AC3E}">
        <p14:creationId xmlns:p14="http://schemas.microsoft.com/office/powerpoint/2010/main" val="34774352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6B0BF5-C717-4C6D-BE72-28539E5423DA}"/>
              </a:ext>
            </a:extLst>
          </p:cNvPr>
          <p:cNvSpPr>
            <a:spLocks noGrp="1"/>
          </p:cNvSpPr>
          <p:nvPr>
            <p:ph type="ctrTitle"/>
          </p:nvPr>
        </p:nvSpPr>
        <p:spPr/>
        <p:txBody>
          <a:bodyPr/>
          <a:lstStyle/>
          <a:p>
            <a:r>
              <a:rPr lang="es-EC" dirty="0"/>
              <a:t>ARQUITECTURA DE SOFTWARE</a:t>
            </a:r>
          </a:p>
        </p:txBody>
      </p:sp>
      <p:sp>
        <p:nvSpPr>
          <p:cNvPr id="3" name="Subtítulo 2">
            <a:extLst>
              <a:ext uri="{FF2B5EF4-FFF2-40B4-BE49-F238E27FC236}">
                <a16:creationId xmlns:a16="http://schemas.microsoft.com/office/drawing/2014/main" id="{EB7EEBFB-897A-4372-B748-F7109C0F10BA}"/>
              </a:ext>
            </a:extLst>
          </p:cNvPr>
          <p:cNvSpPr>
            <a:spLocks noGrp="1"/>
          </p:cNvSpPr>
          <p:nvPr>
            <p:ph type="subTitle" idx="1"/>
          </p:nvPr>
        </p:nvSpPr>
        <p:spPr/>
        <p:txBody>
          <a:bodyPr>
            <a:normAutofit/>
          </a:bodyPr>
          <a:lstStyle/>
          <a:p>
            <a:r>
              <a:rPr lang="es-EC" sz="2000" b="1" dirty="0"/>
              <a:t>bpm SOAP CON JAVA</a:t>
            </a:r>
          </a:p>
        </p:txBody>
      </p:sp>
      <p:sp>
        <p:nvSpPr>
          <p:cNvPr id="8" name="Subtítulo 2">
            <a:extLst>
              <a:ext uri="{FF2B5EF4-FFF2-40B4-BE49-F238E27FC236}">
                <a16:creationId xmlns:a16="http://schemas.microsoft.com/office/drawing/2014/main" id="{35225507-49CA-4762-9A53-34495C1CAC94}"/>
              </a:ext>
            </a:extLst>
          </p:cNvPr>
          <p:cNvSpPr txBox="1">
            <a:spLocks/>
          </p:cNvSpPr>
          <p:nvPr/>
        </p:nvSpPr>
        <p:spPr>
          <a:xfrm>
            <a:off x="1824478" y="5617541"/>
            <a:ext cx="5888287" cy="59032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MX" sz="1800" dirty="0">
                <a:solidFill>
                  <a:schemeClr val="bg1"/>
                </a:solidFill>
              </a:rPr>
              <a:t>I</a:t>
            </a:r>
            <a:r>
              <a:rPr lang="es-EC" sz="1800" dirty="0">
                <a:solidFill>
                  <a:schemeClr val="bg1"/>
                </a:solidFill>
              </a:rPr>
              <a:t>NG. EDUARDO MAURICIO CAMPAÑA ORTEGA</a:t>
            </a:r>
          </a:p>
          <a:p>
            <a:endParaRPr lang="es-EC" sz="1800" dirty="0">
              <a:solidFill>
                <a:schemeClr val="bg1"/>
              </a:solidFill>
            </a:endParaRPr>
          </a:p>
        </p:txBody>
      </p:sp>
      <p:sp>
        <p:nvSpPr>
          <p:cNvPr id="9" name="Subtítulo 2">
            <a:extLst>
              <a:ext uri="{FF2B5EF4-FFF2-40B4-BE49-F238E27FC236}">
                <a16:creationId xmlns:a16="http://schemas.microsoft.com/office/drawing/2014/main" id="{1F1A67C5-901C-4E3E-99CC-3031CABE9724}"/>
              </a:ext>
            </a:extLst>
          </p:cNvPr>
          <p:cNvSpPr txBox="1">
            <a:spLocks/>
          </p:cNvSpPr>
          <p:nvPr/>
        </p:nvSpPr>
        <p:spPr>
          <a:xfrm>
            <a:off x="599227" y="5627480"/>
            <a:ext cx="10993546" cy="590321"/>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EC" sz="2000" dirty="0">
                <a:solidFill>
                  <a:schemeClr val="bg1"/>
                </a:solidFill>
              </a:rPr>
              <a:t>TUTOR</a:t>
            </a:r>
            <a:r>
              <a:rPr lang="es-EC" dirty="0">
                <a:solidFill>
                  <a:schemeClr val="bg1"/>
                </a:solidFill>
              </a:rPr>
              <a:t>:</a:t>
            </a:r>
          </a:p>
        </p:txBody>
      </p:sp>
      <p:pic>
        <p:nvPicPr>
          <p:cNvPr id="4" name="Picture 2" descr="Resultado de imagen para espe">
            <a:extLst>
              <a:ext uri="{FF2B5EF4-FFF2-40B4-BE49-F238E27FC236}">
                <a16:creationId xmlns:a16="http://schemas.microsoft.com/office/drawing/2014/main" id="{A085E7F5-D97F-409D-913F-278A9DA93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939" y="629123"/>
            <a:ext cx="6469823" cy="1218657"/>
          </a:xfrm>
          <a:prstGeom prst="rect">
            <a:avLst/>
          </a:prstGeom>
          <a:noFill/>
          <a:extLst>
            <a:ext uri="{909E8E84-426E-40DD-AFC4-6F175D3DCCD1}">
              <a14:hiddenFill xmlns:a14="http://schemas.microsoft.com/office/drawing/2010/main">
                <a:solidFill>
                  <a:srgbClr val="FFFFFF"/>
                </a:solidFill>
              </a14:hiddenFill>
            </a:ext>
          </a:extLst>
        </p:spPr>
      </p:pic>
      <p:sp>
        <p:nvSpPr>
          <p:cNvPr id="7" name="Subtítulo 2">
            <a:extLst>
              <a:ext uri="{FF2B5EF4-FFF2-40B4-BE49-F238E27FC236}">
                <a16:creationId xmlns:a16="http://schemas.microsoft.com/office/drawing/2014/main" id="{F78B9B89-9D2E-4EAB-8526-3BFFD2910A51}"/>
              </a:ext>
            </a:extLst>
          </p:cNvPr>
          <p:cNvSpPr txBox="1">
            <a:spLocks/>
          </p:cNvSpPr>
          <p:nvPr/>
        </p:nvSpPr>
        <p:spPr>
          <a:xfrm>
            <a:off x="3151856" y="2962699"/>
            <a:ext cx="5888287" cy="1619072"/>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15000"/>
              </a:lnSpc>
              <a:spcAft>
                <a:spcPts val="1000"/>
              </a:spcAft>
            </a:pPr>
            <a:endParaRPr lang="es-ES" dirty="0">
              <a:solidFill>
                <a:schemeClr val="bg1"/>
              </a:solidFill>
              <a:ea typeface="MS UI Gothic" panose="020B0600070205080204" pitchFamily="34" charset="-128"/>
              <a:cs typeface="Times New Roman" panose="02020603050405020304" pitchFamily="18" charset="0"/>
            </a:endParaRPr>
          </a:p>
          <a:p>
            <a:pPr algn="ctr">
              <a:lnSpc>
                <a:spcPct val="115000"/>
              </a:lnSpc>
              <a:spcAft>
                <a:spcPts val="1000"/>
              </a:spcAft>
            </a:pPr>
            <a:r>
              <a:rPr lang="es-ES" dirty="0">
                <a:solidFill>
                  <a:schemeClr val="bg1"/>
                </a:solidFill>
                <a:ea typeface="MS UI Gothic" panose="020B0600070205080204" pitchFamily="34" charset="-128"/>
                <a:cs typeface="Times New Roman" panose="02020603050405020304" pitchFamily="18" charset="0"/>
              </a:rPr>
              <a:t>Autores:</a:t>
            </a:r>
          </a:p>
          <a:p>
            <a:pPr algn="ctr"/>
            <a:r>
              <a:rPr lang="es-ES" dirty="0">
                <a:solidFill>
                  <a:schemeClr val="bg1"/>
                </a:solidFill>
              </a:rPr>
              <a:t>Almeida Marlyn </a:t>
            </a:r>
            <a:endParaRPr lang="es-MX" dirty="0">
              <a:solidFill>
                <a:schemeClr val="bg1"/>
              </a:solidFill>
            </a:endParaRPr>
          </a:p>
          <a:p>
            <a:pPr algn="ctr"/>
            <a:r>
              <a:rPr lang="es-ES" dirty="0">
                <a:solidFill>
                  <a:schemeClr val="bg1"/>
                </a:solidFill>
              </a:rPr>
              <a:t>Merino </a:t>
            </a:r>
            <a:r>
              <a:rPr lang="es-ES" dirty="0" err="1">
                <a:solidFill>
                  <a:schemeClr val="bg1"/>
                </a:solidFill>
              </a:rPr>
              <a:t>Josue</a:t>
            </a:r>
            <a:endParaRPr lang="es-MX" dirty="0">
              <a:solidFill>
                <a:schemeClr val="bg1"/>
              </a:solidFill>
            </a:endParaRPr>
          </a:p>
          <a:p>
            <a:pPr algn="ctr"/>
            <a:r>
              <a:rPr lang="es-ES" dirty="0" err="1">
                <a:solidFill>
                  <a:schemeClr val="bg1"/>
                </a:solidFill>
              </a:rPr>
              <a:t>Paez</a:t>
            </a:r>
            <a:r>
              <a:rPr lang="es-ES" dirty="0">
                <a:solidFill>
                  <a:schemeClr val="bg1"/>
                </a:solidFill>
              </a:rPr>
              <a:t> Diego</a:t>
            </a:r>
            <a:endParaRPr lang="es-MX" dirty="0">
              <a:solidFill>
                <a:schemeClr val="bg1"/>
              </a:solidFill>
            </a:endParaRPr>
          </a:p>
        </p:txBody>
      </p:sp>
    </p:spTree>
    <p:extLst>
      <p:ext uri="{BB962C8B-B14F-4D97-AF65-F5344CB8AC3E}">
        <p14:creationId xmlns:p14="http://schemas.microsoft.com/office/powerpoint/2010/main" val="3178769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8E96387-12F1-45E4-9322-ABBF2EE04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73" name="Rectangle 72">
            <a:extLst>
              <a:ext uri="{FF2B5EF4-FFF2-40B4-BE49-F238E27FC236}">
                <a16:creationId xmlns:a16="http://schemas.microsoft.com/office/drawing/2014/main" id="{A9F421DD-DE4E-4547-A904-3F80E25E3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75" name="Rectangle 74">
            <a:extLst>
              <a:ext uri="{FF2B5EF4-FFF2-40B4-BE49-F238E27FC236}">
                <a16:creationId xmlns:a16="http://schemas.microsoft.com/office/drawing/2014/main" id="{09985DEC-1215-4209-9708-B45CC9774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77" name="Rectangle 76">
            <a:extLst>
              <a:ext uri="{FF2B5EF4-FFF2-40B4-BE49-F238E27FC236}">
                <a16:creationId xmlns:a16="http://schemas.microsoft.com/office/drawing/2014/main" id="{A926A64B-3BCB-44CC-892E-C791C324B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useBgFill="1">
        <p:nvSpPr>
          <p:cNvPr id="79" name="Rectangle 78">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ítulo 1">
            <a:extLst>
              <a:ext uri="{FF2B5EF4-FFF2-40B4-BE49-F238E27FC236}">
                <a16:creationId xmlns:a16="http://schemas.microsoft.com/office/drawing/2014/main" id="{45D42A1D-10AF-477D-BFF5-4E8843EC8BCB}"/>
              </a:ext>
            </a:extLst>
          </p:cNvPr>
          <p:cNvSpPr>
            <a:spLocks noGrp="1"/>
          </p:cNvSpPr>
          <p:nvPr>
            <p:ph type="title"/>
          </p:nvPr>
        </p:nvSpPr>
        <p:spPr>
          <a:xfrm>
            <a:off x="601255" y="702156"/>
            <a:ext cx="3409783" cy="1013800"/>
          </a:xfrm>
        </p:spPr>
        <p:txBody>
          <a:bodyPr vert="horz" lIns="91440" tIns="45720" rIns="91440" bIns="45720" rtlCol="0" anchor="b">
            <a:normAutofit/>
          </a:bodyPr>
          <a:lstStyle/>
          <a:p>
            <a:r>
              <a:rPr lang="en-US"/>
              <a:t>AGENDA</a:t>
            </a:r>
          </a:p>
        </p:txBody>
      </p:sp>
      <p:sp>
        <p:nvSpPr>
          <p:cNvPr id="3" name="Marcador de contenido 2">
            <a:extLst>
              <a:ext uri="{FF2B5EF4-FFF2-40B4-BE49-F238E27FC236}">
                <a16:creationId xmlns:a16="http://schemas.microsoft.com/office/drawing/2014/main" id="{DB510464-1CDF-401B-A8F3-6ED57E943404}"/>
              </a:ext>
            </a:extLst>
          </p:cNvPr>
          <p:cNvSpPr>
            <a:spLocks noGrp="1"/>
          </p:cNvSpPr>
          <p:nvPr>
            <p:ph sz="half" idx="1"/>
          </p:nvPr>
        </p:nvSpPr>
        <p:spPr>
          <a:xfrm>
            <a:off x="601255" y="1964168"/>
            <a:ext cx="3409782" cy="4036582"/>
          </a:xfrm>
        </p:spPr>
        <p:txBody>
          <a:bodyPr vert="horz" lIns="91440" tIns="45720" rIns="91440" bIns="45720" rtlCol="0" anchor="ctr">
            <a:normAutofit/>
          </a:bodyPr>
          <a:lstStyle/>
          <a:p>
            <a:pPr>
              <a:lnSpc>
                <a:spcPct val="90000"/>
              </a:lnSpc>
            </a:pPr>
            <a:r>
              <a:rPr lang="en-US" sz="1500" b="1" dirty="0">
                <a:solidFill>
                  <a:schemeClr val="bg1"/>
                </a:solidFill>
              </a:rPr>
              <a:t>Marco </a:t>
            </a:r>
            <a:r>
              <a:rPr lang="en-US" sz="1500" b="1" dirty="0" err="1">
                <a:solidFill>
                  <a:schemeClr val="bg1"/>
                </a:solidFill>
              </a:rPr>
              <a:t>Teórico</a:t>
            </a:r>
            <a:endParaRPr lang="en-US" sz="1500" b="1" dirty="0">
              <a:solidFill>
                <a:schemeClr val="bg1"/>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a:p>
            <a:pPr>
              <a:lnSpc>
                <a:spcPct val="90000"/>
              </a:lnSpc>
            </a:pPr>
            <a:endParaRPr lang="en-US" sz="1500" b="1" dirty="0">
              <a:solidFill>
                <a:schemeClr val="bg1"/>
              </a:solidFill>
            </a:endParaRPr>
          </a:p>
        </p:txBody>
      </p:sp>
      <p:pic>
        <p:nvPicPr>
          <p:cNvPr id="1026" name="Picture 2" descr="Resultado de imagen para agenda png">
            <a:extLst>
              <a:ext uri="{FF2B5EF4-FFF2-40B4-BE49-F238E27FC236}">
                <a16:creationId xmlns:a16="http://schemas.microsoft.com/office/drawing/2014/main" id="{B40ACCFA-74BA-43E9-B918-7A45C8EFB1C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200327"/>
            <a:ext cx="6489819" cy="447797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7353E213-2E29-5132-AEFE-321DA7C655ED}"/>
              </a:ext>
            </a:extLst>
          </p:cNvPr>
          <p:cNvPicPr>
            <a:picLocks noChangeAspect="1"/>
          </p:cNvPicPr>
          <p:nvPr/>
        </p:nvPicPr>
        <p:blipFill>
          <a:blip r:embed="rId3"/>
          <a:srcRect l="6332"/>
          <a:stretch>
            <a:fillRect/>
          </a:stretch>
        </p:blipFill>
        <p:spPr>
          <a:xfrm>
            <a:off x="6679515" y="1964168"/>
            <a:ext cx="2531269" cy="3147236"/>
          </a:xfrm>
          <a:prstGeom prst="rect">
            <a:avLst/>
          </a:prstGeom>
        </p:spPr>
      </p:pic>
    </p:spTree>
    <p:extLst>
      <p:ext uri="{BB962C8B-B14F-4D97-AF65-F5344CB8AC3E}">
        <p14:creationId xmlns:p14="http://schemas.microsoft.com/office/powerpoint/2010/main" val="1070294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30704934-9DAD-3AC9-E9E3-308027B26421}"/>
              </a:ext>
            </a:extLst>
          </p:cNvPr>
          <p:cNvPicPr>
            <a:picLocks noChangeAspect="1"/>
          </p:cNvPicPr>
          <p:nvPr/>
        </p:nvPicPr>
        <p:blipFill>
          <a:blip r:embed="rId3"/>
          <a:stretch>
            <a:fillRect/>
          </a:stretch>
        </p:blipFill>
        <p:spPr>
          <a:xfrm>
            <a:off x="369455" y="55099"/>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345642" y="1209644"/>
            <a:ext cx="5785860" cy="1082693"/>
          </a:xfrm>
        </p:spPr>
        <p:txBody>
          <a:bodyPr rtlCol="0">
            <a:normAutofit fontScale="90000"/>
          </a:bodyPr>
          <a:lstStyle/>
          <a:p>
            <a:pPr algn="ctr" rtl="0"/>
            <a:r>
              <a:rPr lang="es-ES" sz="6600" dirty="0">
                <a:solidFill>
                  <a:srgbClr val="002060"/>
                </a:solidFill>
                <a:latin typeface="Rockwell" panose="02060603020205020403" pitchFamily="18" charset="0"/>
              </a:rPr>
              <a:t>MARCO TEÓRICO</a:t>
            </a:r>
          </a:p>
        </p:txBody>
      </p:sp>
      <p:sp>
        <p:nvSpPr>
          <p:cNvPr id="8" name="Marcador de contenido 7">
            <a:extLst>
              <a:ext uri="{FF2B5EF4-FFF2-40B4-BE49-F238E27FC236}">
                <a16:creationId xmlns:a16="http://schemas.microsoft.com/office/drawing/2014/main" id="{9E2EFCFF-17FC-A578-5E31-DB77D8783D7A}"/>
              </a:ext>
            </a:extLst>
          </p:cNvPr>
          <p:cNvSpPr>
            <a:spLocks noGrp="1"/>
          </p:cNvSpPr>
          <p:nvPr>
            <p:ph idx="1"/>
          </p:nvPr>
        </p:nvSpPr>
        <p:spPr/>
        <p:txBody>
          <a:bodyPr/>
          <a:lstStyle/>
          <a:p>
            <a:endParaRPr lang="es-MX" dirty="0"/>
          </a:p>
        </p:txBody>
      </p:sp>
    </p:spTree>
    <p:extLst>
      <p:ext uri="{BB962C8B-B14F-4D97-AF65-F5344CB8AC3E}">
        <p14:creationId xmlns:p14="http://schemas.microsoft.com/office/powerpoint/2010/main" val="217217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11">
            <a:extLst>
              <a:ext uri="{FF2B5EF4-FFF2-40B4-BE49-F238E27FC236}">
                <a16:creationId xmlns:a16="http://schemas.microsoft.com/office/drawing/2014/main" id="{48E96387-12F1-45E4-9322-ABBF2EE04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1" name="Rectangle 13">
            <a:extLst>
              <a:ext uri="{FF2B5EF4-FFF2-40B4-BE49-F238E27FC236}">
                <a16:creationId xmlns:a16="http://schemas.microsoft.com/office/drawing/2014/main" id="{A9F421DD-DE4E-4547-A904-3F80E25E3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2" name="Rectangle 15">
            <a:extLst>
              <a:ext uri="{FF2B5EF4-FFF2-40B4-BE49-F238E27FC236}">
                <a16:creationId xmlns:a16="http://schemas.microsoft.com/office/drawing/2014/main" id="{09985DEC-1215-4209-9708-B45CC9774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33" name="Rectangle 17">
            <a:extLst>
              <a:ext uri="{FF2B5EF4-FFF2-40B4-BE49-F238E27FC236}">
                <a16:creationId xmlns:a16="http://schemas.microsoft.com/office/drawing/2014/main" id="{A926A64B-3BCB-44CC-892E-C791C324B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MX"/>
          </a:p>
        </p:txBody>
      </p:sp>
      <p:sp>
        <p:nvSpPr>
          <p:cNvPr id="2" name="Título 1">
            <a:extLst>
              <a:ext uri="{FF2B5EF4-FFF2-40B4-BE49-F238E27FC236}">
                <a16:creationId xmlns:a16="http://schemas.microsoft.com/office/drawing/2014/main" id="{FF95E2A3-04F9-485B-8AF3-419BBB1825C1}"/>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s-EC" b="1" i="1" dirty="0"/>
              <a:t>REST (</a:t>
            </a:r>
            <a:r>
              <a:rPr lang="es-EC" b="1" i="1" dirty="0" err="1"/>
              <a:t>Representational</a:t>
            </a:r>
            <a:r>
              <a:rPr lang="es-EC" b="1" i="1" dirty="0"/>
              <a:t> </a:t>
            </a:r>
            <a:r>
              <a:rPr lang="es-EC" b="1" i="1" dirty="0" err="1"/>
              <a:t>State</a:t>
            </a:r>
            <a:r>
              <a:rPr lang="es-EC" b="1" i="1" dirty="0"/>
              <a:t> Transfer)</a:t>
            </a:r>
            <a:endParaRPr lang="es-US" b="1" i="1" dirty="0"/>
          </a:p>
        </p:txBody>
      </p:sp>
      <p:sp>
        <p:nvSpPr>
          <p:cNvPr id="34" name="Rectangle 19">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contenido 3">
            <a:extLst>
              <a:ext uri="{FF2B5EF4-FFF2-40B4-BE49-F238E27FC236}">
                <a16:creationId xmlns:a16="http://schemas.microsoft.com/office/drawing/2014/main" id="{35888B61-7280-45F0-B421-503EBFC316A8}"/>
              </a:ext>
            </a:extLst>
          </p:cNvPr>
          <p:cNvSpPr>
            <a:spLocks noGrp="1"/>
          </p:cNvSpPr>
          <p:nvPr>
            <p:ph sz="half" idx="1"/>
          </p:nvPr>
        </p:nvSpPr>
        <p:spPr>
          <a:xfrm>
            <a:off x="5956519" y="2153987"/>
            <a:ext cx="3344414" cy="4063355"/>
          </a:xfrm>
        </p:spPr>
        <p:txBody>
          <a:bodyPr vert="horz" lIns="91440" tIns="45720" rIns="91440" bIns="45720" rtlCol="0" anchor="ctr">
            <a:normAutofit/>
          </a:bodyPr>
          <a:lstStyle/>
          <a:p>
            <a:pPr algn="just"/>
            <a:r>
              <a:rPr lang="es-EC" dirty="0"/>
              <a:t>REST es un estilo arquitectónico utilizado para el desarrollo de servicios web que permite la comunicación entre sistemas mediante el protocolo HTTP.</a:t>
            </a:r>
            <a:endParaRPr lang="en-US" sz="1800" dirty="0"/>
          </a:p>
        </p:txBody>
      </p:sp>
      <p:sp>
        <p:nvSpPr>
          <p:cNvPr id="8" name="Rectángulo 7">
            <a:extLst>
              <a:ext uri="{FF2B5EF4-FFF2-40B4-BE49-F238E27FC236}">
                <a16:creationId xmlns:a16="http://schemas.microsoft.com/office/drawing/2014/main" id="{7A9BD3E7-0B1C-4A51-8C7C-7B4D20D0EE04}"/>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1026" name="Picture 2" descr="REST API Model or Representational State Transfer paradigm from client ...">
            <a:extLst>
              <a:ext uri="{FF2B5EF4-FFF2-40B4-BE49-F238E27FC236}">
                <a16:creationId xmlns:a16="http://schemas.microsoft.com/office/drawing/2014/main" id="{204AAE57-DD30-E06F-157B-300BF2F69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553" y="3055929"/>
            <a:ext cx="3631223" cy="2420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714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es-US" dirty="0"/>
              <a:t>Arquitectura Orientada a Servicios (SOA</a:t>
            </a:r>
            <a:endParaRPr lang="es-EC" dirty="0"/>
          </a:p>
        </p:txBody>
      </p:sp>
      <p:sp>
        <p:nvSpPr>
          <p:cNvPr id="3" name="Marcador de contenido 2">
            <a:extLst>
              <a:ext uri="{FF2B5EF4-FFF2-40B4-BE49-F238E27FC236}">
                <a16:creationId xmlns:a16="http://schemas.microsoft.com/office/drawing/2014/main" id="{819CCC4C-91D2-4F28-A939-BE0C6AD95E99}"/>
              </a:ext>
            </a:extLst>
          </p:cNvPr>
          <p:cNvSpPr>
            <a:spLocks noGrp="1"/>
          </p:cNvSpPr>
          <p:nvPr>
            <p:ph sz="half" idx="1"/>
          </p:nvPr>
        </p:nvSpPr>
        <p:spPr>
          <a:xfrm>
            <a:off x="581193" y="2228004"/>
            <a:ext cx="8417033" cy="1681388"/>
          </a:xfrm>
        </p:spPr>
        <p:txBody>
          <a:bodyPr>
            <a:normAutofit/>
          </a:bodyPr>
          <a:lstStyle/>
          <a:p>
            <a:pPr lvl="0"/>
            <a:r>
              <a:rPr lang="es-US" dirty="0"/>
              <a:t>La Arquitectura Orientada a Servicios (SOA) es un enfoque arquitectónico que organiza las funcionalidades del sistema en servicios independientes y reutilizables. En este proyecto, SOA permite separar claramente la lógica de negocio de la capa de presentación, facilitando la gestión de transacciones bancarias y el control de concurrencia</a:t>
            </a:r>
            <a:endParaRPr lang="es-ES" sz="1800" dirty="0"/>
          </a:p>
        </p:txBody>
      </p:sp>
      <p:sp>
        <p:nvSpPr>
          <p:cNvPr id="7" name="Rectángulo 6">
            <a:extLst>
              <a:ext uri="{FF2B5EF4-FFF2-40B4-BE49-F238E27FC236}">
                <a16:creationId xmlns:a16="http://schemas.microsoft.com/office/drawing/2014/main" id="{D7999F0A-10C0-42A4-B471-0093C85A37E6}"/>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2050" name="Picture 2" descr="SOA ( Arquitectura Orientada a Servicios) by Jimmy Garcia on Prezi">
            <a:extLst>
              <a:ext uri="{FF2B5EF4-FFF2-40B4-BE49-F238E27FC236}">
                <a16:creationId xmlns:a16="http://schemas.microsoft.com/office/drawing/2014/main" id="{E67BE29E-584D-2028-19B2-41EDF84437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614" y="3820367"/>
            <a:ext cx="5057043" cy="2846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2387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sv-SE" dirty="0"/>
              <a:t>MASHUP</a:t>
            </a:r>
            <a:endParaRPr lang="es-EC" dirty="0"/>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2050" name="Picture 2" descr="Business Process Management (BPM) | InovaPrime">
            <a:extLst>
              <a:ext uri="{FF2B5EF4-FFF2-40B4-BE49-F238E27FC236}">
                <a16:creationId xmlns:a16="http://schemas.microsoft.com/office/drawing/2014/main" id="{A7406E6C-806F-904A-BB73-A5276407D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284" y="1964850"/>
            <a:ext cx="4527323" cy="460297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C1A0E83-87A6-3545-99A6-CF76AB781F8F}"/>
              </a:ext>
            </a:extLst>
          </p:cNvPr>
          <p:cNvSpPr/>
          <p:nvPr/>
        </p:nvSpPr>
        <p:spPr>
          <a:xfrm>
            <a:off x="5742709" y="2420167"/>
            <a:ext cx="3374571" cy="3893438"/>
          </a:xfrm>
          <a:prstGeom prst="rect">
            <a:avLst/>
          </a:prstGeom>
        </p:spPr>
        <p:txBody>
          <a:bodyPr wrap="square">
            <a:spAutoFit/>
          </a:bodyPr>
          <a:lstStyle/>
          <a:p>
            <a:pPr>
              <a:lnSpc>
                <a:spcPct val="115000"/>
              </a:lnSpc>
              <a:spcAft>
                <a:spcPts val="1000"/>
              </a:spcAft>
            </a:pPr>
            <a:r>
              <a:rPr lang="es-EC" dirty="0">
                <a:latin typeface="Verdana" panose="020B0604030504040204" pitchFamily="34" charset="0"/>
                <a:ea typeface="Times New Roman" panose="02020603050405020304" pitchFamily="18" charset="0"/>
                <a:cs typeface="Times New Roman" panose="02020603050405020304" pitchFamily="18" charset="0"/>
              </a:rPr>
              <a:t>BPM combina métodos ya probados y establecidos de gestión de procesos con una nueva clase de herramientas de software empresarial. Ha posibilitado adelantos muy importantes en cuanto a la velocidad y agilidad con que las organizaciones mejoran el rendimiento de negocio. Con BPM: </a:t>
            </a:r>
            <a:endParaRPr lang="es-EC"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651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C37AF-95CE-4D78-933C-BD15CAE00337}"/>
              </a:ext>
            </a:extLst>
          </p:cNvPr>
          <p:cNvSpPr>
            <a:spLocks noGrp="1"/>
          </p:cNvSpPr>
          <p:nvPr>
            <p:ph type="title"/>
          </p:nvPr>
        </p:nvSpPr>
        <p:spPr/>
        <p:txBody>
          <a:bodyPr/>
          <a:lstStyle/>
          <a:p>
            <a:r>
              <a:rPr lang="sv-SE" dirty="0" err="1"/>
              <a:t>Dimensiones</a:t>
            </a:r>
            <a:endParaRPr lang="es-EC" dirty="0"/>
          </a:p>
        </p:txBody>
      </p:sp>
      <p:sp>
        <p:nvSpPr>
          <p:cNvPr id="5" name="Rectángulo 4">
            <a:extLst>
              <a:ext uri="{FF2B5EF4-FFF2-40B4-BE49-F238E27FC236}">
                <a16:creationId xmlns:a16="http://schemas.microsoft.com/office/drawing/2014/main" id="{546F1665-EA2C-4DCF-8999-C5195C5F7C03}"/>
              </a:ext>
            </a:extLst>
          </p:cNvPr>
          <p:cNvSpPr/>
          <p:nvPr/>
        </p:nvSpPr>
        <p:spPr>
          <a:xfrm>
            <a:off x="9532354" y="1865915"/>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2400" b="1" dirty="0">
                <a:solidFill>
                  <a:srgbClr val="FFFF00"/>
                </a:solidFill>
              </a:rPr>
              <a:t>Marco </a:t>
            </a:r>
            <a:r>
              <a:rPr lang="en-US" sz="2400" b="1" dirty="0" err="1">
                <a:solidFill>
                  <a:srgbClr val="FFFF00"/>
                </a:solidFill>
              </a:rPr>
              <a:t>Teórico</a:t>
            </a:r>
            <a:endParaRPr lang="en-US" sz="2400" b="1" dirty="0">
              <a:solidFill>
                <a:srgbClr val="FFFF00"/>
              </a:solidFill>
            </a:endParaRPr>
          </a:p>
          <a:p>
            <a:pPr>
              <a:lnSpc>
                <a:spcPct val="90000"/>
              </a:lnSpc>
            </a:pPr>
            <a:r>
              <a:rPr lang="en-US" sz="1500" b="1" dirty="0" err="1">
                <a:solidFill>
                  <a:schemeClr val="bg1"/>
                </a:solidFill>
              </a:rPr>
              <a:t>Instalación</a:t>
            </a:r>
            <a:r>
              <a:rPr lang="en-US" sz="1500" b="1" dirty="0">
                <a:solidFill>
                  <a:schemeClr val="bg1"/>
                </a:solidFill>
              </a:rPr>
              <a:t> de </a:t>
            </a:r>
            <a:r>
              <a:rPr lang="en-US" sz="1500" b="1" dirty="0" err="1">
                <a:solidFill>
                  <a:schemeClr val="bg1"/>
                </a:solidFill>
              </a:rPr>
              <a:t>herramientas</a:t>
            </a:r>
            <a:endParaRPr lang="en-US" sz="1500" b="1" dirty="0">
              <a:solidFill>
                <a:schemeClr val="bg1"/>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7" name="Marcador de contenido 6">
            <a:extLst>
              <a:ext uri="{FF2B5EF4-FFF2-40B4-BE49-F238E27FC236}">
                <a16:creationId xmlns:a16="http://schemas.microsoft.com/office/drawing/2014/main" id="{89A119D3-EFC5-6A40-8F39-1E635F6BD1DF}"/>
              </a:ext>
            </a:extLst>
          </p:cNvPr>
          <p:cNvSpPr>
            <a:spLocks noGrp="1"/>
          </p:cNvSpPr>
          <p:nvPr>
            <p:ph sz="half" idx="1"/>
          </p:nvPr>
        </p:nvSpPr>
        <p:spPr/>
        <p:txBody>
          <a:bodyPr/>
          <a:lstStyle/>
          <a:p>
            <a:pPr marL="0" indent="0">
              <a:buNone/>
            </a:pPr>
            <a:endParaRPr lang="es-EC" dirty="0"/>
          </a:p>
        </p:txBody>
      </p:sp>
      <p:pic>
        <p:nvPicPr>
          <p:cNvPr id="6" name="Imagen 5">
            <a:extLst>
              <a:ext uri="{FF2B5EF4-FFF2-40B4-BE49-F238E27FC236}">
                <a16:creationId xmlns:a16="http://schemas.microsoft.com/office/drawing/2014/main" id="{45A33617-E958-AE46-86DB-F6E4FB5C2760}"/>
              </a:ext>
            </a:extLst>
          </p:cNvPr>
          <p:cNvPicPr>
            <a:picLocks noChangeAspect="1"/>
          </p:cNvPicPr>
          <p:nvPr/>
        </p:nvPicPr>
        <p:blipFill>
          <a:blip r:embed="rId2"/>
          <a:stretch>
            <a:fillRect/>
          </a:stretch>
        </p:blipFill>
        <p:spPr>
          <a:xfrm>
            <a:off x="446532" y="1865915"/>
            <a:ext cx="9085822" cy="4845004"/>
          </a:xfrm>
          <a:prstGeom prst="rect">
            <a:avLst/>
          </a:prstGeom>
        </p:spPr>
      </p:pic>
    </p:spTree>
    <p:extLst>
      <p:ext uri="{BB962C8B-B14F-4D97-AF65-F5344CB8AC3E}">
        <p14:creationId xmlns:p14="http://schemas.microsoft.com/office/powerpoint/2010/main" val="1006666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0DE5E330-D662-0961-9406-71D306A286C5}"/>
              </a:ext>
            </a:extLst>
          </p:cNvPr>
          <p:cNvPicPr>
            <a:picLocks noChangeAspect="1"/>
          </p:cNvPicPr>
          <p:nvPr/>
        </p:nvPicPr>
        <p:blipFill>
          <a:blip r:embed="rId3"/>
          <a:stretch>
            <a:fillRect/>
          </a:stretch>
        </p:blipFill>
        <p:spPr>
          <a:xfrm>
            <a:off x="227013" y="0"/>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633413" y="1403608"/>
            <a:ext cx="10170054" cy="2497215"/>
          </a:xfrm>
        </p:spPr>
        <p:txBody>
          <a:bodyPr rtlCol="0">
            <a:normAutofit/>
          </a:bodyPr>
          <a:lstStyle/>
          <a:p>
            <a:pPr algn="ctr" rtl="0"/>
            <a:r>
              <a:rPr lang="es-ES" sz="6600" dirty="0">
                <a:solidFill>
                  <a:srgbClr val="002060"/>
                </a:solidFill>
                <a:latin typeface="Rockwell" panose="02060603020205020403" pitchFamily="18" charset="0"/>
              </a:rPr>
              <a:t>INSTALACIÓN DE HERRAMIENTAS</a:t>
            </a:r>
          </a:p>
        </p:txBody>
      </p:sp>
    </p:spTree>
    <p:extLst>
      <p:ext uri="{BB962C8B-B14F-4D97-AF65-F5344CB8AC3E}">
        <p14:creationId xmlns:p14="http://schemas.microsoft.com/office/powerpoint/2010/main" val="2644745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383-2DFC-4686-91B2-1DCF96600851}"/>
              </a:ext>
            </a:extLst>
          </p:cNvPr>
          <p:cNvSpPr>
            <a:spLocks noGrp="1"/>
          </p:cNvSpPr>
          <p:nvPr>
            <p:ph type="title"/>
          </p:nvPr>
        </p:nvSpPr>
        <p:spPr>
          <a:xfrm>
            <a:off x="621380" y="706685"/>
            <a:ext cx="10396882" cy="1151965"/>
          </a:xfrm>
        </p:spPr>
        <p:txBody>
          <a:bodyPr>
            <a:noAutofit/>
          </a:bodyPr>
          <a:lstStyle/>
          <a:p>
            <a:r>
              <a:rPr lang="es-MX" sz="4400" b="1" dirty="0"/>
              <a:t>Instalación de herramientas (</a:t>
            </a:r>
            <a:r>
              <a:rPr lang="es-MX" sz="4400" b="1" dirty="0" err="1"/>
              <a:t>Power</a:t>
            </a:r>
            <a:r>
              <a:rPr lang="es-MX" sz="4400" b="1" dirty="0"/>
              <a:t> Designer)</a:t>
            </a:r>
            <a:endParaRPr lang="en-GB" sz="4400" b="1" dirty="0"/>
          </a:p>
        </p:txBody>
      </p:sp>
      <p:pic>
        <p:nvPicPr>
          <p:cNvPr id="4" name="Picture 3">
            <a:extLst>
              <a:ext uri="{FF2B5EF4-FFF2-40B4-BE49-F238E27FC236}">
                <a16:creationId xmlns:a16="http://schemas.microsoft.com/office/drawing/2014/main" id="{BCC21CDD-B6B7-4530-9428-A31CC4025B6D}"/>
              </a:ext>
            </a:extLst>
          </p:cNvPr>
          <p:cNvPicPr/>
          <p:nvPr/>
        </p:nvPicPr>
        <p:blipFill>
          <a:blip r:embed="rId2"/>
          <a:stretch>
            <a:fillRect/>
          </a:stretch>
        </p:blipFill>
        <p:spPr>
          <a:xfrm>
            <a:off x="621380" y="1987778"/>
            <a:ext cx="4578304" cy="25391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6FF7807D-9EBF-44FF-A55C-106510237AA5}"/>
              </a:ext>
            </a:extLst>
          </p:cNvPr>
          <p:cNvPicPr/>
          <p:nvPr/>
        </p:nvPicPr>
        <p:blipFill>
          <a:blip r:embed="rId3"/>
          <a:stretch>
            <a:fillRect/>
          </a:stretch>
        </p:blipFill>
        <p:spPr>
          <a:xfrm>
            <a:off x="6360392" y="2773137"/>
            <a:ext cx="2734608" cy="30998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6475AC5C-1288-4265-B8BD-9CCA3B5B4DE5}"/>
              </a:ext>
            </a:extLst>
          </p:cNvPr>
          <p:cNvSpPr/>
          <p:nvPr/>
        </p:nvSpPr>
        <p:spPr>
          <a:xfrm>
            <a:off x="0" y="5005100"/>
            <a:ext cx="574490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3 Página principal de instalación </a:t>
            </a:r>
            <a:r>
              <a:rPr lang="es-ES" i="1" dirty="0" err="1">
                <a:solidFill>
                  <a:srgbClr val="44546A"/>
                </a:solidFill>
                <a:latin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35A1227-B37F-438B-9DAA-8B2943EA8C0D}"/>
              </a:ext>
            </a:extLst>
          </p:cNvPr>
          <p:cNvSpPr/>
          <p:nvPr/>
        </p:nvSpPr>
        <p:spPr>
          <a:xfrm>
            <a:off x="4922009" y="6197165"/>
            <a:ext cx="459709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4 Página de registro </a:t>
            </a:r>
            <a:r>
              <a:rPr lang="es-ES" i="1" dirty="0" err="1">
                <a:solidFill>
                  <a:srgbClr val="44546A"/>
                </a:solidFill>
                <a:latin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cs typeface="Times New Roman" panose="02020603050405020304" pitchFamily="18" charset="0"/>
            </a:endParaRPr>
          </a:p>
        </p:txBody>
      </p:sp>
      <p:sp>
        <p:nvSpPr>
          <p:cNvPr id="7" name="Rectángulo 6">
            <a:extLst>
              <a:ext uri="{FF2B5EF4-FFF2-40B4-BE49-F238E27FC236}">
                <a16:creationId xmlns:a16="http://schemas.microsoft.com/office/drawing/2014/main" id="{2DEF4E82-A2BC-4C8D-9B21-EDE6DADE7A1B}"/>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864021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A81AD-C7D7-43E8-8622-2EC2460C76A8}"/>
              </a:ext>
            </a:extLst>
          </p:cNvPr>
          <p:cNvSpPr>
            <a:spLocks noGrp="1"/>
          </p:cNvSpPr>
          <p:nvPr>
            <p:ph type="title"/>
          </p:nvPr>
        </p:nvSpPr>
        <p:spPr>
          <a:xfrm>
            <a:off x="897432" y="397042"/>
            <a:ext cx="10396882" cy="1151965"/>
          </a:xfrm>
        </p:spPr>
        <p:txBody>
          <a:bodyPr>
            <a:normAutofit/>
          </a:bodyPr>
          <a:lstStyle/>
          <a:p>
            <a:r>
              <a:rPr lang="es-MX" sz="5400" b="1" dirty="0"/>
              <a:t>Power Designer</a:t>
            </a:r>
            <a:endParaRPr lang="en-GB" sz="5400" b="1" dirty="0"/>
          </a:p>
        </p:txBody>
      </p:sp>
      <p:pic>
        <p:nvPicPr>
          <p:cNvPr id="4" name="Picture 3">
            <a:extLst>
              <a:ext uri="{FF2B5EF4-FFF2-40B4-BE49-F238E27FC236}">
                <a16:creationId xmlns:a16="http://schemas.microsoft.com/office/drawing/2014/main" id="{5D0E0EC6-1946-45EF-B6D9-61062BF240EA}"/>
              </a:ext>
            </a:extLst>
          </p:cNvPr>
          <p:cNvPicPr/>
          <p:nvPr/>
        </p:nvPicPr>
        <p:blipFill>
          <a:blip r:embed="rId2"/>
          <a:stretch>
            <a:fillRect/>
          </a:stretch>
        </p:blipFill>
        <p:spPr>
          <a:xfrm>
            <a:off x="255777" y="2082821"/>
            <a:ext cx="4872814" cy="34698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2FBAA73F-2E00-41C9-884F-71F988B1C88E}"/>
              </a:ext>
            </a:extLst>
          </p:cNvPr>
          <p:cNvPicPr/>
          <p:nvPr/>
        </p:nvPicPr>
        <p:blipFill>
          <a:blip r:embed="rId3"/>
          <a:stretch>
            <a:fillRect/>
          </a:stretch>
        </p:blipFill>
        <p:spPr>
          <a:xfrm>
            <a:off x="5706130" y="2312968"/>
            <a:ext cx="3729290" cy="17156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0C4D8738-E753-42EA-8CA2-DB8333094097}"/>
              </a:ext>
            </a:extLst>
          </p:cNvPr>
          <p:cNvSpPr/>
          <p:nvPr/>
        </p:nvSpPr>
        <p:spPr>
          <a:xfrm>
            <a:off x="1265042" y="5785686"/>
            <a:ext cx="444108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5 Página descarga </a:t>
            </a:r>
            <a:r>
              <a:rPr lang="es-ES" i="1" dirty="0" err="1">
                <a:solidFill>
                  <a:srgbClr val="44546A"/>
                </a:solidFill>
                <a:latin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1D4218F9-203E-41BF-88CF-158398DDEF34}"/>
              </a:ext>
            </a:extLst>
          </p:cNvPr>
          <p:cNvSpPr/>
          <p:nvPr/>
        </p:nvSpPr>
        <p:spPr>
          <a:xfrm>
            <a:off x="5706130" y="4166074"/>
            <a:ext cx="372929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cs typeface="Times New Roman" panose="02020603050405020304" pitchFamily="18" charset="0"/>
              </a:rPr>
              <a:t>Ilustración 6 Ventana Guardar archivo</a:t>
            </a:r>
            <a:endParaRPr lang="en-US" i="1" dirty="0">
              <a:solidFill>
                <a:srgbClr val="44546A"/>
              </a:solidFill>
              <a:latin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7677CAB9-BBEE-47B1-8044-8605F330C63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03960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1E89-FE87-4D9A-B772-A227FC3428BC}"/>
              </a:ext>
            </a:extLst>
          </p:cNvPr>
          <p:cNvSpPr>
            <a:spLocks noGrp="1"/>
          </p:cNvSpPr>
          <p:nvPr>
            <p:ph type="title"/>
          </p:nvPr>
        </p:nvSpPr>
        <p:spPr>
          <a:xfrm>
            <a:off x="525379" y="413085"/>
            <a:ext cx="10396882" cy="1151965"/>
          </a:xfrm>
        </p:spPr>
        <p:txBody>
          <a:bodyPr/>
          <a:lstStyle/>
          <a:p>
            <a:r>
              <a:rPr lang="es-MX" b="1" dirty="0"/>
              <a:t>Power Designer</a:t>
            </a:r>
            <a:endParaRPr lang="en-GB" b="1" dirty="0"/>
          </a:p>
        </p:txBody>
      </p:sp>
      <p:pic>
        <p:nvPicPr>
          <p:cNvPr id="5" name="Picture 4">
            <a:extLst>
              <a:ext uri="{FF2B5EF4-FFF2-40B4-BE49-F238E27FC236}">
                <a16:creationId xmlns:a16="http://schemas.microsoft.com/office/drawing/2014/main" id="{F744CB36-DEF1-47EE-91E6-637A4F4A3D3B}"/>
              </a:ext>
            </a:extLst>
          </p:cNvPr>
          <p:cNvPicPr/>
          <p:nvPr/>
        </p:nvPicPr>
        <p:blipFill>
          <a:blip r:embed="rId2"/>
          <a:stretch>
            <a:fillRect/>
          </a:stretch>
        </p:blipFill>
        <p:spPr>
          <a:xfrm>
            <a:off x="327346" y="2210332"/>
            <a:ext cx="3963927" cy="14605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25C2002E-6753-436D-BFA6-3C0B1C3502C4}"/>
              </a:ext>
            </a:extLst>
          </p:cNvPr>
          <p:cNvPicPr/>
          <p:nvPr/>
        </p:nvPicPr>
        <p:blipFill>
          <a:blip r:embed="rId3"/>
          <a:stretch>
            <a:fillRect/>
          </a:stretch>
        </p:blipFill>
        <p:spPr>
          <a:xfrm>
            <a:off x="5336810" y="2160140"/>
            <a:ext cx="3630417" cy="3114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a:extLst>
              <a:ext uri="{FF2B5EF4-FFF2-40B4-BE49-F238E27FC236}">
                <a16:creationId xmlns:a16="http://schemas.microsoft.com/office/drawing/2014/main" id="{1107C5F1-FE29-4ABA-89F8-FB30144B1FB0}"/>
              </a:ext>
            </a:extLst>
          </p:cNvPr>
          <p:cNvSpPr/>
          <p:nvPr/>
        </p:nvSpPr>
        <p:spPr>
          <a:xfrm>
            <a:off x="525379" y="3981408"/>
            <a:ext cx="327544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7 Selección del idioma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DEA6FBFA-22EE-4AAA-8677-1E38E4B6976D}"/>
              </a:ext>
            </a:extLst>
          </p:cNvPr>
          <p:cNvSpPr/>
          <p:nvPr/>
        </p:nvSpPr>
        <p:spPr>
          <a:xfrm>
            <a:off x="5502800" y="5432604"/>
            <a:ext cx="3630417"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8 Ventana instalación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F987C02C-58B7-4333-BDFD-23B097A24286}"/>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897553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E6852-15D9-40CE-9939-91D15DFCF8C7}"/>
              </a:ext>
            </a:extLst>
          </p:cNvPr>
          <p:cNvSpPr>
            <a:spLocks noGrp="1"/>
          </p:cNvSpPr>
          <p:nvPr>
            <p:ph type="title"/>
          </p:nvPr>
        </p:nvSpPr>
        <p:spPr>
          <a:xfrm>
            <a:off x="541422" y="236621"/>
            <a:ext cx="10396882" cy="1151965"/>
          </a:xfrm>
        </p:spPr>
        <p:txBody>
          <a:bodyPr/>
          <a:lstStyle/>
          <a:p>
            <a:r>
              <a:rPr lang="es-MX" b="1" dirty="0"/>
              <a:t>Power Designer</a:t>
            </a:r>
            <a:endParaRPr lang="en-GB" b="1" dirty="0"/>
          </a:p>
        </p:txBody>
      </p:sp>
      <p:pic>
        <p:nvPicPr>
          <p:cNvPr id="4" name="Picture 3">
            <a:extLst>
              <a:ext uri="{FF2B5EF4-FFF2-40B4-BE49-F238E27FC236}">
                <a16:creationId xmlns:a16="http://schemas.microsoft.com/office/drawing/2014/main" id="{924DDB56-B423-4866-8E5D-E734F816F626}"/>
              </a:ext>
            </a:extLst>
          </p:cNvPr>
          <p:cNvPicPr/>
          <p:nvPr/>
        </p:nvPicPr>
        <p:blipFill>
          <a:blip r:embed="rId2"/>
          <a:stretch>
            <a:fillRect/>
          </a:stretch>
        </p:blipFill>
        <p:spPr>
          <a:xfrm>
            <a:off x="541422" y="2096536"/>
            <a:ext cx="3679416" cy="26649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404E0C6B-B59C-483E-8CCA-947A21FA64BB}"/>
              </a:ext>
            </a:extLst>
          </p:cNvPr>
          <p:cNvPicPr/>
          <p:nvPr/>
        </p:nvPicPr>
        <p:blipFill>
          <a:blip r:embed="rId3"/>
          <a:stretch>
            <a:fillRect/>
          </a:stretch>
        </p:blipFill>
        <p:spPr>
          <a:xfrm>
            <a:off x="5492321" y="1917012"/>
            <a:ext cx="3564835" cy="26649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07074770-0073-477C-87CB-F3DE2B8E55D6}"/>
              </a:ext>
            </a:extLst>
          </p:cNvPr>
          <p:cNvSpPr/>
          <p:nvPr/>
        </p:nvSpPr>
        <p:spPr>
          <a:xfrm>
            <a:off x="399140" y="4922842"/>
            <a:ext cx="2996821"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9 Selección tipo de licencia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D2EC6254-6E49-4FAE-9EF8-DF38984BFD17}"/>
              </a:ext>
            </a:extLst>
          </p:cNvPr>
          <p:cNvSpPr/>
          <p:nvPr/>
        </p:nvSpPr>
        <p:spPr>
          <a:xfrm>
            <a:off x="5739863" y="5110365"/>
            <a:ext cx="2507755"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10 Acuerdo licencia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91846524-AA80-456D-BA9D-62BAD471ABDC}"/>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01333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6019-A2A5-4AD5-879C-F811590AAB8B}"/>
              </a:ext>
            </a:extLst>
          </p:cNvPr>
          <p:cNvSpPr>
            <a:spLocks noGrp="1"/>
          </p:cNvSpPr>
          <p:nvPr>
            <p:ph type="title"/>
          </p:nvPr>
        </p:nvSpPr>
        <p:spPr>
          <a:xfrm>
            <a:off x="780486" y="211053"/>
            <a:ext cx="10396882" cy="1151965"/>
          </a:xfrm>
        </p:spPr>
        <p:txBody>
          <a:bodyPr/>
          <a:lstStyle/>
          <a:p>
            <a:r>
              <a:rPr lang="es-MX" b="1" dirty="0"/>
              <a:t>Power Designer</a:t>
            </a:r>
            <a:endParaRPr lang="en-GB" b="1" dirty="0"/>
          </a:p>
        </p:txBody>
      </p:sp>
      <p:pic>
        <p:nvPicPr>
          <p:cNvPr id="4" name="Picture 3">
            <a:extLst>
              <a:ext uri="{FF2B5EF4-FFF2-40B4-BE49-F238E27FC236}">
                <a16:creationId xmlns:a16="http://schemas.microsoft.com/office/drawing/2014/main" id="{318E39AD-09FA-402B-8143-8578725EB967}"/>
              </a:ext>
            </a:extLst>
          </p:cNvPr>
          <p:cNvPicPr/>
          <p:nvPr/>
        </p:nvPicPr>
        <p:blipFill>
          <a:blip r:embed="rId2"/>
          <a:stretch>
            <a:fillRect/>
          </a:stretch>
        </p:blipFill>
        <p:spPr>
          <a:xfrm>
            <a:off x="698553" y="1963096"/>
            <a:ext cx="3740926" cy="31124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36C765DA-55E8-427E-B15E-E02C7DC3800C}"/>
              </a:ext>
            </a:extLst>
          </p:cNvPr>
          <p:cNvPicPr/>
          <p:nvPr/>
        </p:nvPicPr>
        <p:blipFill>
          <a:blip r:embed="rId3"/>
          <a:stretch>
            <a:fillRect/>
          </a:stretch>
        </p:blipFill>
        <p:spPr>
          <a:xfrm>
            <a:off x="5160976" y="1963096"/>
            <a:ext cx="4414717" cy="31124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905FAF65-3001-4975-8BF5-DA30ABFEC4FC}"/>
              </a:ext>
            </a:extLst>
          </p:cNvPr>
          <p:cNvSpPr/>
          <p:nvPr/>
        </p:nvSpPr>
        <p:spPr>
          <a:xfrm>
            <a:off x="170169" y="5453611"/>
            <a:ext cx="426931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11 Selección carpeta destino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EF5C8D-7386-453D-897C-2EA9EC3B7E93}"/>
              </a:ext>
            </a:extLst>
          </p:cNvPr>
          <p:cNvSpPr/>
          <p:nvPr/>
        </p:nvSpPr>
        <p:spPr>
          <a:xfrm>
            <a:off x="4837114" y="5267042"/>
            <a:ext cx="4681987"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12 Selección características a instalar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44ACED03-0929-4B95-A02A-7E2C1C08BB0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434879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547F-E144-4890-A401-855EF4A47E19}"/>
              </a:ext>
            </a:extLst>
          </p:cNvPr>
          <p:cNvSpPr>
            <a:spLocks noGrp="1"/>
          </p:cNvSpPr>
          <p:nvPr>
            <p:ph type="title"/>
          </p:nvPr>
        </p:nvSpPr>
        <p:spPr>
          <a:xfrm>
            <a:off x="834191" y="390525"/>
            <a:ext cx="10396882" cy="1151965"/>
          </a:xfrm>
        </p:spPr>
        <p:txBody>
          <a:bodyPr/>
          <a:lstStyle/>
          <a:p>
            <a:r>
              <a:rPr lang="es-MX" b="1" dirty="0"/>
              <a:t>Power Designer</a:t>
            </a:r>
            <a:endParaRPr lang="en-GB" b="1" dirty="0"/>
          </a:p>
        </p:txBody>
      </p:sp>
      <p:pic>
        <p:nvPicPr>
          <p:cNvPr id="4" name="Picture 3">
            <a:extLst>
              <a:ext uri="{FF2B5EF4-FFF2-40B4-BE49-F238E27FC236}">
                <a16:creationId xmlns:a16="http://schemas.microsoft.com/office/drawing/2014/main" id="{7A41AC4E-CFBF-4450-B582-0A1E065F6523}"/>
              </a:ext>
            </a:extLst>
          </p:cNvPr>
          <p:cNvPicPr/>
          <p:nvPr/>
        </p:nvPicPr>
        <p:blipFill>
          <a:blip r:embed="rId2"/>
          <a:stretch>
            <a:fillRect/>
          </a:stretch>
        </p:blipFill>
        <p:spPr>
          <a:xfrm>
            <a:off x="604435" y="1988941"/>
            <a:ext cx="4069113" cy="30601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7ADFBB53-A842-44FD-A797-10A95742DF36}"/>
              </a:ext>
            </a:extLst>
          </p:cNvPr>
          <p:cNvPicPr/>
          <p:nvPr/>
        </p:nvPicPr>
        <p:blipFill>
          <a:blip r:embed="rId3"/>
          <a:stretch>
            <a:fillRect/>
          </a:stretch>
        </p:blipFill>
        <p:spPr>
          <a:xfrm>
            <a:off x="5314903" y="2274977"/>
            <a:ext cx="4069113" cy="27741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99FB90AD-8EC6-4624-9EE0-2D6BD076F5D4}"/>
              </a:ext>
            </a:extLst>
          </p:cNvPr>
          <p:cNvSpPr/>
          <p:nvPr/>
        </p:nvSpPr>
        <p:spPr>
          <a:xfrm>
            <a:off x="127378" y="5310863"/>
            <a:ext cx="4959435"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13 Ventana selección perfiles a importar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90893812-EEC2-4EC3-9FEE-C498342700D9}"/>
              </a:ext>
            </a:extLst>
          </p:cNvPr>
          <p:cNvSpPr/>
          <p:nvPr/>
        </p:nvSpPr>
        <p:spPr>
          <a:xfrm>
            <a:off x="5451468" y="5495529"/>
            <a:ext cx="3625344"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14 Selección nombre de la carpeta SAP</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225FDCBF-6689-418B-8E60-DB0429E5819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459723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717AA-5FED-4C41-A6DF-07D9BE1FD21C}"/>
              </a:ext>
            </a:extLst>
          </p:cNvPr>
          <p:cNvSpPr>
            <a:spLocks noGrp="1"/>
          </p:cNvSpPr>
          <p:nvPr>
            <p:ph type="title"/>
          </p:nvPr>
        </p:nvSpPr>
        <p:spPr>
          <a:xfrm>
            <a:off x="332874" y="461327"/>
            <a:ext cx="10396882" cy="1151965"/>
          </a:xfrm>
        </p:spPr>
        <p:txBody>
          <a:bodyPr/>
          <a:lstStyle/>
          <a:p>
            <a:r>
              <a:rPr lang="es-MX" b="1" dirty="0"/>
              <a:t>Power</a:t>
            </a:r>
            <a:r>
              <a:rPr lang="es-MX" dirty="0"/>
              <a:t> </a:t>
            </a:r>
            <a:r>
              <a:rPr lang="es-MX" b="1" dirty="0"/>
              <a:t>Designer</a:t>
            </a:r>
            <a:endParaRPr lang="en-GB" b="1" dirty="0"/>
          </a:p>
        </p:txBody>
      </p:sp>
      <p:pic>
        <p:nvPicPr>
          <p:cNvPr id="4" name="Picture 3">
            <a:extLst>
              <a:ext uri="{FF2B5EF4-FFF2-40B4-BE49-F238E27FC236}">
                <a16:creationId xmlns:a16="http://schemas.microsoft.com/office/drawing/2014/main" id="{6BA348D5-5658-40AB-A017-5FC3318891C4}"/>
              </a:ext>
            </a:extLst>
          </p:cNvPr>
          <p:cNvPicPr/>
          <p:nvPr/>
        </p:nvPicPr>
        <p:blipFill>
          <a:blip r:embed="rId2"/>
          <a:stretch>
            <a:fillRect/>
          </a:stretch>
        </p:blipFill>
        <p:spPr>
          <a:xfrm>
            <a:off x="349034" y="2066845"/>
            <a:ext cx="4225736" cy="30352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E40AF3D6-0687-498E-9D31-EA20BDE1D791}"/>
              </a:ext>
            </a:extLst>
          </p:cNvPr>
          <p:cNvPicPr/>
          <p:nvPr/>
        </p:nvPicPr>
        <p:blipFill>
          <a:blip r:embed="rId3"/>
          <a:stretch>
            <a:fillRect/>
          </a:stretch>
        </p:blipFill>
        <p:spPr>
          <a:xfrm>
            <a:off x="4969020" y="2066845"/>
            <a:ext cx="4311180" cy="30352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8940F171-17A7-479C-986B-33691D3C698A}"/>
              </a:ext>
            </a:extLst>
          </p:cNvPr>
          <p:cNvSpPr/>
          <p:nvPr/>
        </p:nvSpPr>
        <p:spPr>
          <a:xfrm>
            <a:off x="97336" y="5555218"/>
            <a:ext cx="4477434"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15 Ventana revisión de las opciones seleccionadas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77762F08-E16E-403F-9DC3-4179094C3857}"/>
              </a:ext>
            </a:extLst>
          </p:cNvPr>
          <p:cNvSpPr/>
          <p:nvPr/>
        </p:nvSpPr>
        <p:spPr>
          <a:xfrm>
            <a:off x="4813671" y="5509051"/>
            <a:ext cx="431118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16 Instalación de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61D9DE3F-DA93-400C-AD79-1168458D681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4267856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72DEE-4397-4886-BDE4-54E1102E7186}"/>
              </a:ext>
            </a:extLst>
          </p:cNvPr>
          <p:cNvSpPr>
            <a:spLocks noGrp="1"/>
          </p:cNvSpPr>
          <p:nvPr>
            <p:ph type="title"/>
          </p:nvPr>
        </p:nvSpPr>
        <p:spPr>
          <a:xfrm>
            <a:off x="694825" y="377992"/>
            <a:ext cx="10396882" cy="1151965"/>
          </a:xfrm>
        </p:spPr>
        <p:txBody>
          <a:bodyPr/>
          <a:lstStyle/>
          <a:p>
            <a:r>
              <a:rPr lang="es-MX" b="1" dirty="0"/>
              <a:t>Power Designer</a:t>
            </a:r>
            <a:endParaRPr lang="en-GB" b="1" dirty="0"/>
          </a:p>
        </p:txBody>
      </p:sp>
      <p:pic>
        <p:nvPicPr>
          <p:cNvPr id="5" name="Picture 4">
            <a:extLst>
              <a:ext uri="{FF2B5EF4-FFF2-40B4-BE49-F238E27FC236}">
                <a16:creationId xmlns:a16="http://schemas.microsoft.com/office/drawing/2014/main" id="{0554B010-75FC-4E03-B4B9-2EF2E5D8F317}"/>
              </a:ext>
            </a:extLst>
          </p:cNvPr>
          <p:cNvPicPr/>
          <p:nvPr/>
        </p:nvPicPr>
        <p:blipFill>
          <a:blip r:embed="rId2"/>
          <a:stretch>
            <a:fillRect/>
          </a:stretch>
        </p:blipFill>
        <p:spPr>
          <a:xfrm>
            <a:off x="3184353" y="1856065"/>
            <a:ext cx="5124651" cy="38090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Rectangle 2">
            <a:extLst>
              <a:ext uri="{FF2B5EF4-FFF2-40B4-BE49-F238E27FC236}">
                <a16:creationId xmlns:a16="http://schemas.microsoft.com/office/drawing/2014/main" id="{1BFB5E02-295D-49F5-A277-E226485EC3EA}"/>
              </a:ext>
            </a:extLst>
          </p:cNvPr>
          <p:cNvSpPr/>
          <p:nvPr/>
        </p:nvSpPr>
        <p:spPr>
          <a:xfrm>
            <a:off x="3504750" y="5806563"/>
            <a:ext cx="420211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17 Página inicio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Power</a:t>
            </a: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Designer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ángulo 5">
            <a:extLst>
              <a:ext uri="{FF2B5EF4-FFF2-40B4-BE49-F238E27FC236}">
                <a16:creationId xmlns:a16="http://schemas.microsoft.com/office/drawing/2014/main" id="{05791288-0E57-4DD3-A99F-BF6388283A1C}"/>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334179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0B1A4-9A00-48FB-83B1-03263ABF33B3}"/>
              </a:ext>
            </a:extLst>
          </p:cNvPr>
          <p:cNvSpPr>
            <a:spLocks noGrp="1"/>
          </p:cNvSpPr>
          <p:nvPr>
            <p:ph type="title"/>
          </p:nvPr>
        </p:nvSpPr>
        <p:spPr>
          <a:xfrm>
            <a:off x="525380" y="397042"/>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EA29F55E-BA6D-4EC8-817E-F1E261EDB464}"/>
              </a:ext>
            </a:extLst>
          </p:cNvPr>
          <p:cNvPicPr/>
          <p:nvPr/>
        </p:nvPicPr>
        <p:blipFill>
          <a:blip r:embed="rId2"/>
          <a:stretch>
            <a:fillRect/>
          </a:stretch>
        </p:blipFill>
        <p:spPr>
          <a:xfrm>
            <a:off x="321715" y="2014301"/>
            <a:ext cx="3814082" cy="28293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873BBA7F-A7F7-445E-8F80-5016E1DBDBD1}"/>
              </a:ext>
            </a:extLst>
          </p:cNvPr>
          <p:cNvPicPr/>
          <p:nvPr/>
        </p:nvPicPr>
        <p:blipFill>
          <a:blip r:embed="rId3"/>
          <a:stretch>
            <a:fillRect/>
          </a:stretch>
        </p:blipFill>
        <p:spPr>
          <a:xfrm>
            <a:off x="4695286" y="2014301"/>
            <a:ext cx="4608094" cy="37624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574EF856-369E-4F03-BDC0-4121D5638904}"/>
              </a:ext>
            </a:extLst>
          </p:cNvPr>
          <p:cNvSpPr/>
          <p:nvPr/>
        </p:nvSpPr>
        <p:spPr>
          <a:xfrm>
            <a:off x="140601" y="4945086"/>
            <a:ext cx="399519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18 Página descarga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7BD0EF1F-0C11-4CA1-8A82-0758092A6E9F}"/>
              </a:ext>
            </a:extLst>
          </p:cNvPr>
          <p:cNvSpPr/>
          <p:nvPr/>
        </p:nvSpPr>
        <p:spPr>
          <a:xfrm>
            <a:off x="4695286" y="6057404"/>
            <a:ext cx="4265720"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19 Página descarga imagen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E8B4D5CE-A5D6-46A6-B409-4C62552526F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891995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A99AF-422A-4D76-8995-F8F44360212B}"/>
              </a:ext>
            </a:extLst>
          </p:cNvPr>
          <p:cNvSpPr>
            <a:spLocks noGrp="1"/>
          </p:cNvSpPr>
          <p:nvPr>
            <p:ph type="title"/>
          </p:nvPr>
        </p:nvSpPr>
        <p:spPr>
          <a:xfrm>
            <a:off x="762502" y="422609"/>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8150621D-3878-4894-806F-083CC6373B62}"/>
              </a:ext>
            </a:extLst>
          </p:cNvPr>
          <p:cNvPicPr/>
          <p:nvPr/>
        </p:nvPicPr>
        <p:blipFill>
          <a:blip r:embed="rId2"/>
          <a:stretch>
            <a:fillRect/>
          </a:stretch>
        </p:blipFill>
        <p:spPr>
          <a:xfrm>
            <a:off x="437134" y="2417165"/>
            <a:ext cx="3246970" cy="14201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BFC573FE-6054-476F-BFE3-A06F751A8CEB}"/>
              </a:ext>
            </a:extLst>
          </p:cNvPr>
          <p:cNvPicPr/>
          <p:nvPr/>
        </p:nvPicPr>
        <p:blipFill>
          <a:blip r:embed="rId3"/>
          <a:stretch>
            <a:fillRect/>
          </a:stretch>
        </p:blipFill>
        <p:spPr>
          <a:xfrm>
            <a:off x="4865248" y="2072204"/>
            <a:ext cx="4270893" cy="24070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827D9316-ACC5-4C12-866F-C05570DD7B4E}"/>
              </a:ext>
            </a:extLst>
          </p:cNvPr>
          <p:cNvSpPr/>
          <p:nvPr/>
        </p:nvSpPr>
        <p:spPr>
          <a:xfrm>
            <a:off x="0" y="4310586"/>
            <a:ext cx="4492897"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20 Guardar archivo en computador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B43587F-35C0-4E61-B4E6-A5F06318AB70}"/>
              </a:ext>
            </a:extLst>
          </p:cNvPr>
          <p:cNvSpPr/>
          <p:nvPr/>
        </p:nvSpPr>
        <p:spPr>
          <a:xfrm>
            <a:off x="5147702" y="4976866"/>
            <a:ext cx="3716595"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21 Ventana instalador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E8E4E2E8-713C-4687-92B9-25691139EBE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921457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D2F-2974-4CB3-85BD-B42246984482}"/>
              </a:ext>
            </a:extLst>
          </p:cNvPr>
          <p:cNvSpPr>
            <a:spLocks noGrp="1"/>
          </p:cNvSpPr>
          <p:nvPr>
            <p:ph type="title"/>
          </p:nvPr>
        </p:nvSpPr>
        <p:spPr>
          <a:xfrm>
            <a:off x="768490" y="317333"/>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4103E24E-B8E2-4256-A866-867CA95E35ED}"/>
              </a:ext>
            </a:extLst>
          </p:cNvPr>
          <p:cNvPicPr/>
          <p:nvPr/>
        </p:nvPicPr>
        <p:blipFill>
          <a:blip r:embed="rId2"/>
          <a:stretch>
            <a:fillRect/>
          </a:stretch>
        </p:blipFill>
        <p:spPr>
          <a:xfrm>
            <a:off x="342661" y="2099453"/>
            <a:ext cx="3924539" cy="33736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900E653C-465F-4733-A1D6-14F6A8D5C42D}"/>
              </a:ext>
            </a:extLst>
          </p:cNvPr>
          <p:cNvPicPr/>
          <p:nvPr/>
        </p:nvPicPr>
        <p:blipFill>
          <a:blip r:embed="rId3"/>
          <a:stretch>
            <a:fillRect/>
          </a:stretch>
        </p:blipFill>
        <p:spPr>
          <a:xfrm>
            <a:off x="4880308" y="2099451"/>
            <a:ext cx="4328236" cy="34824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587D0E3D-AF8E-4C30-81BB-2DE89A45D751}"/>
              </a:ext>
            </a:extLst>
          </p:cNvPr>
          <p:cNvSpPr/>
          <p:nvPr/>
        </p:nvSpPr>
        <p:spPr>
          <a:xfrm>
            <a:off x="0" y="5581910"/>
            <a:ext cx="456746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22 Selección características JDK, JRE</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2EEE584B-5C3F-4186-BC68-FBD52893CC1C}"/>
              </a:ext>
            </a:extLst>
          </p:cNvPr>
          <p:cNvSpPr/>
          <p:nvPr/>
        </p:nvSpPr>
        <p:spPr>
          <a:xfrm>
            <a:off x="5035587" y="5766576"/>
            <a:ext cx="432823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23 Selección carpeta destino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49FCC83C-8F7F-478D-9560-20E3019EBC9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280989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86798-CA88-491D-B041-7D0D6C16CB08}"/>
              </a:ext>
            </a:extLst>
          </p:cNvPr>
          <p:cNvSpPr>
            <a:spLocks noGrp="1"/>
          </p:cNvSpPr>
          <p:nvPr>
            <p:ph type="title"/>
          </p:nvPr>
        </p:nvSpPr>
        <p:spPr>
          <a:xfrm>
            <a:off x="381001" y="316832"/>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D64B3FD3-A6D1-4254-896B-7D5D449CD14E}"/>
              </a:ext>
            </a:extLst>
          </p:cNvPr>
          <p:cNvPicPr/>
          <p:nvPr/>
        </p:nvPicPr>
        <p:blipFill>
          <a:blip r:embed="rId2"/>
          <a:stretch>
            <a:fillRect/>
          </a:stretch>
        </p:blipFill>
        <p:spPr>
          <a:xfrm>
            <a:off x="459786" y="2049041"/>
            <a:ext cx="4753610" cy="3619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D8DD9ABF-DBD7-42EA-B0B5-B18290A973B8}"/>
              </a:ext>
            </a:extLst>
          </p:cNvPr>
          <p:cNvPicPr/>
          <p:nvPr/>
        </p:nvPicPr>
        <p:blipFill>
          <a:blip r:embed="rId3"/>
          <a:stretch>
            <a:fillRect/>
          </a:stretch>
        </p:blipFill>
        <p:spPr>
          <a:xfrm>
            <a:off x="5520306" y="2099650"/>
            <a:ext cx="3791953" cy="41328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2374B6CF-9FB8-4FFA-BABE-26BDA767D3FD}"/>
              </a:ext>
            </a:extLst>
          </p:cNvPr>
          <p:cNvSpPr/>
          <p:nvPr/>
        </p:nvSpPr>
        <p:spPr>
          <a:xfrm>
            <a:off x="381001" y="5879453"/>
            <a:ext cx="4040273"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24 Finalizar la instalación Java</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BB7789B2-1824-4801-BDCD-95158AFE4B6F}"/>
              </a:ext>
            </a:extLst>
          </p:cNvPr>
          <p:cNvSpPr/>
          <p:nvPr/>
        </p:nvSpPr>
        <p:spPr>
          <a:xfrm>
            <a:off x="5639276" y="6248785"/>
            <a:ext cx="3466141"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25 Instalación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5C2C77B2-CBE6-4715-8C90-D03253889367}"/>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873770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5D143-8AAC-4C1F-9500-5666D8F72D1E}"/>
              </a:ext>
            </a:extLst>
          </p:cNvPr>
          <p:cNvSpPr>
            <a:spLocks noGrp="1"/>
          </p:cNvSpPr>
          <p:nvPr>
            <p:ph type="title"/>
          </p:nvPr>
        </p:nvSpPr>
        <p:spPr>
          <a:xfrm>
            <a:off x="316833" y="268706"/>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77C261D5-60CC-4A7C-8A99-552170F028B2}"/>
              </a:ext>
            </a:extLst>
          </p:cNvPr>
          <p:cNvPicPr/>
          <p:nvPr/>
        </p:nvPicPr>
        <p:blipFill>
          <a:blip r:embed="rId2"/>
          <a:stretch>
            <a:fillRect/>
          </a:stretch>
        </p:blipFill>
        <p:spPr>
          <a:xfrm>
            <a:off x="224983" y="2238993"/>
            <a:ext cx="4067175" cy="18859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D87E65F9-5A7B-4426-8030-83F64272E9EA}"/>
              </a:ext>
            </a:extLst>
          </p:cNvPr>
          <p:cNvPicPr/>
          <p:nvPr/>
        </p:nvPicPr>
        <p:blipFill>
          <a:blip r:embed="rId3"/>
          <a:stretch>
            <a:fillRect/>
          </a:stretch>
        </p:blipFill>
        <p:spPr>
          <a:xfrm>
            <a:off x="4565483" y="1928191"/>
            <a:ext cx="4607410" cy="39855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2B4C1B05-EE15-435E-A9F3-947AE52B7776}"/>
              </a:ext>
            </a:extLst>
          </p:cNvPr>
          <p:cNvSpPr/>
          <p:nvPr/>
        </p:nvSpPr>
        <p:spPr>
          <a:xfrm>
            <a:off x="420276" y="4402055"/>
            <a:ext cx="3233193"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26 Guardar el archivo</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A1F12D1-F00E-4155-A820-D59153001028}"/>
              </a:ext>
            </a:extLst>
          </p:cNvPr>
          <p:cNvSpPr/>
          <p:nvPr/>
        </p:nvSpPr>
        <p:spPr>
          <a:xfrm>
            <a:off x="4420525" y="6089187"/>
            <a:ext cx="5080365"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27 Configuración del instalador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7724FF7B-092D-4B12-AE5D-0B3189207B8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748677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F1E4-A241-46D3-B19A-B53AD67B8ED1}"/>
              </a:ext>
            </a:extLst>
          </p:cNvPr>
          <p:cNvSpPr>
            <a:spLocks noGrp="1"/>
          </p:cNvSpPr>
          <p:nvPr>
            <p:ph type="title"/>
          </p:nvPr>
        </p:nvSpPr>
        <p:spPr>
          <a:xfrm>
            <a:off x="364959" y="364958"/>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27CA1606-F630-4F89-9158-3C254395FAD1}"/>
              </a:ext>
            </a:extLst>
          </p:cNvPr>
          <p:cNvPicPr/>
          <p:nvPr/>
        </p:nvPicPr>
        <p:blipFill>
          <a:blip r:embed="rId2"/>
          <a:stretch>
            <a:fillRect/>
          </a:stretch>
        </p:blipFill>
        <p:spPr>
          <a:xfrm>
            <a:off x="459786" y="1996446"/>
            <a:ext cx="3452495" cy="28651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68CC4D4E-7F52-4A70-81A9-977C595965E7}"/>
              </a:ext>
            </a:extLst>
          </p:cNvPr>
          <p:cNvPicPr/>
          <p:nvPr/>
        </p:nvPicPr>
        <p:blipFill>
          <a:blip r:embed="rId3"/>
          <a:stretch>
            <a:fillRect/>
          </a:stretch>
        </p:blipFill>
        <p:spPr>
          <a:xfrm>
            <a:off x="5096324" y="1931159"/>
            <a:ext cx="3819967" cy="31693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48A36156-2EDD-493A-9040-F6081C1C3F8E}"/>
              </a:ext>
            </a:extLst>
          </p:cNvPr>
          <p:cNvSpPr/>
          <p:nvPr/>
        </p:nvSpPr>
        <p:spPr>
          <a:xfrm>
            <a:off x="0" y="5156411"/>
            <a:ext cx="4746812"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28 Características a instalar NetBeans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F3255CA-150F-4043-B8A1-8E23123CFE56}"/>
              </a:ext>
            </a:extLst>
          </p:cNvPr>
          <p:cNvSpPr/>
          <p:nvPr/>
        </p:nvSpPr>
        <p:spPr>
          <a:xfrm>
            <a:off x="4985075" y="5349265"/>
            <a:ext cx="4304699"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29 Selección de paquetes y servidores a instalar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61CE40AE-9B3D-47BC-9887-84F60E252DE5}"/>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629630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DE81-8F73-41B1-942D-7588C58B3370}"/>
              </a:ext>
            </a:extLst>
          </p:cNvPr>
          <p:cNvSpPr>
            <a:spLocks noGrp="1"/>
          </p:cNvSpPr>
          <p:nvPr>
            <p:ph type="title"/>
          </p:nvPr>
        </p:nvSpPr>
        <p:spPr>
          <a:xfrm>
            <a:off x="364959" y="284747"/>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9EA4ED16-E66C-45E8-BE2F-E397B9A228A6}"/>
              </a:ext>
            </a:extLst>
          </p:cNvPr>
          <p:cNvPicPr/>
          <p:nvPr/>
        </p:nvPicPr>
        <p:blipFill>
          <a:blip r:embed="rId2"/>
          <a:stretch>
            <a:fillRect/>
          </a:stretch>
        </p:blipFill>
        <p:spPr>
          <a:xfrm>
            <a:off x="459786" y="2245249"/>
            <a:ext cx="3553682" cy="26877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D1B5E356-4844-4AA6-93A8-97CD3A223A04}"/>
              </a:ext>
            </a:extLst>
          </p:cNvPr>
          <p:cNvPicPr/>
          <p:nvPr/>
        </p:nvPicPr>
        <p:blipFill>
          <a:blip r:embed="rId3"/>
          <a:stretch>
            <a:fillRect/>
          </a:stretch>
        </p:blipFill>
        <p:spPr>
          <a:xfrm>
            <a:off x="4896948" y="2245248"/>
            <a:ext cx="3841474" cy="26877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E76E6854-23A9-4B73-8A88-8C44BD10C2F8}"/>
              </a:ext>
            </a:extLst>
          </p:cNvPr>
          <p:cNvSpPr/>
          <p:nvPr/>
        </p:nvSpPr>
        <p:spPr>
          <a:xfrm>
            <a:off x="364959" y="4933011"/>
            <a:ext cx="3697359"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30 Aceptación de términos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A17B6297-6EA2-4939-AB00-0011B971BC26}"/>
              </a:ext>
            </a:extLst>
          </p:cNvPr>
          <p:cNvSpPr/>
          <p:nvPr/>
        </p:nvSpPr>
        <p:spPr>
          <a:xfrm>
            <a:off x="4767607" y="5117677"/>
            <a:ext cx="475149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31 Selección de carpeta de instalación</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ángulo 8">
            <a:extLst>
              <a:ext uri="{FF2B5EF4-FFF2-40B4-BE49-F238E27FC236}">
                <a16:creationId xmlns:a16="http://schemas.microsoft.com/office/drawing/2014/main" id="{C34BBED7-7813-4EA8-AB05-02240BCE3C90}"/>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126774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B1C4F-8DAC-4CCA-BA77-22BD12B66B4A}"/>
              </a:ext>
            </a:extLst>
          </p:cNvPr>
          <p:cNvSpPr>
            <a:spLocks noGrp="1"/>
          </p:cNvSpPr>
          <p:nvPr>
            <p:ph type="title"/>
          </p:nvPr>
        </p:nvSpPr>
        <p:spPr>
          <a:xfrm>
            <a:off x="300791" y="124326"/>
            <a:ext cx="10396882" cy="1151965"/>
          </a:xfrm>
        </p:spPr>
        <p:txBody>
          <a:bodyPr/>
          <a:lstStyle/>
          <a:p>
            <a:r>
              <a:rPr lang="es-MX" b="1" dirty="0"/>
              <a:t>NetBeans</a:t>
            </a:r>
            <a:endParaRPr lang="en-GB" b="1" dirty="0"/>
          </a:p>
        </p:txBody>
      </p:sp>
      <p:pic>
        <p:nvPicPr>
          <p:cNvPr id="4" name="Picture 3">
            <a:extLst>
              <a:ext uri="{FF2B5EF4-FFF2-40B4-BE49-F238E27FC236}">
                <a16:creationId xmlns:a16="http://schemas.microsoft.com/office/drawing/2014/main" id="{458A64F4-D22C-4E84-8678-554CC5674F79}"/>
              </a:ext>
            </a:extLst>
          </p:cNvPr>
          <p:cNvPicPr/>
          <p:nvPr/>
        </p:nvPicPr>
        <p:blipFill>
          <a:blip r:embed="rId2"/>
          <a:stretch>
            <a:fillRect/>
          </a:stretch>
        </p:blipFill>
        <p:spPr>
          <a:xfrm>
            <a:off x="3316087" y="1879821"/>
            <a:ext cx="4451350" cy="37147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4189886A-F6B4-47B5-A7AD-E18CDE5BC088}"/>
              </a:ext>
            </a:extLst>
          </p:cNvPr>
          <p:cNvSpPr/>
          <p:nvPr/>
        </p:nvSpPr>
        <p:spPr>
          <a:xfrm>
            <a:off x="2834826" y="5704730"/>
            <a:ext cx="505176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32 Instalación de paquetes seleccionados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ángulo 5">
            <a:extLst>
              <a:ext uri="{FF2B5EF4-FFF2-40B4-BE49-F238E27FC236}">
                <a16:creationId xmlns:a16="http://schemas.microsoft.com/office/drawing/2014/main" id="{6C71E362-F53E-4691-9068-278AE119C8E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30561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NetBeans</a:t>
            </a:r>
            <a:endParaRPr lang="en-GB" b="1" dirty="0"/>
          </a:p>
        </p:txBody>
      </p:sp>
      <p:pic>
        <p:nvPicPr>
          <p:cNvPr id="3" name="Picture 2">
            <a:extLst>
              <a:ext uri="{FF2B5EF4-FFF2-40B4-BE49-F238E27FC236}">
                <a16:creationId xmlns:a16="http://schemas.microsoft.com/office/drawing/2014/main" id="{AAC8D995-F2B3-4E30-85D1-60F659117308}"/>
              </a:ext>
            </a:extLst>
          </p:cNvPr>
          <p:cNvPicPr/>
          <p:nvPr/>
        </p:nvPicPr>
        <p:blipFill>
          <a:blip r:embed="rId2"/>
          <a:stretch>
            <a:fillRect/>
          </a:stretch>
        </p:blipFill>
        <p:spPr>
          <a:xfrm>
            <a:off x="531354" y="2122912"/>
            <a:ext cx="4163704" cy="33454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Picture 3">
            <a:extLst>
              <a:ext uri="{FF2B5EF4-FFF2-40B4-BE49-F238E27FC236}">
                <a16:creationId xmlns:a16="http://schemas.microsoft.com/office/drawing/2014/main" id="{C10595B7-0C26-4000-A2BA-4CBEBA4BDB85}"/>
              </a:ext>
            </a:extLst>
          </p:cNvPr>
          <p:cNvPicPr/>
          <p:nvPr/>
        </p:nvPicPr>
        <p:blipFill rotWithShape="1">
          <a:blip r:embed="rId3"/>
          <a:srcRect r="1119" b="6638"/>
          <a:stretch/>
        </p:blipFill>
        <p:spPr bwMode="auto">
          <a:xfrm>
            <a:off x="5025227" y="2651779"/>
            <a:ext cx="4163705" cy="19885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53640926-AAD7-44D8-BBD7-CCE9431645EC}">
              <a14:shadowObscured xmlns:a14="http://schemas.microsoft.com/office/drawing/2010/main"/>
            </a:ext>
          </a:extLst>
        </p:spPr>
      </p:pic>
      <p:sp>
        <p:nvSpPr>
          <p:cNvPr id="5" name="Rectangle 4">
            <a:extLst>
              <a:ext uri="{FF2B5EF4-FFF2-40B4-BE49-F238E27FC236}">
                <a16:creationId xmlns:a16="http://schemas.microsoft.com/office/drawing/2014/main" id="{7347AD06-4BA6-4DFE-BB47-BEEA406D1A2B}"/>
              </a:ext>
            </a:extLst>
          </p:cNvPr>
          <p:cNvSpPr/>
          <p:nvPr/>
        </p:nvSpPr>
        <p:spPr>
          <a:xfrm>
            <a:off x="1120119" y="5903996"/>
            <a:ext cx="416370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33 Finalización de la instalación</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319D28DB-1EA8-4820-8320-C211CAB77F1A}"/>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354501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3013471" y="5426917"/>
            <a:ext cx="3806170"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26: Ingreso a </a:t>
            </a:r>
            <a:r>
              <a:rPr lang="es-ES" sz="1800" i="1" dirty="0" err="1">
                <a:solidFill>
                  <a:srgbClr val="1F497D"/>
                </a:solidFill>
                <a:effectLst/>
                <a:latin typeface="Arial" panose="020B0604020202020204" pitchFamily="34" charset="0"/>
                <a:ea typeface="Calibri" panose="020F0502020204030204" pitchFamily="34" charset="0"/>
                <a:cs typeface="Times New Roman" panose="02020603050405020304" pitchFamily="18" charset="0"/>
              </a:rPr>
              <a:t>CPanel</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52D5DF74-AE63-46C9-B1C6-999FFE6FBFA6}"/>
              </a:ext>
            </a:extLst>
          </p:cNvPr>
          <p:cNvPicPr/>
          <p:nvPr/>
        </p:nvPicPr>
        <p:blipFill>
          <a:blip r:embed="rId2"/>
          <a:stretch>
            <a:fillRect/>
          </a:stretch>
        </p:blipFill>
        <p:spPr>
          <a:xfrm>
            <a:off x="2810172" y="2388107"/>
            <a:ext cx="4723130" cy="25527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0543B8B0-7E0A-4E3D-8F6D-93267E162DF3}"/>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965725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776226" y="5426917"/>
            <a:ext cx="4280660"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27: Selección del servidor</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
            <a:extLst>
              <a:ext uri="{FF2B5EF4-FFF2-40B4-BE49-F238E27FC236}">
                <a16:creationId xmlns:a16="http://schemas.microsoft.com/office/drawing/2014/main" id="{855ED4DF-A8E9-40E9-9861-7D287D5DC774}"/>
              </a:ext>
            </a:extLst>
          </p:cNvPr>
          <p:cNvPicPr/>
          <p:nvPr/>
        </p:nvPicPr>
        <p:blipFill>
          <a:blip r:embed="rId2"/>
          <a:stretch>
            <a:fillRect/>
          </a:stretch>
        </p:blipFill>
        <p:spPr>
          <a:xfrm>
            <a:off x="2386426" y="2411675"/>
            <a:ext cx="4848225" cy="24587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8C8E9607-44AC-4503-8848-F6026AA7F60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111435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115789" y="5426917"/>
            <a:ext cx="5601534"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28: Ingreso de propiedades de MySQL</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2">
            <a:extLst>
              <a:ext uri="{FF2B5EF4-FFF2-40B4-BE49-F238E27FC236}">
                <a16:creationId xmlns:a16="http://schemas.microsoft.com/office/drawing/2014/main" id="{40936B7A-ACC5-4A63-A308-C624F4977F63}"/>
              </a:ext>
            </a:extLst>
          </p:cNvPr>
          <p:cNvPicPr/>
          <p:nvPr/>
        </p:nvPicPr>
        <p:blipFill>
          <a:blip r:embed="rId2"/>
          <a:stretch>
            <a:fillRect/>
          </a:stretch>
        </p:blipFill>
        <p:spPr>
          <a:xfrm>
            <a:off x="2404037" y="2374618"/>
            <a:ext cx="4876800" cy="2463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DE8B74AB-DBF9-4BBE-AD6F-8C0F22CCE985}"/>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967116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917290" y="5426917"/>
            <a:ext cx="3998532"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30: Nombre de MySQL</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4">
            <a:extLst>
              <a:ext uri="{FF2B5EF4-FFF2-40B4-BE49-F238E27FC236}">
                <a16:creationId xmlns:a16="http://schemas.microsoft.com/office/drawing/2014/main" id="{E2215A88-C0FD-4525-A8AF-32EBD8833422}"/>
              </a:ext>
            </a:extLst>
          </p:cNvPr>
          <p:cNvPicPr/>
          <p:nvPr/>
        </p:nvPicPr>
        <p:blipFill>
          <a:blip r:embed="rId2"/>
          <a:stretch>
            <a:fillRect/>
          </a:stretch>
        </p:blipFill>
        <p:spPr>
          <a:xfrm>
            <a:off x="2406718" y="2866265"/>
            <a:ext cx="5019675" cy="14700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F4E1BC89-024C-4A2D-BCD9-403DA657646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095557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814699" y="5426917"/>
            <a:ext cx="4203715"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31: Creacion de usuarios</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6">
            <a:extLst>
              <a:ext uri="{FF2B5EF4-FFF2-40B4-BE49-F238E27FC236}">
                <a16:creationId xmlns:a16="http://schemas.microsoft.com/office/drawing/2014/main" id="{F2B03799-A9C0-4A64-AD42-614E89AD4DEC}"/>
              </a:ext>
            </a:extLst>
          </p:cNvPr>
          <p:cNvPicPr/>
          <p:nvPr/>
        </p:nvPicPr>
        <p:blipFill>
          <a:blip r:embed="rId2"/>
          <a:stretch>
            <a:fillRect/>
          </a:stretch>
        </p:blipFill>
        <p:spPr>
          <a:xfrm>
            <a:off x="2255975" y="2493382"/>
            <a:ext cx="5244755" cy="22508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F972A886-5BB2-49BC-A3DE-E2DCA9E8CC1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676089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524042" y="5426917"/>
            <a:ext cx="4785029"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32: Actualización de privilegios</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7">
            <a:extLst>
              <a:ext uri="{FF2B5EF4-FFF2-40B4-BE49-F238E27FC236}">
                <a16:creationId xmlns:a16="http://schemas.microsoft.com/office/drawing/2014/main" id="{EFF57816-3C2C-4874-9A5B-E0993C5DE697}"/>
              </a:ext>
            </a:extLst>
          </p:cNvPr>
          <p:cNvPicPr/>
          <p:nvPr/>
        </p:nvPicPr>
        <p:blipFill>
          <a:blip r:embed="rId2"/>
          <a:stretch>
            <a:fillRect/>
          </a:stretch>
        </p:blipFill>
        <p:spPr>
          <a:xfrm>
            <a:off x="2339928" y="2277924"/>
            <a:ext cx="4772025" cy="27527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F26A8850-1DF3-45F0-B3DB-D68B3D3E19D6}"/>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4292624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088025" y="5426917"/>
            <a:ext cx="5657062"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33: Verificación de la creación de la BD</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8">
            <a:extLst>
              <a:ext uri="{FF2B5EF4-FFF2-40B4-BE49-F238E27FC236}">
                <a16:creationId xmlns:a16="http://schemas.microsoft.com/office/drawing/2014/main" id="{BC6383AF-EEEA-4FA6-8508-47B7D9BF9268}"/>
              </a:ext>
            </a:extLst>
          </p:cNvPr>
          <p:cNvPicPr/>
          <p:nvPr/>
        </p:nvPicPr>
        <p:blipFill>
          <a:blip r:embed="rId2"/>
          <a:stretch>
            <a:fillRect/>
          </a:stretch>
        </p:blipFill>
        <p:spPr>
          <a:xfrm>
            <a:off x="2433853" y="2781300"/>
            <a:ext cx="5734879" cy="15124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88B474B3-3460-431B-A5DC-4507C48A9B2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13290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782639" y="5426917"/>
            <a:ext cx="4267835"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34: Conexión con </a:t>
            </a:r>
            <a:r>
              <a:rPr lang="es-ES" sz="1800" i="1" dirty="0" err="1">
                <a:solidFill>
                  <a:srgbClr val="1F497D"/>
                </a:solidFill>
                <a:effectLst/>
                <a:latin typeface="Arial" panose="020B0604020202020204" pitchFamily="34" charset="0"/>
                <a:ea typeface="Calibri" panose="020F0502020204030204" pitchFamily="34" charset="0"/>
                <a:cs typeface="Times New Roman" panose="02020603050405020304" pitchFamily="18" charset="0"/>
              </a:rPr>
              <a:t>Navicat</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9">
            <a:extLst>
              <a:ext uri="{FF2B5EF4-FFF2-40B4-BE49-F238E27FC236}">
                <a16:creationId xmlns:a16="http://schemas.microsoft.com/office/drawing/2014/main" id="{A671DC7B-8A4E-4CA9-8A61-CAB57D5663C5}"/>
              </a:ext>
            </a:extLst>
          </p:cNvPr>
          <p:cNvPicPr/>
          <p:nvPr/>
        </p:nvPicPr>
        <p:blipFill>
          <a:blip r:embed="rId2"/>
          <a:stretch>
            <a:fillRect/>
          </a:stretch>
        </p:blipFill>
        <p:spPr>
          <a:xfrm>
            <a:off x="2229471" y="2284371"/>
            <a:ext cx="4791075" cy="26073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369B49C0-75B6-418C-B527-6A9AF3C8065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511437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1492111" y="6252548"/>
            <a:ext cx="6742873"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35: Ingreso de propiedades para conexión remota</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0">
            <a:extLst>
              <a:ext uri="{FF2B5EF4-FFF2-40B4-BE49-F238E27FC236}">
                <a16:creationId xmlns:a16="http://schemas.microsoft.com/office/drawing/2014/main" id="{DFB11BCC-2430-4D19-913C-9A1DBCF24276}"/>
              </a:ext>
            </a:extLst>
          </p:cNvPr>
          <p:cNvPicPr/>
          <p:nvPr/>
        </p:nvPicPr>
        <p:blipFill>
          <a:blip r:embed="rId2"/>
          <a:stretch>
            <a:fillRect/>
          </a:stretch>
        </p:blipFill>
        <p:spPr>
          <a:xfrm>
            <a:off x="3125986" y="2001092"/>
            <a:ext cx="3475121" cy="42514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5A469057-8B2B-4093-AD9E-8B92937310DA}"/>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274534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658695" y="5426917"/>
            <a:ext cx="4515723"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36: Verificación de conexión</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1">
            <a:extLst>
              <a:ext uri="{FF2B5EF4-FFF2-40B4-BE49-F238E27FC236}">
                <a16:creationId xmlns:a16="http://schemas.microsoft.com/office/drawing/2014/main" id="{B5FCB74A-1128-45DC-9AF5-EA7416BF751C}"/>
              </a:ext>
            </a:extLst>
          </p:cNvPr>
          <p:cNvPicPr/>
          <p:nvPr/>
        </p:nvPicPr>
        <p:blipFill>
          <a:blip r:embed="rId2"/>
          <a:stretch>
            <a:fillRect/>
          </a:stretch>
        </p:blipFill>
        <p:spPr>
          <a:xfrm>
            <a:off x="3343275" y="1976314"/>
            <a:ext cx="2752725" cy="32499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B4E781BB-8528-4483-9F03-DB13A10AB67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543852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667223" y="5426917"/>
            <a:ext cx="4498668"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37: Bases de datos creadas</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2">
            <a:extLst>
              <a:ext uri="{FF2B5EF4-FFF2-40B4-BE49-F238E27FC236}">
                <a16:creationId xmlns:a16="http://schemas.microsoft.com/office/drawing/2014/main" id="{33EFED9A-2762-465E-8FF1-5339FE86405E}"/>
              </a:ext>
            </a:extLst>
          </p:cNvPr>
          <p:cNvPicPr/>
          <p:nvPr/>
        </p:nvPicPr>
        <p:blipFill>
          <a:blip r:embed="rId2"/>
          <a:stretch>
            <a:fillRect/>
          </a:stretch>
        </p:blipFill>
        <p:spPr>
          <a:xfrm>
            <a:off x="4183070" y="2073219"/>
            <a:ext cx="1819275" cy="31356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1908D54B-B8D3-45FE-9423-0EE2BE745F2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73750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1814425" y="5426917"/>
            <a:ext cx="6204264"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40: Ingreso de propiedades para la conexión</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15">
            <a:extLst>
              <a:ext uri="{FF2B5EF4-FFF2-40B4-BE49-F238E27FC236}">
                <a16:creationId xmlns:a16="http://schemas.microsoft.com/office/drawing/2014/main" id="{F0E3C802-FF9F-41C5-A787-A78C1D89CBE2}"/>
              </a:ext>
            </a:extLst>
          </p:cNvPr>
          <p:cNvPicPr/>
          <p:nvPr/>
        </p:nvPicPr>
        <p:blipFill>
          <a:blip r:embed="rId2"/>
          <a:stretch>
            <a:fillRect/>
          </a:stretch>
        </p:blipFill>
        <p:spPr>
          <a:xfrm>
            <a:off x="3002031" y="2023869"/>
            <a:ext cx="3829050" cy="30753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4E712946-5DBE-4D05-962A-CD808F4B8D7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22622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D79B-5C66-4034-A93E-DC063679F85C}"/>
              </a:ext>
            </a:extLst>
          </p:cNvPr>
          <p:cNvSpPr>
            <a:spLocks noGrp="1"/>
          </p:cNvSpPr>
          <p:nvPr>
            <p:ph type="title"/>
          </p:nvPr>
        </p:nvSpPr>
        <p:spPr>
          <a:xfrm>
            <a:off x="764147" y="236120"/>
            <a:ext cx="10396882" cy="1151965"/>
          </a:xfrm>
        </p:spPr>
        <p:txBody>
          <a:bodyPr/>
          <a:lstStyle/>
          <a:p>
            <a:r>
              <a:rPr lang="es-MX" b="1" dirty="0"/>
              <a:t>MYSQL</a:t>
            </a:r>
            <a:endParaRPr lang="en-GB" b="1" dirty="0"/>
          </a:p>
        </p:txBody>
      </p:sp>
      <p:sp>
        <p:nvSpPr>
          <p:cNvPr id="5" name="Rectangle 4">
            <a:extLst>
              <a:ext uri="{FF2B5EF4-FFF2-40B4-BE49-F238E27FC236}">
                <a16:creationId xmlns:a16="http://schemas.microsoft.com/office/drawing/2014/main" id="{7347AD06-4BA6-4DFE-BB47-BEEA406D1A2B}"/>
              </a:ext>
            </a:extLst>
          </p:cNvPr>
          <p:cNvSpPr/>
          <p:nvPr/>
        </p:nvSpPr>
        <p:spPr>
          <a:xfrm>
            <a:off x="2738208" y="4963091"/>
            <a:ext cx="4515723" cy="369332"/>
          </a:xfrm>
          <a:prstGeom prst="rect">
            <a:avLst/>
          </a:prstGeom>
        </p:spPr>
        <p:txBody>
          <a:bodyPr wrap="none">
            <a:spAutoFit/>
          </a:bodyPr>
          <a:lstStyle/>
          <a:p>
            <a:pPr marR="335280" algn="ctr">
              <a:spcAft>
                <a:spcPts val="1000"/>
              </a:spcAft>
            </a:pPr>
            <a:r>
              <a:rPr lang="es-ES" sz="1800" i="1" dirty="0">
                <a:solidFill>
                  <a:srgbClr val="1F497D"/>
                </a:solidFill>
                <a:effectLst/>
                <a:latin typeface="Arial" panose="020B0604020202020204" pitchFamily="34" charset="0"/>
                <a:ea typeface="Calibri" panose="020F0502020204030204" pitchFamily="34" charset="0"/>
                <a:cs typeface="Times New Roman" panose="02020603050405020304" pitchFamily="18" charset="0"/>
              </a:rPr>
              <a:t>Ilustración 41: Verificación de conexión</a:t>
            </a:r>
            <a:endParaRPr lang="es-ES" sz="1800" i="1" dirty="0">
              <a:solidFill>
                <a:srgbClr val="1F497D"/>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16">
            <a:extLst>
              <a:ext uri="{FF2B5EF4-FFF2-40B4-BE49-F238E27FC236}">
                <a16:creationId xmlns:a16="http://schemas.microsoft.com/office/drawing/2014/main" id="{BD61269F-2D8E-493C-BD14-921398BC8DE5}"/>
              </a:ext>
            </a:extLst>
          </p:cNvPr>
          <p:cNvPicPr/>
          <p:nvPr/>
        </p:nvPicPr>
        <p:blipFill>
          <a:blip r:embed="rId2"/>
          <a:stretch>
            <a:fillRect/>
          </a:stretch>
        </p:blipFill>
        <p:spPr>
          <a:xfrm>
            <a:off x="1814425" y="2909348"/>
            <a:ext cx="6894237" cy="13445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78AEFD4A-87E6-4B0A-BA45-DE175908C950}"/>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2400" b="1" dirty="0" err="1">
                <a:solidFill>
                  <a:srgbClr val="FFFF00"/>
                </a:solidFill>
              </a:rPr>
              <a:t>Instalación</a:t>
            </a:r>
            <a:r>
              <a:rPr lang="en-US" sz="2400" b="1" dirty="0">
                <a:solidFill>
                  <a:srgbClr val="FFFF00"/>
                </a:solidFill>
              </a:rPr>
              <a:t> de </a:t>
            </a:r>
            <a:r>
              <a:rPr lang="en-US" sz="2400" b="1" dirty="0" err="1">
                <a:solidFill>
                  <a:srgbClr val="FFFF00"/>
                </a:solidFill>
              </a:rPr>
              <a:t>herramientas</a:t>
            </a:r>
            <a:endParaRPr lang="en-US" sz="2400" b="1" dirty="0">
              <a:solidFill>
                <a:srgbClr val="FFFF00"/>
              </a:solidFill>
            </a:endParaRPr>
          </a:p>
          <a:p>
            <a:pPr>
              <a:lnSpc>
                <a:spcPct val="90000"/>
              </a:lnSpc>
            </a:pPr>
            <a:r>
              <a:rPr lang="en-US" sz="1500" b="1" dirty="0">
                <a:solidFill>
                  <a:schemeClr val="bg1"/>
                </a:solidFill>
              </a:rPr>
              <a:t>Desarrollo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530601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D21AD212-BDAB-4F73-C9F5-C3ED49ED632C}"/>
              </a:ext>
            </a:extLst>
          </p:cNvPr>
          <p:cNvPicPr>
            <a:picLocks noChangeAspect="1"/>
          </p:cNvPicPr>
          <p:nvPr/>
        </p:nvPicPr>
        <p:blipFill>
          <a:blip r:embed="rId3"/>
          <a:stretch>
            <a:fillRect/>
          </a:stretch>
        </p:blipFill>
        <p:spPr>
          <a:xfrm>
            <a:off x="0" y="101600"/>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1723303" y="2101693"/>
            <a:ext cx="10170054" cy="2497215"/>
          </a:xfrm>
        </p:spPr>
        <p:txBody>
          <a:bodyPr rtlCol="0">
            <a:normAutofit/>
          </a:bodyPr>
          <a:lstStyle/>
          <a:p>
            <a:pPr algn="ctr" rtl="0"/>
            <a:r>
              <a:rPr lang="es-ES" sz="6600" dirty="0">
                <a:solidFill>
                  <a:srgbClr val="002060"/>
                </a:solidFill>
                <a:latin typeface="Rockwell" panose="02060603020205020403" pitchFamily="18" charset="0"/>
              </a:rPr>
              <a:t>DESARROLLO DE LA PRÁCTICA</a:t>
            </a:r>
          </a:p>
        </p:txBody>
      </p:sp>
    </p:spTree>
    <p:extLst>
      <p:ext uri="{BB962C8B-B14F-4D97-AF65-F5344CB8AC3E}">
        <p14:creationId xmlns:p14="http://schemas.microsoft.com/office/powerpoint/2010/main" val="24029575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US" b="1" dirty="0"/>
              <a:t>Enunciado</a:t>
            </a:r>
          </a:p>
        </p:txBody>
      </p:sp>
      <p:sp>
        <p:nvSpPr>
          <p:cNvPr id="3" name="Marcador de contenido 2"/>
          <p:cNvSpPr>
            <a:spLocks noGrp="1"/>
          </p:cNvSpPr>
          <p:nvPr>
            <p:ph idx="1"/>
          </p:nvPr>
        </p:nvSpPr>
        <p:spPr>
          <a:xfrm>
            <a:off x="459786" y="2014889"/>
            <a:ext cx="8761590" cy="4551608"/>
          </a:xfrm>
        </p:spPr>
        <p:txBody>
          <a:bodyPr>
            <a:normAutofit fontScale="85000" lnSpcReduction="10000"/>
          </a:bodyPr>
          <a:lstStyle/>
          <a:p>
            <a:r>
              <a:rPr lang="es-US" dirty="0"/>
              <a:t>El presente trabajo académico se desarrolla en el contexto de una institución bancaria que ofrece servicios financieros básicos, tales como consultas de cuentas, depósitos, retiros y transferencias, los cuales son atendidos de manera simultánea a través de múltiples ventanillas de atención. Cada ventanilla dispone de un sistema informático que permite acceder en tiempo real a la información de las cuentas bancarias de los clientes y ejecutar transacciones financieras.</a:t>
            </a:r>
          </a:p>
          <a:p>
            <a:r>
              <a:rPr lang="es-US" dirty="0"/>
              <a:t>El problema principal que se aborda radica en la concurrencia de operaciones, específicamente cuando varios usuarios o cajeros intentan realizar transacciones sobre una misma cuenta bancaria de forma simultánea. Esta situación puede generar inconsistencias en los datos, errores en los saldos y riesgos en la integridad de la información si no se implementan mecanismos adecuados de control y sincronización.</a:t>
            </a:r>
          </a:p>
          <a:p>
            <a:r>
              <a:rPr lang="es-US" dirty="0"/>
              <a:t>Ante este escenario, se plantea la necesidad de diseñar e implementar una solución de software basada en una arquitectura orientada a servicios (SOA) que permita gestionar de manera segura y eficiente las transacciones bancarias, garantizando la exclusión mutua, la consistencia de los datos, la actualización en tiempo real del estado de las cuentas y la correcta sincronización entre múltiples usuarios concurrentes.</a:t>
            </a:r>
          </a:p>
          <a:p>
            <a:r>
              <a:rPr lang="es-US" dirty="0"/>
              <a:t>La solución propuesta debe simular el funcionamiento de los sistemas de ventanilla del banco mediante una aplicación cliente, permitiendo el bloqueo y liberación automática de cuentas durante la ejecución de las transacciones, así como la notificación inmediata a las demás ventanillas sobre el estado de dichas cuentas. De esta manera, se busca automatizar y estandarizar los procesos operativos del banco, asegurando la fiabilidad, integridad y correcto funcionamiento del sistema en un entorno multiusuario.</a:t>
            </a:r>
          </a:p>
        </p:txBody>
      </p:sp>
      <p:sp>
        <p:nvSpPr>
          <p:cNvPr id="4" name="Rectángulo 3">
            <a:extLst>
              <a:ext uri="{FF2B5EF4-FFF2-40B4-BE49-F238E27FC236}">
                <a16:creationId xmlns:a16="http://schemas.microsoft.com/office/drawing/2014/main" id="{8968F405-73B4-4A4A-98EA-93A2A8179C2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886724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88CD9DD7-BD58-4E4B-AA52-8359C83C2240}"/>
              </a:ext>
            </a:extLst>
          </p:cNvPr>
          <p:cNvSpPr/>
          <p:nvPr/>
        </p:nvSpPr>
        <p:spPr>
          <a:xfrm>
            <a:off x="3948390" y="6365668"/>
            <a:ext cx="397711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55 Agregar tablas al proyecto</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n 5">
            <a:extLst>
              <a:ext uri="{FF2B5EF4-FFF2-40B4-BE49-F238E27FC236}">
                <a16:creationId xmlns:a16="http://schemas.microsoft.com/office/drawing/2014/main" id="{BC0E9BCD-D576-43D1-B3BA-1157BDAFDF7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844635" y="2141751"/>
            <a:ext cx="5734050" cy="39719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4D07D812-C486-4DB2-A9A6-48BBC566EEEC}"/>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3896980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70A7F542-EE56-40D8-8156-BD2CC7B8C23C}"/>
              </a:ext>
            </a:extLst>
          </p:cNvPr>
          <p:cNvSpPr/>
          <p:nvPr/>
        </p:nvSpPr>
        <p:spPr>
          <a:xfrm>
            <a:off x="1150762" y="5938567"/>
            <a:ext cx="3654334"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56 Ventana clases entidad</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20B787F6-2623-40C6-AD24-26AFE2FECEB3}"/>
              </a:ext>
            </a:extLst>
          </p:cNvPr>
          <p:cNvSpPr/>
          <p:nvPr/>
        </p:nvSpPr>
        <p:spPr>
          <a:xfrm>
            <a:off x="4805096" y="5171415"/>
            <a:ext cx="5052253"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57 Entidades creadas en el paquete modelo del proyecto</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Imagen 9">
            <a:extLst>
              <a:ext uri="{FF2B5EF4-FFF2-40B4-BE49-F238E27FC236}">
                <a16:creationId xmlns:a16="http://schemas.microsoft.com/office/drawing/2014/main" id="{BD854C7F-0814-4C0F-AB87-147483A9B7C1}"/>
              </a:ext>
            </a:extLst>
          </p:cNvPr>
          <p:cNvPicPr/>
          <p:nvPr/>
        </p:nvPicPr>
        <p:blipFill rotWithShape="1">
          <a:blip r:embed="rId2"/>
          <a:srcRect l="38624" t="7567" r="33730" b="64857"/>
          <a:stretch/>
        </p:blipFill>
        <p:spPr bwMode="auto">
          <a:xfrm>
            <a:off x="530276" y="2131401"/>
            <a:ext cx="4274820" cy="356552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pic>
        <p:nvPicPr>
          <p:cNvPr id="11" name="Imagen 10">
            <a:extLst>
              <a:ext uri="{FF2B5EF4-FFF2-40B4-BE49-F238E27FC236}">
                <a16:creationId xmlns:a16="http://schemas.microsoft.com/office/drawing/2014/main" id="{CCAA4755-3FAF-4169-B6E7-61CE73489E6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310777" y="2621280"/>
            <a:ext cx="2446020" cy="16154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2C73E0A6-DD92-4C9F-ABF9-63223631787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9457230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p>
        </p:txBody>
      </p:sp>
      <p:sp>
        <p:nvSpPr>
          <p:cNvPr id="3" name="Marcador de contenido 2"/>
          <p:cNvSpPr>
            <a:spLocks noGrp="1"/>
          </p:cNvSpPr>
          <p:nvPr>
            <p:ph idx="1"/>
          </p:nvPr>
        </p:nvSpPr>
        <p:spPr>
          <a:xfrm>
            <a:off x="1097281" y="1845734"/>
            <a:ext cx="4508389" cy="711936"/>
          </a:xfrm>
        </p:spPr>
        <p:txBody>
          <a:bodyPr>
            <a:normAutofit/>
          </a:bodyPr>
          <a:lstStyle/>
          <a:p>
            <a:pPr marR="335280"/>
            <a:r>
              <a:rPr lang="es-MX" sz="1800" b="1" i="1" dirty="0">
                <a:effectLst/>
                <a:latin typeface="Arial" panose="020B0604020202020204" pitchFamily="34" charset="0"/>
                <a:ea typeface="Times New Roman" panose="02020603050405020304" pitchFamily="18" charset="0"/>
                <a:cs typeface="Arial" panose="020B0604020202020204" pitchFamily="34" charset="0"/>
              </a:rPr>
              <a:t>Creación del Servidor Soap</a:t>
            </a:r>
            <a:endParaRPr lang="es-ES" sz="1800" b="1" i="1" dirty="0">
              <a:effectLst/>
              <a:latin typeface="Arial" panose="020B0604020202020204" pitchFamily="34" charset="0"/>
              <a:ea typeface="Times New Roman" panose="02020603050405020304" pitchFamily="18" charset="0"/>
              <a:cs typeface="Times New Roman" panose="02020603050405020304" pitchFamily="18" charset="0"/>
            </a:endParaRPr>
          </a:p>
          <a:p>
            <a:pPr algn="just"/>
            <a:endParaRPr lang="es-EC" dirty="0"/>
          </a:p>
        </p:txBody>
      </p:sp>
      <p:sp>
        <p:nvSpPr>
          <p:cNvPr id="4" name="Rectangle 3">
            <a:extLst>
              <a:ext uri="{FF2B5EF4-FFF2-40B4-BE49-F238E27FC236}">
                <a16:creationId xmlns:a16="http://schemas.microsoft.com/office/drawing/2014/main" id="{234FBA9D-2416-4798-938D-C4F329765BAD}"/>
              </a:ext>
            </a:extLst>
          </p:cNvPr>
          <p:cNvSpPr/>
          <p:nvPr/>
        </p:nvSpPr>
        <p:spPr>
          <a:xfrm>
            <a:off x="1594618" y="5673443"/>
            <a:ext cx="3632593" cy="646331"/>
          </a:xfrm>
          <a:prstGeom prst="rect">
            <a:avLst/>
          </a:prstGeom>
        </p:spPr>
        <p:txBody>
          <a:bodyPr wrap="squar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58 creación de la aplicación servidor</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9" name="Imagen 8">
            <a:extLst>
              <a:ext uri="{FF2B5EF4-FFF2-40B4-BE49-F238E27FC236}">
                <a16:creationId xmlns:a16="http://schemas.microsoft.com/office/drawing/2014/main" id="{BE9E3939-840B-42ED-BB4F-8EAD1322FCA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22173" y="2288604"/>
            <a:ext cx="4410075" cy="3054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ángulo 6">
            <a:extLst>
              <a:ext uri="{FF2B5EF4-FFF2-40B4-BE49-F238E27FC236}">
                <a16:creationId xmlns:a16="http://schemas.microsoft.com/office/drawing/2014/main" id="{A25C1BA6-3DA6-4615-9515-B39CFDBECE5F}"/>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7238044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5" name="Marcador de contenido 2"/>
          <p:cNvSpPr>
            <a:spLocks noGrp="1"/>
          </p:cNvSpPr>
          <p:nvPr>
            <p:ph idx="1"/>
          </p:nvPr>
        </p:nvSpPr>
        <p:spPr>
          <a:xfrm>
            <a:off x="1097280" y="1845734"/>
            <a:ext cx="5860111" cy="751692"/>
          </a:xfrm>
        </p:spPr>
        <p:txBody>
          <a:bodyPr/>
          <a:lstStyle/>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Colocar el nombre respectivo del proyecto nuevo</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FEDE901-F671-46F7-9E10-732630D7B17F}"/>
              </a:ext>
            </a:extLst>
          </p:cNvPr>
          <p:cNvSpPr/>
          <p:nvPr/>
        </p:nvSpPr>
        <p:spPr>
          <a:xfrm>
            <a:off x="3922392" y="6418997"/>
            <a:ext cx="434721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59 Seleccionar entidades para JSF</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18">
            <a:extLst>
              <a:ext uri="{FF2B5EF4-FFF2-40B4-BE49-F238E27FC236}">
                <a16:creationId xmlns:a16="http://schemas.microsoft.com/office/drawing/2014/main" id="{7A8F179E-4EEB-415A-9C91-87E01DC39E4E}"/>
              </a:ext>
            </a:extLst>
          </p:cNvPr>
          <p:cNvPicPr/>
          <p:nvPr/>
        </p:nvPicPr>
        <p:blipFill>
          <a:blip r:embed="rId2"/>
          <a:stretch>
            <a:fillRect/>
          </a:stretch>
        </p:blipFill>
        <p:spPr>
          <a:xfrm>
            <a:off x="2207805" y="2729272"/>
            <a:ext cx="4457700" cy="30626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ángulo 7">
            <a:extLst>
              <a:ext uri="{FF2B5EF4-FFF2-40B4-BE49-F238E27FC236}">
                <a16:creationId xmlns:a16="http://schemas.microsoft.com/office/drawing/2014/main" id="{B728913F-1C87-484C-BBC5-4D9B643FBFFD}"/>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1824028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40CDCFC4-0E71-46D2-AB83-933F60704314}"/>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B9CE4086-F1FA-4DCE-B9F6-E0A45C4CA4B3}"/>
              </a:ext>
            </a:extLst>
          </p:cNvPr>
          <p:cNvSpPr/>
          <p:nvPr/>
        </p:nvSpPr>
        <p:spPr>
          <a:xfrm>
            <a:off x="3357145" y="6067862"/>
            <a:ext cx="436452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60 Generar JSF y clases en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Facade</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19">
            <a:extLst>
              <a:ext uri="{FF2B5EF4-FFF2-40B4-BE49-F238E27FC236}">
                <a16:creationId xmlns:a16="http://schemas.microsoft.com/office/drawing/2014/main" id="{E45AA5E1-FA92-466E-BD36-93332402E13A}"/>
              </a:ext>
            </a:extLst>
          </p:cNvPr>
          <p:cNvPicPr/>
          <p:nvPr/>
        </p:nvPicPr>
        <p:blipFill>
          <a:blip r:embed="rId2"/>
          <a:stretch>
            <a:fillRect/>
          </a:stretch>
        </p:blipFill>
        <p:spPr>
          <a:xfrm>
            <a:off x="3013635" y="2597426"/>
            <a:ext cx="4364527" cy="29942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Marcador de contenido 2">
            <a:extLst>
              <a:ext uri="{FF2B5EF4-FFF2-40B4-BE49-F238E27FC236}">
                <a16:creationId xmlns:a16="http://schemas.microsoft.com/office/drawing/2014/main" id="{69FCEAE0-545F-4688-9B62-4592F4A443CE}"/>
              </a:ext>
            </a:extLst>
          </p:cNvPr>
          <p:cNvSpPr>
            <a:spLocks noGrp="1"/>
          </p:cNvSpPr>
          <p:nvPr>
            <p:ph idx="1"/>
          </p:nvPr>
        </p:nvSpPr>
        <p:spPr>
          <a:xfrm>
            <a:off x="1097280" y="1845734"/>
            <a:ext cx="5860111" cy="751692"/>
          </a:xfrm>
        </p:spPr>
        <p:txBody>
          <a:bodyPr/>
          <a:lstStyle/>
          <a:p>
            <a:pPr indent="4495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Creado el proyecto vamos a crear el pool de conexiones</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076EA80B-2FB4-4079-886F-9E46C82447E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Tree>
    <p:extLst>
      <p:ext uri="{BB962C8B-B14F-4D97-AF65-F5344CB8AC3E}">
        <p14:creationId xmlns:p14="http://schemas.microsoft.com/office/powerpoint/2010/main" val="2933443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2C08A-9366-F4D8-8E93-5A82E71F81EC}"/>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789D167D-630E-0515-5F54-13DA389464FC}"/>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B94795CE-2F2A-4774-CD0B-F23CF2011CAF}"/>
              </a:ext>
            </a:extLst>
          </p:cNvPr>
          <p:cNvSpPr/>
          <p:nvPr/>
        </p:nvSpPr>
        <p:spPr>
          <a:xfrm>
            <a:off x="3357145" y="6067862"/>
            <a:ext cx="4364528"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60 Generar JSF y clases en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Facade</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Marcador de contenido 2">
            <a:extLst>
              <a:ext uri="{FF2B5EF4-FFF2-40B4-BE49-F238E27FC236}">
                <a16:creationId xmlns:a16="http://schemas.microsoft.com/office/drawing/2014/main" id="{4C65EC23-8F48-06B5-753C-9788A1A0DCE3}"/>
              </a:ext>
            </a:extLst>
          </p:cNvPr>
          <p:cNvSpPr>
            <a:spLocks noGrp="1"/>
          </p:cNvSpPr>
          <p:nvPr>
            <p:ph idx="1"/>
          </p:nvPr>
        </p:nvSpPr>
        <p:spPr>
          <a:xfrm>
            <a:off x="1097280" y="1845734"/>
            <a:ext cx="5860111" cy="751692"/>
          </a:xfrm>
        </p:spPr>
        <p:txBody>
          <a:bodyPr/>
          <a:lstStyle/>
          <a:p>
            <a:pPr indent="4495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Creamos las carpetas con sus respectivos archivos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CD845F26-BE24-28E7-902F-5DE41342DDC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6" name="Imagen 5">
            <a:extLst>
              <a:ext uri="{FF2B5EF4-FFF2-40B4-BE49-F238E27FC236}">
                <a16:creationId xmlns:a16="http://schemas.microsoft.com/office/drawing/2014/main" id="{4CB8BAA7-3855-0734-6C0D-E69FB9A7B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6614" y="3185633"/>
            <a:ext cx="2472739" cy="2493735"/>
          </a:xfrm>
          <a:prstGeom prst="rect">
            <a:avLst/>
          </a:prstGeom>
        </p:spPr>
      </p:pic>
    </p:spTree>
    <p:extLst>
      <p:ext uri="{BB962C8B-B14F-4D97-AF65-F5344CB8AC3E}">
        <p14:creationId xmlns:p14="http://schemas.microsoft.com/office/powerpoint/2010/main" val="3045507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D40EE-F9C4-4BF0-CA0E-C9AEF63401E6}"/>
            </a:ext>
          </a:extLst>
        </p:cNvPr>
        <p:cNvGrpSpPr/>
        <p:nvPr/>
      </p:nvGrpSpPr>
      <p:grpSpPr>
        <a:xfrm>
          <a:off x="0" y="0"/>
          <a:ext cx="0" cy="0"/>
          <a:chOff x="0" y="0"/>
          <a:chExt cx="0" cy="0"/>
        </a:xfrm>
      </p:grpSpPr>
      <p:sp>
        <p:nvSpPr>
          <p:cNvPr id="7" name="Título 1">
            <a:extLst>
              <a:ext uri="{FF2B5EF4-FFF2-40B4-BE49-F238E27FC236}">
                <a16:creationId xmlns:a16="http://schemas.microsoft.com/office/drawing/2014/main" id="{11737412-F054-25A5-ECCA-E7C12D143122}"/>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C" b="1" dirty="0">
                <a:solidFill>
                  <a:schemeClr val="bg1"/>
                </a:solidFill>
              </a:rPr>
              <a:t>DESARROLLO</a:t>
            </a:r>
          </a:p>
        </p:txBody>
      </p:sp>
      <p:sp>
        <p:nvSpPr>
          <p:cNvPr id="2" name="Rectangle 1">
            <a:extLst>
              <a:ext uri="{FF2B5EF4-FFF2-40B4-BE49-F238E27FC236}">
                <a16:creationId xmlns:a16="http://schemas.microsoft.com/office/drawing/2014/main" id="{5DC7287B-7ADA-F8F6-E2FF-90BE400BFD01}"/>
              </a:ext>
            </a:extLst>
          </p:cNvPr>
          <p:cNvSpPr/>
          <p:nvPr/>
        </p:nvSpPr>
        <p:spPr>
          <a:xfrm>
            <a:off x="4005979" y="6067862"/>
            <a:ext cx="3066866"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60 Agregar librerías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Marcador de contenido 2">
            <a:extLst>
              <a:ext uri="{FF2B5EF4-FFF2-40B4-BE49-F238E27FC236}">
                <a16:creationId xmlns:a16="http://schemas.microsoft.com/office/drawing/2014/main" id="{2F35E4B8-1FCA-984B-DE8B-AB2B07291251}"/>
              </a:ext>
            </a:extLst>
          </p:cNvPr>
          <p:cNvSpPr>
            <a:spLocks noGrp="1"/>
          </p:cNvSpPr>
          <p:nvPr>
            <p:ph idx="1"/>
          </p:nvPr>
        </p:nvSpPr>
        <p:spPr>
          <a:xfrm>
            <a:off x="1097280" y="1845734"/>
            <a:ext cx="8234289" cy="1213990"/>
          </a:xfrm>
        </p:spPr>
        <p:txBody>
          <a:bodyPr>
            <a:normAutofit fontScale="77500" lnSpcReduction="20000"/>
          </a:bodyPr>
          <a:lstStyle/>
          <a:p>
            <a:pPr marL="0" indent="0">
              <a:buNone/>
            </a:pPr>
            <a:r>
              <a:rPr lang="es-US" dirty="0"/>
              <a:t>Luego agregaremos las siguientes librerías al proyecto:</a:t>
            </a:r>
          </a:p>
          <a:p>
            <a:r>
              <a:rPr lang="es-EC" dirty="0" err="1"/>
              <a:t>Gson</a:t>
            </a:r>
            <a:r>
              <a:rPr lang="es-EC" dirty="0"/>
              <a:t> (gson-2.10.1.jar): Se utiliza para enviar y recibir información entre el cliente y los servicios REST, ya que los servicios trabajan con datos en formato JSON.</a:t>
            </a:r>
          </a:p>
          <a:p>
            <a:r>
              <a:rPr lang="es-US" dirty="0"/>
              <a:t>MySQL </a:t>
            </a:r>
            <a:r>
              <a:rPr lang="es-US" dirty="0" err="1"/>
              <a:t>Connector</a:t>
            </a:r>
            <a:r>
              <a:rPr lang="es-US" dirty="0"/>
              <a:t> (mysql-connector-java-8.0.17.jar): </a:t>
            </a:r>
            <a:r>
              <a:rPr lang="es-EC" dirty="0"/>
              <a:t>Se utiliza para realizar operaciones como consultar, insertar y actualizar información bancaria en la base de datos </a:t>
            </a:r>
            <a:r>
              <a:rPr lang="es-EC" dirty="0" err="1"/>
              <a:t>MySQ</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9EA5E70A-86AF-94F4-EB30-F89D920A5132}"/>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5" name="Imagen 4">
            <a:extLst>
              <a:ext uri="{FF2B5EF4-FFF2-40B4-BE49-F238E27FC236}">
                <a16:creationId xmlns:a16="http://schemas.microsoft.com/office/drawing/2014/main" id="{6B8C0D5C-F622-1895-43B2-EAB0FBB6D8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6391" y="3429000"/>
            <a:ext cx="3556000" cy="2333625"/>
          </a:xfrm>
          <a:prstGeom prst="rect">
            <a:avLst/>
          </a:prstGeom>
        </p:spPr>
      </p:pic>
    </p:spTree>
    <p:extLst>
      <p:ext uri="{BB962C8B-B14F-4D97-AF65-F5344CB8AC3E}">
        <p14:creationId xmlns:p14="http://schemas.microsoft.com/office/powerpoint/2010/main" val="2753532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endParaRPr lang="es-EC" dirty="0"/>
          </a:p>
        </p:txBody>
      </p:sp>
      <p:sp>
        <p:nvSpPr>
          <p:cNvPr id="3" name="Marcador de contenido 2"/>
          <p:cNvSpPr>
            <a:spLocks noGrp="1"/>
          </p:cNvSpPr>
          <p:nvPr>
            <p:ph idx="1"/>
          </p:nvPr>
        </p:nvSpPr>
        <p:spPr>
          <a:xfrm>
            <a:off x="968735" y="2027583"/>
            <a:ext cx="6156460" cy="1225566"/>
          </a:xfrm>
        </p:spPr>
        <p:txBody>
          <a:bodyPr>
            <a:normAutofit/>
          </a:bodyPr>
          <a:lstStyle/>
          <a:p>
            <a:r>
              <a:rPr lang="es-EC" b="1" dirty="0"/>
              <a:t>Testeo</a:t>
            </a:r>
          </a:p>
          <a:p>
            <a:r>
              <a:rPr lang="es-EC" dirty="0"/>
              <a:t>Se crean los archivos para poder realizar pruebas y comprobar que todo esta funcionando correctamente </a:t>
            </a:r>
          </a:p>
        </p:txBody>
      </p:sp>
      <p:sp>
        <p:nvSpPr>
          <p:cNvPr id="5" name="Rectangle 4">
            <a:extLst>
              <a:ext uri="{FF2B5EF4-FFF2-40B4-BE49-F238E27FC236}">
                <a16:creationId xmlns:a16="http://schemas.microsoft.com/office/drawing/2014/main" id="{59369DF8-3DF4-403E-BC30-967708AEFA7D}"/>
              </a:ext>
            </a:extLst>
          </p:cNvPr>
          <p:cNvSpPr/>
          <p:nvPr/>
        </p:nvSpPr>
        <p:spPr>
          <a:xfrm>
            <a:off x="4067174" y="6155844"/>
            <a:ext cx="2257349"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65 </a:t>
            </a:r>
            <a:r>
              <a:rPr lang="es-ES" i="1" dirty="0" err="1">
                <a:solidFill>
                  <a:srgbClr val="44546A"/>
                </a:solidFill>
                <a:latin typeface="Calibri" panose="020F0502020204030204" pitchFamily="34" charset="0"/>
                <a:ea typeface="Calibri" panose="020F0502020204030204" pitchFamily="34" charset="0"/>
                <a:cs typeface="Times New Roman" panose="02020603050405020304" pitchFamily="18" charset="0"/>
              </a:rPr>
              <a:t>Preubas</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ángulo 10">
            <a:extLst>
              <a:ext uri="{FF2B5EF4-FFF2-40B4-BE49-F238E27FC236}">
                <a16:creationId xmlns:a16="http://schemas.microsoft.com/office/drawing/2014/main" id="{7772DDE1-6235-43A7-8119-D304F5365D90}"/>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6" name="Imagen 5" descr="Interfaz de usuario gráfica, Texto, Chat o mensaje de texto&#10;&#10;El contenido generado por IA puede ser incorrecto.">
            <a:extLst>
              <a:ext uri="{FF2B5EF4-FFF2-40B4-BE49-F238E27FC236}">
                <a16:creationId xmlns:a16="http://schemas.microsoft.com/office/drawing/2014/main" id="{0892003A-B2D4-A7FE-74A6-24A269685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2973" y="3564776"/>
            <a:ext cx="4386420" cy="1908788"/>
          </a:xfrm>
          <a:prstGeom prst="rect">
            <a:avLst/>
          </a:prstGeom>
        </p:spPr>
      </p:pic>
    </p:spTree>
    <p:extLst>
      <p:ext uri="{BB962C8B-B14F-4D97-AF65-F5344CB8AC3E}">
        <p14:creationId xmlns:p14="http://schemas.microsoft.com/office/powerpoint/2010/main" val="10205175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C" b="1" dirty="0"/>
              <a:t>DESARROLLO</a:t>
            </a:r>
            <a:endParaRPr lang="es-EC" dirty="0"/>
          </a:p>
        </p:txBody>
      </p:sp>
      <p:sp>
        <p:nvSpPr>
          <p:cNvPr id="3" name="Marcador de contenido 2"/>
          <p:cNvSpPr>
            <a:spLocks noGrp="1"/>
          </p:cNvSpPr>
          <p:nvPr>
            <p:ph idx="1"/>
          </p:nvPr>
        </p:nvSpPr>
        <p:spPr>
          <a:xfrm>
            <a:off x="1097281" y="2012199"/>
            <a:ext cx="4705004" cy="3142519"/>
          </a:xfrm>
        </p:spPr>
        <p:txBody>
          <a:bodyPr/>
          <a:lstStyle/>
          <a:p>
            <a:r>
              <a:rPr lang="es-EC" b="1" dirty="0"/>
              <a:t>CREACIÓN DEL CLIENTE.</a:t>
            </a:r>
          </a:p>
          <a:p>
            <a:r>
              <a:rPr lang="es-EC" dirty="0"/>
              <a:t>Se crea una aplicación en visual </a:t>
            </a:r>
            <a:r>
              <a:rPr lang="es-EC" dirty="0" err="1"/>
              <a:t>code</a:t>
            </a:r>
            <a:r>
              <a:rPr lang="es-EC" dirty="0"/>
              <a:t> </a:t>
            </a:r>
          </a:p>
          <a:p>
            <a:endParaRPr lang="es-EC" dirty="0"/>
          </a:p>
          <a:p>
            <a:endParaRPr lang="es-EC" dirty="0"/>
          </a:p>
          <a:p>
            <a:endParaRPr lang="es-EC" dirty="0"/>
          </a:p>
          <a:p>
            <a:pPr marL="0" indent="0">
              <a:buNone/>
            </a:pPr>
            <a:endParaRPr lang="es-EC" dirty="0"/>
          </a:p>
          <a:p>
            <a:pPr marL="0" indent="0">
              <a:buNone/>
            </a:pPr>
            <a:endParaRPr lang="es-EC" dirty="0"/>
          </a:p>
          <a:p>
            <a:endParaRPr lang="es-EC" dirty="0"/>
          </a:p>
        </p:txBody>
      </p:sp>
      <p:sp>
        <p:nvSpPr>
          <p:cNvPr id="4" name="Rectangle 3">
            <a:extLst>
              <a:ext uri="{FF2B5EF4-FFF2-40B4-BE49-F238E27FC236}">
                <a16:creationId xmlns:a16="http://schemas.microsoft.com/office/drawing/2014/main" id="{9B212EB4-9EE5-49E3-804E-7B7F5B47BF8A}"/>
              </a:ext>
            </a:extLst>
          </p:cNvPr>
          <p:cNvSpPr/>
          <p:nvPr/>
        </p:nvSpPr>
        <p:spPr>
          <a:xfrm>
            <a:off x="3239809" y="6381831"/>
            <a:ext cx="3114955" cy="369332"/>
          </a:xfrm>
          <a:prstGeom prst="rect">
            <a:avLst/>
          </a:prstGeom>
        </p:spPr>
        <p:txBody>
          <a:bodyPr wrap="none">
            <a:spAutoFit/>
          </a:bodyPr>
          <a:lstStyle/>
          <a:p>
            <a:pPr algn="ctr">
              <a:spcAft>
                <a:spcPts val="1000"/>
              </a:spcAft>
            </a:pPr>
            <a:r>
              <a:rPr lang="es-ES"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Ilustración 66 Nueva Aplicación</a:t>
            </a:r>
            <a:endParaRPr lang="en-US" i="1"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ángulo 7">
            <a:extLst>
              <a:ext uri="{FF2B5EF4-FFF2-40B4-BE49-F238E27FC236}">
                <a16:creationId xmlns:a16="http://schemas.microsoft.com/office/drawing/2014/main" id="{507ED413-E2B8-411E-BBC5-904B778862FE}"/>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pic>
        <p:nvPicPr>
          <p:cNvPr id="5" name="Imagen 4">
            <a:extLst>
              <a:ext uri="{FF2B5EF4-FFF2-40B4-BE49-F238E27FC236}">
                <a16:creationId xmlns:a16="http://schemas.microsoft.com/office/drawing/2014/main" id="{C5C0C85A-99CC-42AF-2465-1FB35FF063B1}"/>
              </a:ext>
            </a:extLst>
          </p:cNvPr>
          <p:cNvPicPr>
            <a:picLocks noChangeAspect="1"/>
          </p:cNvPicPr>
          <p:nvPr/>
        </p:nvPicPr>
        <p:blipFill rotWithShape="1">
          <a:blip r:embed="rId2">
            <a:extLst>
              <a:ext uri="{28A0092B-C50C-407E-A947-70E740481C1C}">
                <a14:useLocalDpi xmlns:a14="http://schemas.microsoft.com/office/drawing/2010/main" val="0"/>
              </a:ext>
            </a:extLst>
          </a:blip>
          <a:srcRect b="28053"/>
          <a:stretch>
            <a:fillRect/>
          </a:stretch>
        </p:blipFill>
        <p:spPr bwMode="auto">
          <a:xfrm>
            <a:off x="4144300" y="3325895"/>
            <a:ext cx="1657985" cy="25812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70338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2A12A354-55E9-1D2A-58A8-B8E9E02BE269}"/>
              </a:ext>
            </a:extLst>
          </p:cNvPr>
          <p:cNvPicPr>
            <a:picLocks noChangeAspect="1"/>
          </p:cNvPicPr>
          <p:nvPr/>
        </p:nvPicPr>
        <p:blipFill>
          <a:blip r:embed="rId3"/>
          <a:stretch>
            <a:fillRect/>
          </a:stretch>
        </p:blipFill>
        <p:spPr>
          <a:xfrm>
            <a:off x="0" y="101600"/>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1351302" y="857389"/>
            <a:ext cx="10170054" cy="2497215"/>
          </a:xfrm>
        </p:spPr>
        <p:txBody>
          <a:bodyPr rtlCol="0">
            <a:normAutofit/>
          </a:bodyPr>
          <a:lstStyle/>
          <a:p>
            <a:pPr algn="ctr" rtl="0"/>
            <a:r>
              <a:rPr lang="es-ES" sz="6600" dirty="0">
                <a:solidFill>
                  <a:srgbClr val="002060"/>
                </a:solidFill>
                <a:latin typeface="Rockwell" panose="02060603020205020403" pitchFamily="18" charset="0"/>
              </a:rPr>
              <a:t>Funcionalidad</a:t>
            </a:r>
          </a:p>
        </p:txBody>
      </p:sp>
      <p:sp>
        <p:nvSpPr>
          <p:cNvPr id="6" name="Marcador de contenido 5">
            <a:extLst>
              <a:ext uri="{FF2B5EF4-FFF2-40B4-BE49-F238E27FC236}">
                <a16:creationId xmlns:a16="http://schemas.microsoft.com/office/drawing/2014/main" id="{DCFB565E-3AF7-5E01-B5F2-93744A7EF593}"/>
              </a:ext>
            </a:extLst>
          </p:cNvPr>
          <p:cNvSpPr>
            <a:spLocks noGrp="1"/>
          </p:cNvSpPr>
          <p:nvPr>
            <p:ph idx="1"/>
          </p:nvPr>
        </p:nvSpPr>
        <p:spPr/>
        <p:txBody>
          <a:bodyPr/>
          <a:lstStyle/>
          <a:p>
            <a:endParaRPr lang="es-MX" dirty="0"/>
          </a:p>
        </p:txBody>
      </p:sp>
    </p:spTree>
    <p:extLst>
      <p:ext uri="{BB962C8B-B14F-4D97-AF65-F5344CB8AC3E}">
        <p14:creationId xmlns:p14="http://schemas.microsoft.com/office/powerpoint/2010/main" val="14623703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Cuenta 1  bloqueada</a:t>
            </a:r>
            <a:endParaRPr lang="es-EC" dirty="0"/>
          </a:p>
        </p:txBody>
      </p:sp>
      <p:sp>
        <p:nvSpPr>
          <p:cNvPr id="10" name="Rectángulo 9">
            <a:extLst>
              <a:ext uri="{FF2B5EF4-FFF2-40B4-BE49-F238E27FC236}">
                <a16:creationId xmlns:a16="http://schemas.microsoft.com/office/drawing/2014/main" id="{44C9D976-0589-4AD6-98D0-610FEDE088B1}"/>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6" name="Rectangle 2">
            <a:extLst>
              <a:ext uri="{FF2B5EF4-FFF2-40B4-BE49-F238E27FC236}">
                <a16:creationId xmlns:a16="http://schemas.microsoft.com/office/drawing/2014/main" id="{ED674506-8BAA-A340-AE1F-DEEAEA9A4B5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9" name="Rectangle 3">
            <a:extLst>
              <a:ext uri="{FF2B5EF4-FFF2-40B4-BE49-F238E27FC236}">
                <a16:creationId xmlns:a16="http://schemas.microsoft.com/office/drawing/2014/main" id="{061B7AD3-6F39-944F-9E52-A782DD555530}"/>
              </a:ext>
            </a:extLst>
          </p:cNvPr>
          <p:cNvSpPr>
            <a:spLocks noChangeArrowheads="1"/>
          </p:cNvSpPr>
          <p:nvPr/>
        </p:nvSpPr>
        <p:spPr bwMode="auto">
          <a:xfrm>
            <a:off x="-893619" y="60221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87 Tarea tasas de inter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s</a:t>
            </a:r>
            <a:endParaRPr kumimoji="0" lang="es-ES" altLang="es-EC" sz="1800" b="0" i="0" u="none" strike="noStrike" cap="none" normalizeH="0" baseline="0" dirty="0">
              <a:ln>
                <a:noFill/>
              </a:ln>
              <a:solidFill>
                <a:schemeClr val="tx1"/>
              </a:solidFill>
              <a:effectLst/>
              <a:latin typeface="Arial" panose="020B0604020202020204" pitchFamily="34" charset="0"/>
            </a:endParaRPr>
          </a:p>
        </p:txBody>
      </p:sp>
      <p:pic>
        <p:nvPicPr>
          <p:cNvPr id="3" name="Imagen 2">
            <a:extLst>
              <a:ext uri="{FF2B5EF4-FFF2-40B4-BE49-F238E27FC236}">
                <a16:creationId xmlns:a16="http://schemas.microsoft.com/office/drawing/2014/main" id="{29E6161B-EF36-89C6-838B-DC2146B4917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09320" y="2005964"/>
            <a:ext cx="6986700" cy="3682313"/>
          </a:xfrm>
          <a:prstGeom prst="rect">
            <a:avLst/>
          </a:prstGeom>
          <a:noFill/>
          <a:ln>
            <a:noFill/>
          </a:ln>
        </p:spPr>
      </p:pic>
    </p:spTree>
    <p:extLst>
      <p:ext uri="{BB962C8B-B14F-4D97-AF65-F5344CB8AC3E}">
        <p14:creationId xmlns:p14="http://schemas.microsoft.com/office/powerpoint/2010/main" val="26793683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Cuenta 2 Bloqueada</a:t>
            </a:r>
            <a:endParaRPr lang="es-EC" dirty="0"/>
          </a:p>
        </p:txBody>
      </p:sp>
      <p:sp>
        <p:nvSpPr>
          <p:cNvPr id="11" name="Rectángulo 10">
            <a:extLst>
              <a:ext uri="{FF2B5EF4-FFF2-40B4-BE49-F238E27FC236}">
                <a16:creationId xmlns:a16="http://schemas.microsoft.com/office/drawing/2014/main" id="{120DB7BE-3743-405C-A684-FC611B11610F}"/>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2400" b="1" dirty="0">
                <a:solidFill>
                  <a:srgbClr val="FFFF00"/>
                </a:solidFill>
              </a:rPr>
              <a:t>Desarrollo</a:t>
            </a:r>
            <a:r>
              <a:rPr lang="en-US" sz="1500" b="1" dirty="0">
                <a:solidFill>
                  <a:schemeClr val="bg1"/>
                </a:solidFill>
              </a:rPr>
              <a:t> </a:t>
            </a:r>
          </a:p>
          <a:p>
            <a:pPr>
              <a:lnSpc>
                <a:spcPct val="90000"/>
              </a:lnSpc>
            </a:pPr>
            <a:r>
              <a:rPr lang="en-US" sz="1500" b="1" dirty="0" err="1">
                <a:solidFill>
                  <a:schemeClr val="bg1"/>
                </a:solidFill>
              </a:rPr>
              <a:t>Funcionalidad</a:t>
            </a:r>
            <a:endParaRPr lang="en-US" sz="1500" b="1" dirty="0">
              <a:solidFill>
                <a:schemeClr val="bg1"/>
              </a:solidFill>
            </a:endParaRPr>
          </a:p>
          <a:p>
            <a:pPr>
              <a:lnSpc>
                <a:spcPct val="90000"/>
              </a:lnSpc>
            </a:pPr>
            <a:r>
              <a:rPr lang="en-US" sz="1500" b="1" dirty="0" err="1">
                <a:solidFill>
                  <a:schemeClr val="bg1"/>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6" name="Rectangle 2">
            <a:extLst>
              <a:ext uri="{FF2B5EF4-FFF2-40B4-BE49-F238E27FC236}">
                <a16:creationId xmlns:a16="http://schemas.microsoft.com/office/drawing/2014/main" id="{95375B5E-3966-F84A-9A76-2978A33C753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C"/>
          </a:p>
        </p:txBody>
      </p:sp>
      <p:sp>
        <p:nvSpPr>
          <p:cNvPr id="7" name="Rectangle 3">
            <a:extLst>
              <a:ext uri="{FF2B5EF4-FFF2-40B4-BE49-F238E27FC236}">
                <a16:creationId xmlns:a16="http://schemas.microsoft.com/office/drawing/2014/main" id="{B46FE7FA-0C64-C64F-83FF-F30AA19EE0F4}"/>
              </a:ext>
            </a:extLst>
          </p:cNvPr>
          <p:cNvSpPr>
            <a:spLocks noChangeArrowheads="1"/>
          </p:cNvSpPr>
          <p:nvPr/>
        </p:nvSpPr>
        <p:spPr bwMode="auto">
          <a:xfrm>
            <a:off x="4676771" y="5911311"/>
            <a:ext cx="210185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Ilustraci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88 Confirmaci</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ó</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n de cr</a:t>
            </a:r>
            <a:r>
              <a:rPr kumimoji="0" lang="es-ES" altLang="es-EC" sz="900" b="0" i="1" u="none" strike="noStrike" cap="none" normalizeH="0" baseline="0" dirty="0">
                <a:ln>
                  <a:noFill/>
                </a:ln>
                <a:solidFill>
                  <a:srgbClr val="1F497D"/>
                </a:solidFill>
                <a:effectLst/>
                <a:latin typeface="Calibri" panose="020F0502020204030204" pitchFamily="34" charset="0"/>
                <a:ea typeface="Calibri" panose="020F0502020204030204" pitchFamily="34" charset="0"/>
                <a:cs typeface="Arial" panose="020B0604020202020204" pitchFamily="34" charset="0"/>
              </a:rPr>
              <a:t>é</a:t>
            </a:r>
            <a:r>
              <a:rPr kumimoji="0" lang="es-ES" altLang="es-EC" sz="900" b="0" i="1" u="none" strike="noStrike" cap="none" normalizeH="0" baseline="0" dirty="0">
                <a:ln>
                  <a:noFill/>
                </a:ln>
                <a:solidFill>
                  <a:srgbClr val="1F497D"/>
                </a:solidFill>
                <a:effectLst/>
                <a:latin typeface="Arial" panose="020B0604020202020204" pitchFamily="34" charset="0"/>
                <a:ea typeface="Calibri" panose="020F0502020204030204" pitchFamily="34" charset="0"/>
                <a:cs typeface="Arial" panose="020B0604020202020204" pitchFamily="34" charset="0"/>
              </a:rPr>
              <a:t>dito</a:t>
            </a:r>
            <a:endParaRPr kumimoji="0" lang="es-ES" altLang="es-EC" sz="1800" b="0" i="1" u="none" strike="noStrike" cap="none" normalizeH="0" baseline="0" dirty="0">
              <a:ln>
                <a:noFill/>
              </a:ln>
              <a:solidFill>
                <a:schemeClr val="tx1"/>
              </a:solidFill>
              <a:effectLst/>
              <a:latin typeface="Arial" panose="020B0604020202020204" pitchFamily="34" charset="0"/>
            </a:endParaRPr>
          </a:p>
        </p:txBody>
      </p:sp>
      <p:pic>
        <p:nvPicPr>
          <p:cNvPr id="3" name="Imagen 2" descr="Una captura de pantalla de un celular&#10;&#10;El contenido generado por IA puede ser incorrecto.">
            <a:extLst>
              <a:ext uri="{FF2B5EF4-FFF2-40B4-BE49-F238E27FC236}">
                <a16:creationId xmlns:a16="http://schemas.microsoft.com/office/drawing/2014/main" id="{4243B243-C76B-6344-05CC-3CCED5E6331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169" y="1960912"/>
            <a:ext cx="6872217" cy="3828045"/>
          </a:xfrm>
          <a:prstGeom prst="rect">
            <a:avLst/>
          </a:prstGeom>
          <a:noFill/>
          <a:ln>
            <a:noFill/>
          </a:ln>
        </p:spPr>
      </p:pic>
    </p:spTree>
    <p:extLst>
      <p:ext uri="{BB962C8B-B14F-4D97-AF65-F5344CB8AC3E}">
        <p14:creationId xmlns:p14="http://schemas.microsoft.com/office/powerpoint/2010/main" val="17564760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5FEF93CF-CBDB-87A1-DF8E-371566AA6214}"/>
              </a:ext>
            </a:extLst>
          </p:cNvPr>
          <p:cNvPicPr>
            <a:picLocks noChangeAspect="1"/>
          </p:cNvPicPr>
          <p:nvPr/>
        </p:nvPicPr>
        <p:blipFill>
          <a:blip r:embed="rId3"/>
          <a:stretch>
            <a:fillRect/>
          </a:stretch>
        </p:blipFill>
        <p:spPr>
          <a:xfrm>
            <a:off x="0" y="-189157"/>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510793" y="1079063"/>
            <a:ext cx="10170054" cy="2497215"/>
          </a:xfrm>
        </p:spPr>
        <p:txBody>
          <a:bodyPr rtlCol="0">
            <a:normAutofit/>
          </a:bodyPr>
          <a:lstStyle/>
          <a:p>
            <a:pPr algn="ctr" rtl="0"/>
            <a:r>
              <a:rPr lang="es-ES" sz="6600" dirty="0">
                <a:solidFill>
                  <a:srgbClr val="002060"/>
                </a:solidFill>
                <a:latin typeface="Rockwell" panose="02060603020205020403" pitchFamily="18" charset="0"/>
              </a:rPr>
              <a:t>Conclusiones</a:t>
            </a:r>
          </a:p>
        </p:txBody>
      </p:sp>
      <p:sp>
        <p:nvSpPr>
          <p:cNvPr id="6" name="Marcador de contenido 5">
            <a:extLst>
              <a:ext uri="{FF2B5EF4-FFF2-40B4-BE49-F238E27FC236}">
                <a16:creationId xmlns:a16="http://schemas.microsoft.com/office/drawing/2014/main" id="{68C39FE6-76E2-B04F-7A81-05E44D3AE8A1}"/>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38931353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B361-39CB-417D-AF6B-9615D0AAC011}"/>
              </a:ext>
            </a:extLst>
          </p:cNvPr>
          <p:cNvSpPr>
            <a:spLocks noGrp="1"/>
          </p:cNvSpPr>
          <p:nvPr>
            <p:ph type="title"/>
          </p:nvPr>
        </p:nvSpPr>
        <p:spPr/>
        <p:txBody>
          <a:bodyPr/>
          <a:lstStyle/>
          <a:p>
            <a:r>
              <a:rPr lang="es-EC" b="1" dirty="0"/>
              <a:t>Conclusiones</a:t>
            </a:r>
            <a:endParaRPr lang="en-US" dirty="0"/>
          </a:p>
        </p:txBody>
      </p:sp>
      <p:sp>
        <p:nvSpPr>
          <p:cNvPr id="7" name="Rectángulo 6">
            <a:extLst>
              <a:ext uri="{FF2B5EF4-FFF2-40B4-BE49-F238E27FC236}">
                <a16:creationId xmlns:a16="http://schemas.microsoft.com/office/drawing/2014/main" id="{F71DC2F2-CF9C-4A23-AEEC-EE9B88BB7488}"/>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1600" b="1" dirty="0" err="1">
                <a:solidFill>
                  <a:schemeClr val="bg1"/>
                </a:solidFill>
              </a:rPr>
              <a:t>Funcionalidad</a:t>
            </a:r>
            <a:endParaRPr lang="en-US" sz="1100" b="1" dirty="0">
              <a:solidFill>
                <a:schemeClr val="bg1"/>
              </a:solidFill>
            </a:endParaRPr>
          </a:p>
          <a:p>
            <a:pPr>
              <a:lnSpc>
                <a:spcPct val="90000"/>
              </a:lnSpc>
            </a:pPr>
            <a:r>
              <a:rPr lang="en-US" sz="2400" b="1" dirty="0" err="1">
                <a:solidFill>
                  <a:srgbClr val="FFFF00"/>
                </a:solidFill>
              </a:rPr>
              <a:t>Conclusiones</a:t>
            </a:r>
            <a:r>
              <a:rPr lang="en-US" sz="1500" b="1" dirty="0">
                <a:solidFill>
                  <a:schemeClr val="bg1"/>
                </a:solidFill>
              </a:rPr>
              <a:t> </a:t>
            </a:r>
          </a:p>
          <a:p>
            <a:pPr>
              <a:lnSpc>
                <a:spcPct val="90000"/>
              </a:lnSpc>
            </a:pPr>
            <a:r>
              <a:rPr lang="en-US" sz="1500" b="1" dirty="0" err="1">
                <a:solidFill>
                  <a:schemeClr val="bg1"/>
                </a:solidFill>
              </a:rPr>
              <a:t>Bibliografía</a:t>
            </a:r>
            <a:endParaRPr lang="en-US" sz="1500" b="1" dirty="0">
              <a:solidFill>
                <a:schemeClr val="bg1"/>
              </a:solidFill>
            </a:endParaRPr>
          </a:p>
        </p:txBody>
      </p:sp>
      <p:sp>
        <p:nvSpPr>
          <p:cNvPr id="8" name="Marcador de contenido 2">
            <a:extLst>
              <a:ext uri="{FF2B5EF4-FFF2-40B4-BE49-F238E27FC236}">
                <a16:creationId xmlns:a16="http://schemas.microsoft.com/office/drawing/2014/main" id="{818998CF-D20F-4FA4-9534-534B99C993A3}"/>
              </a:ext>
            </a:extLst>
          </p:cNvPr>
          <p:cNvSpPr>
            <a:spLocks noGrp="1"/>
          </p:cNvSpPr>
          <p:nvPr>
            <p:ph idx="1"/>
          </p:nvPr>
        </p:nvSpPr>
        <p:spPr>
          <a:xfrm>
            <a:off x="1097280" y="2028614"/>
            <a:ext cx="7914198" cy="4398690"/>
          </a:xfrm>
        </p:spPr>
        <p:txBody>
          <a:bodyPr>
            <a:normAutofit fontScale="85000" lnSpcReduction="10000"/>
          </a:bodyPr>
          <a:lstStyle/>
          <a:p>
            <a:pPr algn="just"/>
            <a:r>
              <a:rPr lang="es-MX" dirty="0"/>
              <a:t>SOAP es un patrón arquitectónico que se basa en HTTP y utiliza solicitudes y respuestas HTTP, así como verbos y códigos de estado, para permitir la comunicación entre sistemas. El hecho de que los servicios SOAP se apoyen en el protocolo HTTP hace posible que puedan ser consumidos por casi cualquier dispositivo o aplicación en línea, incluidos incluso dispositivos </a:t>
            </a:r>
            <a:r>
              <a:rPr lang="es-MX" dirty="0" err="1"/>
              <a:t>IoT</a:t>
            </a:r>
            <a:r>
              <a:rPr lang="es-MX" dirty="0"/>
              <a:t>, lo que favorece su interoperabilidad en distintos entornos tecnológicos.</a:t>
            </a:r>
          </a:p>
          <a:p>
            <a:pPr algn="just"/>
            <a:r>
              <a:rPr lang="es-MX" dirty="0"/>
              <a:t>Por otra parte, contar con una base de datos en la nube facilita significativamente el trabajo del equipo de desarrollo, ya que permite acceder a la información en cualquier momento y elimina la necesidad de realizar procesos locales de creación y configuración de bases de datos, optimizando así el tiempo y los recursos del desarrollo.</a:t>
            </a:r>
          </a:p>
          <a:p>
            <a:pPr algn="just"/>
            <a:r>
              <a:rPr lang="es-MX" dirty="0"/>
              <a:t>En cuanto a la gestión organizacional, BPM como metodología representa el futuro de la modelación de procesos de negocio. Independientemente del sector en el que se opere, las actividades se estructuran en procesos, y las Suites de BPM se consolidan como la mejor opción tecnológica para orquestarlos con niveles de agilidad y control nunca antes disponibles.</a:t>
            </a:r>
          </a:p>
          <a:p>
            <a:pPr algn="just"/>
            <a:r>
              <a:rPr lang="es-MX" dirty="0"/>
              <a:t>En este contexto, no se trata de decidir si implantar o no una solución BPM, sino cuándo hacerlo, ya que, como ocurre en todos los ciclos tecnológicos, son las organizaciones innovadoras las que primero adoptan estas soluciones y marcan la tendencia del mercado. Por ello, BPM está para quedarse y continuará siendo un tema central en las conversaciones sobre la mejora y optimización de procesos en los próximos años.</a:t>
            </a:r>
          </a:p>
        </p:txBody>
      </p:sp>
    </p:spTree>
    <p:extLst>
      <p:ext uri="{BB962C8B-B14F-4D97-AF65-F5344CB8AC3E}">
        <p14:creationId xmlns:p14="http://schemas.microsoft.com/office/powerpoint/2010/main" val="39496027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The image depicts two anthropomorphic characters, one being a large, blue, furry creature with expressive eyes, and the other, a small, green creature with a mischievous grin.&#10;&#10;El contenido generado por IA puede ser incorrecto.">
            <a:extLst>
              <a:ext uri="{FF2B5EF4-FFF2-40B4-BE49-F238E27FC236}">
                <a16:creationId xmlns:a16="http://schemas.microsoft.com/office/drawing/2014/main" id="{355CFA7E-3016-F1D7-0ACA-3581425CE26E}"/>
              </a:ext>
            </a:extLst>
          </p:cNvPr>
          <p:cNvPicPr>
            <a:picLocks noChangeAspect="1"/>
          </p:cNvPicPr>
          <p:nvPr/>
        </p:nvPicPr>
        <p:blipFill>
          <a:blip r:embed="rId3"/>
          <a:stretch>
            <a:fillRect/>
          </a:stretch>
        </p:blipFill>
        <p:spPr>
          <a:xfrm>
            <a:off x="0" y="-189157"/>
            <a:ext cx="13301062" cy="7236313"/>
          </a:xfrm>
          <a:prstGeom prst="rect">
            <a:avLst/>
          </a:prstGeom>
        </p:spPr>
      </p:pic>
      <p:sp>
        <p:nvSpPr>
          <p:cNvPr id="2" name="Título 1">
            <a:extLst>
              <a:ext uri="{FF2B5EF4-FFF2-40B4-BE49-F238E27FC236}">
                <a16:creationId xmlns:a16="http://schemas.microsoft.com/office/drawing/2014/main" id="{34DB6CE4-2B13-4715-B5B2-615A55922CA1}"/>
              </a:ext>
            </a:extLst>
          </p:cNvPr>
          <p:cNvSpPr>
            <a:spLocks noGrp="1"/>
          </p:cNvSpPr>
          <p:nvPr>
            <p:ph type="title"/>
          </p:nvPr>
        </p:nvSpPr>
        <p:spPr>
          <a:xfrm>
            <a:off x="1813120" y="1642482"/>
            <a:ext cx="10170054" cy="2497215"/>
          </a:xfrm>
        </p:spPr>
        <p:txBody>
          <a:bodyPr rtlCol="0">
            <a:normAutofit/>
          </a:bodyPr>
          <a:lstStyle/>
          <a:p>
            <a:pPr algn="ctr" rtl="0"/>
            <a:r>
              <a:rPr lang="es-ES" sz="6600" dirty="0">
                <a:solidFill>
                  <a:srgbClr val="002060"/>
                </a:solidFill>
                <a:latin typeface="Rockwell" panose="02060603020205020403" pitchFamily="18" charset="0"/>
              </a:rPr>
              <a:t>REFERENCIAS BIBLIOGRÁFICAS</a:t>
            </a:r>
          </a:p>
        </p:txBody>
      </p:sp>
      <p:sp>
        <p:nvSpPr>
          <p:cNvPr id="3" name="Marcador de contenido 2">
            <a:extLst>
              <a:ext uri="{FF2B5EF4-FFF2-40B4-BE49-F238E27FC236}">
                <a16:creationId xmlns:a16="http://schemas.microsoft.com/office/drawing/2014/main" id="{473B33E2-1438-BAB5-1A09-33DA93AD784E}"/>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27037124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A8CA09-C32A-4499-A0C2-C719577682E3}"/>
              </a:ext>
            </a:extLst>
          </p:cNvPr>
          <p:cNvSpPr>
            <a:spLocks noGrp="1"/>
          </p:cNvSpPr>
          <p:nvPr>
            <p:ph type="title"/>
          </p:nvPr>
        </p:nvSpPr>
        <p:spPr/>
        <p:txBody>
          <a:bodyPr/>
          <a:lstStyle/>
          <a:p>
            <a:r>
              <a:rPr lang="en-US" sz="2800" dirty="0">
                <a:solidFill>
                  <a:srgbClr val="FFFFFF"/>
                </a:solidFill>
              </a:rPr>
              <a:t>REFERENCIAS BIBLIOGRÁFICAS</a:t>
            </a:r>
            <a:endParaRPr lang="es-EC" dirty="0"/>
          </a:p>
        </p:txBody>
      </p:sp>
      <p:sp>
        <p:nvSpPr>
          <p:cNvPr id="3" name="Marcador de contenido 2">
            <a:extLst>
              <a:ext uri="{FF2B5EF4-FFF2-40B4-BE49-F238E27FC236}">
                <a16:creationId xmlns:a16="http://schemas.microsoft.com/office/drawing/2014/main" id="{6BCAD803-E7BE-436C-99FE-D296D2DDC945}"/>
              </a:ext>
            </a:extLst>
          </p:cNvPr>
          <p:cNvSpPr>
            <a:spLocks noGrp="1"/>
          </p:cNvSpPr>
          <p:nvPr>
            <p:ph idx="1"/>
          </p:nvPr>
        </p:nvSpPr>
        <p:spPr>
          <a:xfrm>
            <a:off x="581192" y="2180496"/>
            <a:ext cx="7568895" cy="3678303"/>
          </a:xfrm>
        </p:spPr>
        <p:txBody>
          <a:bodyPr>
            <a:normAutofit fontScale="85000" lnSpcReduction="10000"/>
          </a:bodyPr>
          <a:lstStyle/>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[1] “Desarrollo y servicios Web”. [En línea]. Disponible en: http://www.eumed.net/tesis-doctorales/2007/cavl/Desarrollo%20y%20servicios%20Web.htm. [Consultado: 26-sep-2019].</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[2]   M. </a:t>
            </a:r>
            <a:r>
              <a:rPr lang="es-ES" sz="1800" dirty="0" err="1">
                <a:effectLst/>
                <a:latin typeface="Arial" panose="020B0604020202020204" pitchFamily="34" charset="0"/>
                <a:ea typeface="Calibri" panose="020F0502020204030204" pitchFamily="34" charset="0"/>
                <a:cs typeface="Times New Roman" panose="02020603050405020304" pitchFamily="18" charset="0"/>
              </a:rPr>
              <a:t>Arl</a:t>
            </a:r>
            <a:r>
              <a:rPr lang="es-ES" sz="1800" dirty="0">
                <a:effectLst/>
                <a:latin typeface="Arial" panose="020B0604020202020204" pitchFamily="34" charset="0"/>
                <a:ea typeface="Calibri" panose="020F0502020204030204" pitchFamily="34" charset="0"/>
                <a:cs typeface="Times New Roman" panose="02020603050405020304" pitchFamily="18" charset="0"/>
              </a:rPr>
              <a:t> y Rodríguez, “SOA vs. SOAP y REST”, Adictos al trabajo, 10-ene-2014.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R="335280" algn="just">
              <a:lnSpc>
                <a:spcPct val="115000"/>
              </a:lnSpc>
              <a:spcAft>
                <a:spcPts val="10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[3] “SOAP vs REST web services -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javatpoint</a:t>
            </a:r>
            <a:r>
              <a:rPr lang="en-US" sz="1800" dirty="0">
                <a:effectLst/>
                <a:latin typeface="Arial" panose="020B0604020202020204" pitchFamily="34" charset="0"/>
                <a:ea typeface="Calibri" panose="020F0502020204030204" pitchFamily="34" charset="0"/>
                <a:cs typeface="Times New Roman" panose="02020603050405020304" pitchFamily="18" charset="0"/>
              </a:rPr>
              <a:t>”, www.javatpoint.com.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En</a:t>
            </a:r>
            <a:r>
              <a:rPr lang="en-US" sz="1800" dirty="0">
                <a:effectLst/>
                <a:latin typeface="Arial" panose="020B0604020202020204" pitchFamily="34" charset="0"/>
                <a:ea typeface="Calibri" panose="020F0502020204030204" pitchFamily="34" charset="0"/>
                <a:cs typeface="Times New Roman" panose="02020603050405020304" pitchFamily="18" charset="0"/>
              </a:rPr>
              <a:t>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línea</a:t>
            </a:r>
            <a:r>
              <a:rPr lang="en-US" sz="1800" dirty="0">
                <a:effectLst/>
                <a:latin typeface="Arial" panose="020B0604020202020204" pitchFamily="34" charset="0"/>
                <a:ea typeface="Calibri" panose="020F0502020204030204" pitchFamily="34" charset="0"/>
                <a:cs typeface="Times New Roman" panose="02020603050405020304" pitchFamily="18" charset="0"/>
              </a:rPr>
              <a:t>]. </a:t>
            </a:r>
            <a:r>
              <a:rPr lang="es-ES" sz="1800" dirty="0">
                <a:effectLst/>
                <a:latin typeface="Arial" panose="020B0604020202020204" pitchFamily="34" charset="0"/>
                <a:ea typeface="Calibri" panose="020F0502020204030204" pitchFamily="34" charset="0"/>
                <a:cs typeface="Times New Roman" panose="02020603050405020304" pitchFamily="18" charset="0"/>
              </a:rPr>
              <a:t>Disponible en: https://www.javatpoint.com/soap-vs-rest-web-services. [Consultado: 26-sep-2019].</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R="335280" algn="just">
              <a:lnSpc>
                <a:spcPct val="115000"/>
              </a:lnSpc>
              <a:spcAft>
                <a:spcPts val="1000"/>
              </a:spcAft>
            </a:pPr>
            <a:r>
              <a:rPr lang="es-ES" sz="1800" dirty="0">
                <a:effectLst/>
                <a:latin typeface="Arial" panose="020B0604020202020204" pitchFamily="34" charset="0"/>
                <a:ea typeface="Calibri" panose="020F0502020204030204" pitchFamily="34" charset="0"/>
                <a:cs typeface="Times New Roman" panose="02020603050405020304" pitchFamily="18" charset="0"/>
              </a:rPr>
              <a:t>[4] “TESIS - Santiago Martín Hidalgo Ubidia.pdf”. </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r>
              <a:rPr lang="es-ES" sz="1800" dirty="0">
                <a:effectLst/>
                <a:latin typeface="Arial" panose="020B0604020202020204" pitchFamily="34" charset="0"/>
                <a:ea typeface="Calibri" panose="020F0502020204030204" pitchFamily="34" charset="0"/>
              </a:rPr>
              <a:t>[5]     L. M. Garriga, “Tesis Doctorado en Ciencias de la Computación”, p. 136.</a:t>
            </a:r>
            <a:endParaRPr lang="es-EC" dirty="0"/>
          </a:p>
          <a:p>
            <a:endParaRPr lang="es-EC" dirty="0"/>
          </a:p>
        </p:txBody>
      </p:sp>
      <p:sp>
        <p:nvSpPr>
          <p:cNvPr id="6" name="Rectángulo 5">
            <a:extLst>
              <a:ext uri="{FF2B5EF4-FFF2-40B4-BE49-F238E27FC236}">
                <a16:creationId xmlns:a16="http://schemas.microsoft.com/office/drawing/2014/main" id="{08F2CBE8-50B4-4F08-95A5-E6739A8A2CE5}"/>
              </a:ext>
            </a:extLst>
          </p:cNvPr>
          <p:cNvSpPr/>
          <p:nvPr/>
        </p:nvSpPr>
        <p:spPr>
          <a:xfrm>
            <a:off x="9519101" y="1765652"/>
            <a:ext cx="2213113" cy="4800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pPr>
            <a:r>
              <a:rPr lang="en-US" sz="1600" b="1" dirty="0">
                <a:solidFill>
                  <a:schemeClr val="bg1"/>
                </a:solidFill>
              </a:rPr>
              <a:t>Marco </a:t>
            </a:r>
            <a:r>
              <a:rPr lang="en-US" sz="1600" b="1" dirty="0" err="1">
                <a:solidFill>
                  <a:schemeClr val="bg1"/>
                </a:solidFill>
              </a:rPr>
              <a:t>Teórico</a:t>
            </a:r>
            <a:endParaRPr lang="en-US" sz="1600" b="1" dirty="0">
              <a:solidFill>
                <a:schemeClr val="bg1"/>
              </a:solidFill>
            </a:endParaRPr>
          </a:p>
          <a:p>
            <a:pPr>
              <a:lnSpc>
                <a:spcPct val="90000"/>
              </a:lnSpc>
            </a:pPr>
            <a:r>
              <a:rPr lang="en-US" sz="1600" b="1" dirty="0" err="1">
                <a:solidFill>
                  <a:schemeClr val="bg1"/>
                </a:solidFill>
              </a:rPr>
              <a:t>Instalación</a:t>
            </a:r>
            <a:r>
              <a:rPr lang="en-US" sz="1600" b="1" dirty="0">
                <a:solidFill>
                  <a:schemeClr val="bg1"/>
                </a:solidFill>
              </a:rPr>
              <a:t> de </a:t>
            </a:r>
            <a:r>
              <a:rPr lang="en-US" sz="1600" b="1" dirty="0" err="1">
                <a:solidFill>
                  <a:schemeClr val="bg1"/>
                </a:solidFill>
              </a:rPr>
              <a:t>herramientas</a:t>
            </a:r>
            <a:endParaRPr lang="en-US" sz="1600" b="1" dirty="0">
              <a:solidFill>
                <a:schemeClr val="bg1"/>
              </a:solidFill>
            </a:endParaRPr>
          </a:p>
          <a:p>
            <a:pPr>
              <a:lnSpc>
                <a:spcPct val="90000"/>
              </a:lnSpc>
            </a:pPr>
            <a:r>
              <a:rPr lang="en-US" sz="1600" b="1" dirty="0">
                <a:solidFill>
                  <a:schemeClr val="bg1"/>
                </a:solidFill>
              </a:rPr>
              <a:t>Desarrollo</a:t>
            </a:r>
            <a:r>
              <a:rPr lang="en-US" sz="1500" b="1" dirty="0">
                <a:solidFill>
                  <a:schemeClr val="bg1"/>
                </a:solidFill>
              </a:rPr>
              <a:t> </a:t>
            </a:r>
          </a:p>
          <a:p>
            <a:pPr>
              <a:lnSpc>
                <a:spcPct val="90000"/>
              </a:lnSpc>
            </a:pPr>
            <a:r>
              <a:rPr lang="en-US" sz="1600" b="1" dirty="0" err="1">
                <a:solidFill>
                  <a:schemeClr val="bg1"/>
                </a:solidFill>
              </a:rPr>
              <a:t>Funcionalidad</a:t>
            </a:r>
            <a:endParaRPr lang="en-US" sz="1100" b="1" dirty="0">
              <a:solidFill>
                <a:schemeClr val="bg1"/>
              </a:solidFill>
            </a:endParaRPr>
          </a:p>
          <a:p>
            <a:pPr>
              <a:lnSpc>
                <a:spcPct val="90000"/>
              </a:lnSpc>
            </a:pPr>
            <a:r>
              <a:rPr lang="en-US" sz="1600" b="1" dirty="0" err="1">
                <a:solidFill>
                  <a:schemeClr val="bg1"/>
                </a:solidFill>
              </a:rPr>
              <a:t>Conclusiones</a:t>
            </a:r>
            <a:r>
              <a:rPr lang="en-US" sz="1500" b="1" dirty="0">
                <a:solidFill>
                  <a:schemeClr val="bg1"/>
                </a:solidFill>
              </a:rPr>
              <a:t> </a:t>
            </a:r>
          </a:p>
          <a:p>
            <a:pPr>
              <a:lnSpc>
                <a:spcPct val="90000"/>
              </a:lnSpc>
            </a:pPr>
            <a:r>
              <a:rPr lang="en-US" sz="2400" b="1" dirty="0" err="1">
                <a:solidFill>
                  <a:srgbClr val="FFFF00"/>
                </a:solidFill>
              </a:rPr>
              <a:t>Bibliografía</a:t>
            </a:r>
            <a:endParaRPr lang="en-US" sz="2400" b="1" dirty="0">
              <a:solidFill>
                <a:srgbClr val="FFFF00"/>
              </a:solidFill>
            </a:endParaRPr>
          </a:p>
        </p:txBody>
      </p:sp>
    </p:spTree>
    <p:extLst>
      <p:ext uri="{BB962C8B-B14F-4D97-AF65-F5344CB8AC3E}">
        <p14:creationId xmlns:p14="http://schemas.microsoft.com/office/powerpoint/2010/main" val="3398596474"/>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1112</TotalTime>
  <Words>2010</Words>
  <Application>Microsoft Office PowerPoint</Application>
  <PresentationFormat>Panorámica</PresentationFormat>
  <Paragraphs>455</Paragraphs>
  <Slides>56</Slides>
  <Notes>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56</vt:i4>
      </vt:variant>
    </vt:vector>
  </HeadingPairs>
  <TitlesOfParts>
    <vt:vector size="64" baseType="lpstr">
      <vt:lpstr>MS UI Gothic</vt:lpstr>
      <vt:lpstr>Arial</vt:lpstr>
      <vt:lpstr>Calibri</vt:lpstr>
      <vt:lpstr>Gill Sans MT</vt:lpstr>
      <vt:lpstr>Rockwell</vt:lpstr>
      <vt:lpstr>Verdana</vt:lpstr>
      <vt:lpstr>Wingdings 2</vt:lpstr>
      <vt:lpstr>Dividendo</vt:lpstr>
      <vt:lpstr>ARQUITECTURA DE SOFTWARE</vt:lpstr>
      <vt:lpstr>AGENDA</vt:lpstr>
      <vt:lpstr>MARCO TEÓRICO</vt:lpstr>
      <vt:lpstr>REST (Representational State Transfer)</vt:lpstr>
      <vt:lpstr>Arquitectura Orientada a Servicios (SOA</vt:lpstr>
      <vt:lpstr>MASHUP</vt:lpstr>
      <vt:lpstr>Dimensiones</vt:lpstr>
      <vt:lpstr>INSTALACIÓN DE HERRAMIENTAS</vt:lpstr>
      <vt:lpstr>Instalación de herramientas (Power Designer)</vt:lpstr>
      <vt:lpstr>Power Designer</vt:lpstr>
      <vt:lpstr>Power Designer</vt:lpstr>
      <vt:lpstr>Power Designer</vt:lpstr>
      <vt:lpstr>Power Designer</vt:lpstr>
      <vt:lpstr>Power Designer</vt:lpstr>
      <vt:lpstr>Power Designer</vt:lpstr>
      <vt:lpstr>Power Designer</vt:lpstr>
      <vt:lpstr>NetBeans</vt:lpstr>
      <vt:lpstr>NetBeans</vt:lpstr>
      <vt:lpstr>NetBeans</vt:lpstr>
      <vt:lpstr>NetBeans</vt:lpstr>
      <vt:lpstr>NetBeans</vt:lpstr>
      <vt:lpstr>NetBeans</vt:lpstr>
      <vt:lpstr>NetBeans</vt:lpstr>
      <vt:lpstr>NetBeans</vt:lpstr>
      <vt:lpstr>NetBeans</vt:lpstr>
      <vt:lpstr>MYSQL</vt:lpstr>
      <vt:lpstr>MYSQL</vt:lpstr>
      <vt:lpstr>MYSQL</vt:lpstr>
      <vt:lpstr>MYSQL</vt:lpstr>
      <vt:lpstr>MYSQL</vt:lpstr>
      <vt:lpstr>MYSQL</vt:lpstr>
      <vt:lpstr>MYSQL</vt:lpstr>
      <vt:lpstr>MYSQL</vt:lpstr>
      <vt:lpstr>MYSQL</vt:lpstr>
      <vt:lpstr>MYSQL</vt:lpstr>
      <vt:lpstr>MYSQL</vt:lpstr>
      <vt:lpstr>MYSQL</vt:lpstr>
      <vt:lpstr>MYSQL</vt:lpstr>
      <vt:lpstr>DESARROLLO DE LA PRÁCTICA</vt:lpstr>
      <vt:lpstr>Enunciado</vt:lpstr>
      <vt:lpstr>Presentación de PowerPoint</vt:lpstr>
      <vt:lpstr>Presentación de PowerPoint</vt:lpstr>
      <vt:lpstr>DESARROLLO</vt:lpstr>
      <vt:lpstr>Presentación de PowerPoint</vt:lpstr>
      <vt:lpstr>Presentación de PowerPoint</vt:lpstr>
      <vt:lpstr>Presentación de PowerPoint</vt:lpstr>
      <vt:lpstr>Presentación de PowerPoint</vt:lpstr>
      <vt:lpstr>DESARROLLO</vt:lpstr>
      <vt:lpstr>DESARROLLO</vt:lpstr>
      <vt:lpstr>Funcionalidad</vt:lpstr>
      <vt:lpstr>Cuenta 1  bloqueada</vt:lpstr>
      <vt:lpstr>Cuenta 2 Bloqueada</vt:lpstr>
      <vt:lpstr>Conclusiones</vt:lpstr>
      <vt:lpstr>Conclusiones</vt:lpstr>
      <vt:lpstr>REFERENCIAS BIBLIOGRÁFICAS</vt:lpstr>
      <vt:lpstr>REFERENCIAS BIBLIOGRÁFICAS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DISTRIBUIDAS</dc:title>
  <dc:creator>FERNANDO RODRIGUEZ</dc:creator>
  <cp:lastModifiedBy>Diego Páez Zapata</cp:lastModifiedBy>
  <cp:revision>37</cp:revision>
  <dcterms:created xsi:type="dcterms:W3CDTF">2020-07-09T17:24:27Z</dcterms:created>
  <dcterms:modified xsi:type="dcterms:W3CDTF">2026-02-04T13:29:18Z</dcterms:modified>
</cp:coreProperties>
</file>